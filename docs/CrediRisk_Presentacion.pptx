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467ff642-7147-ab9b-a404-72e65cca56f9}">
          <p14:sldIdLst>
            <p14:sldId id="256"/>
            <p14:sldId id="257"/>
          </p14:sldIdLst>
        </p14:section>
        <p14:section name="Datos" id="{463972f9-e40a-f8bf-2ead-004701a583d5}">
          <p14:sldIdLst>
            <p14:sldId id="258"/>
            <p14:sldId id="259"/>
            <p14:sldId id="260"/>
            <p14:sldId id="261"/>
          </p14:sldIdLst>
        </p14:section>
        <p14:section name="Modelo" id="{52ebba9d-e1c0-43da-a394-38e5adfba15d}">
          <p14:sldIdLst>
            <p14:sldId id="262"/>
            <p14:sldId id="263"/>
            <p14:sldId id="264"/>
            <p14:sldId id="265"/>
            <p14:sldId id="266"/>
            <p14:sldId id="267"/>
            <p14:sldId id="268"/>
            <p14:sldId id="269"/>
            <p14:sldId id="270"/>
          </p14:sldIdLst>
        </p14:section>
        <p14:section name="Pruebas" id="{852e7684-7a14-409c-2ebc-896c9d3c9e4a}">
          <p14:sldIdLst>
            <p14:sldId id="271"/>
            <p14:sldId id="272"/>
            <p14:sldId id="273"/>
            <p14:sldId id="274"/>
            <p14:sldId id="275"/>
          </p14:sldIdLst>
        </p14:section>
        <p14:section name="Aprendizaje" id="{7a9f8df0-5f17-97c2-f065-b96791a60266}">
          <p14:sldIdLst>
            <p14:sldId id="276"/>
            <p14:sldId id="277"/>
            <p14:sldId id="278"/>
            <p14:sldId id="279"/>
            <p14:sldId id="280"/>
            <p14:sldId id="281"/>
            <p14:sldId id="282"/>
            <p14:sldId id="283"/>
            <p14:sldId id="284"/>
          </p14:sldIdLst>
        </p14:section>
        <p14:section name="Resultados" id="{7383b991-20e5-b269-5cd1-32cb5bbf6ec6}">
          <p14:sldIdLst>
            <p14:sldId id="285"/>
            <p14:sldId id="286"/>
            <p14:sldId id="287"/>
            <p14:sldId id="288"/>
            <p14:sldId id="289"/>
            <p14:sldId id="290"/>
            <p14:sldId id="291"/>
            <p14:sldId id="292"/>
            <p14:sldId id="293"/>
            <p14:sldId id="294"/>
            <p14:sldId id="295"/>
          </p14:sldIdLst>
        </p14:section>
        <p14:section name="Cierre" id="{c86d6009-0428-ecc4-65a6-50df8bd49144}">
          <p14:sldIdLst>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ReLU</c:v>
                </c:pt>
              </c:strCache>
            </c:strRef>
          </c:tx>
          <c:spPr>
            <a:solidFill>
              <a:srgbClr val="3B82F6"/>
            </a:solidFill>
            <a:ln w="381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0.25</c:v>
                </c:pt>
                <c:pt idx="14">
                  <c:v>0.5</c:v>
                </c:pt>
                <c:pt idx="15">
                  <c:v>0.75</c:v>
                </c:pt>
                <c:pt idx="16">
                  <c:v>1</c:v>
                </c:pt>
                <c:pt idx="17">
                  <c:v>1.25</c:v>
                </c:pt>
                <c:pt idx="18">
                  <c:v>1.5</c:v>
                </c:pt>
                <c:pt idx="19">
                  <c:v>1.75</c:v>
                </c:pt>
                <c:pt idx="20">
                  <c:v>2</c:v>
                </c:pt>
                <c:pt idx="21">
                  <c:v>2.25</c:v>
                </c:pt>
                <c:pt idx="22">
                  <c:v>2.5</c:v>
                </c:pt>
                <c:pt idx="23">
                  <c:v>2.75</c:v>
                </c:pt>
                <c:pt idx="24">
                  <c:v>3</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3"/>
          <c:min val="-0.5"/>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LeakyReLU (α = 0,1)</c:v>
                </c:pt>
              </c:strCache>
            </c:strRef>
          </c:tx>
          <c:spPr>
            <a:solidFill>
              <a:srgbClr val="38BDF8"/>
            </a:solidFill>
            <a:ln w="38100" cap="flat">
              <a:solidFill>
                <a:srgbClr val="38BDF8"/>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8BDF8"/>
              </a:solidFill>
              <a:ln w="9525" cap="flat">
                <a:solidFill>
                  <a:srgbClr val="38BDF8"/>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-0.3</c:v>
                </c:pt>
                <c:pt idx="1">
                  <c:v>-0.275</c:v>
                </c:pt>
                <c:pt idx="2">
                  <c:v>-0.25</c:v>
                </c:pt>
                <c:pt idx="3">
                  <c:v>-0.225</c:v>
                </c:pt>
                <c:pt idx="4">
                  <c:v>-0.2</c:v>
                </c:pt>
                <c:pt idx="5">
                  <c:v>-0.175</c:v>
                </c:pt>
                <c:pt idx="6">
                  <c:v>-0.15</c:v>
                </c:pt>
                <c:pt idx="7">
                  <c:v>-0.125</c:v>
                </c:pt>
                <c:pt idx="8">
                  <c:v>-0.1</c:v>
                </c:pt>
                <c:pt idx="9">
                  <c:v>-0.075</c:v>
                </c:pt>
                <c:pt idx="10">
                  <c:v>-0.05</c:v>
                </c:pt>
                <c:pt idx="11">
                  <c:v>-0.025</c:v>
                </c:pt>
                <c:pt idx="12">
                  <c:v>0</c:v>
                </c:pt>
                <c:pt idx="13">
                  <c:v>0.25</c:v>
                </c:pt>
                <c:pt idx="14">
                  <c:v>0.5</c:v>
                </c:pt>
                <c:pt idx="15">
                  <c:v>0.75</c:v>
                </c:pt>
                <c:pt idx="16">
                  <c:v>1</c:v>
                </c:pt>
                <c:pt idx="17">
                  <c:v>1.25</c:v>
                </c:pt>
                <c:pt idx="18">
                  <c:v>1.5</c:v>
                </c:pt>
                <c:pt idx="19">
                  <c:v>1.75</c:v>
                </c:pt>
                <c:pt idx="20">
                  <c:v>2</c:v>
                </c:pt>
                <c:pt idx="21">
                  <c:v>2.25</c:v>
                </c:pt>
                <c:pt idx="22">
                  <c:v>2.5</c:v>
                </c:pt>
                <c:pt idx="23">
                  <c:v>2.75</c:v>
                </c:pt>
                <c:pt idx="24">
                  <c:v>3</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3"/>
          <c:min val="-0.5"/>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Sigmoide</c:v>
                </c:pt>
              </c:strCache>
            </c:strRef>
          </c:tx>
          <c:spPr>
            <a:solidFill>
              <a:srgbClr val="34D399"/>
            </a:solidFill>
            <a:ln w="38100" cap="flat">
              <a:solidFill>
                <a:srgbClr val="34D399"/>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4D399"/>
              </a:solidFill>
              <a:ln w="9525" cap="flat">
                <a:solidFill>
                  <a:srgbClr val="34D399"/>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0.0474</c:v>
                </c:pt>
                <c:pt idx="1">
                  <c:v>0.0601</c:v>
                </c:pt>
                <c:pt idx="2">
                  <c:v>0.0759</c:v>
                </c:pt>
                <c:pt idx="3">
                  <c:v>0.0953</c:v>
                </c:pt>
                <c:pt idx="4">
                  <c:v>0.1192</c:v>
                </c:pt>
                <c:pt idx="5">
                  <c:v>0.148</c:v>
                </c:pt>
                <c:pt idx="6">
                  <c:v>0.1824</c:v>
                </c:pt>
                <c:pt idx="7">
                  <c:v>0.2227</c:v>
                </c:pt>
                <c:pt idx="8">
                  <c:v>0.2689</c:v>
                </c:pt>
                <c:pt idx="9">
                  <c:v>0.3208</c:v>
                </c:pt>
                <c:pt idx="10">
                  <c:v>0.3775</c:v>
                </c:pt>
                <c:pt idx="11">
                  <c:v>0.4378</c:v>
                </c:pt>
                <c:pt idx="12">
                  <c:v>0.5</c:v>
                </c:pt>
                <c:pt idx="13">
                  <c:v>0.5622</c:v>
                </c:pt>
                <c:pt idx="14">
                  <c:v>0.6225</c:v>
                </c:pt>
                <c:pt idx="15">
                  <c:v>0.6792</c:v>
                </c:pt>
                <c:pt idx="16">
                  <c:v>0.7311</c:v>
                </c:pt>
                <c:pt idx="17">
                  <c:v>0.7773</c:v>
                </c:pt>
                <c:pt idx="18">
                  <c:v>0.8176</c:v>
                </c:pt>
                <c:pt idx="19">
                  <c:v>0.852</c:v>
                </c:pt>
                <c:pt idx="20">
                  <c:v>0.8808</c:v>
                </c:pt>
                <c:pt idx="21">
                  <c:v>0.9047</c:v>
                </c:pt>
                <c:pt idx="22">
                  <c:v>0.9241</c:v>
                </c:pt>
                <c:pt idx="23">
                  <c:v>0.9399</c:v>
                </c:pt>
                <c:pt idx="24">
                  <c:v>0.9526</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ELU y GELU</c:v>
                </c:pt>
              </c:strCache>
            </c:strRef>
          </c:tx>
          <c:spPr>
            <a:solidFill>
              <a:srgbClr val="F59E0B"/>
            </a:solidFill>
            <a:ln w="381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-0.9502</c:v>
                </c:pt>
                <c:pt idx="1">
                  <c:v>-0.9361</c:v>
                </c:pt>
                <c:pt idx="2">
                  <c:v>-0.9179</c:v>
                </c:pt>
                <c:pt idx="3">
                  <c:v>-0.8946</c:v>
                </c:pt>
                <c:pt idx="4">
                  <c:v>-0.8647</c:v>
                </c:pt>
                <c:pt idx="5">
                  <c:v>-0.8262</c:v>
                </c:pt>
                <c:pt idx="6">
                  <c:v>-0.7769</c:v>
                </c:pt>
                <c:pt idx="7">
                  <c:v>-0.7135</c:v>
                </c:pt>
                <c:pt idx="8">
                  <c:v>-0.6321</c:v>
                </c:pt>
                <c:pt idx="9">
                  <c:v>-0.5276</c:v>
                </c:pt>
                <c:pt idx="10">
                  <c:v>-0.3935</c:v>
                </c:pt>
                <c:pt idx="11">
                  <c:v>-0.2212</c:v>
                </c:pt>
                <c:pt idx="12">
                  <c:v>0</c:v>
                </c:pt>
                <c:pt idx="13">
                  <c:v>0.25</c:v>
                </c:pt>
                <c:pt idx="14">
                  <c:v>0.5</c:v>
                </c:pt>
                <c:pt idx="15">
                  <c:v>0.75</c:v>
                </c:pt>
                <c:pt idx="16">
                  <c:v>1</c:v>
                </c:pt>
                <c:pt idx="17">
                  <c:v>1.25</c:v>
                </c:pt>
                <c:pt idx="18">
                  <c:v>1.5</c:v>
                </c:pt>
                <c:pt idx="19">
                  <c:v>1.75</c:v>
                </c:pt>
                <c:pt idx="20">
                  <c:v>2</c:v>
                </c:pt>
                <c:pt idx="21">
                  <c:v>2.25</c:v>
                </c:pt>
                <c:pt idx="22">
                  <c:v>2.5</c:v>
                </c:pt>
                <c:pt idx="23">
                  <c:v>2.75</c:v>
                </c:pt>
                <c:pt idx="24">
                  <c:v>3</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3"/>
          <c:min val="-1"/>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Lo que ayuda es la diversidad</a:t>
            </a:r>
          </a:p>
        </c:rich>
      </c:tx>
      <c:layout/>
      <c:overlay val="0"/>
    </c:title>
    <c:autoTitleDeleted val="0"/>
    <c:plotArea>
      <c:layout/>
      <c:barChart>
        <c:barDir val="col"/>
        <c:grouping val="clustered"/>
        <c:varyColors val="0"/>
        <c:ser>
          <c:idx val="0"/>
          <c:order val="0"/>
          <c:tx>
            <c:strRef>
              <c:f>Sheet1!$B$1</c:f>
              <c:strCache>
                <c:ptCount val="1"/>
                <c:pt idx="0">
                  <c:v>AUC en validación</c:v>
                </c:pt>
              </c:strCache>
            </c:strRef>
          </c:tx>
          <c:spPr>
            <a:solidFill>
              <a:srgbClr val="475569"/>
            </a:solidFill>
            <a:effectLst/>
          </c:spPr>
          <c:invertIfNegative val="0"/>
          <c:dLbls>
            <c:numFmt formatCode="0.0000"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dPt>
            <c:idx val="0"/>
            <c:invertIfNegative val="0"/>
            <c:bubble3D val="0"/>
            <c:spPr>
              <a:solidFill>
                <a:srgbClr val="475569"/>
              </a:solidFill>
              <a:effectLst/>
            </c:spPr>
          </c:dPt>
          <c:dPt>
            <c:idx val="1"/>
            <c:invertIfNegative val="0"/>
            <c:bubble3D val="0"/>
            <c:spPr>
              <a:solidFill>
                <a:srgbClr val="3B82F6"/>
              </a:solidFill>
              <a:effectLst/>
            </c:spPr>
          </c:dPt>
          <c:dPt>
            <c:idx val="2"/>
            <c:invertIfNegative val="0"/>
            <c:bubble3D val="0"/>
            <c:spPr>
              <a:solidFill>
                <a:srgbClr val="34D399"/>
              </a:solidFill>
              <a:effectLst/>
            </c:spPr>
          </c:dPt>
          <c:cat>
            <c:multiLvlStrRef>
              <c:f>Sheet1!$A$2:$A$4</c:f>
              <c:multiLvlStrCache>
                <c:ptCount val="3"/>
                <c:lvl>
                  <c:pt idx="0">
                    <c:v>Una sola red
(la mejor)</c:v>
                  </c:pt>
                  <c:pt idx="1">
                    <c:v>5 copias de la
misma red</c:v>
                  </c:pt>
                  <c:pt idx="2">
                    <c:v>3 redes distintas
(modelo final)</c:v>
                  </c:pt>
                </c:lvl>
              </c:multiLvlStrCache>
            </c:multiLvlStrRef>
          </c:cat>
          <c:val>
            <c:numRef>
              <c:f>Sheet1!$B$2:$B$4</c:f>
              <c:numCache>
                <c:formatCode>General</c:formatCode>
                <c:ptCount val="3"/>
                <c:pt idx="0">
                  <c:v>0.75225</c:v>
                </c:pt>
                <c:pt idx="1">
                  <c:v>0.75249</c:v>
                </c:pt>
                <c:pt idx="2">
                  <c:v>0.75382</c:v>
                </c:pt>
              </c:numCache>
            </c:numRef>
          </c:val>
        </c:ser>
        <c:dLbls>
          <c:numFmt formatCode="0.0000"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5"/>
          <c:min val="0.75"/>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Redes entrenadas por etapa</a:t>
            </a:r>
          </a:p>
        </c:rich>
      </c:tx>
      <c:layout/>
      <c:overlay val="0"/>
    </c:title>
    <c:autoTitleDeleted val="0"/>
    <c:plotArea>
      <c:layout/>
      <c:barChart>
        <c:barDir val="col"/>
        <c:grouping val="stacked"/>
        <c:varyColors val="0"/>
        <c:ser>
          <c:idx val="0"/>
          <c:order val="0"/>
          <c:tx>
            <c:strRef>
              <c:f>Sheet1!$B$1</c:f>
              <c:strCache>
                <c:ptCount val="1"/>
                <c:pt idx="0">
                  <c:v>Experimentos de diseño</c:v>
                </c:pt>
              </c:strCache>
            </c:strRef>
          </c:tx>
          <c:spPr>
            <a:solidFill>
              <a:srgbClr val="3B82F6"/>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cat>
            <c:multiLvlStrRef>
              <c:f>Sheet1!$A$2:$A$5</c:f>
              <c:multiLvlStrCache>
                <c:ptCount val="4"/>
                <c:lvl>
                  <c:pt idx="0">
                    <c:v>Línea base</c:v>
                  </c:pt>
                  <c:pt idx="1">
                    <c:v>Fase 1</c:v>
                  </c:pt>
                  <c:pt idx="2">
                    <c:v>Fase 2</c:v>
                  </c:pt>
                  <c:pt idx="3">
                    <c:v>Fase 3</c:v>
                  </c:pt>
                </c:lvl>
              </c:multiLvlStrCache>
            </c:multiLvlStrRef>
          </c:cat>
          <c:val>
            <c:numRef>
              <c:f>Sheet1!$B$2:$B$5</c:f>
              <c:numCache>
                <c:formatCode>General</c:formatCode>
                <c:ptCount val="4"/>
                <c:pt idx="0">
                  <c:v>5</c:v>
                </c:pt>
                <c:pt idx="1">
                  <c:v>37</c:v>
                </c:pt>
                <c:pt idx="2">
                  <c:v>29</c:v>
                </c:pt>
                <c:pt idx="3">
                  <c:v>12</c:v>
                </c:pt>
              </c:numCache>
            </c:numRef>
          </c:val>
        </c:ser>
        <c:ser>
          <c:idx val="1"/>
          <c:order val="1"/>
          <c:tx>
            <c:strRef>
              <c:f>Sheet1!$C$1</c:f>
              <c:strCache>
                <c:ptCount val="1"/>
                <c:pt idx="0">
                  <c:v>Repeticiones con 5 semillas</c:v>
                </c:pt>
              </c:strCache>
            </c:strRef>
          </c:tx>
          <c:spPr>
            <a:solidFill>
              <a:srgbClr val="38BDF8"/>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cat>
            <c:multiLvlStrRef>
              <c:f>Sheet1!$A$2:$A$5</c:f>
              <c:multiLvlStrCache>
                <c:ptCount val="4"/>
                <c:lvl>
                  <c:pt idx="0">
                    <c:v>Línea base</c:v>
                  </c:pt>
                  <c:pt idx="1">
                    <c:v>Fase 1</c:v>
                  </c:pt>
                  <c:pt idx="2">
                    <c:v>Fase 2</c:v>
                  </c:pt>
                  <c:pt idx="3">
                    <c:v>Fase 3</c:v>
                  </c:pt>
                </c:lvl>
              </c:multiLvlStrCache>
            </c:multiLvlStrRef>
          </c:cat>
          <c:val>
            <c:numRef>
              <c:f>Sheet1!$C$2:$C$5</c:f>
              <c:numCache>
                <c:formatCode>General</c:formatCode>
                <c:ptCount val="4"/>
                <c:pt idx="0">
                  <c:v>0</c:v>
                </c:pt>
                <c:pt idx="1">
                  <c:v>20</c:v>
                </c:pt>
                <c:pt idx="2">
                  <c:v>20</c:v>
                </c:pt>
                <c:pt idx="3">
                  <c:v>20</c:v>
                </c:pt>
              </c:numCache>
            </c:numRef>
          </c:val>
        </c:ser>
        <c:ser>
          <c:idx val="2"/>
          <c:order val="2"/>
          <c:tx>
            <c:strRef>
              <c:f>Sheet1!$D$1</c:f>
              <c:strCache>
                <c:ptCount val="1"/>
                <c:pt idx="0">
                  <c:v>Redes para combinar</c:v>
                </c:pt>
              </c:strCache>
            </c:strRef>
          </c:tx>
          <c:spPr>
            <a:solidFill>
              <a:srgbClr val="34D399"/>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cat>
            <c:multiLvlStrRef>
              <c:f>Sheet1!$A$2:$A$5</c:f>
              <c:multiLvlStrCache>
                <c:ptCount val="4"/>
                <c:lvl>
                  <c:pt idx="0">
                    <c:v>Línea base</c:v>
                  </c:pt>
                  <c:pt idx="1">
                    <c:v>Fase 1</c:v>
                  </c:pt>
                  <c:pt idx="2">
                    <c:v>Fase 2</c:v>
                  </c:pt>
                  <c:pt idx="3">
                    <c:v>Fase 3</c:v>
                  </c:pt>
                </c:lvl>
              </c:multiLvlStrCache>
            </c:multiLvlStrRef>
          </c:cat>
          <c:val>
            <c:numRef>
              <c:f>Sheet1!$D$2:$D$5</c:f>
              <c:numCache>
                <c:formatCode>General</c:formatCode>
                <c:ptCount val="4"/>
                <c:pt idx="0">
                  <c:v>0</c:v>
                </c:pt>
                <c:pt idx="1">
                  <c:v>8</c:v>
                </c:pt>
                <c:pt idx="2">
                  <c:v>8</c:v>
                </c:pt>
                <c:pt idx="3">
                  <c:v>0</c:v>
                </c:pt>
              </c:numCache>
            </c:numRef>
          </c:val>
        </c:ser>
        <c:ser>
          <c:idx val="3"/>
          <c:order val="3"/>
          <c:tx>
            <c:strRef>
              <c:f>Sheet1!$E$1</c:f>
              <c:strCache>
                <c:ptCount val="1"/>
                <c:pt idx="0">
                  <c:v>Ablación de variables</c:v>
                </c:pt>
              </c:strCache>
            </c:strRef>
          </c:tx>
          <c:spPr>
            <a:solidFill>
              <a:srgbClr val="F59E0B"/>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cat>
            <c:multiLvlStrRef>
              <c:f>Sheet1!$A$2:$A$5</c:f>
              <c:multiLvlStrCache>
                <c:ptCount val="4"/>
                <c:lvl>
                  <c:pt idx="0">
                    <c:v>Línea base</c:v>
                  </c:pt>
                  <c:pt idx="1">
                    <c:v>Fase 1</c:v>
                  </c:pt>
                  <c:pt idx="2">
                    <c:v>Fase 2</c:v>
                  </c:pt>
                  <c:pt idx="3">
                    <c:v>Fase 3</c:v>
                  </c:pt>
                </c:lvl>
              </c:multiLvlStrCache>
            </c:multiLvlStrRef>
          </c:cat>
          <c:val>
            <c:numRef>
              <c:f>Sheet1!$E$2:$E$5</c:f>
              <c:numCache>
                <c:formatCode>General</c:formatCode>
                <c:ptCount val="4"/>
                <c:pt idx="0">
                  <c:v>0</c:v>
                </c:pt>
                <c:pt idx="1">
                  <c:v>5</c:v>
                </c:pt>
                <c:pt idx="2">
                  <c:v>0</c:v>
                </c:pt>
                <c:pt idx="3">
                  <c:v>0</c:v>
                </c:pt>
              </c:numCache>
            </c:numRef>
          </c:val>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80"/>
        </c:scaling>
        <c:delete val="0"/>
        <c:axPos val="l"/>
        <c:majorGridlines>
          <c:spPr>
            <a:ln w="9525" cap="flat">
              <a:solidFill>
                <a:srgbClr val="1E293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b"/>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AUC según el tamaño de la red (neuronas por capa)</a:t>
            </a:r>
          </a:p>
        </c:rich>
      </c:tx>
      <c:layout/>
      <c:overlay val="0"/>
    </c:title>
    <c:autoTitleDeleted val="0"/>
    <c:plotArea>
      <c:layout/>
      <c:barChart>
        <c:barDir val="col"/>
        <c:grouping val="clustered"/>
        <c:varyColors val="0"/>
        <c:ser>
          <c:idx val="0"/>
          <c:order val="0"/>
          <c:tx>
            <c:strRef>
              <c:f>Sheet1!$B$1</c:f>
              <c:strCache>
                <c:ptCount val="1"/>
                <c:pt idx="0">
                  <c:v>AUC en validación</c:v>
                </c:pt>
              </c:strCache>
            </c:strRef>
          </c:tx>
          <c:spPr>
            <a:solidFill>
              <a:srgbClr val="34D399"/>
            </a:solidFill>
            <a:effectLst/>
          </c:spPr>
          <c:invertIfNegative val="0"/>
          <c:dLbls>
            <c:numFmt formatCode="0.0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3B82F6"/>
              </a:solidFill>
              <a:effectLst/>
            </c:spPr>
          </c:dPt>
          <c:dPt>
            <c:idx val="2"/>
            <c:invertIfNegative val="0"/>
            <c:bubble3D val="0"/>
            <c:spPr>
              <a:solidFill>
                <a:srgbClr val="3B82F6"/>
              </a:solidFill>
              <a:effectLst/>
            </c:spPr>
          </c:dPt>
          <c:dPt>
            <c:idx val="3"/>
            <c:invertIfNegative val="0"/>
            <c:bubble3D val="0"/>
            <c:spPr>
              <a:solidFill>
                <a:srgbClr val="3B82F6"/>
              </a:solidFill>
              <a:effectLst/>
            </c:spPr>
          </c:dPt>
          <c:dPt>
            <c:idx val="4"/>
            <c:invertIfNegative val="0"/>
            <c:bubble3D val="0"/>
            <c:spPr>
              <a:solidFill>
                <a:srgbClr val="3B82F6"/>
              </a:solidFill>
              <a:effectLst/>
            </c:spPr>
          </c:dPt>
          <c:dPt>
            <c:idx val="5"/>
            <c:invertIfNegative val="0"/>
            <c:bubble3D val="0"/>
            <c:spPr>
              <a:solidFill>
                <a:srgbClr val="3B82F6"/>
              </a:solidFill>
              <a:effectLst/>
            </c:spPr>
          </c:dPt>
          <c:dPt>
            <c:idx val="6"/>
            <c:invertIfNegative val="0"/>
            <c:bubble3D val="0"/>
            <c:spPr>
              <a:solidFill>
                <a:srgbClr val="3B82F6"/>
              </a:solidFill>
              <a:effectLst/>
            </c:spPr>
          </c:dPt>
          <c:dPt>
            <c:idx val="7"/>
            <c:invertIfNegative val="0"/>
            <c:bubble3D val="0"/>
            <c:spPr>
              <a:solidFill>
                <a:srgbClr val="3B82F6"/>
              </a:solidFill>
              <a:effectLst/>
            </c:spPr>
          </c:dPt>
          <c:dPt>
            <c:idx val="8"/>
            <c:invertIfNegative val="0"/>
            <c:bubble3D val="0"/>
            <c:spPr>
              <a:solidFill>
                <a:srgbClr val="3B82F6"/>
              </a:solidFill>
              <a:effectLst/>
            </c:spPr>
          </c:dPt>
          <c:cat>
            <c:multiLvlStrRef>
              <c:f>Sheet1!$A$2:$A$10</c:f>
              <c:multiLvlStrCache>
                <c:ptCount val="9"/>
                <c:lvl>
                  <c:pt idx="0">
                    <c:v>[32,16]
1.985 pesos</c:v>
                  </c:pt>
                  <c:pt idx="1">
                    <c:v>[48,24]
3.361 pesos</c:v>
                  </c:pt>
                  <c:pt idx="2">
                    <c:v>[64,32]
4.993 pesos</c:v>
                  </c:pt>
                  <c:pt idx="3">
                    <c:v>[64,32,16]
5.505 pesos</c:v>
                  </c:pt>
                  <c:pt idx="4">
                    <c:v>[96,48,24]
10.177 pesos</c:v>
                  </c:pt>
                  <c:pt idx="5">
                    <c:v>[128,64,32]
16.129 pesos</c:v>
                  </c:pt>
                  <c:pt idx="6">
                    <c:v>[128,64,32,16]
16.641 pesos</c:v>
                  </c:pt>
                  <c:pt idx="7">
                    <c:v>[128,96,48,24]
24.001 pesos</c:v>
                  </c:pt>
                  <c:pt idx="8">
                    <c:v>[160,96,48,24]
28.513 pesos</c:v>
                  </c:pt>
                </c:lvl>
              </c:multiLvlStrCache>
            </c:multiLvlStrRef>
          </c:cat>
          <c:val>
            <c:numRef>
              <c:f>Sheet1!$B$2:$B$10</c:f>
              <c:numCache>
                <c:formatCode>General</c:formatCode>
                <c:ptCount val="9"/>
                <c:pt idx="0">
                  <c:v>0.75225</c:v>
                </c:pt>
                <c:pt idx="1">
                  <c:v>0.75082</c:v>
                </c:pt>
                <c:pt idx="2">
                  <c:v>0.75038</c:v>
                </c:pt>
                <c:pt idx="3">
                  <c:v>0.75053</c:v>
                </c:pt>
                <c:pt idx="4">
                  <c:v>0.74899</c:v>
                </c:pt>
                <c:pt idx="5">
                  <c:v>0.74927</c:v>
                </c:pt>
                <c:pt idx="6">
                  <c:v>0.75052</c:v>
                </c:pt>
                <c:pt idx="7">
                  <c:v>0.74982</c:v>
                </c:pt>
                <c:pt idx="8">
                  <c:v>0.74897</c:v>
                </c:pt>
              </c:numCache>
            </c:numRef>
          </c:val>
        </c:ser>
        <c:dLbls>
          <c:numFmt formatCode="0.0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5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4"/>
          <c:min val="0.745"/>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AUC según el dropout</a:t>
            </a:r>
          </a:p>
        </c:rich>
      </c:tx>
      <c:layout/>
      <c:overlay val="0"/>
    </c:title>
    <c:autoTitleDeleted val="0"/>
    <c:plotArea>
      <c:layout/>
      <c:lineChart>
        <c:varyColors val="0"/>
        <c:ser>
          <c:idx val="0"/>
          <c:order val="0"/>
          <c:tx>
            <c:strRef>
              <c:f>Sheet1!$B$1</c:f>
              <c:strCache>
                <c:ptCount val="1"/>
                <c:pt idx="0">
                  <c:v>AUC en 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7"/>
            <c:spPr>
              <a:solidFill>
                <a:srgbClr val="F59E0B"/>
              </a:solidFill>
              <a:ln w="9525" cap="flat">
                <a:solidFill>
                  <a:srgbClr val="F59E0B"/>
                </a:solidFill>
                <a:prstDash val="solid"/>
                <a:round/>
              </a:ln>
              <a:effectLst/>
            </c:spPr>
          </c:marker>
          <c:cat>
            <c:multiLvlStrRef>
              <c:f>Sheet1!$A$2:$A$7</c:f>
              <c:multiLvlStrCache>
                <c:ptCount val="6"/>
                <c:lvl>
                  <c:pt idx="0">
                    <c:v>0 %</c:v>
                  </c:pt>
                  <c:pt idx="1">
                    <c:v>10 %</c:v>
                  </c:pt>
                  <c:pt idx="2">
                    <c:v>15 %</c:v>
                  </c:pt>
                  <c:pt idx="3">
                    <c:v>20 %</c:v>
                  </c:pt>
                  <c:pt idx="4">
                    <c:v>30 %</c:v>
                  </c:pt>
                  <c:pt idx="5">
                    <c:v>40 %</c:v>
                  </c:pt>
                </c:lvl>
              </c:multiLvlStrCache>
            </c:multiLvlStrRef>
          </c:cat>
          <c:val>
            <c:numRef>
              <c:f>Sheet1!$B$2:$B$7</c:f>
              <c:numCache>
                <c:formatCode>General</c:formatCode>
                <c:ptCount val="6"/>
                <c:pt idx="0">
                  <c:v>0.74471</c:v>
                </c:pt>
                <c:pt idx="1">
                  <c:v>0.75125</c:v>
                </c:pt>
                <c:pt idx="2">
                  <c:v>0.75043</c:v>
                </c:pt>
                <c:pt idx="3">
                  <c:v>0.75053</c:v>
                </c:pt>
                <c:pt idx="4">
                  <c:v>0.74963</c:v>
                </c:pt>
                <c:pt idx="5">
                  <c:v>0.74844</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2"/>
          <c:min val="0.744"/>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AUC en validación según las variables usadas</a:t>
            </a:r>
          </a:p>
        </c:rich>
      </c:tx>
      <c:layout/>
      <c:overlay val="0"/>
    </c:title>
    <c:autoTitleDeleted val="0"/>
    <c:plotArea>
      <c:layout/>
      <c:barChart>
        <c:barDir val="col"/>
        <c:grouping val="clustered"/>
        <c:varyColors val="0"/>
        <c:ser>
          <c:idx val="0"/>
          <c:order val="0"/>
          <c:tx>
            <c:strRef>
              <c:f>Sheet1!$B$1</c:f>
              <c:strCache>
                <c:ptCount val="1"/>
                <c:pt idx="0">
                  <c:v>AUC</c:v>
                </c:pt>
              </c:strCache>
            </c:strRef>
          </c:tx>
          <c:spPr>
            <a:solidFill>
              <a:srgbClr val="475569"/>
            </a:solidFill>
            <a:effectLst/>
          </c:spPr>
          <c:invertIfNegative val="0"/>
          <c:dLbls>
            <c:numFmt formatCode="0.000"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dPt>
            <c:idx val="0"/>
            <c:invertIfNegative val="0"/>
            <c:bubble3D val="0"/>
            <c:spPr>
              <a:solidFill>
                <a:srgbClr val="475569"/>
              </a:solidFill>
              <a:effectLst/>
            </c:spPr>
          </c:dPt>
          <c:dPt>
            <c:idx val="1"/>
            <c:invertIfNegative val="0"/>
            <c:bubble3D val="0"/>
            <c:spPr>
              <a:solidFill>
                <a:srgbClr val="475569"/>
              </a:solidFill>
              <a:effectLst/>
            </c:spPr>
          </c:dPt>
          <c:dPt>
            <c:idx val="2"/>
            <c:invertIfNegative val="0"/>
            <c:bubble3D val="0"/>
            <c:spPr>
              <a:solidFill>
                <a:srgbClr val="475569"/>
              </a:solidFill>
              <a:effectLst/>
            </c:spPr>
          </c:dPt>
          <c:dPt>
            <c:idx val="3"/>
            <c:invertIfNegative val="0"/>
            <c:bubble3D val="0"/>
            <c:spPr>
              <a:solidFill>
                <a:srgbClr val="3B82F6"/>
              </a:solidFill>
              <a:effectLst/>
            </c:spPr>
          </c:dPt>
          <c:dPt>
            <c:idx val="4"/>
            <c:invertIfNegative val="0"/>
            <c:bubble3D val="0"/>
            <c:spPr>
              <a:solidFill>
                <a:srgbClr val="475569"/>
              </a:solidFill>
              <a:effectLst/>
            </c:spPr>
          </c:dPt>
          <c:cat>
            <c:multiLvlStrRef>
              <c:f>Sheet1!$A$2:$A$6</c:f>
              <c:multiLvlStrCache>
                <c:ptCount val="5"/>
                <c:lvl>
                  <c:pt idx="0">
                    <c:v>Solo financieras
(9)</c:v>
                  </c:pt>
                  <c:pt idx="1">
                    <c:v>Financieras +
comportamiento (21)</c:v>
                  </c:pt>
                  <c:pt idx="2">
                    <c:v>Sin 4 redundantes
(35)</c:v>
                  </c:pt>
                  <c:pt idx="3">
                    <c:v>Las 44
(elegido)</c:v>
                  </c:pt>
                  <c:pt idx="4">
                    <c:v>44 + 6 ratios
(50)</c:v>
                  </c:pt>
                </c:lvl>
              </c:multiLvlStrCache>
            </c:multiLvlStrRef>
          </c:cat>
          <c:val>
            <c:numRef>
              <c:f>Sheet1!$B$2:$B$6</c:f>
              <c:numCache>
                <c:formatCode>General</c:formatCode>
                <c:ptCount val="5"/>
                <c:pt idx="0">
                  <c:v>0.62789</c:v>
                </c:pt>
                <c:pt idx="1">
                  <c:v>0.74409</c:v>
                </c:pt>
                <c:pt idx="2">
                  <c:v>0.75202</c:v>
                </c:pt>
                <c:pt idx="3">
                  <c:v>0.75225</c:v>
                </c:pt>
                <c:pt idx="4">
                  <c:v>0.7518</c:v>
                </c:pt>
              </c:numCache>
            </c:numRef>
          </c:val>
        </c:ser>
        <c:dLbls>
          <c:numFmt formatCode="0.000"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7"/>
          <c:min val="0.6"/>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Sheet1!$B$2:$B$31</c:f>
              <c:numCache>
                <c:formatCode>General</c:formatCode>
                <c:ptCount val="30"/>
                <c:pt idx="0">
                  <c:v>0.6579</c:v>
                </c:pt>
                <c:pt idx="1">
                  <c:v>0.6407</c:v>
                </c:pt>
                <c:pt idx="2">
                  <c:v>0.6272</c:v>
                </c:pt>
                <c:pt idx="3">
                  <c:v>0.6168</c:v>
                </c:pt>
                <c:pt idx="4">
                  <c:v>0.6087</c:v>
                </c:pt>
                <c:pt idx="5">
                  <c:v>0.6023</c:v>
                </c:pt>
                <c:pt idx="6">
                  <c:v>0.5974</c:v>
                </c:pt>
                <c:pt idx="7">
                  <c:v>0.5935</c:v>
                </c:pt>
                <c:pt idx="8">
                  <c:v>0.5905</c:v>
                </c:pt>
                <c:pt idx="9">
                  <c:v>0.5882</c:v>
                </c:pt>
                <c:pt idx="10">
                  <c:v>0.5864</c:v>
                </c:pt>
                <c:pt idx="11">
                  <c:v>0.585</c:v>
                </c:pt>
                <c:pt idx="12">
                  <c:v>0.5839</c:v>
                </c:pt>
                <c:pt idx="13">
                  <c:v>0.583</c:v>
                </c:pt>
                <c:pt idx="14">
                  <c:v>0.5824</c:v>
                </c:pt>
                <c:pt idx="15">
                  <c:v>0.5818</c:v>
                </c:pt>
                <c:pt idx="16">
                  <c:v>0.5814</c:v>
                </c:pt>
                <c:pt idx="17">
                  <c:v>0.5811</c:v>
                </c:pt>
                <c:pt idx="18">
                  <c:v>0.5809</c:v>
                </c:pt>
                <c:pt idx="19">
                  <c:v>0.5807</c:v>
                </c:pt>
                <c:pt idx="20">
                  <c:v>0.5805</c:v>
                </c:pt>
                <c:pt idx="21">
                  <c:v>0.5804</c:v>
                </c:pt>
                <c:pt idx="22">
                  <c:v>0.5803</c:v>
                </c:pt>
                <c:pt idx="23">
                  <c:v>0.5802</c:v>
                </c:pt>
                <c:pt idx="24">
                  <c:v>0.5802</c:v>
                </c:pt>
                <c:pt idx="25">
                  <c:v>0.5802</c:v>
                </c:pt>
                <c:pt idx="26">
                  <c:v>0.5801</c:v>
                </c:pt>
                <c:pt idx="27">
                  <c:v>0.5801</c:v>
                </c:pt>
                <c:pt idx="28">
                  <c:v>0.5801</c:v>
                </c:pt>
                <c:pt idx="29">
                  <c:v>0.5801</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Sheet1!$C$2:$C$31</c:f>
              <c:numCache>
                <c:formatCode>General</c:formatCode>
                <c:ptCount val="30"/>
                <c:pt idx="0">
                  <c:v>0.6603</c:v>
                </c:pt>
                <c:pt idx="1">
                  <c:v>0.645</c:v>
                </c:pt>
                <c:pt idx="2">
                  <c:v>0.6331</c:v>
                </c:pt>
                <c:pt idx="3">
                  <c:v>0.6239</c:v>
                </c:pt>
                <c:pt idx="4">
                  <c:v>0.6168</c:v>
                </c:pt>
                <c:pt idx="5">
                  <c:v>0.6113</c:v>
                </c:pt>
                <c:pt idx="6">
                  <c:v>0.607</c:v>
                </c:pt>
                <c:pt idx="7">
                  <c:v>0.6038</c:v>
                </c:pt>
                <c:pt idx="8">
                  <c:v>0.6013</c:v>
                </c:pt>
                <c:pt idx="9">
                  <c:v>0.5994</c:v>
                </c:pt>
                <c:pt idx="10">
                  <c:v>0.598</c:v>
                </c:pt>
                <c:pt idx="11">
                  <c:v>0.5969</c:v>
                </c:pt>
                <c:pt idx="12">
                  <c:v>0.5961</c:v>
                </c:pt>
                <c:pt idx="13">
                  <c:v>0.5955</c:v>
                </c:pt>
                <c:pt idx="14">
                  <c:v>0.5951</c:v>
                </c:pt>
                <c:pt idx="15">
                  <c:v>0.5948</c:v>
                </c:pt>
                <c:pt idx="16">
                  <c:v>0.5947</c:v>
                </c:pt>
                <c:pt idx="17">
                  <c:v>0.5946</c:v>
                </c:pt>
                <c:pt idx="18">
                  <c:v>0.5946</c:v>
                </c:pt>
                <c:pt idx="19">
                  <c:v>0.5946</c:v>
                </c:pt>
                <c:pt idx="20">
                  <c:v>0.5947</c:v>
                </c:pt>
                <c:pt idx="21">
                  <c:v>0.5948</c:v>
                </c:pt>
                <c:pt idx="22">
                  <c:v>0.5949</c:v>
                </c:pt>
                <c:pt idx="23">
                  <c:v>0.595</c:v>
                </c:pt>
                <c:pt idx="24">
                  <c:v>0.5952</c:v>
                </c:pt>
                <c:pt idx="25">
                  <c:v>0.5953</c:v>
                </c:pt>
                <c:pt idx="26">
                  <c:v>0.5955</c:v>
                </c:pt>
                <c:pt idx="27">
                  <c:v>0.5957</c:v>
                </c:pt>
                <c:pt idx="28">
                  <c:v>0.5959</c:v>
                </c:pt>
                <c:pt idx="29">
                  <c:v>0.596</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l"/>
        <c:majorGridlines>
          <c:spPr>
            <a:ln w="9525" cap="flat">
              <a:solidFill>
                <a:srgbClr val="1E293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b"/>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Sheet1!$B$2:$B$31</c:f>
              <c:numCache>
                <c:formatCode>General</c:formatCode>
                <c:ptCount val="30"/>
                <c:pt idx="0">
                  <c:v>0.5848</c:v>
                </c:pt>
                <c:pt idx="1">
                  <c:v>0.5265</c:v>
                </c:pt>
                <c:pt idx="2">
                  <c:v>0.4742</c:v>
                </c:pt>
                <c:pt idx="3">
                  <c:v>0.4275</c:v>
                </c:pt>
                <c:pt idx="4">
                  <c:v>0.3857</c:v>
                </c:pt>
                <c:pt idx="5">
                  <c:v>0.3483</c:v>
                </c:pt>
                <c:pt idx="6">
                  <c:v>0.3148</c:v>
                </c:pt>
                <c:pt idx="7">
                  <c:v>0.2849</c:v>
                </c:pt>
                <c:pt idx="8">
                  <c:v>0.2581</c:v>
                </c:pt>
                <c:pt idx="9">
                  <c:v>0.2341</c:v>
                </c:pt>
                <c:pt idx="10">
                  <c:v>0.2126</c:v>
                </c:pt>
                <c:pt idx="11">
                  <c:v>0.1934</c:v>
                </c:pt>
                <c:pt idx="12">
                  <c:v>0.1762</c:v>
                </c:pt>
                <c:pt idx="13">
                  <c:v>0.1609</c:v>
                </c:pt>
                <c:pt idx="14">
                  <c:v>0.1471</c:v>
                </c:pt>
                <c:pt idx="15">
                  <c:v>0.1348</c:v>
                </c:pt>
                <c:pt idx="16">
                  <c:v>0.1238</c:v>
                </c:pt>
                <c:pt idx="17">
                  <c:v>0.1139</c:v>
                </c:pt>
                <c:pt idx="18">
                  <c:v>0.1051</c:v>
                </c:pt>
                <c:pt idx="19">
                  <c:v>0.0972</c:v>
                </c:pt>
                <c:pt idx="20">
                  <c:v>0.0901</c:v>
                </c:pt>
                <c:pt idx="21">
                  <c:v>0.0838</c:v>
                </c:pt>
                <c:pt idx="22">
                  <c:v>0.0781</c:v>
                </c:pt>
                <c:pt idx="23">
                  <c:v>0.0731</c:v>
                </c:pt>
                <c:pt idx="24">
                  <c:v>0.0685</c:v>
                </c:pt>
                <c:pt idx="25">
                  <c:v>0.0645</c:v>
                </c:pt>
                <c:pt idx="26">
                  <c:v>0.0609</c:v>
                </c:pt>
                <c:pt idx="27">
                  <c:v>0.0576</c:v>
                </c:pt>
                <c:pt idx="28">
                  <c:v>0.0547</c:v>
                </c:pt>
                <c:pt idx="29">
                  <c:v>0.0521</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Sheet1!$C$2:$C$31</c:f>
              <c:numCache>
                <c:formatCode>General</c:formatCode>
                <c:ptCount val="30"/>
                <c:pt idx="0">
                  <c:v>0.6717</c:v>
                </c:pt>
                <c:pt idx="1">
                  <c:v>0.6513</c:v>
                </c:pt>
                <c:pt idx="2">
                  <c:v>0.6368</c:v>
                </c:pt>
                <c:pt idx="3">
                  <c:v>0.6264</c:v>
                </c:pt>
                <c:pt idx="4">
                  <c:v>0.6189</c:v>
                </c:pt>
                <c:pt idx="5">
                  <c:v>0.6135</c:v>
                </c:pt>
                <c:pt idx="6">
                  <c:v>0.6097</c:v>
                </c:pt>
                <c:pt idx="7">
                  <c:v>0.6069</c:v>
                </c:pt>
                <c:pt idx="8">
                  <c:v>0.63</c:v>
                </c:pt>
                <c:pt idx="9">
                  <c:v>0.6536</c:v>
                </c:pt>
                <c:pt idx="10">
                  <c:v>0.6776</c:v>
                </c:pt>
                <c:pt idx="11">
                  <c:v>0.7018</c:v>
                </c:pt>
                <c:pt idx="12">
                  <c:v>0.7263</c:v>
                </c:pt>
                <c:pt idx="13">
                  <c:v>0.7509</c:v>
                </c:pt>
                <c:pt idx="14">
                  <c:v>0.7757</c:v>
                </c:pt>
                <c:pt idx="15">
                  <c:v>0.8005</c:v>
                </c:pt>
                <c:pt idx="16">
                  <c:v>0.8253</c:v>
                </c:pt>
                <c:pt idx="17">
                  <c:v>0.8502</c:v>
                </c:pt>
                <c:pt idx="18">
                  <c:v>0.8752</c:v>
                </c:pt>
                <c:pt idx="19">
                  <c:v>0.9001</c:v>
                </c:pt>
                <c:pt idx="20">
                  <c:v>0.9251</c:v>
                </c:pt>
                <c:pt idx="21">
                  <c:v>0.9501</c:v>
                </c:pt>
                <c:pt idx="22">
                  <c:v>0.975</c:v>
                </c:pt>
                <c:pt idx="23">
                  <c:v>1</c:v>
                </c:pt>
                <c:pt idx="24">
                  <c:v>1.025</c:v>
                </c:pt>
                <c:pt idx="25">
                  <c:v>1.05</c:v>
                </c:pt>
                <c:pt idx="26">
                  <c:v>1.075</c:v>
                </c:pt>
                <c:pt idx="27">
                  <c:v>1.1</c:v>
                </c:pt>
                <c:pt idx="28">
                  <c:v>1.125</c:v>
                </c:pt>
                <c:pt idx="29">
                  <c:v>1.15</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l"/>
        <c:majorGridlines>
          <c:spPr>
            <a:ln w="9525" cap="flat">
              <a:solidFill>
                <a:srgbClr val="1E293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b"/>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1 · ReLU · 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Sheet1!$A$2:$A$45</c:f>
              <c:multiLvlStrCache>
                <c:ptCount val="4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lvl>
              </c:multiLvlStrCache>
            </c:multiLvlStrRef>
          </c:cat>
          <c:val>
            <c:numRef>
              <c:f>Sheet1!$B$2:$B$45</c:f>
              <c:numCache>
                <c:formatCode>General</c:formatCode>
                <c:ptCount val="44"/>
                <c:pt idx="0">
                  <c:v>0.6267</c:v>
                </c:pt>
                <c:pt idx="1">
                  <c:v>0.6083</c:v>
                </c:pt>
                <c:pt idx="2">
                  <c:v>0.6018</c:v>
                </c:pt>
                <c:pt idx="3">
                  <c:v>0.5982</c:v>
                </c:pt>
                <c:pt idx="4">
                  <c:v>0.596</c:v>
                </c:pt>
                <c:pt idx="5">
                  <c:v>0.5943</c:v>
                </c:pt>
                <c:pt idx="6">
                  <c:v>0.5931</c:v>
                </c:pt>
                <c:pt idx="7">
                  <c:v>0.5924</c:v>
                </c:pt>
                <c:pt idx="8">
                  <c:v>0.5913</c:v>
                </c:pt>
                <c:pt idx="9">
                  <c:v>0.5909</c:v>
                </c:pt>
                <c:pt idx="10">
                  <c:v>0.5899</c:v>
                </c:pt>
                <c:pt idx="11">
                  <c:v>0.5898</c:v>
                </c:pt>
                <c:pt idx="12">
                  <c:v>0.589</c:v>
                </c:pt>
                <c:pt idx="13">
                  <c:v>0.5886</c:v>
                </c:pt>
                <c:pt idx="14">
                  <c:v>0.5887</c:v>
                </c:pt>
                <c:pt idx="15">
                  <c:v>0.5876</c:v>
                </c:pt>
                <c:pt idx="16">
                  <c:v>0.5868</c:v>
                </c:pt>
                <c:pt idx="17">
                  <c:v>0.5864</c:v>
                </c:pt>
                <c:pt idx="18">
                  <c:v>0.5866</c:v>
                </c:pt>
                <c:pt idx="19">
                  <c:v>0.5858</c:v>
                </c:pt>
                <c:pt idx="20">
                  <c:v>0.5853</c:v>
                </c:pt>
                <c:pt idx="21">
                  <c:v>0.5851</c:v>
                </c:pt>
                <c:pt idx="22">
                  <c:v>0.5848</c:v>
                </c:pt>
                <c:pt idx="23">
                  <c:v>0.5845</c:v>
                </c:pt>
                <c:pt idx="24">
                  <c:v>0.5842</c:v>
                </c:pt>
                <c:pt idx="25">
                  <c:v>0.5842</c:v>
                </c:pt>
                <c:pt idx="26">
                  <c:v>0.5841</c:v>
                </c:pt>
                <c:pt idx="27">
                  <c:v>0.5837</c:v>
                </c:pt>
                <c:pt idx="28">
                  <c:v>0.5837</c:v>
                </c:pt>
                <c:pt idx="29">
                  <c:v>0.5836</c:v>
                </c:pt>
                <c:pt idx="30">
                  <c:v>0.5832</c:v>
                </c:pt>
                <c:pt idx="31">
                  <c:v>0.5829</c:v>
                </c:pt>
                <c:pt idx="32">
                  <c:v>0.5826</c:v>
                </c:pt>
                <c:pt idx="33">
                  <c:v>0.5822</c:v>
                </c:pt>
                <c:pt idx="34">
                  <c:v>0.5821</c:v>
                </c:pt>
                <c:pt idx="35">
                  <c:v>0.5818</c:v>
                </c:pt>
                <c:pt idx="36">
                  <c:v>0.5818</c:v>
                </c:pt>
                <c:pt idx="37">
                  <c:v>0.5816</c:v>
                </c:pt>
                <c:pt idx="38">
                  <c:v>0.5816</c:v>
                </c:pt>
                <c:pt idx="39">
                  <c:v>0.5815</c:v>
                </c:pt>
                <c:pt idx="40">
                  <c:v>0.5813</c:v>
                </c:pt>
                <c:pt idx="41">
                  <c:v>0.5813</c:v>
                </c:pt>
                <c:pt idx="42">
                  <c:v>0.5812</c:v>
                </c:pt>
                <c:pt idx="43">
                  <c:v>0.5812</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Sheet1!$A$2:$A$45</c:f>
              <c:multiLvlStrCache>
                <c:ptCount val="4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lvl>
              </c:multiLvlStrCache>
            </c:multiLvlStrRef>
          </c:cat>
          <c:val>
            <c:numRef>
              <c:f>Sheet1!$C$2:$C$45</c:f>
              <c:numCache>
                <c:formatCode>General</c:formatCode>
                <c:ptCount val="44"/>
                <c:pt idx="0">
                  <c:v>0.6269</c:v>
                </c:pt>
                <c:pt idx="1">
                  <c:v>0.6095</c:v>
                </c:pt>
                <c:pt idx="2">
                  <c:v>0.6036</c:v>
                </c:pt>
                <c:pt idx="3">
                  <c:v>0.5997</c:v>
                </c:pt>
                <c:pt idx="4">
                  <c:v>0.5978</c:v>
                </c:pt>
                <c:pt idx="5">
                  <c:v>0.5966</c:v>
                </c:pt>
                <c:pt idx="6">
                  <c:v>0.5958</c:v>
                </c:pt>
                <c:pt idx="7">
                  <c:v>0.5948</c:v>
                </c:pt>
                <c:pt idx="8">
                  <c:v>0.5939</c:v>
                </c:pt>
                <c:pt idx="9">
                  <c:v>0.5943</c:v>
                </c:pt>
                <c:pt idx="10">
                  <c:v>0.594</c:v>
                </c:pt>
                <c:pt idx="11">
                  <c:v>0.5938</c:v>
                </c:pt>
                <c:pt idx="12">
                  <c:v>0.5931</c:v>
                </c:pt>
                <c:pt idx="13">
                  <c:v>0.5929</c:v>
                </c:pt>
                <c:pt idx="14">
                  <c:v>0.5928</c:v>
                </c:pt>
                <c:pt idx="15">
                  <c:v>0.5922</c:v>
                </c:pt>
                <c:pt idx="16">
                  <c:v>0.5921</c:v>
                </c:pt>
                <c:pt idx="17">
                  <c:v>0.5921</c:v>
                </c:pt>
                <c:pt idx="18">
                  <c:v>0.5921</c:v>
                </c:pt>
                <c:pt idx="19">
                  <c:v>0.592</c:v>
                </c:pt>
                <c:pt idx="20">
                  <c:v>0.5922</c:v>
                </c:pt>
                <c:pt idx="21">
                  <c:v>0.5919</c:v>
                </c:pt>
                <c:pt idx="22">
                  <c:v>0.5918</c:v>
                </c:pt>
                <c:pt idx="23">
                  <c:v>0.5915</c:v>
                </c:pt>
                <c:pt idx="24">
                  <c:v>0.5915</c:v>
                </c:pt>
                <c:pt idx="25">
                  <c:v>0.5914</c:v>
                </c:pt>
                <c:pt idx="26">
                  <c:v>0.5914</c:v>
                </c:pt>
                <c:pt idx="27">
                  <c:v>0.5911</c:v>
                </c:pt>
                <c:pt idx="28">
                  <c:v>0.5913</c:v>
                </c:pt>
                <c:pt idx="29">
                  <c:v>0.5915</c:v>
                </c:pt>
                <c:pt idx="30">
                  <c:v>0.5915</c:v>
                </c:pt>
                <c:pt idx="31">
                  <c:v>0.5912</c:v>
                </c:pt>
                <c:pt idx="32">
                  <c:v>0.5912</c:v>
                </c:pt>
                <c:pt idx="33">
                  <c:v>0.5911</c:v>
                </c:pt>
                <c:pt idx="34">
                  <c:v>0.5911</c:v>
                </c:pt>
                <c:pt idx="35">
                  <c:v>0.5912</c:v>
                </c:pt>
                <c:pt idx="36">
                  <c:v>0.5913</c:v>
                </c:pt>
                <c:pt idx="37">
                  <c:v>0.5913</c:v>
                </c:pt>
                <c:pt idx="38">
                  <c:v>0.5913</c:v>
                </c:pt>
                <c:pt idx="39">
                  <c:v>0.5913</c:v>
                </c:pt>
                <c:pt idx="40">
                  <c:v>0.5912</c:v>
                </c:pt>
                <c:pt idx="41">
                  <c:v>0.5912</c:v>
                </c:pt>
                <c:pt idx="42">
                  <c:v>0.5912</c:v>
                </c:pt>
                <c:pt idx="43">
                  <c:v>0.5911</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63"/>
          <c:min val="0.5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0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2 · LeakyReLU · 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Sheet1!$A$2:$A$57</c:f>
              <c:multiLvlStrCache>
                <c:ptCount val="5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lvl>
              </c:multiLvlStrCache>
            </c:multiLvlStrRef>
          </c:cat>
          <c:val>
            <c:numRef>
              <c:f>Sheet1!$B$2:$B$57</c:f>
              <c:numCache>
                <c:formatCode>General</c:formatCode>
                <c:ptCount val="56"/>
                <c:pt idx="0">
                  <c:v>0.6187</c:v>
                </c:pt>
                <c:pt idx="1">
                  <c:v>0.6054</c:v>
                </c:pt>
                <c:pt idx="2">
                  <c:v>0.6008</c:v>
                </c:pt>
                <c:pt idx="3">
                  <c:v>0.5975</c:v>
                </c:pt>
                <c:pt idx="4">
                  <c:v>0.5956</c:v>
                </c:pt>
                <c:pt idx="5">
                  <c:v>0.5943</c:v>
                </c:pt>
                <c:pt idx="6">
                  <c:v>0.5931</c:v>
                </c:pt>
                <c:pt idx="7">
                  <c:v>0.5923</c:v>
                </c:pt>
                <c:pt idx="8">
                  <c:v>0.5916</c:v>
                </c:pt>
                <c:pt idx="9">
                  <c:v>0.5906</c:v>
                </c:pt>
                <c:pt idx="10">
                  <c:v>0.5901</c:v>
                </c:pt>
                <c:pt idx="11">
                  <c:v>0.5895</c:v>
                </c:pt>
                <c:pt idx="12">
                  <c:v>0.5892</c:v>
                </c:pt>
                <c:pt idx="13">
                  <c:v>0.5887</c:v>
                </c:pt>
                <c:pt idx="14">
                  <c:v>0.5883</c:v>
                </c:pt>
                <c:pt idx="15">
                  <c:v>0.5879</c:v>
                </c:pt>
                <c:pt idx="16">
                  <c:v>0.5876</c:v>
                </c:pt>
                <c:pt idx="17">
                  <c:v>0.5872</c:v>
                </c:pt>
                <c:pt idx="18">
                  <c:v>0.5869</c:v>
                </c:pt>
                <c:pt idx="19">
                  <c:v>0.5865</c:v>
                </c:pt>
                <c:pt idx="20">
                  <c:v>0.5862</c:v>
                </c:pt>
                <c:pt idx="21">
                  <c:v>0.586</c:v>
                </c:pt>
                <c:pt idx="22">
                  <c:v>0.5856</c:v>
                </c:pt>
                <c:pt idx="23">
                  <c:v>0.5853</c:v>
                </c:pt>
                <c:pt idx="24">
                  <c:v>0.5853</c:v>
                </c:pt>
                <c:pt idx="25">
                  <c:v>0.5849</c:v>
                </c:pt>
                <c:pt idx="26">
                  <c:v>0.5847</c:v>
                </c:pt>
                <c:pt idx="27">
                  <c:v>0.5846</c:v>
                </c:pt>
                <c:pt idx="28">
                  <c:v>0.5842</c:v>
                </c:pt>
                <c:pt idx="29">
                  <c:v>0.5841</c:v>
                </c:pt>
                <c:pt idx="30">
                  <c:v>0.584</c:v>
                </c:pt>
                <c:pt idx="31">
                  <c:v>0.5838</c:v>
                </c:pt>
                <c:pt idx="32">
                  <c:v>0.5836</c:v>
                </c:pt>
                <c:pt idx="33">
                  <c:v>0.5834</c:v>
                </c:pt>
                <c:pt idx="34">
                  <c:v>0.5831</c:v>
                </c:pt>
                <c:pt idx="35">
                  <c:v>0.5829</c:v>
                </c:pt>
                <c:pt idx="36">
                  <c:v>0.5827</c:v>
                </c:pt>
                <c:pt idx="37">
                  <c:v>0.5826</c:v>
                </c:pt>
                <c:pt idx="38">
                  <c:v>0.5824</c:v>
                </c:pt>
                <c:pt idx="39">
                  <c:v>0.5823</c:v>
                </c:pt>
                <c:pt idx="40">
                  <c:v>0.5823</c:v>
                </c:pt>
                <c:pt idx="41">
                  <c:v>0.5822</c:v>
                </c:pt>
                <c:pt idx="42">
                  <c:v>0.5821</c:v>
                </c:pt>
                <c:pt idx="43">
                  <c:v>0.582</c:v>
                </c:pt>
                <c:pt idx="44">
                  <c:v>0.5819</c:v>
                </c:pt>
                <c:pt idx="45">
                  <c:v>0.5818</c:v>
                </c:pt>
                <c:pt idx="46">
                  <c:v>0.5817</c:v>
                </c:pt>
                <c:pt idx="47">
                  <c:v>0.5816</c:v>
                </c:pt>
                <c:pt idx="48">
                  <c:v>0.5815</c:v>
                </c:pt>
                <c:pt idx="49">
                  <c:v>0.5813</c:v>
                </c:pt>
                <c:pt idx="50">
                  <c:v>0.5813</c:v>
                </c:pt>
                <c:pt idx="51">
                  <c:v>0.5812</c:v>
                </c:pt>
                <c:pt idx="52">
                  <c:v>0.5811</c:v>
                </c:pt>
                <c:pt idx="53">
                  <c:v>0.5811</c:v>
                </c:pt>
                <c:pt idx="54">
                  <c:v>0.581</c:v>
                </c:pt>
                <c:pt idx="55">
                  <c:v>0.5809</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Sheet1!$A$2:$A$57</c:f>
              <c:multiLvlStrCache>
                <c:ptCount val="5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lvl>
              </c:multiLvlStrCache>
            </c:multiLvlStrRef>
          </c:cat>
          <c:val>
            <c:numRef>
              <c:f>Sheet1!$C$2:$C$57</c:f>
              <c:numCache>
                <c:formatCode>General</c:formatCode>
                <c:ptCount val="56"/>
                <c:pt idx="0">
                  <c:v>0.6167</c:v>
                </c:pt>
                <c:pt idx="1">
                  <c:v>0.604</c:v>
                </c:pt>
                <c:pt idx="2">
                  <c:v>0.5999</c:v>
                </c:pt>
                <c:pt idx="3">
                  <c:v>0.597</c:v>
                </c:pt>
                <c:pt idx="4">
                  <c:v>0.5955</c:v>
                </c:pt>
                <c:pt idx="5">
                  <c:v>0.5946</c:v>
                </c:pt>
                <c:pt idx="6">
                  <c:v>0.5941</c:v>
                </c:pt>
                <c:pt idx="7">
                  <c:v>0.5935</c:v>
                </c:pt>
                <c:pt idx="8">
                  <c:v>0.5933</c:v>
                </c:pt>
                <c:pt idx="9">
                  <c:v>0.5925</c:v>
                </c:pt>
                <c:pt idx="10">
                  <c:v>0.5923</c:v>
                </c:pt>
                <c:pt idx="11">
                  <c:v>0.5919</c:v>
                </c:pt>
                <c:pt idx="12">
                  <c:v>0.5919</c:v>
                </c:pt>
                <c:pt idx="13">
                  <c:v>0.5918</c:v>
                </c:pt>
                <c:pt idx="14">
                  <c:v>0.5917</c:v>
                </c:pt>
                <c:pt idx="15">
                  <c:v>0.5917</c:v>
                </c:pt>
                <c:pt idx="16">
                  <c:v>0.5913</c:v>
                </c:pt>
                <c:pt idx="17">
                  <c:v>0.5911</c:v>
                </c:pt>
                <c:pt idx="18">
                  <c:v>0.5911</c:v>
                </c:pt>
                <c:pt idx="19">
                  <c:v>0.591</c:v>
                </c:pt>
                <c:pt idx="20">
                  <c:v>0.591</c:v>
                </c:pt>
                <c:pt idx="21">
                  <c:v>0.591</c:v>
                </c:pt>
                <c:pt idx="22">
                  <c:v>0.5909</c:v>
                </c:pt>
                <c:pt idx="23">
                  <c:v>0.5907</c:v>
                </c:pt>
                <c:pt idx="24">
                  <c:v>0.5906</c:v>
                </c:pt>
                <c:pt idx="25">
                  <c:v>0.5905</c:v>
                </c:pt>
                <c:pt idx="26">
                  <c:v>0.5904</c:v>
                </c:pt>
                <c:pt idx="27">
                  <c:v>0.5904</c:v>
                </c:pt>
                <c:pt idx="28">
                  <c:v>0.5902</c:v>
                </c:pt>
                <c:pt idx="29">
                  <c:v>0.5904</c:v>
                </c:pt>
                <c:pt idx="30">
                  <c:v>0.5904</c:v>
                </c:pt>
                <c:pt idx="31">
                  <c:v>0.5902</c:v>
                </c:pt>
                <c:pt idx="32">
                  <c:v>0.5904</c:v>
                </c:pt>
                <c:pt idx="33">
                  <c:v>0.5904</c:v>
                </c:pt>
                <c:pt idx="34">
                  <c:v>0.5903</c:v>
                </c:pt>
                <c:pt idx="35">
                  <c:v>0.5901</c:v>
                </c:pt>
                <c:pt idx="36">
                  <c:v>0.59</c:v>
                </c:pt>
                <c:pt idx="37">
                  <c:v>0.5899</c:v>
                </c:pt>
                <c:pt idx="38">
                  <c:v>0.5897</c:v>
                </c:pt>
                <c:pt idx="39">
                  <c:v>0.5896</c:v>
                </c:pt>
                <c:pt idx="40">
                  <c:v>0.5897</c:v>
                </c:pt>
                <c:pt idx="41">
                  <c:v>0.5898</c:v>
                </c:pt>
                <c:pt idx="42">
                  <c:v>0.5897</c:v>
                </c:pt>
                <c:pt idx="43">
                  <c:v>0.5898</c:v>
                </c:pt>
                <c:pt idx="44">
                  <c:v>0.5897</c:v>
                </c:pt>
                <c:pt idx="45">
                  <c:v>0.5898</c:v>
                </c:pt>
                <c:pt idx="46">
                  <c:v>0.5898</c:v>
                </c:pt>
                <c:pt idx="47">
                  <c:v>0.5899</c:v>
                </c:pt>
                <c:pt idx="48">
                  <c:v>0.5897</c:v>
                </c:pt>
                <c:pt idx="49">
                  <c:v>0.5896</c:v>
                </c:pt>
                <c:pt idx="50">
                  <c:v>0.5896</c:v>
                </c:pt>
                <c:pt idx="51">
                  <c:v>0.5896</c:v>
                </c:pt>
                <c:pt idx="52">
                  <c:v>0.5896</c:v>
                </c:pt>
                <c:pt idx="53">
                  <c:v>0.5896</c:v>
                </c:pt>
                <c:pt idx="54">
                  <c:v>0.5896</c:v>
                </c:pt>
                <c:pt idx="55">
                  <c:v>0.5896</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63"/>
          <c:min val="0.5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0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3 · ReLU · 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Sheet1!$B$2:$B$51</c:f>
              <c:numCache>
                <c:formatCode>General</c:formatCode>
                <c:ptCount val="50"/>
                <c:pt idx="0">
                  <c:v>0.6111</c:v>
                </c:pt>
                <c:pt idx="1">
                  <c:v>0.5995</c:v>
                </c:pt>
                <c:pt idx="2">
                  <c:v>0.5954</c:v>
                </c:pt>
                <c:pt idx="3">
                  <c:v>0.5947</c:v>
                </c:pt>
                <c:pt idx="4">
                  <c:v>0.593</c:v>
                </c:pt>
                <c:pt idx="5">
                  <c:v>0.5909</c:v>
                </c:pt>
                <c:pt idx="6">
                  <c:v>0.5911</c:v>
                </c:pt>
                <c:pt idx="7">
                  <c:v>0.5901</c:v>
                </c:pt>
                <c:pt idx="8">
                  <c:v>0.5901</c:v>
                </c:pt>
                <c:pt idx="9">
                  <c:v>0.5894</c:v>
                </c:pt>
                <c:pt idx="10">
                  <c:v>0.5884</c:v>
                </c:pt>
                <c:pt idx="11">
                  <c:v>0.5878</c:v>
                </c:pt>
                <c:pt idx="12">
                  <c:v>0.588</c:v>
                </c:pt>
                <c:pt idx="13">
                  <c:v>0.5872</c:v>
                </c:pt>
                <c:pt idx="14">
                  <c:v>0.5867</c:v>
                </c:pt>
                <c:pt idx="15">
                  <c:v>0.5869</c:v>
                </c:pt>
                <c:pt idx="16">
                  <c:v>0.5854</c:v>
                </c:pt>
                <c:pt idx="17">
                  <c:v>0.5855</c:v>
                </c:pt>
                <c:pt idx="18">
                  <c:v>0.5846</c:v>
                </c:pt>
                <c:pt idx="19">
                  <c:v>0.5844</c:v>
                </c:pt>
                <c:pt idx="20">
                  <c:v>0.5837</c:v>
                </c:pt>
                <c:pt idx="21">
                  <c:v>0.5837</c:v>
                </c:pt>
                <c:pt idx="22">
                  <c:v>0.5818</c:v>
                </c:pt>
                <c:pt idx="23">
                  <c:v>0.5811</c:v>
                </c:pt>
                <c:pt idx="24">
                  <c:v>0.5811</c:v>
                </c:pt>
                <c:pt idx="25">
                  <c:v>0.5805</c:v>
                </c:pt>
                <c:pt idx="26">
                  <c:v>0.5803</c:v>
                </c:pt>
                <c:pt idx="27">
                  <c:v>0.5795</c:v>
                </c:pt>
                <c:pt idx="28">
                  <c:v>0.5799</c:v>
                </c:pt>
                <c:pt idx="29">
                  <c:v>0.5798</c:v>
                </c:pt>
                <c:pt idx="30">
                  <c:v>0.5784</c:v>
                </c:pt>
                <c:pt idx="31">
                  <c:v>0.5778</c:v>
                </c:pt>
                <c:pt idx="32">
                  <c:v>0.5776</c:v>
                </c:pt>
                <c:pt idx="33">
                  <c:v>0.5775</c:v>
                </c:pt>
                <c:pt idx="34">
                  <c:v>0.5778</c:v>
                </c:pt>
                <c:pt idx="35">
                  <c:v>0.5771</c:v>
                </c:pt>
                <c:pt idx="36">
                  <c:v>0.5767</c:v>
                </c:pt>
                <c:pt idx="37">
                  <c:v>0.5763</c:v>
                </c:pt>
                <c:pt idx="38">
                  <c:v>0.5761</c:v>
                </c:pt>
                <c:pt idx="39">
                  <c:v>0.576</c:v>
                </c:pt>
                <c:pt idx="40">
                  <c:v>0.5755</c:v>
                </c:pt>
                <c:pt idx="41">
                  <c:v>0.5757</c:v>
                </c:pt>
                <c:pt idx="42">
                  <c:v>0.5756</c:v>
                </c:pt>
                <c:pt idx="43">
                  <c:v>0.5756</c:v>
                </c:pt>
                <c:pt idx="44">
                  <c:v>0.5757</c:v>
                </c:pt>
                <c:pt idx="45">
                  <c:v>0.5753</c:v>
                </c:pt>
                <c:pt idx="46">
                  <c:v>0.5754</c:v>
                </c:pt>
                <c:pt idx="47">
                  <c:v>0.5754</c:v>
                </c:pt>
                <c:pt idx="48">
                  <c:v>0.5753</c:v>
                </c:pt>
                <c:pt idx="49">
                  <c:v>0.5752</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Sheet1!$C$2:$C$51</c:f>
              <c:numCache>
                <c:formatCode>General</c:formatCode>
                <c:ptCount val="50"/>
                <c:pt idx="0">
                  <c:v>0.6146</c:v>
                </c:pt>
                <c:pt idx="1">
                  <c:v>0.6033</c:v>
                </c:pt>
                <c:pt idx="2">
                  <c:v>0.5985</c:v>
                </c:pt>
                <c:pt idx="3">
                  <c:v>0.5988</c:v>
                </c:pt>
                <c:pt idx="4">
                  <c:v>0.5967</c:v>
                </c:pt>
                <c:pt idx="5">
                  <c:v>0.5956</c:v>
                </c:pt>
                <c:pt idx="6">
                  <c:v>0.596</c:v>
                </c:pt>
                <c:pt idx="7">
                  <c:v>0.5952</c:v>
                </c:pt>
                <c:pt idx="8">
                  <c:v>0.5958</c:v>
                </c:pt>
                <c:pt idx="9">
                  <c:v>0.5945</c:v>
                </c:pt>
                <c:pt idx="10">
                  <c:v>0.5941</c:v>
                </c:pt>
                <c:pt idx="11">
                  <c:v>0.5937</c:v>
                </c:pt>
                <c:pt idx="12">
                  <c:v>0.594</c:v>
                </c:pt>
                <c:pt idx="13">
                  <c:v>0.5937</c:v>
                </c:pt>
                <c:pt idx="14">
                  <c:v>0.5936</c:v>
                </c:pt>
                <c:pt idx="15">
                  <c:v>0.5943</c:v>
                </c:pt>
                <c:pt idx="16">
                  <c:v>0.593</c:v>
                </c:pt>
                <c:pt idx="17">
                  <c:v>0.5933</c:v>
                </c:pt>
                <c:pt idx="18">
                  <c:v>0.5929</c:v>
                </c:pt>
                <c:pt idx="19">
                  <c:v>0.5933</c:v>
                </c:pt>
                <c:pt idx="20">
                  <c:v>0.5932</c:v>
                </c:pt>
                <c:pt idx="21">
                  <c:v>0.593</c:v>
                </c:pt>
                <c:pt idx="22">
                  <c:v>0.5924</c:v>
                </c:pt>
                <c:pt idx="23">
                  <c:v>0.592</c:v>
                </c:pt>
                <c:pt idx="24">
                  <c:v>0.5923</c:v>
                </c:pt>
                <c:pt idx="25">
                  <c:v>0.5924</c:v>
                </c:pt>
                <c:pt idx="26">
                  <c:v>0.5923</c:v>
                </c:pt>
                <c:pt idx="27">
                  <c:v>0.5917</c:v>
                </c:pt>
                <c:pt idx="28">
                  <c:v>0.5921</c:v>
                </c:pt>
                <c:pt idx="29">
                  <c:v>0.5925</c:v>
                </c:pt>
                <c:pt idx="30">
                  <c:v>0.5914</c:v>
                </c:pt>
                <c:pt idx="31">
                  <c:v>0.5915</c:v>
                </c:pt>
                <c:pt idx="32">
                  <c:v>0.5917</c:v>
                </c:pt>
                <c:pt idx="33">
                  <c:v>0.5917</c:v>
                </c:pt>
                <c:pt idx="34">
                  <c:v>0.5919</c:v>
                </c:pt>
                <c:pt idx="35">
                  <c:v>0.5915</c:v>
                </c:pt>
                <c:pt idx="36">
                  <c:v>0.5914</c:v>
                </c:pt>
                <c:pt idx="37">
                  <c:v>0.5914</c:v>
                </c:pt>
                <c:pt idx="38">
                  <c:v>0.5914</c:v>
                </c:pt>
                <c:pt idx="39">
                  <c:v>0.5916</c:v>
                </c:pt>
                <c:pt idx="40">
                  <c:v>0.5916</c:v>
                </c:pt>
                <c:pt idx="41">
                  <c:v>0.5917</c:v>
                </c:pt>
                <c:pt idx="42">
                  <c:v>0.5918</c:v>
                </c:pt>
                <c:pt idx="43">
                  <c:v>0.5919</c:v>
                </c:pt>
                <c:pt idx="44">
                  <c:v>0.5919</c:v>
                </c:pt>
                <c:pt idx="45">
                  <c:v>0.5917</c:v>
                </c:pt>
                <c:pt idx="46">
                  <c:v>0.5918</c:v>
                </c:pt>
                <c:pt idx="47">
                  <c:v>0.5919</c:v>
                </c:pt>
                <c:pt idx="48">
                  <c:v>0.5919</c:v>
                </c:pt>
                <c:pt idx="49">
                  <c:v>0.5918</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63"/>
          <c:min val="0.5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0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1 entrenada 150 épocas sin parada temprana · 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Sheet1!$A$2:$A$151</c:f>
              <c:multiLvlStrCache>
                <c:ptCount val="1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lvl>
              </c:multiLvlStrCache>
            </c:multiLvlStrRef>
          </c:cat>
          <c:val>
            <c:numRef>
              <c:f>Sheet1!$B$2:$B$151</c:f>
              <c:numCache>
                <c:formatCode>General</c:formatCode>
                <c:ptCount val="150"/>
                <c:pt idx="0">
                  <c:v>0.6267</c:v>
                </c:pt>
                <c:pt idx="1">
                  <c:v>0.6083</c:v>
                </c:pt>
                <c:pt idx="2">
                  <c:v>0.6018</c:v>
                </c:pt>
                <c:pt idx="3">
                  <c:v>0.5982</c:v>
                </c:pt>
                <c:pt idx="4">
                  <c:v>0.596</c:v>
                </c:pt>
                <c:pt idx="5">
                  <c:v>0.5943</c:v>
                </c:pt>
                <c:pt idx="6">
                  <c:v>0.5931</c:v>
                </c:pt>
                <c:pt idx="7">
                  <c:v>0.5924</c:v>
                </c:pt>
                <c:pt idx="8">
                  <c:v>0.5913</c:v>
                </c:pt>
                <c:pt idx="9">
                  <c:v>0.5909</c:v>
                </c:pt>
                <c:pt idx="10">
                  <c:v>0.5899</c:v>
                </c:pt>
                <c:pt idx="11">
                  <c:v>0.5898</c:v>
                </c:pt>
                <c:pt idx="12">
                  <c:v>0.589</c:v>
                </c:pt>
                <c:pt idx="13">
                  <c:v>0.5886</c:v>
                </c:pt>
                <c:pt idx="14">
                  <c:v>0.5887</c:v>
                </c:pt>
                <c:pt idx="15">
                  <c:v>0.5876</c:v>
                </c:pt>
                <c:pt idx="16">
                  <c:v>0.5868</c:v>
                </c:pt>
                <c:pt idx="17">
                  <c:v>0.5864</c:v>
                </c:pt>
                <c:pt idx="18">
                  <c:v>0.5866</c:v>
                </c:pt>
                <c:pt idx="19">
                  <c:v>0.5858</c:v>
                </c:pt>
                <c:pt idx="20">
                  <c:v>0.5853</c:v>
                </c:pt>
                <c:pt idx="21">
                  <c:v>0.5852</c:v>
                </c:pt>
                <c:pt idx="22">
                  <c:v>0.5847</c:v>
                </c:pt>
                <c:pt idx="23">
                  <c:v>0.5844</c:v>
                </c:pt>
                <c:pt idx="24">
                  <c:v>0.5842</c:v>
                </c:pt>
                <c:pt idx="25">
                  <c:v>0.5837</c:v>
                </c:pt>
                <c:pt idx="26">
                  <c:v>0.5837</c:v>
                </c:pt>
                <c:pt idx="27">
                  <c:v>0.5828</c:v>
                </c:pt>
                <c:pt idx="28">
                  <c:v>0.5828</c:v>
                </c:pt>
                <c:pt idx="29">
                  <c:v>0.5825</c:v>
                </c:pt>
                <c:pt idx="30">
                  <c:v>0.5817</c:v>
                </c:pt>
                <c:pt idx="31">
                  <c:v>0.5812</c:v>
                </c:pt>
                <c:pt idx="32">
                  <c:v>0.5808</c:v>
                </c:pt>
                <c:pt idx="33">
                  <c:v>0.5802</c:v>
                </c:pt>
                <c:pt idx="34">
                  <c:v>0.5801</c:v>
                </c:pt>
                <c:pt idx="35">
                  <c:v>0.5794</c:v>
                </c:pt>
                <c:pt idx="36">
                  <c:v>0.5792</c:v>
                </c:pt>
                <c:pt idx="37">
                  <c:v>0.5784</c:v>
                </c:pt>
                <c:pt idx="38">
                  <c:v>0.5787</c:v>
                </c:pt>
                <c:pt idx="39">
                  <c:v>0.5778</c:v>
                </c:pt>
                <c:pt idx="40">
                  <c:v>0.5771</c:v>
                </c:pt>
                <c:pt idx="41">
                  <c:v>0.5768</c:v>
                </c:pt>
                <c:pt idx="42">
                  <c:v>0.5764</c:v>
                </c:pt>
                <c:pt idx="43">
                  <c:v>0.5763</c:v>
                </c:pt>
                <c:pt idx="44">
                  <c:v>0.5755</c:v>
                </c:pt>
                <c:pt idx="45">
                  <c:v>0.5751</c:v>
                </c:pt>
                <c:pt idx="46">
                  <c:v>0.5745</c:v>
                </c:pt>
                <c:pt idx="47">
                  <c:v>0.5746</c:v>
                </c:pt>
                <c:pt idx="48">
                  <c:v>0.5741</c:v>
                </c:pt>
                <c:pt idx="49">
                  <c:v>0.5734</c:v>
                </c:pt>
                <c:pt idx="50">
                  <c:v>0.5737</c:v>
                </c:pt>
                <c:pt idx="51">
                  <c:v>0.5726</c:v>
                </c:pt>
                <c:pt idx="52">
                  <c:v>0.5727</c:v>
                </c:pt>
                <c:pt idx="53">
                  <c:v>0.5721</c:v>
                </c:pt>
                <c:pt idx="54">
                  <c:v>0.5719</c:v>
                </c:pt>
                <c:pt idx="55">
                  <c:v>0.5706</c:v>
                </c:pt>
                <c:pt idx="56">
                  <c:v>0.5709</c:v>
                </c:pt>
                <c:pt idx="57">
                  <c:v>0.5703</c:v>
                </c:pt>
                <c:pt idx="58">
                  <c:v>0.5699</c:v>
                </c:pt>
                <c:pt idx="59">
                  <c:v>0.5697</c:v>
                </c:pt>
                <c:pt idx="60">
                  <c:v>0.5693</c:v>
                </c:pt>
                <c:pt idx="61">
                  <c:v>0.5685</c:v>
                </c:pt>
                <c:pt idx="62">
                  <c:v>0.5685</c:v>
                </c:pt>
                <c:pt idx="63">
                  <c:v>0.568</c:v>
                </c:pt>
                <c:pt idx="64">
                  <c:v>0.5678</c:v>
                </c:pt>
                <c:pt idx="65">
                  <c:v>0.5682</c:v>
                </c:pt>
                <c:pt idx="66">
                  <c:v>0.5671</c:v>
                </c:pt>
                <c:pt idx="67">
                  <c:v>0.5666</c:v>
                </c:pt>
                <c:pt idx="68">
                  <c:v>0.5664</c:v>
                </c:pt>
                <c:pt idx="69">
                  <c:v>0.566</c:v>
                </c:pt>
                <c:pt idx="70">
                  <c:v>0.5656</c:v>
                </c:pt>
                <c:pt idx="71">
                  <c:v>0.5655</c:v>
                </c:pt>
                <c:pt idx="72">
                  <c:v>0.5648</c:v>
                </c:pt>
                <c:pt idx="73">
                  <c:v>0.5659</c:v>
                </c:pt>
                <c:pt idx="74">
                  <c:v>0.565</c:v>
                </c:pt>
                <c:pt idx="75">
                  <c:v>0.5645</c:v>
                </c:pt>
                <c:pt idx="76">
                  <c:v>0.5636</c:v>
                </c:pt>
                <c:pt idx="77">
                  <c:v>0.5636</c:v>
                </c:pt>
                <c:pt idx="78">
                  <c:v>0.5633</c:v>
                </c:pt>
                <c:pt idx="79">
                  <c:v>0.563</c:v>
                </c:pt>
                <c:pt idx="80">
                  <c:v>0.5626</c:v>
                </c:pt>
                <c:pt idx="81">
                  <c:v>0.5622</c:v>
                </c:pt>
                <c:pt idx="82">
                  <c:v>0.5623</c:v>
                </c:pt>
                <c:pt idx="83">
                  <c:v>0.5624</c:v>
                </c:pt>
                <c:pt idx="84">
                  <c:v>0.5615</c:v>
                </c:pt>
                <c:pt idx="85">
                  <c:v>0.561</c:v>
                </c:pt>
                <c:pt idx="86">
                  <c:v>0.5611</c:v>
                </c:pt>
                <c:pt idx="87">
                  <c:v>0.5609</c:v>
                </c:pt>
                <c:pt idx="88">
                  <c:v>0.5602</c:v>
                </c:pt>
                <c:pt idx="89">
                  <c:v>0.56</c:v>
                </c:pt>
                <c:pt idx="90">
                  <c:v>0.5589</c:v>
                </c:pt>
                <c:pt idx="91">
                  <c:v>0.5591</c:v>
                </c:pt>
                <c:pt idx="92">
                  <c:v>0.5585</c:v>
                </c:pt>
                <c:pt idx="93">
                  <c:v>0.5584</c:v>
                </c:pt>
                <c:pt idx="94">
                  <c:v>0.559</c:v>
                </c:pt>
                <c:pt idx="95">
                  <c:v>0.558</c:v>
                </c:pt>
                <c:pt idx="96">
                  <c:v>0.5582</c:v>
                </c:pt>
                <c:pt idx="97">
                  <c:v>0.5578</c:v>
                </c:pt>
                <c:pt idx="98">
                  <c:v>0.5573</c:v>
                </c:pt>
                <c:pt idx="99">
                  <c:v>0.5575</c:v>
                </c:pt>
                <c:pt idx="100">
                  <c:v>0.5568</c:v>
                </c:pt>
                <c:pt idx="101">
                  <c:v>0.557</c:v>
                </c:pt>
                <c:pt idx="102">
                  <c:v>0.5561</c:v>
                </c:pt>
                <c:pt idx="103">
                  <c:v>0.5556</c:v>
                </c:pt>
                <c:pt idx="104">
                  <c:v>0.5556</c:v>
                </c:pt>
                <c:pt idx="105">
                  <c:v>0.5546</c:v>
                </c:pt>
                <c:pt idx="106">
                  <c:v>0.5548</c:v>
                </c:pt>
                <c:pt idx="107">
                  <c:v>0.5552</c:v>
                </c:pt>
                <c:pt idx="108">
                  <c:v>0.554</c:v>
                </c:pt>
                <c:pt idx="109">
                  <c:v>0.5539</c:v>
                </c:pt>
                <c:pt idx="110">
                  <c:v>0.5538</c:v>
                </c:pt>
                <c:pt idx="111">
                  <c:v>0.554</c:v>
                </c:pt>
                <c:pt idx="112">
                  <c:v>0.5529</c:v>
                </c:pt>
                <c:pt idx="113">
                  <c:v>0.5533</c:v>
                </c:pt>
                <c:pt idx="114">
                  <c:v>0.5523</c:v>
                </c:pt>
                <c:pt idx="115">
                  <c:v>0.5524</c:v>
                </c:pt>
                <c:pt idx="116">
                  <c:v>0.5519</c:v>
                </c:pt>
                <c:pt idx="117">
                  <c:v>0.5516</c:v>
                </c:pt>
                <c:pt idx="118">
                  <c:v>0.5512</c:v>
                </c:pt>
                <c:pt idx="119">
                  <c:v>0.552</c:v>
                </c:pt>
                <c:pt idx="120">
                  <c:v>0.5515</c:v>
                </c:pt>
                <c:pt idx="121">
                  <c:v>0.5519</c:v>
                </c:pt>
                <c:pt idx="122">
                  <c:v>0.5516</c:v>
                </c:pt>
                <c:pt idx="123">
                  <c:v>0.5504</c:v>
                </c:pt>
                <c:pt idx="124">
                  <c:v>0.5507</c:v>
                </c:pt>
                <c:pt idx="125">
                  <c:v>0.5501</c:v>
                </c:pt>
                <c:pt idx="126">
                  <c:v>0.5501</c:v>
                </c:pt>
                <c:pt idx="127">
                  <c:v>0.5504</c:v>
                </c:pt>
                <c:pt idx="128">
                  <c:v>0.5499</c:v>
                </c:pt>
                <c:pt idx="129">
                  <c:v>0.5489</c:v>
                </c:pt>
                <c:pt idx="130">
                  <c:v>0.5491</c:v>
                </c:pt>
                <c:pt idx="131">
                  <c:v>0.5488</c:v>
                </c:pt>
                <c:pt idx="132">
                  <c:v>0.5487</c:v>
                </c:pt>
                <c:pt idx="133">
                  <c:v>0.5481</c:v>
                </c:pt>
                <c:pt idx="134">
                  <c:v>0.5475</c:v>
                </c:pt>
                <c:pt idx="135">
                  <c:v>0.5476</c:v>
                </c:pt>
                <c:pt idx="136">
                  <c:v>0.5468</c:v>
                </c:pt>
                <c:pt idx="137">
                  <c:v>0.5473</c:v>
                </c:pt>
                <c:pt idx="138">
                  <c:v>0.5479</c:v>
                </c:pt>
                <c:pt idx="139">
                  <c:v>0.5465</c:v>
                </c:pt>
                <c:pt idx="140">
                  <c:v>0.547</c:v>
                </c:pt>
                <c:pt idx="141">
                  <c:v>0.5468</c:v>
                </c:pt>
                <c:pt idx="142">
                  <c:v>0.5463</c:v>
                </c:pt>
                <c:pt idx="143">
                  <c:v>0.5461</c:v>
                </c:pt>
                <c:pt idx="144">
                  <c:v>0.546</c:v>
                </c:pt>
                <c:pt idx="145">
                  <c:v>0.5469</c:v>
                </c:pt>
                <c:pt idx="146">
                  <c:v>0.5459</c:v>
                </c:pt>
                <c:pt idx="147">
                  <c:v>0.5455</c:v>
                </c:pt>
                <c:pt idx="148">
                  <c:v>0.5457</c:v>
                </c:pt>
                <c:pt idx="149">
                  <c:v>0.5454</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Sheet1!$A$2:$A$151</c:f>
              <c:multiLvlStrCache>
                <c:ptCount val="1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lvl>
              </c:multiLvlStrCache>
            </c:multiLvlStrRef>
          </c:cat>
          <c:val>
            <c:numRef>
              <c:f>Sheet1!$C$2:$C$151</c:f>
              <c:numCache>
                <c:formatCode>General</c:formatCode>
                <c:ptCount val="150"/>
                <c:pt idx="0">
                  <c:v>0.6269</c:v>
                </c:pt>
                <c:pt idx="1">
                  <c:v>0.6095</c:v>
                </c:pt>
                <c:pt idx="2">
                  <c:v>0.6036</c:v>
                </c:pt>
                <c:pt idx="3">
                  <c:v>0.5997</c:v>
                </c:pt>
                <c:pt idx="4">
                  <c:v>0.5978</c:v>
                </c:pt>
                <c:pt idx="5">
                  <c:v>0.5966</c:v>
                </c:pt>
                <c:pt idx="6">
                  <c:v>0.5958</c:v>
                </c:pt>
                <c:pt idx="7">
                  <c:v>0.5948</c:v>
                </c:pt>
                <c:pt idx="8">
                  <c:v>0.5939</c:v>
                </c:pt>
                <c:pt idx="9">
                  <c:v>0.5943</c:v>
                </c:pt>
                <c:pt idx="10">
                  <c:v>0.594</c:v>
                </c:pt>
                <c:pt idx="11">
                  <c:v>0.5938</c:v>
                </c:pt>
                <c:pt idx="12">
                  <c:v>0.5931</c:v>
                </c:pt>
                <c:pt idx="13">
                  <c:v>0.5929</c:v>
                </c:pt>
                <c:pt idx="14">
                  <c:v>0.5928</c:v>
                </c:pt>
                <c:pt idx="15">
                  <c:v>0.5922</c:v>
                </c:pt>
                <c:pt idx="16">
                  <c:v>0.5921</c:v>
                </c:pt>
                <c:pt idx="17">
                  <c:v>0.5921</c:v>
                </c:pt>
                <c:pt idx="18">
                  <c:v>0.5921</c:v>
                </c:pt>
                <c:pt idx="19">
                  <c:v>0.592</c:v>
                </c:pt>
                <c:pt idx="20">
                  <c:v>0.5922</c:v>
                </c:pt>
                <c:pt idx="21">
                  <c:v>0.5921</c:v>
                </c:pt>
                <c:pt idx="22">
                  <c:v>0.5919</c:v>
                </c:pt>
                <c:pt idx="23">
                  <c:v>0.5917</c:v>
                </c:pt>
                <c:pt idx="24">
                  <c:v>0.5919</c:v>
                </c:pt>
                <c:pt idx="25">
                  <c:v>0.5918</c:v>
                </c:pt>
                <c:pt idx="26">
                  <c:v>0.5918</c:v>
                </c:pt>
                <c:pt idx="27">
                  <c:v>0.5913</c:v>
                </c:pt>
                <c:pt idx="28">
                  <c:v>0.5918</c:v>
                </c:pt>
                <c:pt idx="29">
                  <c:v>0.592</c:v>
                </c:pt>
                <c:pt idx="30">
                  <c:v>0.5916</c:v>
                </c:pt>
                <c:pt idx="31">
                  <c:v>0.5913</c:v>
                </c:pt>
                <c:pt idx="32">
                  <c:v>0.5912</c:v>
                </c:pt>
                <c:pt idx="33">
                  <c:v>0.5915</c:v>
                </c:pt>
                <c:pt idx="34">
                  <c:v>0.5923</c:v>
                </c:pt>
                <c:pt idx="35">
                  <c:v>0.5926</c:v>
                </c:pt>
                <c:pt idx="36">
                  <c:v>0.5924</c:v>
                </c:pt>
                <c:pt idx="37">
                  <c:v>0.5926</c:v>
                </c:pt>
                <c:pt idx="38">
                  <c:v>0.5927</c:v>
                </c:pt>
                <c:pt idx="39">
                  <c:v>0.5922</c:v>
                </c:pt>
                <c:pt idx="40">
                  <c:v>0.5916</c:v>
                </c:pt>
                <c:pt idx="41">
                  <c:v>0.5922</c:v>
                </c:pt>
                <c:pt idx="42">
                  <c:v>0.592</c:v>
                </c:pt>
                <c:pt idx="43">
                  <c:v>0.592</c:v>
                </c:pt>
                <c:pt idx="44">
                  <c:v>0.5923</c:v>
                </c:pt>
                <c:pt idx="45">
                  <c:v>0.5926</c:v>
                </c:pt>
                <c:pt idx="46">
                  <c:v>0.5926</c:v>
                </c:pt>
                <c:pt idx="47">
                  <c:v>0.5928</c:v>
                </c:pt>
                <c:pt idx="48">
                  <c:v>0.5928</c:v>
                </c:pt>
                <c:pt idx="49">
                  <c:v>0.5926</c:v>
                </c:pt>
                <c:pt idx="50">
                  <c:v>0.5938</c:v>
                </c:pt>
                <c:pt idx="51">
                  <c:v>0.5932</c:v>
                </c:pt>
                <c:pt idx="52">
                  <c:v>0.5935</c:v>
                </c:pt>
                <c:pt idx="53">
                  <c:v>0.5939</c:v>
                </c:pt>
                <c:pt idx="54">
                  <c:v>0.5931</c:v>
                </c:pt>
                <c:pt idx="55">
                  <c:v>0.5934</c:v>
                </c:pt>
                <c:pt idx="56">
                  <c:v>0.5938</c:v>
                </c:pt>
                <c:pt idx="57">
                  <c:v>0.5931</c:v>
                </c:pt>
                <c:pt idx="58">
                  <c:v>0.5932</c:v>
                </c:pt>
                <c:pt idx="59">
                  <c:v>0.5932</c:v>
                </c:pt>
                <c:pt idx="60">
                  <c:v>0.5934</c:v>
                </c:pt>
                <c:pt idx="61">
                  <c:v>0.5936</c:v>
                </c:pt>
                <c:pt idx="62">
                  <c:v>0.5935</c:v>
                </c:pt>
                <c:pt idx="63">
                  <c:v>0.5938</c:v>
                </c:pt>
                <c:pt idx="64">
                  <c:v>0.5941</c:v>
                </c:pt>
                <c:pt idx="65">
                  <c:v>0.5943</c:v>
                </c:pt>
                <c:pt idx="66">
                  <c:v>0.5942</c:v>
                </c:pt>
                <c:pt idx="67">
                  <c:v>0.5939</c:v>
                </c:pt>
                <c:pt idx="68">
                  <c:v>0.5941</c:v>
                </c:pt>
                <c:pt idx="69">
                  <c:v>0.5944</c:v>
                </c:pt>
                <c:pt idx="70">
                  <c:v>0.5942</c:v>
                </c:pt>
                <c:pt idx="71">
                  <c:v>0.5945</c:v>
                </c:pt>
                <c:pt idx="72">
                  <c:v>0.595</c:v>
                </c:pt>
                <c:pt idx="73">
                  <c:v>0.5957</c:v>
                </c:pt>
                <c:pt idx="74">
                  <c:v>0.5947</c:v>
                </c:pt>
                <c:pt idx="75">
                  <c:v>0.595</c:v>
                </c:pt>
                <c:pt idx="76">
                  <c:v>0.5943</c:v>
                </c:pt>
                <c:pt idx="77">
                  <c:v>0.5955</c:v>
                </c:pt>
                <c:pt idx="78">
                  <c:v>0.5952</c:v>
                </c:pt>
                <c:pt idx="79">
                  <c:v>0.5949</c:v>
                </c:pt>
                <c:pt idx="80">
                  <c:v>0.5945</c:v>
                </c:pt>
                <c:pt idx="81">
                  <c:v>0.5952</c:v>
                </c:pt>
                <c:pt idx="82">
                  <c:v>0.5956</c:v>
                </c:pt>
                <c:pt idx="83">
                  <c:v>0.5958</c:v>
                </c:pt>
                <c:pt idx="84">
                  <c:v>0.595</c:v>
                </c:pt>
                <c:pt idx="85">
                  <c:v>0.5953</c:v>
                </c:pt>
                <c:pt idx="86">
                  <c:v>0.5952</c:v>
                </c:pt>
                <c:pt idx="87">
                  <c:v>0.596</c:v>
                </c:pt>
                <c:pt idx="88">
                  <c:v>0.5958</c:v>
                </c:pt>
                <c:pt idx="89">
                  <c:v>0.5959</c:v>
                </c:pt>
                <c:pt idx="90">
                  <c:v>0.596</c:v>
                </c:pt>
                <c:pt idx="91">
                  <c:v>0.5957</c:v>
                </c:pt>
                <c:pt idx="92">
                  <c:v>0.5959</c:v>
                </c:pt>
                <c:pt idx="93">
                  <c:v>0.5959</c:v>
                </c:pt>
                <c:pt idx="94">
                  <c:v>0.5965</c:v>
                </c:pt>
                <c:pt idx="95">
                  <c:v>0.5958</c:v>
                </c:pt>
                <c:pt idx="96">
                  <c:v>0.5964</c:v>
                </c:pt>
                <c:pt idx="97">
                  <c:v>0.5967</c:v>
                </c:pt>
                <c:pt idx="98">
                  <c:v>0.5971</c:v>
                </c:pt>
                <c:pt idx="99">
                  <c:v>0.596</c:v>
                </c:pt>
                <c:pt idx="100">
                  <c:v>0.5964</c:v>
                </c:pt>
                <c:pt idx="101">
                  <c:v>0.5965</c:v>
                </c:pt>
                <c:pt idx="102">
                  <c:v>0.5969</c:v>
                </c:pt>
                <c:pt idx="103">
                  <c:v>0.5969</c:v>
                </c:pt>
                <c:pt idx="104">
                  <c:v>0.5976</c:v>
                </c:pt>
                <c:pt idx="105">
                  <c:v>0.5973</c:v>
                </c:pt>
                <c:pt idx="106">
                  <c:v>0.5978</c:v>
                </c:pt>
                <c:pt idx="107">
                  <c:v>0.5977</c:v>
                </c:pt>
                <c:pt idx="108">
                  <c:v>0.5984</c:v>
                </c:pt>
                <c:pt idx="109">
                  <c:v>0.5981</c:v>
                </c:pt>
                <c:pt idx="110">
                  <c:v>0.598</c:v>
                </c:pt>
                <c:pt idx="111">
                  <c:v>0.5978</c:v>
                </c:pt>
                <c:pt idx="112">
                  <c:v>0.5974</c:v>
                </c:pt>
                <c:pt idx="113">
                  <c:v>0.5978</c:v>
                </c:pt>
                <c:pt idx="114">
                  <c:v>0.5982</c:v>
                </c:pt>
                <c:pt idx="115">
                  <c:v>0.5985</c:v>
                </c:pt>
                <c:pt idx="116">
                  <c:v>0.5979</c:v>
                </c:pt>
                <c:pt idx="117">
                  <c:v>0.5988</c:v>
                </c:pt>
                <c:pt idx="118">
                  <c:v>0.5989</c:v>
                </c:pt>
                <c:pt idx="119">
                  <c:v>0.5985</c:v>
                </c:pt>
                <c:pt idx="120">
                  <c:v>0.5987</c:v>
                </c:pt>
                <c:pt idx="121">
                  <c:v>0.5988</c:v>
                </c:pt>
                <c:pt idx="122">
                  <c:v>0.5984</c:v>
                </c:pt>
                <c:pt idx="123">
                  <c:v>0.5987</c:v>
                </c:pt>
                <c:pt idx="124">
                  <c:v>0.5984</c:v>
                </c:pt>
                <c:pt idx="125">
                  <c:v>0.599</c:v>
                </c:pt>
                <c:pt idx="126">
                  <c:v>0.5994</c:v>
                </c:pt>
                <c:pt idx="127">
                  <c:v>0.5999</c:v>
                </c:pt>
                <c:pt idx="128">
                  <c:v>0.6</c:v>
                </c:pt>
                <c:pt idx="129">
                  <c:v>0.6004</c:v>
                </c:pt>
                <c:pt idx="130">
                  <c:v>0.5994</c:v>
                </c:pt>
                <c:pt idx="131">
                  <c:v>0.5999</c:v>
                </c:pt>
                <c:pt idx="132">
                  <c:v>0.6001</c:v>
                </c:pt>
                <c:pt idx="133">
                  <c:v>0.601</c:v>
                </c:pt>
                <c:pt idx="134">
                  <c:v>0.6011</c:v>
                </c:pt>
                <c:pt idx="135">
                  <c:v>0.6004</c:v>
                </c:pt>
                <c:pt idx="136">
                  <c:v>0.6006</c:v>
                </c:pt>
                <c:pt idx="137">
                  <c:v>0.6005</c:v>
                </c:pt>
                <c:pt idx="138">
                  <c:v>0.6002</c:v>
                </c:pt>
                <c:pt idx="139">
                  <c:v>0.6008</c:v>
                </c:pt>
                <c:pt idx="140">
                  <c:v>0.6007</c:v>
                </c:pt>
                <c:pt idx="141">
                  <c:v>0.6003</c:v>
                </c:pt>
                <c:pt idx="142">
                  <c:v>0.6</c:v>
                </c:pt>
                <c:pt idx="143">
                  <c:v>0.5996</c:v>
                </c:pt>
                <c:pt idx="144">
                  <c:v>0.6003</c:v>
                </c:pt>
                <c:pt idx="145">
                  <c:v>0.5995</c:v>
                </c:pt>
                <c:pt idx="146">
                  <c:v>0.5996</c:v>
                </c:pt>
                <c:pt idx="147">
                  <c:v>0.6009</c:v>
                </c:pt>
                <c:pt idx="148">
                  <c:v>0.6006</c:v>
                </c:pt>
                <c:pt idx="149">
                  <c:v>0.6005</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tickLblSkip val="25"/>
      </c:catAx>
      <c:valAx>
        <c:axId val="2094734552"/>
        <c:scaling>
          <c:orientation val="minMax"/>
          <c:max val="0.63"/>
          <c:min val="0.54"/>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gigante sin regularización · % de aciertos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Sheet1!$A$2:$A$201</c:f>
              <c:multiLvlStrCache>
                <c:ptCount val="2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lvl>
              </c:multiLvlStrCache>
            </c:multiLvlStrRef>
          </c:cat>
          <c:val>
            <c:numRef>
              <c:f>Sheet1!$B$2:$B$201</c:f>
              <c:numCache>
                <c:formatCode>General</c:formatCode>
                <c:ptCount val="200"/>
                <c:pt idx="0">
                  <c:v>68.71</c:v>
                </c:pt>
                <c:pt idx="1">
                  <c:v>69.25</c:v>
                </c:pt>
                <c:pt idx="2">
                  <c:v>69.71</c:v>
                </c:pt>
                <c:pt idx="3">
                  <c:v>70.15</c:v>
                </c:pt>
                <c:pt idx="4">
                  <c:v>70.46</c:v>
                </c:pt>
                <c:pt idx="5">
                  <c:v>70.8</c:v>
                </c:pt>
                <c:pt idx="6">
                  <c:v>71.12</c:v>
                </c:pt>
                <c:pt idx="7">
                  <c:v>71.39</c:v>
                </c:pt>
                <c:pt idx="8">
                  <c:v>71.57</c:v>
                </c:pt>
                <c:pt idx="9">
                  <c:v>72.04</c:v>
                </c:pt>
                <c:pt idx="10">
                  <c:v>72.45</c:v>
                </c:pt>
                <c:pt idx="11">
                  <c:v>72.71</c:v>
                </c:pt>
                <c:pt idx="12">
                  <c:v>72.98</c:v>
                </c:pt>
                <c:pt idx="13">
                  <c:v>73.47</c:v>
                </c:pt>
                <c:pt idx="14">
                  <c:v>73.74</c:v>
                </c:pt>
                <c:pt idx="15">
                  <c:v>74.05</c:v>
                </c:pt>
                <c:pt idx="16">
                  <c:v>74.67</c:v>
                </c:pt>
                <c:pt idx="17">
                  <c:v>75.01</c:v>
                </c:pt>
                <c:pt idx="18">
                  <c:v>75.16</c:v>
                </c:pt>
                <c:pt idx="19">
                  <c:v>75.55</c:v>
                </c:pt>
                <c:pt idx="20">
                  <c:v>76.05</c:v>
                </c:pt>
                <c:pt idx="21">
                  <c:v>76.06</c:v>
                </c:pt>
                <c:pt idx="22">
                  <c:v>76.86</c:v>
                </c:pt>
                <c:pt idx="23">
                  <c:v>76.86</c:v>
                </c:pt>
                <c:pt idx="24">
                  <c:v>76.67</c:v>
                </c:pt>
                <c:pt idx="25">
                  <c:v>76.99</c:v>
                </c:pt>
                <c:pt idx="26">
                  <c:v>77.38</c:v>
                </c:pt>
                <c:pt idx="27">
                  <c:v>75.23</c:v>
                </c:pt>
                <c:pt idx="28">
                  <c:v>77.81</c:v>
                </c:pt>
                <c:pt idx="29">
                  <c:v>78.65</c:v>
                </c:pt>
                <c:pt idx="30">
                  <c:v>78.57</c:v>
                </c:pt>
                <c:pt idx="31">
                  <c:v>78.86</c:v>
                </c:pt>
                <c:pt idx="32">
                  <c:v>78.54</c:v>
                </c:pt>
                <c:pt idx="33">
                  <c:v>78.03</c:v>
                </c:pt>
                <c:pt idx="34">
                  <c:v>77.3</c:v>
                </c:pt>
                <c:pt idx="35">
                  <c:v>76.5</c:v>
                </c:pt>
                <c:pt idx="36">
                  <c:v>78.26</c:v>
                </c:pt>
                <c:pt idx="37">
                  <c:v>80.52</c:v>
                </c:pt>
                <c:pt idx="38">
                  <c:v>80.81</c:v>
                </c:pt>
                <c:pt idx="39">
                  <c:v>80.69</c:v>
                </c:pt>
                <c:pt idx="40">
                  <c:v>79.77</c:v>
                </c:pt>
                <c:pt idx="41">
                  <c:v>80.18</c:v>
                </c:pt>
                <c:pt idx="42">
                  <c:v>82.29</c:v>
                </c:pt>
                <c:pt idx="43">
                  <c:v>82.19</c:v>
                </c:pt>
                <c:pt idx="44">
                  <c:v>82.41</c:v>
                </c:pt>
                <c:pt idx="45">
                  <c:v>82.64</c:v>
                </c:pt>
                <c:pt idx="46">
                  <c:v>82.45</c:v>
                </c:pt>
                <c:pt idx="47">
                  <c:v>83.74</c:v>
                </c:pt>
                <c:pt idx="48">
                  <c:v>83.67</c:v>
                </c:pt>
                <c:pt idx="49">
                  <c:v>83.79</c:v>
                </c:pt>
                <c:pt idx="50">
                  <c:v>83.39</c:v>
                </c:pt>
                <c:pt idx="51">
                  <c:v>83.29</c:v>
                </c:pt>
                <c:pt idx="52">
                  <c:v>82.58</c:v>
                </c:pt>
                <c:pt idx="53">
                  <c:v>83.31</c:v>
                </c:pt>
                <c:pt idx="54">
                  <c:v>84.37</c:v>
                </c:pt>
                <c:pt idx="55">
                  <c:v>84.56</c:v>
                </c:pt>
                <c:pt idx="56">
                  <c:v>84.77</c:v>
                </c:pt>
                <c:pt idx="57">
                  <c:v>85.11</c:v>
                </c:pt>
                <c:pt idx="58">
                  <c:v>83.5</c:v>
                </c:pt>
                <c:pt idx="59">
                  <c:v>82.04</c:v>
                </c:pt>
                <c:pt idx="60">
                  <c:v>83.34</c:v>
                </c:pt>
                <c:pt idx="61">
                  <c:v>84.93</c:v>
                </c:pt>
                <c:pt idx="62">
                  <c:v>85.87</c:v>
                </c:pt>
                <c:pt idx="63">
                  <c:v>85.89</c:v>
                </c:pt>
                <c:pt idx="64">
                  <c:v>86.54</c:v>
                </c:pt>
                <c:pt idx="65">
                  <c:v>86.32</c:v>
                </c:pt>
                <c:pt idx="66">
                  <c:v>86.33</c:v>
                </c:pt>
                <c:pt idx="67">
                  <c:v>86.74</c:v>
                </c:pt>
                <c:pt idx="68">
                  <c:v>86.26</c:v>
                </c:pt>
                <c:pt idx="69">
                  <c:v>85.91</c:v>
                </c:pt>
                <c:pt idx="70">
                  <c:v>86.56</c:v>
                </c:pt>
                <c:pt idx="71">
                  <c:v>87.33</c:v>
                </c:pt>
                <c:pt idx="72">
                  <c:v>86.89</c:v>
                </c:pt>
                <c:pt idx="73">
                  <c:v>86.16</c:v>
                </c:pt>
                <c:pt idx="74">
                  <c:v>86.57</c:v>
                </c:pt>
                <c:pt idx="75">
                  <c:v>86.74</c:v>
                </c:pt>
                <c:pt idx="76">
                  <c:v>87.83</c:v>
                </c:pt>
                <c:pt idx="77">
                  <c:v>89.14</c:v>
                </c:pt>
                <c:pt idx="78">
                  <c:v>89.12</c:v>
                </c:pt>
                <c:pt idx="79">
                  <c:v>88.63</c:v>
                </c:pt>
                <c:pt idx="80">
                  <c:v>89.02</c:v>
                </c:pt>
                <c:pt idx="81">
                  <c:v>89.68</c:v>
                </c:pt>
                <c:pt idx="82">
                  <c:v>90.19</c:v>
                </c:pt>
                <c:pt idx="83">
                  <c:v>89.99</c:v>
                </c:pt>
                <c:pt idx="84">
                  <c:v>90.04</c:v>
                </c:pt>
                <c:pt idx="85">
                  <c:v>90.02</c:v>
                </c:pt>
                <c:pt idx="86">
                  <c:v>91.24</c:v>
                </c:pt>
                <c:pt idx="87">
                  <c:v>89.81</c:v>
                </c:pt>
                <c:pt idx="88">
                  <c:v>91.5</c:v>
                </c:pt>
                <c:pt idx="89">
                  <c:v>90.97</c:v>
                </c:pt>
                <c:pt idx="90">
                  <c:v>91.3</c:v>
                </c:pt>
                <c:pt idx="91">
                  <c:v>92.07</c:v>
                </c:pt>
                <c:pt idx="92">
                  <c:v>91.93</c:v>
                </c:pt>
                <c:pt idx="93">
                  <c:v>92.02</c:v>
                </c:pt>
                <c:pt idx="94">
                  <c:v>92.56</c:v>
                </c:pt>
                <c:pt idx="95">
                  <c:v>92.12</c:v>
                </c:pt>
                <c:pt idx="96">
                  <c:v>92.05</c:v>
                </c:pt>
                <c:pt idx="97">
                  <c:v>92.53</c:v>
                </c:pt>
                <c:pt idx="98">
                  <c:v>92.59</c:v>
                </c:pt>
                <c:pt idx="99">
                  <c:v>93.31</c:v>
                </c:pt>
                <c:pt idx="100">
                  <c:v>93.37</c:v>
                </c:pt>
                <c:pt idx="101">
                  <c:v>93.74</c:v>
                </c:pt>
                <c:pt idx="102">
                  <c:v>93.24</c:v>
                </c:pt>
                <c:pt idx="103">
                  <c:v>93.5</c:v>
                </c:pt>
                <c:pt idx="104">
                  <c:v>93.86</c:v>
                </c:pt>
                <c:pt idx="105">
                  <c:v>94.43</c:v>
                </c:pt>
                <c:pt idx="106">
                  <c:v>94.52</c:v>
                </c:pt>
                <c:pt idx="107">
                  <c:v>94.19</c:v>
                </c:pt>
                <c:pt idx="108">
                  <c:v>94.81</c:v>
                </c:pt>
                <c:pt idx="109">
                  <c:v>94.47</c:v>
                </c:pt>
                <c:pt idx="110">
                  <c:v>94.44</c:v>
                </c:pt>
                <c:pt idx="111">
                  <c:v>94.61</c:v>
                </c:pt>
                <c:pt idx="112">
                  <c:v>94.48</c:v>
                </c:pt>
                <c:pt idx="113">
                  <c:v>95.91</c:v>
                </c:pt>
                <c:pt idx="114">
                  <c:v>95.37</c:v>
                </c:pt>
                <c:pt idx="115">
                  <c:v>95.1</c:v>
                </c:pt>
                <c:pt idx="116">
                  <c:v>95.35</c:v>
                </c:pt>
                <c:pt idx="117">
                  <c:v>95.45</c:v>
                </c:pt>
                <c:pt idx="118">
                  <c:v>95.41</c:v>
                </c:pt>
                <c:pt idx="119">
                  <c:v>95.93</c:v>
                </c:pt>
                <c:pt idx="120">
                  <c:v>95.95</c:v>
                </c:pt>
                <c:pt idx="121">
                  <c:v>96.05</c:v>
                </c:pt>
                <c:pt idx="122">
                  <c:v>96.47</c:v>
                </c:pt>
                <c:pt idx="123">
                  <c:v>96.32</c:v>
                </c:pt>
                <c:pt idx="124">
                  <c:v>96.2</c:v>
                </c:pt>
                <c:pt idx="125">
                  <c:v>96.55</c:v>
                </c:pt>
                <c:pt idx="126">
                  <c:v>96.82</c:v>
                </c:pt>
                <c:pt idx="127">
                  <c:v>97.09</c:v>
                </c:pt>
                <c:pt idx="128">
                  <c:v>97.15</c:v>
                </c:pt>
                <c:pt idx="129">
                  <c:v>97.19</c:v>
                </c:pt>
                <c:pt idx="130">
                  <c:v>97.37</c:v>
                </c:pt>
                <c:pt idx="131">
                  <c:v>96.93</c:v>
                </c:pt>
                <c:pt idx="132">
                  <c:v>97.61</c:v>
                </c:pt>
                <c:pt idx="133">
                  <c:v>97.87</c:v>
                </c:pt>
                <c:pt idx="134">
                  <c:v>97.73</c:v>
                </c:pt>
                <c:pt idx="135">
                  <c:v>97.67</c:v>
                </c:pt>
                <c:pt idx="136">
                  <c:v>97.58</c:v>
                </c:pt>
                <c:pt idx="137">
                  <c:v>97.4</c:v>
                </c:pt>
                <c:pt idx="138">
                  <c:v>96.88</c:v>
                </c:pt>
                <c:pt idx="139">
                  <c:v>97.17</c:v>
                </c:pt>
                <c:pt idx="140">
                  <c:v>97.91</c:v>
                </c:pt>
                <c:pt idx="141">
                  <c:v>98.16</c:v>
                </c:pt>
                <c:pt idx="142">
                  <c:v>97.72</c:v>
                </c:pt>
                <c:pt idx="143">
                  <c:v>98.47</c:v>
                </c:pt>
                <c:pt idx="144">
                  <c:v>98.4</c:v>
                </c:pt>
                <c:pt idx="145">
                  <c:v>98.33</c:v>
                </c:pt>
                <c:pt idx="146">
                  <c:v>97.78</c:v>
                </c:pt>
                <c:pt idx="147">
                  <c:v>97.63</c:v>
                </c:pt>
                <c:pt idx="148">
                  <c:v>97.72</c:v>
                </c:pt>
                <c:pt idx="149">
                  <c:v>98.31</c:v>
                </c:pt>
                <c:pt idx="150">
                  <c:v>98.49</c:v>
                </c:pt>
                <c:pt idx="151">
                  <c:v>98.44</c:v>
                </c:pt>
                <c:pt idx="152">
                  <c:v>98.75</c:v>
                </c:pt>
                <c:pt idx="153">
                  <c:v>98.87</c:v>
                </c:pt>
                <c:pt idx="154">
                  <c:v>98.75</c:v>
                </c:pt>
                <c:pt idx="155">
                  <c:v>98.67</c:v>
                </c:pt>
                <c:pt idx="156">
                  <c:v>98.31</c:v>
                </c:pt>
                <c:pt idx="157">
                  <c:v>98.24</c:v>
                </c:pt>
                <c:pt idx="158">
                  <c:v>98.14</c:v>
                </c:pt>
                <c:pt idx="159">
                  <c:v>98.47</c:v>
                </c:pt>
                <c:pt idx="160">
                  <c:v>98.9</c:v>
                </c:pt>
                <c:pt idx="161">
                  <c:v>98.73</c:v>
                </c:pt>
                <c:pt idx="162">
                  <c:v>99.19</c:v>
                </c:pt>
                <c:pt idx="163">
                  <c:v>98.57</c:v>
                </c:pt>
                <c:pt idx="164">
                  <c:v>98.48</c:v>
                </c:pt>
                <c:pt idx="165">
                  <c:v>98.81</c:v>
                </c:pt>
                <c:pt idx="166">
                  <c:v>99.03</c:v>
                </c:pt>
                <c:pt idx="167">
                  <c:v>99.12</c:v>
                </c:pt>
                <c:pt idx="168">
                  <c:v>99.4</c:v>
                </c:pt>
                <c:pt idx="169">
                  <c:v>98.8</c:v>
                </c:pt>
                <c:pt idx="170">
                  <c:v>98.34</c:v>
                </c:pt>
                <c:pt idx="171">
                  <c:v>98.8</c:v>
                </c:pt>
                <c:pt idx="172">
                  <c:v>99.01</c:v>
                </c:pt>
                <c:pt idx="173">
                  <c:v>99.18</c:v>
                </c:pt>
                <c:pt idx="174">
                  <c:v>99.31</c:v>
                </c:pt>
                <c:pt idx="175">
                  <c:v>99.01</c:v>
                </c:pt>
                <c:pt idx="176">
                  <c:v>99.03</c:v>
                </c:pt>
                <c:pt idx="177">
                  <c:v>98.46</c:v>
                </c:pt>
                <c:pt idx="178">
                  <c:v>98.86</c:v>
                </c:pt>
                <c:pt idx="179">
                  <c:v>99.14</c:v>
                </c:pt>
                <c:pt idx="180">
                  <c:v>99.11</c:v>
                </c:pt>
                <c:pt idx="181">
                  <c:v>99.2</c:v>
                </c:pt>
                <c:pt idx="182">
                  <c:v>99.3</c:v>
                </c:pt>
                <c:pt idx="183">
                  <c:v>99.39</c:v>
                </c:pt>
                <c:pt idx="184">
                  <c:v>99.18</c:v>
                </c:pt>
                <c:pt idx="185">
                  <c:v>98.88</c:v>
                </c:pt>
                <c:pt idx="186">
                  <c:v>98.67</c:v>
                </c:pt>
                <c:pt idx="187">
                  <c:v>98.76</c:v>
                </c:pt>
                <c:pt idx="188">
                  <c:v>99.39</c:v>
                </c:pt>
                <c:pt idx="189">
                  <c:v>99.12</c:v>
                </c:pt>
                <c:pt idx="190">
                  <c:v>99.49</c:v>
                </c:pt>
                <c:pt idx="191">
                  <c:v>99.07</c:v>
                </c:pt>
                <c:pt idx="192">
                  <c:v>98.95</c:v>
                </c:pt>
                <c:pt idx="193">
                  <c:v>99.07</c:v>
                </c:pt>
                <c:pt idx="194">
                  <c:v>99.34</c:v>
                </c:pt>
                <c:pt idx="195">
                  <c:v>99.36</c:v>
                </c:pt>
                <c:pt idx="196">
                  <c:v>99.22</c:v>
                </c:pt>
                <c:pt idx="197">
                  <c:v>98.62</c:v>
                </c:pt>
                <c:pt idx="198">
                  <c:v>99.05</c:v>
                </c:pt>
                <c:pt idx="199">
                  <c:v>99.21</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Sheet1!$A$2:$A$201</c:f>
              <c:multiLvlStrCache>
                <c:ptCount val="2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lvl>
              </c:multiLvlStrCache>
            </c:multiLvlStrRef>
          </c:cat>
          <c:val>
            <c:numRef>
              <c:f>Sheet1!$C$2:$C$201</c:f>
              <c:numCache>
                <c:formatCode>General</c:formatCode>
                <c:ptCount val="200"/>
                <c:pt idx="0">
                  <c:v>67.57</c:v>
                </c:pt>
                <c:pt idx="1">
                  <c:v>67.69</c:v>
                </c:pt>
                <c:pt idx="2">
                  <c:v>67.69</c:v>
                </c:pt>
                <c:pt idx="3">
                  <c:v>67.83</c:v>
                </c:pt>
                <c:pt idx="4">
                  <c:v>67.37</c:v>
                </c:pt>
                <c:pt idx="5">
                  <c:v>67.38</c:v>
                </c:pt>
                <c:pt idx="6">
                  <c:v>67.09</c:v>
                </c:pt>
                <c:pt idx="7">
                  <c:v>66.81</c:v>
                </c:pt>
                <c:pt idx="8">
                  <c:v>66.48</c:v>
                </c:pt>
                <c:pt idx="9">
                  <c:v>66.19</c:v>
                </c:pt>
                <c:pt idx="10">
                  <c:v>65.38</c:v>
                </c:pt>
                <c:pt idx="11">
                  <c:v>65.23</c:v>
                </c:pt>
                <c:pt idx="12">
                  <c:v>64.03</c:v>
                </c:pt>
                <c:pt idx="13">
                  <c:v>63.82</c:v>
                </c:pt>
                <c:pt idx="14">
                  <c:v>63.21</c:v>
                </c:pt>
                <c:pt idx="15">
                  <c:v>62.96</c:v>
                </c:pt>
                <c:pt idx="16">
                  <c:v>62.88</c:v>
                </c:pt>
                <c:pt idx="17">
                  <c:v>61.97</c:v>
                </c:pt>
                <c:pt idx="18">
                  <c:v>61.86</c:v>
                </c:pt>
                <c:pt idx="19">
                  <c:v>61.78</c:v>
                </c:pt>
                <c:pt idx="20">
                  <c:v>61.42</c:v>
                </c:pt>
                <c:pt idx="21">
                  <c:v>60.68</c:v>
                </c:pt>
                <c:pt idx="22">
                  <c:v>60.88</c:v>
                </c:pt>
                <c:pt idx="23">
                  <c:v>60.27</c:v>
                </c:pt>
                <c:pt idx="24">
                  <c:v>60.27</c:v>
                </c:pt>
                <c:pt idx="25">
                  <c:v>61.19</c:v>
                </c:pt>
                <c:pt idx="26">
                  <c:v>61.11</c:v>
                </c:pt>
                <c:pt idx="27">
                  <c:v>60.8</c:v>
                </c:pt>
                <c:pt idx="28">
                  <c:v>61.06</c:v>
                </c:pt>
                <c:pt idx="29">
                  <c:v>60.44</c:v>
                </c:pt>
                <c:pt idx="30">
                  <c:v>59.8</c:v>
                </c:pt>
                <c:pt idx="31">
                  <c:v>60.24</c:v>
                </c:pt>
                <c:pt idx="32">
                  <c:v>59.66</c:v>
                </c:pt>
                <c:pt idx="33">
                  <c:v>59.33</c:v>
                </c:pt>
                <c:pt idx="34">
                  <c:v>58.6</c:v>
                </c:pt>
                <c:pt idx="35">
                  <c:v>58.31</c:v>
                </c:pt>
                <c:pt idx="36">
                  <c:v>59.03</c:v>
                </c:pt>
                <c:pt idx="37">
                  <c:v>59.62</c:v>
                </c:pt>
                <c:pt idx="38">
                  <c:v>60.55</c:v>
                </c:pt>
                <c:pt idx="39">
                  <c:v>60.39</c:v>
                </c:pt>
                <c:pt idx="40">
                  <c:v>60.13</c:v>
                </c:pt>
                <c:pt idx="41">
                  <c:v>58.71</c:v>
                </c:pt>
                <c:pt idx="42">
                  <c:v>59.29</c:v>
                </c:pt>
                <c:pt idx="43">
                  <c:v>59.54</c:v>
                </c:pt>
                <c:pt idx="44">
                  <c:v>59.3</c:v>
                </c:pt>
                <c:pt idx="45">
                  <c:v>60.4</c:v>
                </c:pt>
                <c:pt idx="46">
                  <c:v>60.17</c:v>
                </c:pt>
                <c:pt idx="47">
                  <c:v>60.05</c:v>
                </c:pt>
                <c:pt idx="48">
                  <c:v>60.44</c:v>
                </c:pt>
                <c:pt idx="49">
                  <c:v>60.09</c:v>
                </c:pt>
                <c:pt idx="50">
                  <c:v>60.31</c:v>
                </c:pt>
                <c:pt idx="51">
                  <c:v>60.31</c:v>
                </c:pt>
                <c:pt idx="52">
                  <c:v>59.42</c:v>
                </c:pt>
                <c:pt idx="53">
                  <c:v>59.85</c:v>
                </c:pt>
                <c:pt idx="54">
                  <c:v>60.53</c:v>
                </c:pt>
                <c:pt idx="55">
                  <c:v>60.51</c:v>
                </c:pt>
                <c:pt idx="56">
                  <c:v>60.21</c:v>
                </c:pt>
                <c:pt idx="57">
                  <c:v>59.22</c:v>
                </c:pt>
                <c:pt idx="58">
                  <c:v>58.59</c:v>
                </c:pt>
                <c:pt idx="59">
                  <c:v>59.02</c:v>
                </c:pt>
                <c:pt idx="60">
                  <c:v>59.07</c:v>
                </c:pt>
                <c:pt idx="61">
                  <c:v>59.45</c:v>
                </c:pt>
                <c:pt idx="62">
                  <c:v>59.98</c:v>
                </c:pt>
                <c:pt idx="63">
                  <c:v>59.31</c:v>
                </c:pt>
                <c:pt idx="64">
                  <c:v>60.01</c:v>
                </c:pt>
                <c:pt idx="65">
                  <c:v>60.16</c:v>
                </c:pt>
                <c:pt idx="66">
                  <c:v>59.1</c:v>
                </c:pt>
                <c:pt idx="67">
                  <c:v>60.16</c:v>
                </c:pt>
                <c:pt idx="68">
                  <c:v>59.33</c:v>
                </c:pt>
                <c:pt idx="69">
                  <c:v>59.98</c:v>
                </c:pt>
                <c:pt idx="70">
                  <c:v>60.87</c:v>
                </c:pt>
                <c:pt idx="71">
                  <c:v>59.8</c:v>
                </c:pt>
                <c:pt idx="72">
                  <c:v>60.12</c:v>
                </c:pt>
                <c:pt idx="73">
                  <c:v>59.89</c:v>
                </c:pt>
                <c:pt idx="74">
                  <c:v>60</c:v>
                </c:pt>
                <c:pt idx="75">
                  <c:v>59.27</c:v>
                </c:pt>
                <c:pt idx="76">
                  <c:v>59.21</c:v>
                </c:pt>
                <c:pt idx="77">
                  <c:v>60.27</c:v>
                </c:pt>
                <c:pt idx="78">
                  <c:v>59.92</c:v>
                </c:pt>
                <c:pt idx="79">
                  <c:v>60.01</c:v>
                </c:pt>
                <c:pt idx="80">
                  <c:v>59.93</c:v>
                </c:pt>
                <c:pt idx="81">
                  <c:v>59.92</c:v>
                </c:pt>
                <c:pt idx="82">
                  <c:v>60.23</c:v>
                </c:pt>
                <c:pt idx="83">
                  <c:v>60.68</c:v>
                </c:pt>
                <c:pt idx="84">
                  <c:v>60.64</c:v>
                </c:pt>
                <c:pt idx="85">
                  <c:v>60.72</c:v>
                </c:pt>
                <c:pt idx="86">
                  <c:v>60.9</c:v>
                </c:pt>
                <c:pt idx="87">
                  <c:v>60.19</c:v>
                </c:pt>
                <c:pt idx="88">
                  <c:v>60.62</c:v>
                </c:pt>
                <c:pt idx="89">
                  <c:v>60.17</c:v>
                </c:pt>
                <c:pt idx="90">
                  <c:v>60.67</c:v>
                </c:pt>
                <c:pt idx="91">
                  <c:v>60.43</c:v>
                </c:pt>
                <c:pt idx="92">
                  <c:v>60.83</c:v>
                </c:pt>
                <c:pt idx="93">
                  <c:v>61.25</c:v>
                </c:pt>
                <c:pt idx="94">
                  <c:v>61.14</c:v>
                </c:pt>
                <c:pt idx="95">
                  <c:v>60.35</c:v>
                </c:pt>
                <c:pt idx="96">
                  <c:v>59.96</c:v>
                </c:pt>
                <c:pt idx="97">
                  <c:v>60.87</c:v>
                </c:pt>
                <c:pt idx="98">
                  <c:v>60.62</c:v>
                </c:pt>
                <c:pt idx="99">
                  <c:v>61.35</c:v>
                </c:pt>
                <c:pt idx="100">
                  <c:v>61.43</c:v>
                </c:pt>
                <c:pt idx="101">
                  <c:v>61.38</c:v>
                </c:pt>
                <c:pt idx="102">
                  <c:v>60.76</c:v>
                </c:pt>
                <c:pt idx="103">
                  <c:v>60.88</c:v>
                </c:pt>
                <c:pt idx="104">
                  <c:v>61.5</c:v>
                </c:pt>
                <c:pt idx="105">
                  <c:v>60.53</c:v>
                </c:pt>
                <c:pt idx="106">
                  <c:v>60.51</c:v>
                </c:pt>
                <c:pt idx="107">
                  <c:v>60.43</c:v>
                </c:pt>
                <c:pt idx="108">
                  <c:v>61.27</c:v>
                </c:pt>
                <c:pt idx="109">
                  <c:v>61.6</c:v>
                </c:pt>
                <c:pt idx="110">
                  <c:v>61.11</c:v>
                </c:pt>
                <c:pt idx="111">
                  <c:v>61.09</c:v>
                </c:pt>
                <c:pt idx="112">
                  <c:v>60.78</c:v>
                </c:pt>
                <c:pt idx="113">
                  <c:v>61.04</c:v>
                </c:pt>
                <c:pt idx="114">
                  <c:v>61.43</c:v>
                </c:pt>
                <c:pt idx="115">
                  <c:v>61.18</c:v>
                </c:pt>
                <c:pt idx="116">
                  <c:v>61.13</c:v>
                </c:pt>
                <c:pt idx="117">
                  <c:v>61.39</c:v>
                </c:pt>
                <c:pt idx="118">
                  <c:v>60.83</c:v>
                </c:pt>
                <c:pt idx="119">
                  <c:v>61.85</c:v>
                </c:pt>
                <c:pt idx="120">
                  <c:v>61.25</c:v>
                </c:pt>
                <c:pt idx="121">
                  <c:v>61.65</c:v>
                </c:pt>
                <c:pt idx="122">
                  <c:v>60.57</c:v>
                </c:pt>
                <c:pt idx="123">
                  <c:v>61.27</c:v>
                </c:pt>
                <c:pt idx="124">
                  <c:v>61.41</c:v>
                </c:pt>
                <c:pt idx="125">
                  <c:v>61.64</c:v>
                </c:pt>
                <c:pt idx="126">
                  <c:v>61.15</c:v>
                </c:pt>
                <c:pt idx="127">
                  <c:v>61.19</c:v>
                </c:pt>
                <c:pt idx="128">
                  <c:v>60.66</c:v>
                </c:pt>
                <c:pt idx="129">
                  <c:v>61.07</c:v>
                </c:pt>
                <c:pt idx="130">
                  <c:v>60.63</c:v>
                </c:pt>
                <c:pt idx="131">
                  <c:v>61.23</c:v>
                </c:pt>
                <c:pt idx="132">
                  <c:v>61.45</c:v>
                </c:pt>
                <c:pt idx="133">
                  <c:v>61.26</c:v>
                </c:pt>
                <c:pt idx="134">
                  <c:v>61.03</c:v>
                </c:pt>
                <c:pt idx="135">
                  <c:v>61.39</c:v>
                </c:pt>
                <c:pt idx="136">
                  <c:v>61.82</c:v>
                </c:pt>
                <c:pt idx="137">
                  <c:v>60.56</c:v>
                </c:pt>
                <c:pt idx="138">
                  <c:v>61</c:v>
                </c:pt>
                <c:pt idx="139">
                  <c:v>60.95</c:v>
                </c:pt>
                <c:pt idx="140">
                  <c:v>60.27</c:v>
                </c:pt>
                <c:pt idx="141">
                  <c:v>60.79</c:v>
                </c:pt>
                <c:pt idx="142">
                  <c:v>61.3</c:v>
                </c:pt>
                <c:pt idx="143">
                  <c:v>60.72</c:v>
                </c:pt>
                <c:pt idx="144">
                  <c:v>61.66</c:v>
                </c:pt>
                <c:pt idx="145">
                  <c:v>61.22</c:v>
                </c:pt>
                <c:pt idx="146">
                  <c:v>60.41</c:v>
                </c:pt>
                <c:pt idx="147">
                  <c:v>60.95</c:v>
                </c:pt>
                <c:pt idx="148">
                  <c:v>60.45</c:v>
                </c:pt>
                <c:pt idx="149">
                  <c:v>60.6</c:v>
                </c:pt>
                <c:pt idx="150">
                  <c:v>61.07</c:v>
                </c:pt>
                <c:pt idx="151">
                  <c:v>60.59</c:v>
                </c:pt>
                <c:pt idx="152">
                  <c:v>60.74</c:v>
                </c:pt>
                <c:pt idx="153">
                  <c:v>61.46</c:v>
                </c:pt>
                <c:pt idx="154">
                  <c:v>60.57</c:v>
                </c:pt>
                <c:pt idx="155">
                  <c:v>60.78</c:v>
                </c:pt>
                <c:pt idx="156">
                  <c:v>61.3</c:v>
                </c:pt>
                <c:pt idx="157">
                  <c:v>60.86</c:v>
                </c:pt>
                <c:pt idx="158">
                  <c:v>60.51</c:v>
                </c:pt>
                <c:pt idx="159">
                  <c:v>60.83</c:v>
                </c:pt>
                <c:pt idx="160">
                  <c:v>60.64</c:v>
                </c:pt>
                <c:pt idx="161">
                  <c:v>61.1</c:v>
                </c:pt>
                <c:pt idx="162">
                  <c:v>61.23</c:v>
                </c:pt>
                <c:pt idx="163">
                  <c:v>59.78</c:v>
                </c:pt>
                <c:pt idx="164">
                  <c:v>60.79</c:v>
                </c:pt>
                <c:pt idx="165">
                  <c:v>60.98</c:v>
                </c:pt>
                <c:pt idx="166">
                  <c:v>60.68</c:v>
                </c:pt>
                <c:pt idx="167">
                  <c:v>60.72</c:v>
                </c:pt>
                <c:pt idx="168">
                  <c:v>60.57</c:v>
                </c:pt>
                <c:pt idx="169">
                  <c:v>60.59</c:v>
                </c:pt>
                <c:pt idx="170">
                  <c:v>61.21</c:v>
                </c:pt>
                <c:pt idx="171">
                  <c:v>61.18</c:v>
                </c:pt>
                <c:pt idx="172">
                  <c:v>61.1</c:v>
                </c:pt>
                <c:pt idx="173">
                  <c:v>62.13</c:v>
                </c:pt>
                <c:pt idx="174">
                  <c:v>61.39</c:v>
                </c:pt>
                <c:pt idx="175">
                  <c:v>60.83</c:v>
                </c:pt>
                <c:pt idx="176">
                  <c:v>61.11</c:v>
                </c:pt>
                <c:pt idx="177">
                  <c:v>60.6</c:v>
                </c:pt>
                <c:pt idx="178">
                  <c:v>60.01</c:v>
                </c:pt>
                <c:pt idx="179">
                  <c:v>61.14</c:v>
                </c:pt>
                <c:pt idx="180">
                  <c:v>60.83</c:v>
                </c:pt>
                <c:pt idx="181">
                  <c:v>61.39</c:v>
                </c:pt>
                <c:pt idx="182">
                  <c:v>61.74</c:v>
                </c:pt>
                <c:pt idx="183">
                  <c:v>61.31</c:v>
                </c:pt>
                <c:pt idx="184">
                  <c:v>61.29</c:v>
                </c:pt>
                <c:pt idx="185">
                  <c:v>61.06</c:v>
                </c:pt>
                <c:pt idx="186">
                  <c:v>61.27</c:v>
                </c:pt>
                <c:pt idx="187">
                  <c:v>60.67</c:v>
                </c:pt>
                <c:pt idx="188">
                  <c:v>61.51</c:v>
                </c:pt>
                <c:pt idx="189">
                  <c:v>61.09</c:v>
                </c:pt>
                <c:pt idx="190">
                  <c:v>60.66</c:v>
                </c:pt>
                <c:pt idx="191">
                  <c:v>61.31</c:v>
                </c:pt>
                <c:pt idx="192">
                  <c:v>60.28</c:v>
                </c:pt>
                <c:pt idx="193">
                  <c:v>60.88</c:v>
                </c:pt>
                <c:pt idx="194">
                  <c:v>60.78</c:v>
                </c:pt>
                <c:pt idx="195">
                  <c:v>61.82</c:v>
                </c:pt>
                <c:pt idx="196">
                  <c:v>61.04</c:v>
                </c:pt>
                <c:pt idx="197">
                  <c:v>60.71</c:v>
                </c:pt>
                <c:pt idx="198">
                  <c:v>60.51</c:v>
                </c:pt>
                <c:pt idx="199">
                  <c:v>60.62</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tickLblSkip val="25"/>
      </c:catAx>
      <c:valAx>
        <c:axId val="2094734552"/>
        <c:scaling>
          <c:orientation val="minMax"/>
          <c:max val="100"/>
          <c:min val="50"/>
        </c:scaling>
        <c:delete val="0"/>
        <c:axPos val="l"/>
        <c:majorGridlines>
          <c:spPr>
            <a:ln w="9525" cap="flat">
              <a:solidFill>
                <a:srgbClr val="1E293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Nuestra red con respuestas al azar · AUC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Sheet1!$A$2:$A$18</c:f>
              <c:multiLvlStrCache>
                <c:ptCount val="17"/>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lvl>
              </c:multiLvlStrCache>
            </c:multiLvlStrRef>
          </c:cat>
          <c:val>
            <c:numRef>
              <c:f>Sheet1!$B$2:$B$18</c:f>
              <c:numCache>
                <c:formatCode>General</c:formatCode>
                <c:ptCount val="17"/>
                <c:pt idx="0">
                  <c:v>0.5066</c:v>
                </c:pt>
                <c:pt idx="1">
                  <c:v>0.5111</c:v>
                </c:pt>
                <c:pt idx="2">
                  <c:v>0.5125</c:v>
                </c:pt>
                <c:pt idx="3">
                  <c:v>0.5164</c:v>
                </c:pt>
                <c:pt idx="4">
                  <c:v>0.5185</c:v>
                </c:pt>
                <c:pt idx="5">
                  <c:v>0.5209</c:v>
                </c:pt>
                <c:pt idx="6">
                  <c:v>0.5237</c:v>
                </c:pt>
                <c:pt idx="7">
                  <c:v>0.5267</c:v>
                </c:pt>
                <c:pt idx="8">
                  <c:v>0.5326</c:v>
                </c:pt>
                <c:pt idx="9">
                  <c:v>0.5388</c:v>
                </c:pt>
                <c:pt idx="10">
                  <c:v>0.5399</c:v>
                </c:pt>
                <c:pt idx="11">
                  <c:v>0.5431</c:v>
                </c:pt>
                <c:pt idx="12">
                  <c:v>0.5452</c:v>
                </c:pt>
                <c:pt idx="13">
                  <c:v>0.5454</c:v>
                </c:pt>
                <c:pt idx="14">
                  <c:v>0.5467</c:v>
                </c:pt>
                <c:pt idx="15">
                  <c:v>0.5475</c:v>
                </c:pt>
                <c:pt idx="16">
                  <c:v>0.5477</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Sheet1!$A$2:$A$18</c:f>
              <c:multiLvlStrCache>
                <c:ptCount val="17"/>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lvl>
              </c:multiLvlStrCache>
            </c:multiLvlStrRef>
          </c:cat>
          <c:val>
            <c:numRef>
              <c:f>Sheet1!$C$2:$C$18</c:f>
              <c:numCache>
                <c:formatCode>General</c:formatCode>
                <c:ptCount val="17"/>
                <c:pt idx="0">
                  <c:v>0.5153</c:v>
                </c:pt>
                <c:pt idx="1">
                  <c:v>0.5342</c:v>
                </c:pt>
                <c:pt idx="2">
                  <c:v>0.5302</c:v>
                </c:pt>
                <c:pt idx="3">
                  <c:v>0.5336</c:v>
                </c:pt>
                <c:pt idx="4">
                  <c:v>0.5399</c:v>
                </c:pt>
                <c:pt idx="5">
                  <c:v>0.5185</c:v>
                </c:pt>
                <c:pt idx="6">
                  <c:v>0.5074</c:v>
                </c:pt>
                <c:pt idx="7">
                  <c:v>0.51</c:v>
                </c:pt>
                <c:pt idx="8">
                  <c:v>0.5199</c:v>
                </c:pt>
                <c:pt idx="9">
                  <c:v>0.5012</c:v>
                </c:pt>
                <c:pt idx="10">
                  <c:v>0.5138</c:v>
                </c:pt>
                <c:pt idx="11">
                  <c:v>0.4998</c:v>
                </c:pt>
                <c:pt idx="12">
                  <c:v>0.4931</c:v>
                </c:pt>
                <c:pt idx="13">
                  <c:v>0.4957</c:v>
                </c:pt>
                <c:pt idx="14">
                  <c:v>0.4888</c:v>
                </c:pt>
                <c:pt idx="15">
                  <c:v>0.498</c:v>
                </c:pt>
                <c:pt idx="16">
                  <c:v>0.5035</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
          <c:min val="0.4"/>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gigante con respuestas al azar · AUC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Sheet1!$A$2:$A$201</c:f>
              <c:multiLvlStrCache>
                <c:ptCount val="2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lvl>
              </c:multiLvlStrCache>
            </c:multiLvlStrRef>
          </c:cat>
          <c:val>
            <c:numRef>
              <c:f>Sheet1!$B$2:$B$201</c:f>
              <c:numCache>
                <c:formatCode>General</c:formatCode>
                <c:ptCount val="200"/>
                <c:pt idx="0">
                  <c:v>0.5388</c:v>
                </c:pt>
                <c:pt idx="1">
                  <c:v>0.5553</c:v>
                </c:pt>
                <c:pt idx="2">
                  <c:v>0.5674</c:v>
                </c:pt>
                <c:pt idx="3">
                  <c:v>0.5688</c:v>
                </c:pt>
                <c:pt idx="4">
                  <c:v>0.5758</c:v>
                </c:pt>
                <c:pt idx="5">
                  <c:v>0.5805</c:v>
                </c:pt>
                <c:pt idx="6">
                  <c:v>0.5875</c:v>
                </c:pt>
                <c:pt idx="7">
                  <c:v>0.5944</c:v>
                </c:pt>
                <c:pt idx="8">
                  <c:v>0.6053</c:v>
                </c:pt>
                <c:pt idx="9">
                  <c:v>0.6099</c:v>
                </c:pt>
                <c:pt idx="10">
                  <c:v>0.6156</c:v>
                </c:pt>
                <c:pt idx="11">
                  <c:v>0.619</c:v>
                </c:pt>
                <c:pt idx="12">
                  <c:v>0.6324</c:v>
                </c:pt>
                <c:pt idx="13">
                  <c:v>0.6428</c:v>
                </c:pt>
                <c:pt idx="14">
                  <c:v>0.6499</c:v>
                </c:pt>
                <c:pt idx="15">
                  <c:v>0.6588</c:v>
                </c:pt>
                <c:pt idx="16">
                  <c:v>0.6672</c:v>
                </c:pt>
                <c:pt idx="17">
                  <c:v>0.676</c:v>
                </c:pt>
                <c:pt idx="18">
                  <c:v>0.6826</c:v>
                </c:pt>
                <c:pt idx="19">
                  <c:v>0.6854</c:v>
                </c:pt>
                <c:pt idx="20">
                  <c:v>0.6923</c:v>
                </c:pt>
                <c:pt idx="21">
                  <c:v>0.6976</c:v>
                </c:pt>
                <c:pt idx="22">
                  <c:v>0.704</c:v>
                </c:pt>
                <c:pt idx="23">
                  <c:v>0.7088</c:v>
                </c:pt>
                <c:pt idx="24">
                  <c:v>0.7132</c:v>
                </c:pt>
                <c:pt idx="25">
                  <c:v>0.7215</c:v>
                </c:pt>
                <c:pt idx="26">
                  <c:v>0.7249</c:v>
                </c:pt>
                <c:pt idx="27">
                  <c:v>0.7346</c:v>
                </c:pt>
                <c:pt idx="28">
                  <c:v>0.734</c:v>
                </c:pt>
                <c:pt idx="29">
                  <c:v>0.7473</c:v>
                </c:pt>
                <c:pt idx="30">
                  <c:v>0.7569</c:v>
                </c:pt>
                <c:pt idx="31">
                  <c:v>0.7645</c:v>
                </c:pt>
                <c:pt idx="32">
                  <c:v>0.7713</c:v>
                </c:pt>
                <c:pt idx="33">
                  <c:v>0.7774</c:v>
                </c:pt>
                <c:pt idx="34">
                  <c:v>0.7823</c:v>
                </c:pt>
                <c:pt idx="35">
                  <c:v>0.7854</c:v>
                </c:pt>
                <c:pt idx="36">
                  <c:v>0.7901</c:v>
                </c:pt>
                <c:pt idx="37">
                  <c:v>0.7895</c:v>
                </c:pt>
                <c:pt idx="38">
                  <c:v>0.786</c:v>
                </c:pt>
                <c:pt idx="39">
                  <c:v>0.7877</c:v>
                </c:pt>
                <c:pt idx="40">
                  <c:v>0.7985</c:v>
                </c:pt>
                <c:pt idx="41">
                  <c:v>0.8013</c:v>
                </c:pt>
                <c:pt idx="42">
                  <c:v>0.8001</c:v>
                </c:pt>
                <c:pt idx="43">
                  <c:v>0.7931</c:v>
                </c:pt>
                <c:pt idx="44">
                  <c:v>0.7993</c:v>
                </c:pt>
                <c:pt idx="45">
                  <c:v>0.7937</c:v>
                </c:pt>
                <c:pt idx="46">
                  <c:v>0.7882</c:v>
                </c:pt>
                <c:pt idx="47">
                  <c:v>0.8035</c:v>
                </c:pt>
                <c:pt idx="48">
                  <c:v>0.8294</c:v>
                </c:pt>
                <c:pt idx="49">
                  <c:v>0.8324</c:v>
                </c:pt>
                <c:pt idx="50">
                  <c:v>0.8364</c:v>
                </c:pt>
                <c:pt idx="51">
                  <c:v>0.8401</c:v>
                </c:pt>
                <c:pt idx="52">
                  <c:v>0.8429</c:v>
                </c:pt>
                <c:pt idx="53">
                  <c:v>0.843</c:v>
                </c:pt>
                <c:pt idx="54">
                  <c:v>0.8476</c:v>
                </c:pt>
                <c:pt idx="55">
                  <c:v>0.8459</c:v>
                </c:pt>
                <c:pt idx="56">
                  <c:v>0.8543</c:v>
                </c:pt>
                <c:pt idx="57">
                  <c:v>0.8597</c:v>
                </c:pt>
                <c:pt idx="58">
                  <c:v>0.855</c:v>
                </c:pt>
                <c:pt idx="59">
                  <c:v>0.8584</c:v>
                </c:pt>
                <c:pt idx="60">
                  <c:v>0.8566</c:v>
                </c:pt>
                <c:pt idx="61">
                  <c:v>0.8555</c:v>
                </c:pt>
                <c:pt idx="62">
                  <c:v>0.8682</c:v>
                </c:pt>
                <c:pt idx="63">
                  <c:v>0.8812</c:v>
                </c:pt>
                <c:pt idx="64">
                  <c:v>0.8873</c:v>
                </c:pt>
                <c:pt idx="65">
                  <c:v>0.8955</c:v>
                </c:pt>
                <c:pt idx="66">
                  <c:v>0.8985</c:v>
                </c:pt>
                <c:pt idx="67">
                  <c:v>0.9004</c:v>
                </c:pt>
                <c:pt idx="68">
                  <c:v>0.9031</c:v>
                </c:pt>
                <c:pt idx="69">
                  <c:v>0.9009</c:v>
                </c:pt>
                <c:pt idx="70">
                  <c:v>0.9008</c:v>
                </c:pt>
                <c:pt idx="71">
                  <c:v>0.9037</c:v>
                </c:pt>
                <c:pt idx="72">
                  <c:v>0.906</c:v>
                </c:pt>
                <c:pt idx="73">
                  <c:v>0.9074</c:v>
                </c:pt>
                <c:pt idx="74">
                  <c:v>0.9085</c:v>
                </c:pt>
                <c:pt idx="75">
                  <c:v>0.9071</c:v>
                </c:pt>
                <c:pt idx="76">
                  <c:v>0.9045</c:v>
                </c:pt>
                <c:pt idx="77">
                  <c:v>0.911</c:v>
                </c:pt>
                <c:pt idx="78">
                  <c:v>0.9153</c:v>
                </c:pt>
                <c:pt idx="79">
                  <c:v>0.9186</c:v>
                </c:pt>
                <c:pt idx="80">
                  <c:v>0.9144</c:v>
                </c:pt>
                <c:pt idx="81">
                  <c:v>0.922</c:v>
                </c:pt>
                <c:pt idx="82">
                  <c:v>0.9158</c:v>
                </c:pt>
                <c:pt idx="83">
                  <c:v>0.9225</c:v>
                </c:pt>
                <c:pt idx="84">
                  <c:v>0.9247</c:v>
                </c:pt>
                <c:pt idx="85">
                  <c:v>0.9274</c:v>
                </c:pt>
                <c:pt idx="86">
                  <c:v>0.9324</c:v>
                </c:pt>
                <c:pt idx="87">
                  <c:v>0.9357</c:v>
                </c:pt>
                <c:pt idx="88">
                  <c:v>0.939</c:v>
                </c:pt>
                <c:pt idx="89">
                  <c:v>0.9388</c:v>
                </c:pt>
                <c:pt idx="90">
                  <c:v>0.9396</c:v>
                </c:pt>
                <c:pt idx="91">
                  <c:v>0.9453</c:v>
                </c:pt>
                <c:pt idx="92">
                  <c:v>0.9422</c:v>
                </c:pt>
                <c:pt idx="93">
                  <c:v>0.9437</c:v>
                </c:pt>
                <c:pt idx="94">
                  <c:v>0.9514</c:v>
                </c:pt>
                <c:pt idx="95">
                  <c:v>0.9532</c:v>
                </c:pt>
                <c:pt idx="96">
                  <c:v>0.9526</c:v>
                </c:pt>
                <c:pt idx="97">
                  <c:v>0.9524</c:v>
                </c:pt>
                <c:pt idx="98">
                  <c:v>0.9502</c:v>
                </c:pt>
                <c:pt idx="99">
                  <c:v>0.9551</c:v>
                </c:pt>
                <c:pt idx="100">
                  <c:v>0.9577</c:v>
                </c:pt>
                <c:pt idx="101">
                  <c:v>0.9605</c:v>
                </c:pt>
                <c:pt idx="102">
                  <c:v>0.9627</c:v>
                </c:pt>
                <c:pt idx="103">
                  <c:v>0.9585</c:v>
                </c:pt>
                <c:pt idx="104">
                  <c:v>0.9587</c:v>
                </c:pt>
                <c:pt idx="105">
                  <c:v>0.9603</c:v>
                </c:pt>
                <c:pt idx="106">
                  <c:v>0.9611</c:v>
                </c:pt>
                <c:pt idx="107">
                  <c:v>0.9636</c:v>
                </c:pt>
                <c:pt idx="108">
                  <c:v>0.962</c:v>
                </c:pt>
                <c:pt idx="109">
                  <c:v>0.9627</c:v>
                </c:pt>
                <c:pt idx="110">
                  <c:v>0.968</c:v>
                </c:pt>
                <c:pt idx="111">
                  <c:v>0.9644</c:v>
                </c:pt>
                <c:pt idx="112">
                  <c:v>0.9672</c:v>
                </c:pt>
                <c:pt idx="113">
                  <c:v>0.9641</c:v>
                </c:pt>
                <c:pt idx="114">
                  <c:v>0.9665</c:v>
                </c:pt>
                <c:pt idx="115">
                  <c:v>0.9677</c:v>
                </c:pt>
                <c:pt idx="116">
                  <c:v>0.9694</c:v>
                </c:pt>
                <c:pt idx="117">
                  <c:v>0.9697</c:v>
                </c:pt>
                <c:pt idx="118">
                  <c:v>0.9711</c:v>
                </c:pt>
                <c:pt idx="119">
                  <c:v>0.9708</c:v>
                </c:pt>
                <c:pt idx="120">
                  <c:v>0.9734</c:v>
                </c:pt>
                <c:pt idx="121">
                  <c:v>0.9741</c:v>
                </c:pt>
                <c:pt idx="122">
                  <c:v>0.9756</c:v>
                </c:pt>
                <c:pt idx="123">
                  <c:v>0.9749</c:v>
                </c:pt>
                <c:pt idx="124">
                  <c:v>0.9753</c:v>
                </c:pt>
                <c:pt idx="125">
                  <c:v>0.9766</c:v>
                </c:pt>
                <c:pt idx="126">
                  <c:v>0.9774</c:v>
                </c:pt>
                <c:pt idx="127">
                  <c:v>0.979</c:v>
                </c:pt>
                <c:pt idx="128">
                  <c:v>0.983</c:v>
                </c:pt>
                <c:pt idx="129">
                  <c:v>0.9822</c:v>
                </c:pt>
                <c:pt idx="130">
                  <c:v>0.9836</c:v>
                </c:pt>
                <c:pt idx="131">
                  <c:v>0.9827</c:v>
                </c:pt>
                <c:pt idx="132">
                  <c:v>0.982</c:v>
                </c:pt>
                <c:pt idx="133">
                  <c:v>0.9813</c:v>
                </c:pt>
                <c:pt idx="134">
                  <c:v>0.9864</c:v>
                </c:pt>
                <c:pt idx="135">
                  <c:v>0.987</c:v>
                </c:pt>
                <c:pt idx="136">
                  <c:v>0.9839</c:v>
                </c:pt>
                <c:pt idx="137">
                  <c:v>0.9877</c:v>
                </c:pt>
                <c:pt idx="138">
                  <c:v>0.9887</c:v>
                </c:pt>
                <c:pt idx="139">
                  <c:v>0.9883</c:v>
                </c:pt>
                <c:pt idx="140">
                  <c:v>0.9875</c:v>
                </c:pt>
                <c:pt idx="141">
                  <c:v>0.9897</c:v>
                </c:pt>
                <c:pt idx="142">
                  <c:v>0.9875</c:v>
                </c:pt>
                <c:pt idx="143">
                  <c:v>0.992</c:v>
                </c:pt>
                <c:pt idx="144">
                  <c:v>0.9904</c:v>
                </c:pt>
                <c:pt idx="145">
                  <c:v>0.9888</c:v>
                </c:pt>
                <c:pt idx="146">
                  <c:v>0.9886</c:v>
                </c:pt>
                <c:pt idx="147">
                  <c:v>0.9917</c:v>
                </c:pt>
                <c:pt idx="148">
                  <c:v>0.9939</c:v>
                </c:pt>
                <c:pt idx="149">
                  <c:v>0.993</c:v>
                </c:pt>
                <c:pt idx="150">
                  <c:v>0.9931</c:v>
                </c:pt>
                <c:pt idx="151">
                  <c:v>0.994</c:v>
                </c:pt>
                <c:pt idx="152">
                  <c:v>0.9935</c:v>
                </c:pt>
                <c:pt idx="153">
                  <c:v>0.9928</c:v>
                </c:pt>
                <c:pt idx="154">
                  <c:v>0.9939</c:v>
                </c:pt>
                <c:pt idx="155">
                  <c:v>0.9933</c:v>
                </c:pt>
                <c:pt idx="156">
                  <c:v>0.9951</c:v>
                </c:pt>
                <c:pt idx="157">
                  <c:v>0.9948</c:v>
                </c:pt>
                <c:pt idx="158">
                  <c:v>0.9951</c:v>
                </c:pt>
                <c:pt idx="159">
                  <c:v>0.9955</c:v>
                </c:pt>
                <c:pt idx="160">
                  <c:v>0.9953</c:v>
                </c:pt>
                <c:pt idx="161">
                  <c:v>0.9958</c:v>
                </c:pt>
                <c:pt idx="162">
                  <c:v>0.9968</c:v>
                </c:pt>
                <c:pt idx="163">
                  <c:v>0.9967</c:v>
                </c:pt>
                <c:pt idx="164">
                  <c:v>0.9962</c:v>
                </c:pt>
                <c:pt idx="165">
                  <c:v>0.995</c:v>
                </c:pt>
                <c:pt idx="166">
                  <c:v>0.9957</c:v>
                </c:pt>
                <c:pt idx="167">
                  <c:v>0.9965</c:v>
                </c:pt>
                <c:pt idx="168">
                  <c:v>0.9954</c:v>
                </c:pt>
                <c:pt idx="169">
                  <c:v>0.9974</c:v>
                </c:pt>
                <c:pt idx="170">
                  <c:v>0.9968</c:v>
                </c:pt>
                <c:pt idx="171">
                  <c:v>0.9974</c:v>
                </c:pt>
                <c:pt idx="172">
                  <c:v>0.9958</c:v>
                </c:pt>
                <c:pt idx="173">
                  <c:v>0.9961</c:v>
                </c:pt>
                <c:pt idx="174">
                  <c:v>0.9967</c:v>
                </c:pt>
                <c:pt idx="175">
                  <c:v>0.998</c:v>
                </c:pt>
                <c:pt idx="176">
                  <c:v>0.998</c:v>
                </c:pt>
                <c:pt idx="177">
                  <c:v>0.9982</c:v>
                </c:pt>
                <c:pt idx="178">
                  <c:v>0.9981</c:v>
                </c:pt>
                <c:pt idx="179">
                  <c:v>0.9981</c:v>
                </c:pt>
                <c:pt idx="180">
                  <c:v>0.9967</c:v>
                </c:pt>
                <c:pt idx="181">
                  <c:v>0.9961</c:v>
                </c:pt>
                <c:pt idx="182">
                  <c:v>0.9967</c:v>
                </c:pt>
                <c:pt idx="183">
                  <c:v>0.9978</c:v>
                </c:pt>
                <c:pt idx="184">
                  <c:v>0.9986</c:v>
                </c:pt>
                <c:pt idx="185">
                  <c:v>0.9987</c:v>
                </c:pt>
                <c:pt idx="186">
                  <c:v>0.9989</c:v>
                </c:pt>
                <c:pt idx="187">
                  <c:v>0.9983</c:v>
                </c:pt>
                <c:pt idx="188">
                  <c:v>0.9973</c:v>
                </c:pt>
                <c:pt idx="189">
                  <c:v>0.9967</c:v>
                </c:pt>
                <c:pt idx="190">
                  <c:v>0.9976</c:v>
                </c:pt>
                <c:pt idx="191">
                  <c:v>0.9979</c:v>
                </c:pt>
                <c:pt idx="192">
                  <c:v>0.9986</c:v>
                </c:pt>
                <c:pt idx="193">
                  <c:v>0.9991</c:v>
                </c:pt>
                <c:pt idx="194">
                  <c:v>0.9993</c:v>
                </c:pt>
                <c:pt idx="195">
                  <c:v>0.9993</c:v>
                </c:pt>
                <c:pt idx="196">
                  <c:v>0.9982</c:v>
                </c:pt>
                <c:pt idx="197">
                  <c:v>0.9976</c:v>
                </c:pt>
                <c:pt idx="198">
                  <c:v>0.9971</c:v>
                </c:pt>
                <c:pt idx="199">
                  <c:v>0.9985</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Sheet1!$A$2:$A$201</c:f>
              <c:multiLvlStrCache>
                <c:ptCount val="2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lvl>
              </c:multiLvlStrCache>
            </c:multiLvlStrRef>
          </c:cat>
          <c:val>
            <c:numRef>
              <c:f>Sheet1!$C$2:$C$201</c:f>
              <c:numCache>
                <c:formatCode>General</c:formatCode>
                <c:ptCount val="200"/>
                <c:pt idx="0">
                  <c:v>0.4772</c:v>
                </c:pt>
                <c:pt idx="1">
                  <c:v>0.4956</c:v>
                </c:pt>
                <c:pt idx="2">
                  <c:v>0.5003</c:v>
                </c:pt>
                <c:pt idx="3">
                  <c:v>0.4955</c:v>
                </c:pt>
                <c:pt idx="4">
                  <c:v>0.4909</c:v>
                </c:pt>
                <c:pt idx="5">
                  <c:v>0.4914</c:v>
                </c:pt>
                <c:pt idx="6">
                  <c:v>0.4815</c:v>
                </c:pt>
                <c:pt idx="7">
                  <c:v>0.4868</c:v>
                </c:pt>
                <c:pt idx="8">
                  <c:v>0.4934</c:v>
                </c:pt>
                <c:pt idx="9">
                  <c:v>0.496</c:v>
                </c:pt>
                <c:pt idx="10">
                  <c:v>0.5089</c:v>
                </c:pt>
                <c:pt idx="11">
                  <c:v>0.5122</c:v>
                </c:pt>
                <c:pt idx="12">
                  <c:v>0.5055</c:v>
                </c:pt>
                <c:pt idx="13">
                  <c:v>0.5039</c:v>
                </c:pt>
                <c:pt idx="14">
                  <c:v>0.4997</c:v>
                </c:pt>
                <c:pt idx="15">
                  <c:v>0.5022</c:v>
                </c:pt>
                <c:pt idx="16">
                  <c:v>0.5027</c:v>
                </c:pt>
                <c:pt idx="17">
                  <c:v>0.5038</c:v>
                </c:pt>
                <c:pt idx="18">
                  <c:v>0.5012</c:v>
                </c:pt>
                <c:pt idx="19">
                  <c:v>0.5011</c:v>
                </c:pt>
                <c:pt idx="20">
                  <c:v>0.4932</c:v>
                </c:pt>
                <c:pt idx="21">
                  <c:v>0.4938</c:v>
                </c:pt>
                <c:pt idx="22">
                  <c:v>0.4954</c:v>
                </c:pt>
                <c:pt idx="23">
                  <c:v>0.4956</c:v>
                </c:pt>
                <c:pt idx="24">
                  <c:v>0.493</c:v>
                </c:pt>
                <c:pt idx="25">
                  <c:v>0.4863</c:v>
                </c:pt>
                <c:pt idx="26">
                  <c:v>0.4795</c:v>
                </c:pt>
                <c:pt idx="27">
                  <c:v>0.4755</c:v>
                </c:pt>
                <c:pt idx="28">
                  <c:v>0.4907</c:v>
                </c:pt>
                <c:pt idx="29">
                  <c:v>0.4894</c:v>
                </c:pt>
                <c:pt idx="30">
                  <c:v>0.4939</c:v>
                </c:pt>
                <c:pt idx="31">
                  <c:v>0.4854</c:v>
                </c:pt>
                <c:pt idx="32">
                  <c:v>0.4781</c:v>
                </c:pt>
                <c:pt idx="33">
                  <c:v>0.477</c:v>
                </c:pt>
                <c:pt idx="34">
                  <c:v>0.4836</c:v>
                </c:pt>
                <c:pt idx="35">
                  <c:v>0.4808</c:v>
                </c:pt>
                <c:pt idx="36">
                  <c:v>0.49</c:v>
                </c:pt>
                <c:pt idx="37">
                  <c:v>0.4947</c:v>
                </c:pt>
                <c:pt idx="38">
                  <c:v>0.4984</c:v>
                </c:pt>
                <c:pt idx="39">
                  <c:v>0.4912</c:v>
                </c:pt>
                <c:pt idx="40">
                  <c:v>0.4984</c:v>
                </c:pt>
                <c:pt idx="41">
                  <c:v>0.4996</c:v>
                </c:pt>
                <c:pt idx="42">
                  <c:v>0.5116</c:v>
                </c:pt>
                <c:pt idx="43">
                  <c:v>0.5223</c:v>
                </c:pt>
                <c:pt idx="44">
                  <c:v>0.5203</c:v>
                </c:pt>
                <c:pt idx="45">
                  <c:v>0.5205</c:v>
                </c:pt>
                <c:pt idx="46">
                  <c:v>0.5143</c:v>
                </c:pt>
                <c:pt idx="47">
                  <c:v>0.5034</c:v>
                </c:pt>
                <c:pt idx="48">
                  <c:v>0.5081</c:v>
                </c:pt>
                <c:pt idx="49">
                  <c:v>0.5063</c:v>
                </c:pt>
                <c:pt idx="50">
                  <c:v>0.5131</c:v>
                </c:pt>
                <c:pt idx="51">
                  <c:v>0.5147</c:v>
                </c:pt>
                <c:pt idx="52">
                  <c:v>0.5092</c:v>
                </c:pt>
                <c:pt idx="53">
                  <c:v>0.5165</c:v>
                </c:pt>
                <c:pt idx="54">
                  <c:v>0.5149</c:v>
                </c:pt>
                <c:pt idx="55">
                  <c:v>0.5031</c:v>
                </c:pt>
                <c:pt idx="56">
                  <c:v>0.5045</c:v>
                </c:pt>
                <c:pt idx="57">
                  <c:v>0.5038</c:v>
                </c:pt>
                <c:pt idx="58">
                  <c:v>0.4986</c:v>
                </c:pt>
                <c:pt idx="59">
                  <c:v>0.5085</c:v>
                </c:pt>
                <c:pt idx="60">
                  <c:v>0.5094</c:v>
                </c:pt>
                <c:pt idx="61">
                  <c:v>0.5025</c:v>
                </c:pt>
                <c:pt idx="62">
                  <c:v>0.5084</c:v>
                </c:pt>
                <c:pt idx="63">
                  <c:v>0.5088</c:v>
                </c:pt>
                <c:pt idx="64">
                  <c:v>0.5186</c:v>
                </c:pt>
                <c:pt idx="65">
                  <c:v>0.5185</c:v>
                </c:pt>
                <c:pt idx="66">
                  <c:v>0.507</c:v>
                </c:pt>
                <c:pt idx="67">
                  <c:v>0.5104</c:v>
                </c:pt>
                <c:pt idx="68">
                  <c:v>0.5121</c:v>
                </c:pt>
                <c:pt idx="69">
                  <c:v>0.5035</c:v>
                </c:pt>
                <c:pt idx="70">
                  <c:v>0.5107</c:v>
                </c:pt>
                <c:pt idx="71">
                  <c:v>0.5086</c:v>
                </c:pt>
                <c:pt idx="72">
                  <c:v>0.507</c:v>
                </c:pt>
                <c:pt idx="73">
                  <c:v>0.5009</c:v>
                </c:pt>
                <c:pt idx="74">
                  <c:v>0.5094</c:v>
                </c:pt>
                <c:pt idx="75">
                  <c:v>0.4987</c:v>
                </c:pt>
                <c:pt idx="76">
                  <c:v>0.5103</c:v>
                </c:pt>
                <c:pt idx="77">
                  <c:v>0.499</c:v>
                </c:pt>
                <c:pt idx="78">
                  <c:v>0.4979</c:v>
                </c:pt>
                <c:pt idx="79">
                  <c:v>0.5018</c:v>
                </c:pt>
                <c:pt idx="80">
                  <c:v>0.5012</c:v>
                </c:pt>
                <c:pt idx="81">
                  <c:v>0.505</c:v>
                </c:pt>
                <c:pt idx="82">
                  <c:v>0.5049</c:v>
                </c:pt>
                <c:pt idx="83">
                  <c:v>0.5123</c:v>
                </c:pt>
                <c:pt idx="84">
                  <c:v>0.503</c:v>
                </c:pt>
                <c:pt idx="85">
                  <c:v>0.4976</c:v>
                </c:pt>
                <c:pt idx="86">
                  <c:v>0.4966</c:v>
                </c:pt>
                <c:pt idx="87">
                  <c:v>0.4911</c:v>
                </c:pt>
                <c:pt idx="88">
                  <c:v>0.4904</c:v>
                </c:pt>
                <c:pt idx="89">
                  <c:v>0.5002</c:v>
                </c:pt>
                <c:pt idx="90">
                  <c:v>0.4993</c:v>
                </c:pt>
                <c:pt idx="91">
                  <c:v>0.4946</c:v>
                </c:pt>
                <c:pt idx="92">
                  <c:v>0.5046</c:v>
                </c:pt>
                <c:pt idx="93">
                  <c:v>0.5027</c:v>
                </c:pt>
                <c:pt idx="94">
                  <c:v>0.4959</c:v>
                </c:pt>
                <c:pt idx="95">
                  <c:v>0.492</c:v>
                </c:pt>
                <c:pt idx="96">
                  <c:v>0.4975</c:v>
                </c:pt>
                <c:pt idx="97">
                  <c:v>0.4895</c:v>
                </c:pt>
                <c:pt idx="98">
                  <c:v>0.5007</c:v>
                </c:pt>
                <c:pt idx="99">
                  <c:v>0.4958</c:v>
                </c:pt>
                <c:pt idx="100">
                  <c:v>0.4914</c:v>
                </c:pt>
                <c:pt idx="101">
                  <c:v>0.4979</c:v>
                </c:pt>
                <c:pt idx="102">
                  <c:v>0.4982</c:v>
                </c:pt>
                <c:pt idx="103">
                  <c:v>0.5003</c:v>
                </c:pt>
                <c:pt idx="104">
                  <c:v>0.4967</c:v>
                </c:pt>
                <c:pt idx="105">
                  <c:v>0.4977</c:v>
                </c:pt>
                <c:pt idx="106">
                  <c:v>0.5054</c:v>
                </c:pt>
                <c:pt idx="107">
                  <c:v>0.5019</c:v>
                </c:pt>
                <c:pt idx="108">
                  <c:v>0.5002</c:v>
                </c:pt>
                <c:pt idx="109">
                  <c:v>0.4966</c:v>
                </c:pt>
                <c:pt idx="110">
                  <c:v>0.5015</c:v>
                </c:pt>
                <c:pt idx="111">
                  <c:v>0.4933</c:v>
                </c:pt>
                <c:pt idx="112">
                  <c:v>0.4989</c:v>
                </c:pt>
                <c:pt idx="113">
                  <c:v>0.495</c:v>
                </c:pt>
                <c:pt idx="114">
                  <c:v>0.4932</c:v>
                </c:pt>
                <c:pt idx="115">
                  <c:v>0.4885</c:v>
                </c:pt>
                <c:pt idx="116">
                  <c:v>0.4937</c:v>
                </c:pt>
                <c:pt idx="117">
                  <c:v>0.4984</c:v>
                </c:pt>
                <c:pt idx="118">
                  <c:v>0.4948</c:v>
                </c:pt>
                <c:pt idx="119">
                  <c:v>0.4932</c:v>
                </c:pt>
                <c:pt idx="120">
                  <c:v>0.4994</c:v>
                </c:pt>
                <c:pt idx="121">
                  <c:v>0.4969</c:v>
                </c:pt>
                <c:pt idx="122">
                  <c:v>0.5007</c:v>
                </c:pt>
                <c:pt idx="123">
                  <c:v>0.5021</c:v>
                </c:pt>
                <c:pt idx="124">
                  <c:v>0.5011</c:v>
                </c:pt>
                <c:pt idx="125">
                  <c:v>0.496</c:v>
                </c:pt>
                <c:pt idx="126">
                  <c:v>0.4976</c:v>
                </c:pt>
                <c:pt idx="127">
                  <c:v>0.5003</c:v>
                </c:pt>
                <c:pt idx="128">
                  <c:v>0.4955</c:v>
                </c:pt>
                <c:pt idx="129">
                  <c:v>0.4978</c:v>
                </c:pt>
                <c:pt idx="130">
                  <c:v>0.49</c:v>
                </c:pt>
                <c:pt idx="131">
                  <c:v>0.4931</c:v>
                </c:pt>
                <c:pt idx="132">
                  <c:v>0.4967</c:v>
                </c:pt>
                <c:pt idx="133">
                  <c:v>0.4933</c:v>
                </c:pt>
                <c:pt idx="134">
                  <c:v>0.4974</c:v>
                </c:pt>
                <c:pt idx="135">
                  <c:v>0.4973</c:v>
                </c:pt>
                <c:pt idx="136">
                  <c:v>0.5015</c:v>
                </c:pt>
                <c:pt idx="137">
                  <c:v>0.4909</c:v>
                </c:pt>
                <c:pt idx="138">
                  <c:v>0.4943</c:v>
                </c:pt>
                <c:pt idx="139">
                  <c:v>0.4977</c:v>
                </c:pt>
                <c:pt idx="140">
                  <c:v>0.4944</c:v>
                </c:pt>
                <c:pt idx="141">
                  <c:v>0.4992</c:v>
                </c:pt>
                <c:pt idx="142">
                  <c:v>0.4988</c:v>
                </c:pt>
                <c:pt idx="143">
                  <c:v>0.5052</c:v>
                </c:pt>
                <c:pt idx="144">
                  <c:v>0.5035</c:v>
                </c:pt>
                <c:pt idx="145">
                  <c:v>0.5085</c:v>
                </c:pt>
                <c:pt idx="146">
                  <c:v>0.4897</c:v>
                </c:pt>
                <c:pt idx="147">
                  <c:v>0.4972</c:v>
                </c:pt>
                <c:pt idx="148">
                  <c:v>0.5039</c:v>
                </c:pt>
                <c:pt idx="149">
                  <c:v>0.5048</c:v>
                </c:pt>
                <c:pt idx="150">
                  <c:v>0.4966</c:v>
                </c:pt>
                <c:pt idx="151">
                  <c:v>0.5037</c:v>
                </c:pt>
                <c:pt idx="152">
                  <c:v>0.5058</c:v>
                </c:pt>
                <c:pt idx="153">
                  <c:v>0.4945</c:v>
                </c:pt>
                <c:pt idx="154">
                  <c:v>0.4943</c:v>
                </c:pt>
                <c:pt idx="155">
                  <c:v>0.4951</c:v>
                </c:pt>
                <c:pt idx="156">
                  <c:v>0.4979</c:v>
                </c:pt>
                <c:pt idx="157">
                  <c:v>0.4954</c:v>
                </c:pt>
                <c:pt idx="158">
                  <c:v>0.4959</c:v>
                </c:pt>
                <c:pt idx="159">
                  <c:v>0.4978</c:v>
                </c:pt>
                <c:pt idx="160">
                  <c:v>0.4971</c:v>
                </c:pt>
                <c:pt idx="161">
                  <c:v>0.5026</c:v>
                </c:pt>
                <c:pt idx="162">
                  <c:v>0.5031</c:v>
                </c:pt>
                <c:pt idx="163">
                  <c:v>0.5001</c:v>
                </c:pt>
                <c:pt idx="164">
                  <c:v>0.5054</c:v>
                </c:pt>
                <c:pt idx="165">
                  <c:v>0.5</c:v>
                </c:pt>
                <c:pt idx="166">
                  <c:v>0.5029</c:v>
                </c:pt>
                <c:pt idx="167">
                  <c:v>0.5002</c:v>
                </c:pt>
                <c:pt idx="168">
                  <c:v>0.4902</c:v>
                </c:pt>
                <c:pt idx="169">
                  <c:v>0.5002</c:v>
                </c:pt>
                <c:pt idx="170">
                  <c:v>0.5004</c:v>
                </c:pt>
                <c:pt idx="171">
                  <c:v>0.4944</c:v>
                </c:pt>
                <c:pt idx="172">
                  <c:v>0.5047</c:v>
                </c:pt>
                <c:pt idx="173">
                  <c:v>0.5041</c:v>
                </c:pt>
                <c:pt idx="174">
                  <c:v>0.5074</c:v>
                </c:pt>
                <c:pt idx="175">
                  <c:v>0.5024</c:v>
                </c:pt>
                <c:pt idx="176">
                  <c:v>0.5029</c:v>
                </c:pt>
                <c:pt idx="177">
                  <c:v>0.4993</c:v>
                </c:pt>
                <c:pt idx="178">
                  <c:v>0.4972</c:v>
                </c:pt>
                <c:pt idx="179">
                  <c:v>0.5025</c:v>
                </c:pt>
                <c:pt idx="180">
                  <c:v>0.4963</c:v>
                </c:pt>
                <c:pt idx="181">
                  <c:v>0.4998</c:v>
                </c:pt>
                <c:pt idx="182">
                  <c:v>0.4935</c:v>
                </c:pt>
                <c:pt idx="183">
                  <c:v>0.4972</c:v>
                </c:pt>
                <c:pt idx="184">
                  <c:v>0.5005</c:v>
                </c:pt>
                <c:pt idx="185">
                  <c:v>0.4972</c:v>
                </c:pt>
                <c:pt idx="186">
                  <c:v>0.4952</c:v>
                </c:pt>
                <c:pt idx="187">
                  <c:v>0.5044</c:v>
                </c:pt>
                <c:pt idx="188">
                  <c:v>0.5062</c:v>
                </c:pt>
                <c:pt idx="189">
                  <c:v>0.4969</c:v>
                </c:pt>
                <c:pt idx="190">
                  <c:v>0.5022</c:v>
                </c:pt>
                <c:pt idx="191">
                  <c:v>0.5109</c:v>
                </c:pt>
                <c:pt idx="192">
                  <c:v>0.5059</c:v>
                </c:pt>
                <c:pt idx="193">
                  <c:v>0.5059</c:v>
                </c:pt>
                <c:pt idx="194">
                  <c:v>0.509</c:v>
                </c:pt>
                <c:pt idx="195">
                  <c:v>0.5036</c:v>
                </c:pt>
                <c:pt idx="196">
                  <c:v>0.5047</c:v>
                </c:pt>
                <c:pt idx="197">
                  <c:v>0.5086</c:v>
                </c:pt>
                <c:pt idx="198">
                  <c:v>0.4993</c:v>
                </c:pt>
                <c:pt idx="199">
                  <c:v>0.499</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tickLblSkip val="25"/>
      </c:catAx>
      <c:valAx>
        <c:axId val="2094734552"/>
        <c:scaling>
          <c:orientation val="minMax"/>
          <c:max val="1"/>
          <c:min val="0.4"/>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AUC según cuántos clientes se usaron para entrenar</a:t>
            </a:r>
          </a:p>
        </c:rich>
      </c:tx>
      <c:layout/>
      <c:overlay val="0"/>
    </c:title>
    <c:autoTitleDeleted val="0"/>
    <c:plotArea>
      <c:layout/>
      <c:lineChart>
        <c:varyColors val="0"/>
        <c:ser>
          <c:idx val="0"/>
          <c:order val="0"/>
          <c:tx>
            <c:strRef>
              <c:f>Sheet1!$B$1</c:f>
              <c:strCache>
                <c:ptCount val="1"/>
                <c:pt idx="0">
                  <c:v>En los clientes de 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8"/>
            <c:spPr>
              <a:solidFill>
                <a:srgbClr val="3B82F6"/>
              </a:solidFill>
              <a:ln w="9525" cap="flat">
                <a:solidFill>
                  <a:srgbClr val="3B82F6"/>
                </a:solidFill>
                <a:prstDash val="solid"/>
                <a:round/>
              </a:ln>
              <a:effectLst/>
            </c:spPr>
          </c:marker>
          <c:cat>
            <c:multiLvlStrRef>
              <c:f>Sheet1!$A$2:$A$9</c:f>
              <c:multiLvlStrCache>
                <c:ptCount val="8"/>
                <c:lvl>
                  <c:pt idx="0">
                    <c:v>695</c:v>
                  </c:pt>
                  <c:pt idx="1">
                    <c:v>1.737</c:v>
                  </c:pt>
                  <c:pt idx="2">
                    <c:v>3.475</c:v>
                  </c:pt>
                  <c:pt idx="3">
                    <c:v>6.951</c:v>
                  </c:pt>
                  <c:pt idx="4">
                    <c:v>12.164</c:v>
                  </c:pt>
                  <c:pt idx="5">
                    <c:v>17.377</c:v>
                  </c:pt>
                  <c:pt idx="6">
                    <c:v>26.066</c:v>
                  </c:pt>
                  <c:pt idx="7">
                    <c:v>34.755</c:v>
                  </c:pt>
                </c:lvl>
              </c:multiLvlStrCache>
            </c:multiLvlStrRef>
          </c:cat>
          <c:val>
            <c:numRef>
              <c:f>Sheet1!$B$2:$B$9</c:f>
              <c:numCache>
                <c:formatCode>General</c:formatCode>
                <c:ptCount val="8"/>
                <c:pt idx="0">
                  <c:v>0.8843</c:v>
                </c:pt>
                <c:pt idx="1">
                  <c:v>0.8196</c:v>
                </c:pt>
                <c:pt idx="2">
                  <c:v>0.809</c:v>
                </c:pt>
                <c:pt idx="3">
                  <c:v>0.7848</c:v>
                </c:pt>
                <c:pt idx="4">
                  <c:v>0.7735</c:v>
                </c:pt>
                <c:pt idx="5">
                  <c:v>0.7703</c:v>
                </c:pt>
                <c:pt idx="6">
                  <c:v>0.7658</c:v>
                </c:pt>
                <c:pt idx="7">
                  <c:v>0.7638</c:v>
                </c:pt>
              </c:numCache>
            </c:numRef>
          </c:val>
          <c:smooth val="0"/>
        </c:ser>
        <c:ser>
          <c:idx val="1"/>
          <c:order val="1"/>
          <c:tx>
            <c:strRef>
              <c:f>Sheet1!$C$1</c:f>
              <c:strCache>
                <c:ptCount val="1"/>
                <c:pt idx="0">
                  <c:v>En clientes nuevos (validación)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8"/>
            <c:spPr>
              <a:solidFill>
                <a:srgbClr val="F59E0B"/>
              </a:solidFill>
              <a:ln w="9525" cap="flat">
                <a:solidFill>
                  <a:srgbClr val="F59E0B"/>
                </a:solidFill>
                <a:prstDash val="solid"/>
                <a:round/>
              </a:ln>
              <a:effectLst/>
            </c:spPr>
          </c:marker>
          <c:cat>
            <c:multiLvlStrRef>
              <c:f>Sheet1!$A$2:$A$9</c:f>
              <c:multiLvlStrCache>
                <c:ptCount val="8"/>
                <c:lvl>
                  <c:pt idx="0">
                    <c:v>695</c:v>
                  </c:pt>
                  <c:pt idx="1">
                    <c:v>1.737</c:v>
                  </c:pt>
                  <c:pt idx="2">
                    <c:v>3.475</c:v>
                  </c:pt>
                  <c:pt idx="3">
                    <c:v>6.951</c:v>
                  </c:pt>
                  <c:pt idx="4">
                    <c:v>12.164</c:v>
                  </c:pt>
                  <c:pt idx="5">
                    <c:v>17.377</c:v>
                  </c:pt>
                  <c:pt idx="6">
                    <c:v>26.066</c:v>
                  </c:pt>
                  <c:pt idx="7">
                    <c:v>34.755</c:v>
                  </c:pt>
                </c:lvl>
              </c:multiLvlStrCache>
            </c:multiLvlStrRef>
          </c:cat>
          <c:val>
            <c:numRef>
              <c:f>Sheet1!$C$2:$C$9</c:f>
              <c:numCache>
                <c:formatCode>General</c:formatCode>
                <c:ptCount val="8"/>
                <c:pt idx="0">
                  <c:v>0.707</c:v>
                </c:pt>
                <c:pt idx="1">
                  <c:v>0.7228</c:v>
                </c:pt>
                <c:pt idx="2">
                  <c:v>0.7334</c:v>
                </c:pt>
                <c:pt idx="3">
                  <c:v>0.7399</c:v>
                </c:pt>
                <c:pt idx="4">
                  <c:v>0.7451</c:v>
                </c:pt>
                <c:pt idx="5">
                  <c:v>0.748</c:v>
                </c:pt>
                <c:pt idx="6">
                  <c:v>0.7512</c:v>
                </c:pt>
                <c:pt idx="7">
                  <c:v>0.7522</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9"/>
          <c:min val="0.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Castigo según la probabilidad dada a la respuesta correcta</a:t>
            </a:r>
          </a:p>
        </c:rich>
      </c:tx>
      <c:layout/>
      <c:overlay val="0"/>
    </c:title>
    <c:autoTitleDeleted val="0"/>
    <c:plotArea>
      <c:layout/>
      <c:lineChart>
        <c:varyColors val="0"/>
        <c:ser>
          <c:idx val="0"/>
          <c:order val="0"/>
          <c:tx>
            <c:strRef>
              <c:f>Sheet1!$B$1</c:f>
              <c:strCache>
                <c:ptCount val="1"/>
                <c:pt idx="0">
                  <c:v>Castigo</c:v>
                </c:pt>
              </c:strCache>
            </c:strRef>
          </c:tx>
          <c:spPr>
            <a:solidFill>
              <a:srgbClr val="F87171"/>
            </a:solidFill>
            <a:ln w="38100" cap="flat">
              <a:solidFill>
                <a:srgbClr val="F87171"/>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6"/>
            <c:spPr>
              <a:solidFill>
                <a:srgbClr val="F87171"/>
              </a:solidFill>
              <a:ln w="9525" cap="flat">
                <a:solidFill>
                  <a:srgbClr val="F87171"/>
                </a:solidFill>
                <a:prstDash val="solid"/>
                <a:round/>
              </a:ln>
              <a:effectLst/>
            </c:spPr>
          </c:marker>
          <c:cat>
            <c:multiLvlStrRef>
              <c:f>Sheet1!$A$2:$A$15</c:f>
              <c:multiLvlStrCache>
                <c:ptCount val="14"/>
                <c:lvl>
                  <c:pt idx="0">
                    <c:v>2 %</c:v>
                  </c:pt>
                  <c:pt idx="1">
                    <c:v>5 %</c:v>
                  </c:pt>
                  <c:pt idx="2">
                    <c:v>10 %</c:v>
                  </c:pt>
                  <c:pt idx="3">
                    <c:v>15 %</c:v>
                  </c:pt>
                  <c:pt idx="4">
                    <c:v>20 %</c:v>
                  </c:pt>
                  <c:pt idx="5">
                    <c:v>30 %</c:v>
                  </c:pt>
                  <c:pt idx="6">
                    <c:v>40 %</c:v>
                  </c:pt>
                  <c:pt idx="7">
                    <c:v>50 %</c:v>
                  </c:pt>
                  <c:pt idx="8">
                    <c:v>60 %</c:v>
                  </c:pt>
                  <c:pt idx="9">
                    <c:v>70 %</c:v>
                  </c:pt>
                  <c:pt idx="10">
                    <c:v>80 %</c:v>
                  </c:pt>
                  <c:pt idx="11">
                    <c:v>90 %</c:v>
                  </c:pt>
                  <c:pt idx="12">
                    <c:v>95 %</c:v>
                  </c:pt>
                  <c:pt idx="13">
                    <c:v>100 %</c:v>
                  </c:pt>
                </c:lvl>
              </c:multiLvlStrCache>
            </c:multiLvlStrRef>
          </c:cat>
          <c:val>
            <c:numRef>
              <c:f>Sheet1!$B$2:$B$15</c:f>
              <c:numCache>
                <c:formatCode>General</c:formatCode>
                <c:ptCount val="14"/>
                <c:pt idx="0">
                  <c:v>3.912</c:v>
                </c:pt>
                <c:pt idx="1">
                  <c:v>2.9957</c:v>
                </c:pt>
                <c:pt idx="2">
                  <c:v>2.3026</c:v>
                </c:pt>
                <c:pt idx="3">
                  <c:v>1.8971</c:v>
                </c:pt>
                <c:pt idx="4">
                  <c:v>1.6094</c:v>
                </c:pt>
                <c:pt idx="5">
                  <c:v>1.204</c:v>
                </c:pt>
                <c:pt idx="6">
                  <c:v>0.9163</c:v>
                </c:pt>
                <c:pt idx="7">
                  <c:v>0.6931</c:v>
                </c:pt>
                <c:pt idx="8">
                  <c:v>0.5108</c:v>
                </c:pt>
                <c:pt idx="9">
                  <c:v>0.3567</c:v>
                </c:pt>
                <c:pt idx="10">
                  <c:v>0.2231</c:v>
                </c:pt>
                <c:pt idx="11">
                  <c:v>0.1054</c:v>
                </c:pt>
                <c:pt idx="12">
                  <c:v>0.0513</c:v>
                </c:pt>
                <c:pt idx="13">
                  <c:v>0</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9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Validación frente a prueba (Test)</a:t>
            </a:r>
          </a:p>
        </c:rich>
      </c:tx>
      <c:layout/>
      <c:overlay val="0"/>
    </c:title>
    <c:autoTitleDeleted val="0"/>
    <c:plotArea>
      <c:layout/>
      <c:barChart>
        <c:barDir val="col"/>
        <c:grouping val="clustered"/>
        <c:varyColors val="0"/>
        <c:ser>
          <c:idx val="0"/>
          <c:order val="0"/>
          <c:tx>
            <c:strRef>
              <c:f>Sheet1!$B$1</c:f>
              <c:strCache>
                <c:ptCount val="1"/>
                <c:pt idx="0">
                  <c:v>Validación</c:v>
                </c:pt>
              </c:strCache>
            </c:strRef>
          </c:tx>
          <c:spPr>
            <a:solidFill>
              <a:srgbClr val="F59E0B"/>
            </a:solidFill>
            <a:effectLst/>
          </c:spPr>
          <c:invertIfNegative val="0"/>
          <c:dLbls>
            <c:numFmt formatCode="0.000" sourceLinked="0"/>
            <c:txPr>
              <a:bodyPr/>
              <a:lstStyle/>
              <a:p>
                <a:pPr>
                  <a:defRPr b="0" i="0" strike="noStrike" sz="85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AUC</c:v>
                  </c:pt>
                  <c:pt idx="1">
                    <c:v>Exactitud</c:v>
                  </c:pt>
                  <c:pt idx="2">
                    <c:v>Precisión</c:v>
                  </c:pt>
                  <c:pt idx="3">
                    <c:v>Sensibilidad</c:v>
                  </c:pt>
                  <c:pt idx="4">
                    <c:v>F1</c:v>
                  </c:pt>
                </c:lvl>
              </c:multiLvlStrCache>
            </c:multiLvlStrRef>
          </c:cat>
          <c:val>
            <c:numRef>
              <c:f>Sheet1!$B$2:$B$6</c:f>
              <c:numCache>
                <c:formatCode>General</c:formatCode>
                <c:ptCount val="5"/>
                <c:pt idx="0">
                  <c:v>0.7538</c:v>
                </c:pt>
                <c:pt idx="1">
                  <c:v>0.6917</c:v>
                </c:pt>
                <c:pt idx="2">
                  <c:v>0.6934</c:v>
                </c:pt>
                <c:pt idx="3">
                  <c:v>0.6871</c:v>
                </c:pt>
                <c:pt idx="4">
                  <c:v>0.6902</c:v>
                </c:pt>
              </c:numCache>
            </c:numRef>
          </c:val>
        </c:ser>
        <c:ser>
          <c:idx val="1"/>
          <c:order val="1"/>
          <c:tx>
            <c:strRef>
              <c:f>Sheet1!$C$1</c:f>
              <c:strCache>
                <c:ptCount val="1"/>
                <c:pt idx="0">
                  <c:v>Prueba (Test)</c:v>
                </c:pt>
              </c:strCache>
            </c:strRef>
          </c:tx>
          <c:spPr>
            <a:solidFill>
              <a:srgbClr val="34D399"/>
            </a:solidFill>
            <a:effectLst/>
          </c:spPr>
          <c:invertIfNegative val="0"/>
          <c:dLbls>
            <c:numFmt formatCode="0.000" sourceLinked="0"/>
            <c:txPr>
              <a:bodyPr/>
              <a:lstStyle/>
              <a:p>
                <a:pPr>
                  <a:defRPr b="0" i="0" strike="noStrike" sz="85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AUC</c:v>
                  </c:pt>
                  <c:pt idx="1">
                    <c:v>Exactitud</c:v>
                  </c:pt>
                  <c:pt idx="2">
                    <c:v>Precisión</c:v>
                  </c:pt>
                  <c:pt idx="3">
                    <c:v>Sensibilidad</c:v>
                  </c:pt>
                  <c:pt idx="4">
                    <c:v>F1</c:v>
                  </c:pt>
                </c:lvl>
              </c:multiLvlStrCache>
            </c:multiLvlStrRef>
          </c:cat>
          <c:val>
            <c:numRef>
              <c:f>Sheet1!$C$2:$C$6</c:f>
              <c:numCache>
                <c:formatCode>General</c:formatCode>
                <c:ptCount val="5"/>
                <c:pt idx="0">
                  <c:v>0.7448</c:v>
                </c:pt>
                <c:pt idx="1">
                  <c:v>0.6748</c:v>
                </c:pt>
                <c:pt idx="2">
                  <c:v>0.6784</c:v>
                </c:pt>
                <c:pt idx="3">
                  <c:v>0.6649</c:v>
                </c:pt>
                <c:pt idx="4">
                  <c:v>0.6715</c:v>
                </c:pt>
              </c:numCache>
            </c:numRef>
          </c:val>
        </c:ser>
        <c:dLbls>
          <c:numFmt formatCode="0.000" sourceLinked="0"/>
          <c:txPr>
            <a:bodyPr/>
            <a:lstStyle/>
            <a:p>
              <a:pPr>
                <a:defRPr b="0" i="0" strike="noStrike" sz="850" u="none">
                  <a:solidFill>
                    <a:srgbClr val="E2E8F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8"/>
          <c:min val="0.6"/>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AUC por etapa</a:t>
            </a:r>
          </a:p>
        </c:rich>
      </c:tx>
      <c:layout/>
      <c:overlay val="0"/>
    </c:title>
    <c:autoTitleDeleted val="0"/>
    <c:plotArea>
      <c:layout/>
      <c:barChart>
        <c:barDir val="col"/>
        <c:grouping val="clustered"/>
        <c:varyColors val="0"/>
        <c:ser>
          <c:idx val="0"/>
          <c:order val="0"/>
          <c:tx>
            <c:strRef>
              <c:f>Sheet1!$B$1</c:f>
              <c:strCache>
                <c:ptCount val="1"/>
                <c:pt idx="0">
                  <c:v>Validación</c:v>
                </c:pt>
              </c:strCache>
            </c:strRef>
          </c:tx>
          <c:spPr>
            <a:solidFill>
              <a:srgbClr val="F59E0B"/>
            </a:solidFill>
            <a:effectLst/>
          </c:spPr>
          <c:invertIfNegative val="0"/>
          <c:dLbls>
            <c:numFmt formatCode="0.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Línea base</c:v>
                  </c:pt>
                  <c:pt idx="1">
                    <c:v>Mejor red F1</c:v>
                  </c:pt>
                  <c:pt idx="2">
                    <c:v>Ensamble 5 semillas</c:v>
                  </c:pt>
                  <c:pt idx="3">
                    <c:v>Red con L2 (F2)</c:v>
                  </c:pt>
                  <c:pt idx="4">
                    <c:v>Final: 3 redes</c:v>
                  </c:pt>
                </c:lvl>
              </c:multiLvlStrCache>
            </c:multiLvlStrRef>
          </c:cat>
          <c:val>
            <c:numRef>
              <c:f>Sheet1!$B$2:$B$6</c:f>
              <c:numCache>
                <c:formatCode>General</c:formatCode>
                <c:ptCount val="5"/>
                <c:pt idx="0">
                  <c:v>0.74969</c:v>
                </c:pt>
                <c:pt idx="1">
                  <c:v>0.75225</c:v>
                </c:pt>
                <c:pt idx="2">
                  <c:v>0.75249</c:v>
                </c:pt>
                <c:pt idx="3">
                  <c:v>0.7525</c:v>
                </c:pt>
                <c:pt idx="4">
                  <c:v>0.75382</c:v>
                </c:pt>
              </c:numCache>
            </c:numRef>
          </c:val>
        </c:ser>
        <c:ser>
          <c:idx val="1"/>
          <c:order val="1"/>
          <c:tx>
            <c:strRef>
              <c:f>Sheet1!$C$1</c:f>
              <c:strCache>
                <c:ptCount val="1"/>
                <c:pt idx="0">
                  <c:v>Prueba (Test)</c:v>
                </c:pt>
              </c:strCache>
            </c:strRef>
          </c:tx>
          <c:spPr>
            <a:solidFill>
              <a:srgbClr val="34D399"/>
            </a:solidFill>
            <a:effectLst/>
          </c:spPr>
          <c:invertIfNegative val="0"/>
          <c:dLbls>
            <c:numFmt formatCode="0.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Línea base</c:v>
                  </c:pt>
                  <c:pt idx="1">
                    <c:v>Mejor red F1</c:v>
                  </c:pt>
                  <c:pt idx="2">
                    <c:v>Ensamble 5 semillas</c:v>
                  </c:pt>
                  <c:pt idx="3">
                    <c:v>Red con L2 (F2)</c:v>
                  </c:pt>
                  <c:pt idx="4">
                    <c:v>Final: 3 redes</c:v>
                  </c:pt>
                </c:lvl>
              </c:multiLvlStrCache>
            </c:multiLvlStrRef>
          </c:cat>
          <c:val>
            <c:numRef>
              <c:f>Sheet1!$C$2:$C$6</c:f>
              <c:numCache>
                <c:formatCode>General</c:formatCode>
                <c:ptCount val="5"/>
                <c:pt idx="0">
                  <c:v>0.74243</c:v>
                </c:pt>
                <c:pt idx="1">
                  <c:v>0.74373</c:v>
                </c:pt>
                <c:pt idx="2">
                  <c:v>0.7446</c:v>
                </c:pt>
                <c:pt idx="3">
                  <c:v>0.74336</c:v>
                </c:pt>
                <c:pt idx="4">
                  <c:v>0.74482</c:v>
                </c:pt>
              </c:numCache>
            </c:numRef>
          </c:val>
        </c:ser>
        <c:dLbls>
          <c:numFmt formatCode="0.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95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7"/>
          <c:min val="0.735"/>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Probabilidad de ser APTO que da el modelo (validación)</a:t>
            </a:r>
          </a:p>
        </c:rich>
      </c:tx>
      <c:layout/>
      <c:overlay val="0"/>
    </c:title>
    <c:autoTitleDeleted val="0"/>
    <c:plotArea>
      <c:layout/>
      <c:barChart>
        <c:barDir val="col"/>
        <c:grouping val="clustered"/>
        <c:varyColors val="0"/>
        <c:ser>
          <c:idx val="0"/>
          <c:order val="0"/>
          <c:tx>
            <c:strRef>
              <c:f>Sheet1!$B$1</c:f>
              <c:strCache>
                <c:ptCount val="1"/>
                <c:pt idx="0">
                  <c:v>Realmente NO APTO</c:v>
                </c:pt>
              </c:strCache>
            </c:strRef>
          </c:tx>
          <c:spPr>
            <a:solidFill>
              <a:srgbClr val="F87171"/>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cat>
            <c:multiLvlStrRef>
              <c:f>Sheet1!$A$2:$A$21</c:f>
              <c:multiLvlStrCache>
                <c:ptCount val="20"/>
                <c:lvl>
                  <c:pt idx="0">
                    <c:v>0.03</c:v>
                  </c:pt>
                  <c:pt idx="1">
                    <c:v>0.08</c:v>
                  </c:pt>
                  <c:pt idx="2">
                    <c:v>0.12</c:v>
                  </c:pt>
                  <c:pt idx="3">
                    <c:v>0.18</c:v>
                  </c:pt>
                  <c:pt idx="4">
                    <c:v>0.23</c:v>
                  </c:pt>
                  <c:pt idx="5">
                    <c:v>0.28</c:v>
                  </c:pt>
                  <c:pt idx="6">
                    <c:v>0.33</c:v>
                  </c:pt>
                  <c:pt idx="7">
                    <c:v>0.38</c:v>
                  </c:pt>
                  <c:pt idx="8">
                    <c:v>0.43</c:v>
                  </c:pt>
                  <c:pt idx="9">
                    <c:v>0.48</c:v>
                  </c:pt>
                  <c:pt idx="10">
                    <c:v>0.53</c:v>
                  </c:pt>
                  <c:pt idx="11">
                    <c:v>0.58</c:v>
                  </c:pt>
                  <c:pt idx="12">
                    <c:v>0.63</c:v>
                  </c:pt>
                  <c:pt idx="13">
                    <c:v>0.68</c:v>
                  </c:pt>
                  <c:pt idx="14">
                    <c:v>0.73</c:v>
                  </c:pt>
                  <c:pt idx="15">
                    <c:v>0.78</c:v>
                  </c:pt>
                  <c:pt idx="16">
                    <c:v>0.83</c:v>
                  </c:pt>
                  <c:pt idx="17">
                    <c:v>0.88</c:v>
                  </c:pt>
                  <c:pt idx="18">
                    <c:v>0.93</c:v>
                  </c:pt>
                  <c:pt idx="19">
                    <c:v>0.98</c:v>
                  </c:pt>
                </c:lvl>
              </c:multiLvlStrCache>
            </c:multiLvlStrRef>
          </c:cat>
          <c:val>
            <c:numRef>
              <c:f>Sheet1!$B$2:$B$21</c:f>
              <c:numCache>
                <c:formatCode>General</c:formatCode>
                <c:ptCount val="20"/>
                <c:pt idx="0">
                  <c:v>1</c:v>
                </c:pt>
                <c:pt idx="1">
                  <c:v>51</c:v>
                </c:pt>
                <c:pt idx="2">
                  <c:v>177</c:v>
                </c:pt>
                <c:pt idx="3">
                  <c:v>296</c:v>
                </c:pt>
                <c:pt idx="4">
                  <c:v>329</c:v>
                </c:pt>
                <c:pt idx="5">
                  <c:v>338</c:v>
                </c:pt>
                <c:pt idx="6">
                  <c:v>369</c:v>
                </c:pt>
                <c:pt idx="7">
                  <c:v>409</c:v>
                </c:pt>
                <c:pt idx="8">
                  <c:v>322</c:v>
                </c:pt>
                <c:pt idx="9">
                  <c:v>301</c:v>
                </c:pt>
                <c:pt idx="10">
                  <c:v>226</c:v>
                </c:pt>
                <c:pt idx="11">
                  <c:v>212</c:v>
                </c:pt>
                <c:pt idx="12">
                  <c:v>224</c:v>
                </c:pt>
                <c:pt idx="13">
                  <c:v>206</c:v>
                </c:pt>
                <c:pt idx="14">
                  <c:v>129</c:v>
                </c:pt>
                <c:pt idx="15">
                  <c:v>76</c:v>
                </c:pt>
                <c:pt idx="16">
                  <c:v>42</c:v>
                </c:pt>
                <c:pt idx="17">
                  <c:v>16</c:v>
                </c:pt>
                <c:pt idx="18">
                  <c:v>0</c:v>
                </c:pt>
                <c:pt idx="19">
                  <c:v>0</c:v>
                </c:pt>
              </c:numCache>
            </c:numRef>
          </c:val>
        </c:ser>
        <c:ser>
          <c:idx val="1"/>
          <c:order val="1"/>
          <c:tx>
            <c:strRef>
              <c:f>Sheet1!$C$1</c:f>
              <c:strCache>
                <c:ptCount val="1"/>
                <c:pt idx="0">
                  <c:v>Realmente APTO</c:v>
                </c:pt>
              </c:strCache>
            </c:strRef>
          </c:tx>
          <c:spPr>
            <a:solidFill>
              <a:srgbClr val="34D399"/>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cat>
            <c:multiLvlStrRef>
              <c:f>Sheet1!$A$2:$A$21</c:f>
              <c:multiLvlStrCache>
                <c:ptCount val="20"/>
                <c:lvl>
                  <c:pt idx="0">
                    <c:v>0.03</c:v>
                  </c:pt>
                  <c:pt idx="1">
                    <c:v>0.08</c:v>
                  </c:pt>
                  <c:pt idx="2">
                    <c:v>0.12</c:v>
                  </c:pt>
                  <c:pt idx="3">
                    <c:v>0.18</c:v>
                  </c:pt>
                  <c:pt idx="4">
                    <c:v>0.23</c:v>
                  </c:pt>
                  <c:pt idx="5">
                    <c:v>0.28</c:v>
                  </c:pt>
                  <c:pt idx="6">
                    <c:v>0.33</c:v>
                  </c:pt>
                  <c:pt idx="7">
                    <c:v>0.38</c:v>
                  </c:pt>
                  <c:pt idx="8">
                    <c:v>0.43</c:v>
                  </c:pt>
                  <c:pt idx="9">
                    <c:v>0.48</c:v>
                  </c:pt>
                  <c:pt idx="10">
                    <c:v>0.53</c:v>
                  </c:pt>
                  <c:pt idx="11">
                    <c:v>0.58</c:v>
                  </c:pt>
                  <c:pt idx="12">
                    <c:v>0.63</c:v>
                  </c:pt>
                  <c:pt idx="13">
                    <c:v>0.68</c:v>
                  </c:pt>
                  <c:pt idx="14">
                    <c:v>0.73</c:v>
                  </c:pt>
                  <c:pt idx="15">
                    <c:v>0.78</c:v>
                  </c:pt>
                  <c:pt idx="16">
                    <c:v>0.83</c:v>
                  </c:pt>
                  <c:pt idx="17">
                    <c:v>0.88</c:v>
                  </c:pt>
                  <c:pt idx="18">
                    <c:v>0.93</c:v>
                  </c:pt>
                  <c:pt idx="19">
                    <c:v>0.98</c:v>
                  </c:pt>
                </c:lvl>
              </c:multiLvlStrCache>
            </c:multiLvlStrRef>
          </c:cat>
          <c:val>
            <c:numRef>
              <c:f>Sheet1!$C$2:$C$21</c:f>
              <c:numCache>
                <c:formatCode>General</c:formatCode>
                <c:ptCount val="20"/>
                <c:pt idx="0">
                  <c:v>0</c:v>
                </c:pt>
                <c:pt idx="1">
                  <c:v>2</c:v>
                </c:pt>
                <c:pt idx="2">
                  <c:v>24</c:v>
                </c:pt>
                <c:pt idx="3">
                  <c:v>62</c:v>
                </c:pt>
                <c:pt idx="4">
                  <c:v>83</c:v>
                </c:pt>
                <c:pt idx="5">
                  <c:v>140</c:v>
                </c:pt>
                <c:pt idx="6">
                  <c:v>157</c:v>
                </c:pt>
                <c:pt idx="7">
                  <c:v>232</c:v>
                </c:pt>
                <c:pt idx="8">
                  <c:v>229</c:v>
                </c:pt>
                <c:pt idx="9">
                  <c:v>236</c:v>
                </c:pt>
                <c:pt idx="10">
                  <c:v>270</c:v>
                </c:pt>
                <c:pt idx="11">
                  <c:v>316</c:v>
                </c:pt>
                <c:pt idx="12">
                  <c:v>386</c:v>
                </c:pt>
                <c:pt idx="13">
                  <c:v>383</c:v>
                </c:pt>
                <c:pt idx="14">
                  <c:v>396</c:v>
                </c:pt>
                <c:pt idx="15">
                  <c:v>392</c:v>
                </c:pt>
                <c:pt idx="16">
                  <c:v>243</c:v>
                </c:pt>
                <c:pt idx="17">
                  <c:v>140</c:v>
                </c:pt>
                <c:pt idx="18">
                  <c:v>31</c:v>
                </c:pt>
                <c:pt idx="19">
                  <c:v>1</c:v>
                </c:pt>
              </c:numCache>
            </c:numRef>
          </c:val>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94A3B8"/>
                    </a:solidFill>
                    <a:latin typeface="Arial"/>
                  </a:defRPr>
                </a:pPr>
                <a:r>
                  <a:rPr sz="1000" b="0" i="0" u="none" strike="noStrike">
                    <a:solidFill>
                      <a:srgbClr val="94A3B8"/>
                    </a:solidFill>
                    <a:latin typeface="Arial"/>
                  </a:rPr>
                  <a:t>probabilidad</a:t>
                </a:r>
              </a:p>
            </c:rich>
          </c:tx>
          <c:layout/>
          <c:overlay val="0"/>
        </c:title>
        <c:numFmt formatCode="General" sourceLinked="1"/>
        <c:majorTickMark val="out"/>
        <c:minorTickMark val="none"/>
        <c:tickLblPos val="low"/>
        <c:spPr>
          <a:ln w="12700" cap="flat">
            <a:solidFill>
              <a:srgbClr val="334155"/>
            </a:solidFill>
            <a:prstDash val="solid"/>
            <a:round/>
          </a:ln>
        </c:spPr>
        <c:txPr>
          <a:bodyPr/>
          <a:lstStyle/>
          <a:p>
            <a:pPr>
              <a:defRPr sz="900" b="0" i="0" u="none" strike="noStrike">
                <a:solidFill>
                  <a:srgbClr val="94A3B8"/>
                </a:solidFill>
                <a:latin typeface="+mn-lt"/>
              </a:defRPr>
            </a:pPr>
            <a:endParaRPr lang="en-US"/>
          </a:p>
        </c:txPr>
        <c:crossAx val="2094734552"/>
        <c:crosses val="autoZero"/>
        <c:auto val="1"/>
        <c:lblAlgn val="ctr"/>
        <c:noMultiLvlLbl val="1"/>
        <c:tickLblSkip val="2"/>
      </c:catAx>
      <c:valAx>
        <c:axId val="2094734552"/>
        <c:scaling>
          <c:orientation val="minMax"/>
        </c:scaling>
        <c:delete val="0"/>
        <c:axPos val="l"/>
        <c:majorGridlines>
          <c:spPr>
            <a:ln w="9525" cap="flat">
              <a:solidFill>
                <a:srgbClr val="1E293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Simulación con la mora real del mercado (8 %)</a:t>
            </a:r>
          </a:p>
        </c:rich>
      </c:tx>
      <c:layout/>
      <c:overlay val="0"/>
    </c:title>
    <c:autoTitleDeleted val="0"/>
    <c:plotArea>
      <c:layout/>
      <c:barChart>
        <c:barDir val="col"/>
        <c:grouping val="clustered"/>
        <c:varyColors val="0"/>
        <c:ser>
          <c:idx val="0"/>
          <c:order val="0"/>
          <c:tx>
            <c:strRef>
              <c:f>Sheet1!$B$1</c:f>
              <c:strCache>
                <c:ptCount val="1"/>
                <c:pt idx="0">
                  <c:v>Clientes aprobados</c:v>
                </c:pt>
              </c:strCache>
            </c:strRef>
          </c:tx>
          <c:spPr>
            <a:solidFill>
              <a:srgbClr val="3B82F6"/>
            </a:solidFill>
            <a:effectLst/>
          </c:spPr>
          <c:invertIfNegative val="0"/>
          <c:dLbls>
            <c:numFmt formatCode="0.0&quot;%&quot;"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Umbral 50 %</c:v>
                  </c:pt>
                  <c:pt idx="1">
                    <c:v>Umbral 60 %</c:v>
                  </c:pt>
                  <c:pt idx="2">
                    <c:v>Umbral 70 %</c:v>
                  </c:pt>
                </c:lvl>
              </c:multiLvlStrCache>
            </c:multiLvlStrRef>
          </c:cat>
          <c:val>
            <c:numRef>
              <c:f>Sheet1!$B$2:$B$4</c:f>
              <c:numCache>
                <c:formatCode>General</c:formatCode>
                <c:ptCount val="3"/>
                <c:pt idx="0">
                  <c:v>63.7</c:v>
                </c:pt>
                <c:pt idx="1">
                  <c:v>48.7</c:v>
                </c:pt>
                <c:pt idx="2">
                  <c:v>28.8</c:v>
                </c:pt>
              </c:numCache>
            </c:numRef>
          </c:val>
        </c:ser>
        <c:ser>
          <c:idx val="1"/>
          <c:order val="1"/>
          <c:tx>
            <c:strRef>
              <c:f>Sheet1!$C$1</c:f>
              <c:strCache>
                <c:ptCount val="1"/>
                <c:pt idx="0">
                  <c:v>Malos pagadores detectados</c:v>
                </c:pt>
              </c:strCache>
            </c:strRef>
          </c:tx>
          <c:spPr>
            <a:solidFill>
              <a:srgbClr val="34D399"/>
            </a:solidFill>
            <a:effectLst/>
          </c:spPr>
          <c:invertIfNegative val="0"/>
          <c:dLbls>
            <c:numFmt formatCode="0.0&quot;%&quot;"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Umbral 50 %</c:v>
                  </c:pt>
                  <c:pt idx="1">
                    <c:v>Umbral 60 %</c:v>
                  </c:pt>
                  <c:pt idx="2">
                    <c:v>Umbral 70 %</c:v>
                  </c:pt>
                </c:lvl>
              </c:multiLvlStrCache>
            </c:multiLvlStrRef>
          </c:cat>
          <c:val>
            <c:numRef>
              <c:f>Sheet1!$C$2:$C$4</c:f>
              <c:numCache>
                <c:formatCode>General</c:formatCode>
                <c:ptCount val="3"/>
                <c:pt idx="0">
                  <c:v>68.5</c:v>
                </c:pt>
                <c:pt idx="1">
                  <c:v>81.8</c:v>
                </c:pt>
                <c:pt idx="2">
                  <c:v>92.6</c:v>
                </c:pt>
              </c:numCache>
            </c:numRef>
          </c:val>
        </c:ser>
        <c:ser>
          <c:idx val="2"/>
          <c:order val="2"/>
          <c:tx>
            <c:strRef>
              <c:f>Sheet1!$D$1</c:f>
              <c:strCache>
                <c:ptCount val="1"/>
                <c:pt idx="0">
                  <c:v>Mora entre aprobados</c:v>
                </c:pt>
              </c:strCache>
            </c:strRef>
          </c:tx>
          <c:spPr>
            <a:solidFill>
              <a:srgbClr val="F87171"/>
            </a:solidFill>
            <a:effectLst/>
          </c:spPr>
          <c:invertIfNegative val="0"/>
          <c:dLbls>
            <c:numFmt formatCode="0.0&quot;%&quot;"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Umbral 50 %</c:v>
                  </c:pt>
                  <c:pt idx="1">
                    <c:v>Umbral 60 %</c:v>
                  </c:pt>
                  <c:pt idx="2">
                    <c:v>Umbral 70 %</c:v>
                  </c:pt>
                </c:lvl>
              </c:multiLvlStrCache>
            </c:multiLvlStrRef>
          </c:cat>
          <c:val>
            <c:numRef>
              <c:f>Sheet1!$D$2:$D$4</c:f>
              <c:numCache>
                <c:formatCode>General</c:formatCode>
                <c:ptCount val="3"/>
                <c:pt idx="0">
                  <c:v>4</c:v>
                </c:pt>
                <c:pt idx="1">
                  <c:v>3</c:v>
                </c:pt>
                <c:pt idx="2">
                  <c:v>2.1</c:v>
                </c:pt>
              </c:numCache>
            </c:numRef>
          </c:val>
        </c:ser>
        <c:dLbls>
          <c:numFmt formatCode="0.0&quot;%&quot;"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1E293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Peso de cada variable en la decisión (las 8 principales)</a:t>
            </a:r>
          </a:p>
        </c:rich>
      </c:tx>
      <c:layout/>
      <c:overlay val="0"/>
    </c:title>
    <c:autoTitleDeleted val="0"/>
    <c:plotArea>
      <c:layout/>
      <c:barChart>
        <c:barDir val="bar"/>
        <c:grouping val="clustered"/>
        <c:varyColors val="0"/>
        <c:ser>
          <c:idx val="0"/>
          <c:order val="0"/>
          <c:tx>
            <c:strRef>
              <c:f>Sheet1!$B$1</c:f>
              <c:strCache>
                <c:ptCount val="1"/>
                <c:pt idx="0">
                  <c:v>Peso relativo</c:v>
                </c:pt>
              </c:strCache>
            </c:strRef>
          </c:tx>
          <c:spPr>
            <a:solidFill>
              <a:srgbClr val="475569"/>
            </a:solidFill>
            <a:effectLst/>
          </c:spPr>
          <c:invertIfNegative val="0"/>
          <c:dLbls>
            <c:numFmt formatCode="0.0&quot;%&quot;"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dPt>
            <c:idx val="0"/>
            <c:invertIfNegative val="0"/>
            <c:bubble3D val="0"/>
            <c:spPr>
              <a:solidFill>
                <a:srgbClr val="475569"/>
              </a:solidFill>
              <a:effectLst/>
            </c:spPr>
          </c:dPt>
          <c:dPt>
            <c:idx val="1"/>
            <c:invertIfNegative val="0"/>
            <c:bubble3D val="0"/>
            <c:spPr>
              <a:solidFill>
                <a:srgbClr val="475569"/>
              </a:solidFill>
              <a:effectLst/>
            </c:spPr>
          </c:dPt>
          <c:dPt>
            <c:idx val="2"/>
            <c:invertIfNegative val="0"/>
            <c:bubble3D val="0"/>
            <c:spPr>
              <a:solidFill>
                <a:srgbClr val="475569"/>
              </a:solidFill>
              <a:effectLst/>
            </c:spPr>
          </c:dPt>
          <c:dPt>
            <c:idx val="3"/>
            <c:invertIfNegative val="0"/>
            <c:bubble3D val="0"/>
            <c:spPr>
              <a:solidFill>
                <a:srgbClr val="475569"/>
              </a:solidFill>
              <a:effectLst/>
            </c:spPr>
          </c:dPt>
          <c:dPt>
            <c:idx val="4"/>
            <c:invertIfNegative val="0"/>
            <c:bubble3D val="0"/>
            <c:spPr>
              <a:solidFill>
                <a:srgbClr val="475569"/>
              </a:solidFill>
              <a:effectLst/>
            </c:spPr>
          </c:dPt>
          <c:dPt>
            <c:idx val="5"/>
            <c:invertIfNegative val="0"/>
            <c:bubble3D val="0"/>
            <c:spPr>
              <a:solidFill>
                <a:srgbClr val="475569"/>
              </a:solidFill>
              <a:effectLst/>
            </c:spPr>
          </c:dPt>
          <c:dPt>
            <c:idx val="6"/>
            <c:invertIfNegative val="0"/>
            <c:bubble3D val="0"/>
            <c:spPr>
              <a:solidFill>
                <a:srgbClr val="475569"/>
              </a:solidFill>
              <a:effectLst/>
            </c:spPr>
          </c:dPt>
          <c:dPt>
            <c:idx val="7"/>
            <c:invertIfNegative val="0"/>
            <c:bubble3D val="0"/>
            <c:spPr>
              <a:solidFill>
                <a:srgbClr val="38BDF8"/>
              </a:solidFill>
              <a:effectLst/>
            </c:spPr>
          </c:dPt>
          <c:cat>
            <c:multiLvlStrRef>
              <c:f>Sheet1!$A$2:$A$9</c:f>
              <c:multiLvlStrCache>
                <c:ptCount val="8"/>
                <c:lvl>
                  <c:pt idx="0">
                    <c:v>Plazo en meses</c:v>
                  </c:pt>
                  <c:pt idx="1">
                    <c:v>Línea de negocio</c:v>
                  </c:pt>
                  <c:pt idx="2">
                    <c:v>Antigüedad como cliente</c:v>
                  </c:pt>
                  <c:pt idx="3">
                    <c:v>Tipo de contrato</c:v>
                  </c:pt>
                  <c:pt idx="4">
                    <c:v>Pagos a tiempo</c:v>
                  </c:pt>
                  <c:pt idx="5">
                    <c:v>Créditos activos</c:v>
                  </c:pt>
                  <c:pt idx="6">
                    <c:v>Tasa de interés</c:v>
                  </c:pt>
                  <c:pt idx="7">
                    <c:v>Score crediticio</c:v>
                  </c:pt>
                </c:lvl>
              </c:multiLvlStrCache>
            </c:multiLvlStrRef>
          </c:cat>
          <c:val>
            <c:numRef>
              <c:f>Sheet1!$B$2:$B$9</c:f>
              <c:numCache>
                <c:formatCode>General</c:formatCode>
                <c:ptCount val="8"/>
                <c:pt idx="0">
                  <c:v>2.07</c:v>
                </c:pt>
                <c:pt idx="1">
                  <c:v>2.28</c:v>
                </c:pt>
                <c:pt idx="2">
                  <c:v>2.66</c:v>
                </c:pt>
                <c:pt idx="3">
                  <c:v>2.69</c:v>
                </c:pt>
                <c:pt idx="4">
                  <c:v>2.72</c:v>
                </c:pt>
                <c:pt idx="5">
                  <c:v>3.52</c:v>
                </c:pt>
                <c:pt idx="6">
                  <c:v>5.47</c:v>
                </c:pt>
                <c:pt idx="7">
                  <c:v>68.43</c:v>
                </c:pt>
              </c:numCache>
            </c:numRef>
          </c:val>
        </c:ser>
        <c:dLbls>
          <c:numFmt formatCode="0.0&quot;%&quot;"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334155"/>
            </a:solidFill>
            <a:prstDash val="solid"/>
            <a:round/>
          </a:ln>
        </c:spPr>
        <c:txPr>
          <a:bodyPr/>
          <a:lstStyle/>
          <a:p>
            <a:pPr>
              <a:defRPr sz="11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80"/>
        </c:scaling>
        <c:delete val="0"/>
        <c:axPos val="b"/>
        <c:majorGridlines>
          <c:spPr>
            <a:ln w="9525" cap="flat">
              <a:solidFill>
                <a:srgbClr val="1E293B"/>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[Todos] Leidy: Buenos días, profesora y compañeros. Somos el equipo CrediRisk y cada uno se va a presentar. Yo soy Leidy Guecha. Sharick: Yo soy Sharick Hernández. Laura: Yo soy Laura Díaz. Iván: Yo soy Iván Solano. Cristian: Y yo soy Cristian Martínez. Cristian: Nuestro proyecto es un sistema que ayuda a decidir si una persona es apta o no para recibir un crédito de consumo, usando un ensamble de tres redes neuronales. Iván: Con clientes que el modelo nunca había visto obtuvimos un AUC de 0,745; más adelante explicamos qué significa ese número. Laura: Todo lo que vamos a mostrar también está en nuestra página web, que pueden visitar al final con el código QR. Leidy empieza con los datos.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[Leidy] La presentación sigue el mismo orden que nuestra página web. Primero los datos: qué queremos predecir y cómo los preparamos. Luego el modelo: cómo funciona una red neuronal y por qué usamos tres. Después las pruebas que hicimos, la pregunta de si el modelo aprendió o memorizó, los resultados con su error y, al final, las limitaciones y conclusiones.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[Leidy] Un banco recibe miles de solicitudes de crédito y debe decidir a quién prestarle. Nuestro modelo recibe los datos de cada solicitante y responde con una probabilidad de que sea apto. Si esa probabilidad es de 50 % o más, lo clasificamos como APTO; si es menor, como NO APTO. Trabajamos con 49.650 solicitudes, cada una con 23 datos como la edad, los ingresos, las deudas y el historial de pagos. La mitad de los clientes son aptos y la otra mitad no, así que adivinar al azar acertaría el 50 %.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[Leidy] Antes de hacer cualquier cálculo dividimos a los clientes en tres grupos. El 70 %, unos 34.755 clientes, es el grupo de entrenamiento: como el libro de ejercicios, con él la red aprende. El 15 % es validación: como los simulacros, sirve para comparar versiones y decidir cuándo parar. Y el otro 15 % es el grupo de prueba: el examen final, que guardamos sin tocar y usamos una sola vez. Así la nota final es honesta.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[Leidy] Una red neuronal solo entiende números y funciona mejor si están en escalas parecidas. Por eso hicimos cuatro pasos. Primero limpiamos: quitamos el número de solicitud y una columna que era la respuesta disfrazada; dejarla sería hacer trampa. Segundo, si falta un dato lo rellenamos con el valor típico y agregamos un aviso de que faltaba. Tercero, suavizamos valores extremos, como ingresos muy altos. Y cuarto, convertimos las categorías en columnas de ceros y unos y llevamos todo a la misma escala. Todo esto se calculó solo con el grupo de entrenamiento.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[Leidy] Por eso pasamos de 23 datos a 44 números, sin agregar información nueva. Las 19 variables numéricas siguen siendo 19 columnas. Se agregan 7 columnas de aviso de dato faltante. Y las 4 variables de categorías se convierten en 18 columnas. Por ejemplo, una persona casada se escribe como 0, 1, 0, 0, 0. No usamos números como 1, 2 o 3, porque la red creería que una categoría es mayor que otra.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[Leidy] Una red neuronal es un conjunto de pequeñas calculadoras, llamadas neuronas, organizadas en capas. Cada conexión tiene un número llamado peso, y aprender significa ajustar esos pesos. El ciclo tiene cuatro pasos: la red toma 128 clientes y predice una probabilidad para cada uno; mide el error comparando con la respuesta real; calcula cuánto contribuyó cada peso a ese error; y el optimizador Adam corrige cada peso un poquito. Esto se repite 272 veces por cada vuelta completa a los datos, que llamamos época.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[Leidy] Veamos una neurona de cerca. Recibe los 44 datos del cliente y multiplica cada uno por su peso, que indica qué tan importante es ese dato. Luego suma todo y le agrega el sesgo, un número propio de cada neurona que le permite activarse aunque las entradas sean cero, como el punto de partida de una recta. Por último aplica la función de activación, que decide cuánto se enciende. En el ejemplo de abajo, con dos entradas, el total da 0,14 y ReLU entrega 0,14. Ahora Sharick les explicará las funciones de activación.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[Sharick] Gracias, Leidy. Estas son las funciones de activación que usamos y por qué. ReLU, en las capas ocultas de las Redes 1 y 3, deja pasar los valores positivos y convierte los negativos en cero: es simple y rápida de entrenar. LeakyReLU, en la Red 2, deja pasar un 10 % de los negativos, para que ninguna neurona se apague del todo. La sigmoide, en la salida de las tres redes, convierte el resultado en una probabilidad entre 0 y 1. ELU y GELU las probamos en la fase 3, pero no superaron al modelo final.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[Sharick] Esta es la Red 1 completa. Entran los 44 números del cliente. La primera capa oculta tiene 64 neuronas, cada una con 44 pesos y un sesgo, es decir 2.816 pesos y 64 sesgos, y usa ReLU con 15 % de dropout. La segunda tiene 32 neuronas y la tercera 16. La salida es una sola neurona con sigmoide, que entrega la probabilidad. En total son 5.392 pesos y 113 sesgos: 5.505 parámetros. Después de entrenar, por ejemplo, el sesgo de salida quedó en menos 0,063.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[Sharick] Las otras dos redes siguen la misma lógica, pero cambian. La Red 2 es más pequeña: dos capas ocultas de 32 y 16 neuronas con LeakyReLU, y dropout solo en la primera; tiene 1.985 parámetros. La Red 3 tiene la misma forma que la Red 1, pero con 20 % de dropout, un paso de aprendizaje mayor y otra semilla, así que sus pesos y sesgos aprendidos son distintos.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[Sharick] Con miles de pesos, una red puede terminar aprendiéndose de memoria los clientes de entrenamiento. Usamos cuatro técnicas. El dropout apaga al azar el 15 o 20 % de las neuronas en cada paso, como estudiar en grupo cuando cada día faltan compañeros distintos. La parada temprana detiene el entrenamiento si pasan 12 épocas sin mejorar en validación. Si se estanca 5 épocas, reducimos a la mitad el tamaño de cada corrección. Y mantuvimos las redes compactas, con poca memoria disponible.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[Sharick] El modelo final no es una sola red. Son tres redes diferentes que evalúan al mismo cliente por separado. Cada una entrega su probabilidad, p1, p2 y p3, y luego las promediamos. Si el promedio es de 50 % o más, el cliente es APTO. Funciona como un comité de tres evaluadores, donde cada uno tiene el mismo voto.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[Sharick] Las tres redes se eligieron a propósito para que fueran diferentes, porque si fueran iguales cometerían los mismos errores. Cambian en el número de neuronas, la función de activación, el dropout, el tamaño del paso de aprendizaje y la semilla. Cada una, sola, logra un AUC cercano a 0,752. La Red 1 es la base, la Red 2 aporta otra forma de pensar y la Red 3 otro punto de partida.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[Sharick] Veamos cómo vota. Al cliente A, las redes le dan 0,62, 0,48 y 0,57: el promedio es 0,557 y es APTO. La Red 2 sola lo habría rechazado, pero las otras dos la corrigen. Comprobamos que lo que ayuda es la diversidad: una sola red llega a 0,7523; cinco copias de la misma red, a 0,7525; y tres redes distintas, a 0,7538, el mejor resultado. Laura nos contará cómo llegamos a este modelo.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[Laura] Gracias, Sharick. Ahora vamos a contar cómo llegamos a este modelo. Ninguna decisión se tomó con una sola prueba: siempre comparamos varias, usando el grupo de validación.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[Laura] En total entrenamos 164 redes neuronales y evaluamos 19 combinaciones. Además, cada configuración importante la repetimos con 5 semillas distintas, es decir, barajando el azar de otra forma, para comprobar que el resultado no era suerte. El grupo de prueba se usó una sola vez, al final.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[Laura] El trabajo se hizo por etapas y cada una partió de lo mejor de la anterior. La línea base nos dio un punto de partida, con un AUC de 0,7497. En la fase 1, con 37 pruebas, exploramos el tamaño de la red, el paso de aprendizaje y el dropout. En la fase 2, con 29 pruebas, afinamos y probamos combinar redes; ahí ganó el ensamble de tres redes, con 0,7538. Y en la fase 3, con 12 pruebas, probamos técnicas más modernas, que empataron pero no lo superaron.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[Laura] En la fase 1 cambiamos un solo factor a la vez. Dos resultados importantes: las redes más grandes no mejoraron, e incluso la más pequeña quedó arriba; más pesos solo dan más capacidad de memorizar. Y el dropout: sin él obtuvimos el peor resultado, 0,7447, y con 40 % la red se frena demasiado. También vimos que el paso de aprendizaje ideal era 0,0005.</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[Laura] El estudio de ablación entrena la misma red con distintos grupos de variables. Con solo 9 variables financieras, el AUC cae a 0,628. Con 21 sube a 0,744 y con las 44 llega al máximo, 0,752. Agregar 6 indicadores calculados a mano no ayuda, porque la red ya aprende esas relaciones sola. Por eso usamos las 44.</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[Laura] Una época es una vuelta completa a los 34.755 clientes, con 272 correcciones de pesos. No fijamos un número de épocas: pusimos un máximo de 100 y dejamos que la parada temprana decidiera. En promedio los entrenamientos duraron 41 épocas. Las tres redes finales tuvieron su mejor punto en las épocas 32, 51 y 36; después esperaron 12 épocas sin mejorar, se detuvieron y recuperaron su mejor versión.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[Laura] Llegamos a la pregunta central: ¿el modelo aprendió reglas que sirven para clientes nuevos, o solo memorizó los ejemplos? Lo comprobamos con cinco pruebas.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[Laura] Primero, cómo leer una curva de aprendizaje. La línea azul es el error con los clientes de entrenamiento y la naranja, con los de validación. A la izquierda, un modelo que aprende: las dos curvas bajan juntas y quedan cerca. A la derecha, uno que memoriza: el error de entrenamiento baja casi a cero, pero el de validación sube. Las curvas se abren como una tijera.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[Laura] Estas son las curvas reales de nuestras tres redes. Las volvimos a entrenar con su misma configuración y anotamos el error en cada época. Si memorizaran, las curvas se abrirían; pero bajan juntas y se mantienen cerca. En la mejor época, la diferencia de error es de solo 0,008 a 0,015. Iván continúa con las demás pruebas.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[Iván] Gracias, Laura. En la prueba 2 quitamos el freno: dejamos la Red 1 entrenando 150 épocas sin parada temprana. Queríamos ver si al seguir entrenando empezaba a memorizar. Y sí: después de la época 44, justo donde el freno la había detenido, la validación empeora mientras el entrenamiento sigue mejorando. Sin freno, el AUC baja a entre 0,738 y 0,745; con freno es de 0,752.</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[Iván] En la prueba 3 entrenamos a propósito una red gigante, de 187.393 pesos, 34 veces más grande que la nuestra, sin dropout y sin freno, durante 200 épocas. Queríamos un ejemplo real de memorización. La gigante llega a 99,2 % de aciertos en entrenamiento, pero solo 60,6 % en validación. Nuestra Red 1 tiene 69,8 % y 68,8 %, casi iguales.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[Iván] La prueba 4 es la más contundente. Barajamos al azar las respuestas de los clientes, de modo que no quedaba ningún patrón real. Una red que memoriza se aprendería esas respuestas falsas. Nuestra red se quedó en 0,50 a 0,54, igual que adivinar, y se detuvo sola. La gigante, en cambio, llegó a 1,0 en entrenamiento: memorizó ruido. Con las respuestas reales, la nuestra llega a 0,754: aprende patrones reales.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[Iván] En la prueba 5 entrenamos la misma red con cada vez más clientes, desde el 2 % hasta el 100 %. Queríamos ver si la diferencia entre lo estudiado y lo nuevo se cerraba con más datos. Con solo 695 clientes la diferencia es de 0,177: la red memoriza. Con los 34.755 baja a 0,012, y el AUC en clientes nuevos sube de 0,707 a 0,752.</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[Iván] En resumen, todas las pruebas apuntan a lo mismo: las curvas van juntas, la parada temprana actuó a tiempo, el modelo no se parece a la red gigante, no aprende ruido y la diferencia se cierra con más datos. Además, con clientes nunca vistos el AUC solo bajó de 0,754 a 0,745. Sí hay una diferencia pequeña entre entrenamiento y prueba, pero es normal. Por eso concluimos que el modelo aprendió.</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[Iván] Pasamos a los resultados. Primero explicamos cómo se mide el error y luego mostramos los números del examen final, con 7.448 clientes que el modelo nunca vio.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[Iván] La primera forma de medir el error es contar. Decidimos APTO o NO APTO con el umbral de 50 % y comparamos con lo que realmente pasó. El error de clasificación es fallos entre total: 2.422 entre 7.448, es decir 32,5 %. La precisión dice que de cada 100 clientes que aprueba, 68 eran buenos pagadores. La sensibilidad, que de cada 100 clientes buenos encuentra a 66. Y el F1, de 0,672, resume el equilibrio entre ambas.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[Iván] La segunda forma mide qué tan buena es la probabilidad, antes de decidir. El log loss es el error que la red minimiza al entrenar: castiga poco una respuesta segura y correcta, y muchísimo una muy segura pero equivocada, como muestra la gráfica. Si dijera siempre 50 %, daría 0,693; el nuestro es 0,596. El Brier va de 0, perfecto, a 0,25; el nuestro es 0,205. Y el AUC de 0,745 significa que, tomando un cliente bueno y uno malo al azar, en 3 de cada 4 casos el modelo le da más probabilidad al bueno. Cristian les mostrará los resultados.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[Cristian] Gracias, Iván. Estos son los resultados del examen final. El AUC es 0,745 y el modelo acierta el 67,5 % de los clientes, es decir, 5.026 de 7.448. Frente a validación, el AUC solo cae 1,2 %, lo que indica que el modelo generaliza. Todas las métricas se mantienen cerca entre validación y prueba.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[Cristian] Así cambió el AUC desde la línea base hasta el modelo final, en validación y en prueba. La mejora en prueba es de 0,0024: es modesta y lo decimos con honestidad. El aporte principal del proyecto es el método: sin fuga de datos, con pruebas para cada decisión y reproducible.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[Cristian] Esta es la matriz de confusión. En verde, los aciertos: 2.550 clientes riesgosos bien rechazados y 2.476 buenos bien aprobados. En rojo, los errores: 1.174 riesgosos que el modelo aprobaría, que es el error más costoso para un banco, y 1.248 buenos que rechazaría, que es negocio perdido. Los errores se reparten casi por igual.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[Cristian] ¿Por qué no acierta siempre? La gráfica muestra las probabilidades que el modelo da a los clientes buenos y a los malos: se mezclan en el centro. Hay muchas personas con datos casi idénticos y unas pagan y otras no, por causas que no están en la base de datos, como un despido o una enfermedad. Ningún modelo puede separar lo que los datos no distinguen; más de 160 redes llegaron al mismo límite.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[Cristian] El umbral de 50 % es neutral, pero un banco puede ser más exigente. En esta simulación con la mora real del mercado, si el umbral sube a 70 %, la mora entre los aprobados baja de 4 % a 2,1 %, pero solo se aprueba al 29 % de los clientes. Elegir el umbral es una decisión del banco, no del modelo.</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[Cristian] Para saber en qué se fija el modelo, revolvimos cada variable y medimos cuánto empeoraba. El score crediticio concentra el 68 % del peso: la forma en que una persona ha pagado antes es la mejor pista de cómo pagará después. Le siguen la tasa de interés y el número de créditos activos. Ojo: esto muestra asociación, no causa.</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[Cristian] Queremos ser transparentes con los límites. La mejora frente a la línea base es modesta y no hicimos una prueba estadística formal. Usamos una sola división de los datos y solo probamos redes de este tipo. El umbral de 50 % no refleja que un impago le cuesta más al banco que rechazar a un buen cliente. Y el modelo muestra asociaciones, no causas, porque faltan datos como despidos o problemas de salud.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[Cristian] Para cerrar: el modelo final es un ensamble de tres redes que alcanza un AUC de 0,745 en clientes nunca vistos. Concluimos cuatro cosas: aprendió y no memorizó; cada decisión se tomó con evidencia, entrenando 164 redes; no hubo fuga de datos; y el resultado es explicable, porque se apoya sobre todo en el historial de pago. Los invitamos a escanear el código para probar el evaluador en nuestra página.</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[Todos] Muchas gracias por su atención. Quedamos atentos a sus preguntas y comentarios.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R_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R_HERO-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CR_SECTION-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image" Target="../media/CR_CONTENT-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R_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R_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514600"/>
            <a:ext cx="11064240" cy="1097280"/>
          </a:xfrm>
          <a:prstGeom prst="rect">
            <a:avLst/>
          </a:prstGeom>
          <a:noFill/>
          <a:ln/>
        </p:spPr>
        <p:txBody>
          <a:bodyPr wrap="square" rtlCol="0"/>
          <a:lstStyle>
            <a:lvl1pPr algn="ctr" indent="0" marL="0">
              <a:buNone/>
              <a:defRPr lang="en-US" sz="6000" b="1" dirty="0">
                <a:solidFill>
                  <a:schemeClr val="bg1"/>
                </a:solidFill>
              </a:defRPr>
            </a:lvl1pPr>
          </a:lstStyle>
          <a:p>
            <a:pPr algn="ctr" indent="0" marL="0">
              <a:buNone/>
            </a:pPr>
            <a:endParaRPr lang="en-US" sz="6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R_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6400800" cy="365760"/>
          </a:xfrm>
          <a:prstGeom prst="rect">
            <a:avLst/>
          </a:prstGeom>
          <a:noFill/>
          <a:ln/>
        </p:spPr>
        <p:txBody>
          <a:bodyPr wrap="square" rtlCol="0"/>
          <a:lstStyle>
            <a:lvl1pPr algn="l" indent="0" marL="0">
              <a:buNone/>
              <a:defRPr lang="en-US" sz="1400" spc="4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400" dirty="0"/>
          </a:p>
        </p:txBody>
      </p:sp>
      <p:sp>
        <p:nvSpPr>
          <p:cNvPr id="3" name="Text 0"/>
          <p:cNvSpPr/>
          <p:nvPr>
            <p:ph idx="101" type="title" hasCustomPrompt="1"/>
          </p:nvPr>
        </p:nvSpPr>
        <p:spPr>
          <a:xfrm>
            <a:off x="731520" y="2560320"/>
            <a:ext cx="78638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pic>
        <p:nvPicPr>
          <p:cNvPr id="4" name="Image 0" descr="/home/claude/deck/img/credirisk-logo-white_c.png">    </p:cNvPr>
          <p:cNvPicPr>
            <a:picLocks noChangeAspect="1"/>
          </p:cNvPicPr>
          <p:nvPr/>
        </p:nvPicPr>
        <p:blipFill>
          <a:blip r:embed="rId1"/>
          <a:stretch>
            <a:fillRect/>
          </a:stretch>
        </p:blipFill>
        <p:spPr>
          <a:xfrm>
            <a:off x="548640" y="6379058"/>
            <a:ext cx="105382" cy="111760"/>
          </a:xfrm>
          <a:prstGeom prst="rect">
            <a:avLst/>
          </a:prstGeom>
        </p:spPr>
      </p:pic>
      <p:sp>
        <p:nvSpPr>
          <p:cNvPr id="5" name="Text 0"/>
          <p:cNvSpPr/>
          <p:nvPr/>
        </p:nvSpPr>
        <p:spPr>
          <a:xfrm>
            <a:off x="658467" y="6355080"/>
            <a:ext cx="531211" cy="152400"/>
          </a:xfrm>
          <a:prstGeom prst="rect">
            <a:avLst/>
          </a:prstGeom>
          <a:noFill/>
          <a:ln/>
        </p:spPr>
        <p:txBody>
          <a:bodyPr wrap="square" lIns="0" tIns="0" rIns="0" bIns="0" rtlCol="0" anchor="ctr"/>
          <a:lstStyle/>
          <a:p>
            <a:pPr indent="0" marL="0">
              <a:buNone/>
            </a:pPr>
            <a:r>
              <a:rPr lang="en-US" sz="1000" b="1" dirty="0">
                <a:solidFill>
                  <a:srgbClr val="64748B"/>
                </a:solidFill>
              </a:rPr>
              <a:t>rediRisk</a:t>
            </a:r>
            <a:endParaRPr lang="en-US" sz="1000" dirty="0"/>
          </a:p>
        </p:txBody>
      </p:sp>
      <p:sp>
        <p:nvSpPr>
          <p:cNvPr id="6" name="Text 1"/>
          <p:cNvSpPr/>
          <p:nvPr/>
        </p:nvSpPr>
        <p:spPr>
          <a:xfrm>
            <a:off x="1235398" y="6355080"/>
            <a:ext cx="4572000" cy="15240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 Universidad Católica de Colombia · 2026</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R_CONTE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img/credirisk-logo_c.png">    </p:cNvPr>
          <p:cNvPicPr>
            <a:picLocks noChangeAspect="1"/>
          </p:cNvPicPr>
          <p:nvPr/>
        </p:nvPicPr>
        <p:blipFill>
          <a:blip r:embed="rId1"/>
          <a:stretch>
            <a:fillRect/>
          </a:stretch>
        </p:blipFill>
        <p:spPr>
          <a:xfrm>
            <a:off x="713232" y="496621"/>
            <a:ext cx="179150" cy="189992"/>
          </a:xfrm>
          <a:prstGeom prst="rect">
            <a:avLst/>
          </a:prstGeom>
        </p:spPr>
      </p:pic>
      <p:sp>
        <p:nvSpPr>
          <p:cNvPr id="3" name="Text 0"/>
          <p:cNvSpPr/>
          <p:nvPr/>
        </p:nvSpPr>
        <p:spPr>
          <a:xfrm>
            <a:off x="899939" y="455676"/>
            <a:ext cx="903058" cy="259080"/>
          </a:xfrm>
          <a:prstGeom prst="rect">
            <a:avLst/>
          </a:prstGeom>
          <a:noFill/>
          <a:ln/>
        </p:spPr>
        <p:txBody>
          <a:bodyPr wrap="square" lIns="0" tIns="0" rIns="0" bIns="0" rtlCol="0" anchor="ctr"/>
          <a:lstStyle/>
          <a:p>
            <a:pPr indent="0" marL="0">
              <a:buNone/>
            </a:pPr>
            <a:r>
              <a:rPr lang="en-US" sz="1700" b="1" dirty="0">
                <a:solidFill>
                  <a:srgbClr val="F8FAFC"/>
                </a:solidFill>
              </a:rPr>
              <a:t>rediRisk</a:t>
            </a:r>
            <a:endParaRPr lang="en-US" sz="1700" dirty="0"/>
          </a:p>
        </p:txBody>
      </p:sp>
      <p:sp>
        <p:nvSpPr>
          <p:cNvPr id="4" name="Shape 1"/>
          <p:cNvSpPr/>
          <p:nvPr/>
        </p:nvSpPr>
        <p:spPr>
          <a:xfrm>
            <a:off x="2049884" y="402336"/>
            <a:ext cx="0" cy="365760"/>
          </a:xfrm>
          <a:prstGeom prst="line">
            <a:avLst/>
          </a:prstGeom>
          <a:noFill/>
          <a:ln w="12700">
            <a:solidFill>
              <a:srgbClr val="334155"/>
            </a:solidFill>
            <a:prstDash val="solid"/>
          </a:ln>
        </p:spPr>
      </p:sp>
      <p:sp>
        <p:nvSpPr>
          <p:cNvPr id="5" name="Text 2"/>
          <p:cNvSpPr/>
          <p:nvPr>
            <p:ph idx="103" type="title" hasCustomPrompt="1"/>
          </p:nvPr>
        </p:nvSpPr>
        <p:spPr>
          <a:xfrm>
            <a:off x="2305916" y="256032"/>
            <a:ext cx="9215524" cy="658368"/>
          </a:xfrm>
          <a:prstGeom prst="rect">
            <a:avLst/>
          </a:prstGeom>
          <a:noFill/>
          <a:ln/>
        </p:spPr>
        <p:txBody>
          <a:bodyPr wrap="square" rtlCol="0"/>
          <a:lstStyle>
            <a:lvl1pPr algn="l" indent="0" marL="0">
              <a:buNone/>
              <a:defRPr lang="en-US" sz="2200" b="1" dirty="0">
                <a:solidFill>
                  <a:schemeClr val="bg1"/>
                </a:solidFill>
              </a:defRPr>
            </a:lvl1pPr>
          </a:lstStyle>
          <a:p>
            <a:pPr algn="l" indent="0" marL="0">
              <a:buNone/>
            </a:pPr>
            <a:endParaRPr lang="en-US" sz="2200" dirty="0"/>
          </a:p>
        </p:txBody>
      </p:sp>
      <p:pic>
        <p:nvPicPr>
          <p:cNvPr id="6" name="Image 1" descr="/home/claude/deck/img/credirisk-logo-white_c.png">    </p:cNvPr>
          <p:cNvPicPr>
            <a:picLocks noChangeAspect="1"/>
          </p:cNvPicPr>
          <p:nvPr/>
        </p:nvPicPr>
        <p:blipFill>
          <a:blip r:embed="rId2"/>
          <a:stretch>
            <a:fillRect/>
          </a:stretch>
        </p:blipFill>
        <p:spPr>
          <a:xfrm>
            <a:off x="548640" y="6379058"/>
            <a:ext cx="105382" cy="111760"/>
          </a:xfrm>
          <a:prstGeom prst="rect">
            <a:avLst/>
          </a:prstGeom>
        </p:spPr>
      </p:pic>
      <p:sp>
        <p:nvSpPr>
          <p:cNvPr id="7" name="Text 2"/>
          <p:cNvSpPr/>
          <p:nvPr/>
        </p:nvSpPr>
        <p:spPr>
          <a:xfrm>
            <a:off x="658467" y="6355080"/>
            <a:ext cx="531211" cy="152400"/>
          </a:xfrm>
          <a:prstGeom prst="rect">
            <a:avLst/>
          </a:prstGeom>
          <a:noFill/>
          <a:ln/>
        </p:spPr>
        <p:txBody>
          <a:bodyPr wrap="square" lIns="0" tIns="0" rIns="0" bIns="0" rtlCol="0" anchor="ctr"/>
          <a:lstStyle/>
          <a:p>
            <a:pPr indent="0" marL="0">
              <a:buNone/>
            </a:pPr>
            <a:r>
              <a:rPr lang="en-US" sz="1000" b="1" dirty="0">
                <a:solidFill>
                  <a:srgbClr val="64748B"/>
                </a:solidFill>
              </a:rPr>
              <a:t>rediRisk</a:t>
            </a:r>
            <a:endParaRPr lang="en-US" sz="1000" dirty="0"/>
          </a:p>
        </p:txBody>
      </p:sp>
      <p:sp>
        <p:nvSpPr>
          <p:cNvPr id="8" name="Text 3"/>
          <p:cNvSpPr/>
          <p:nvPr/>
        </p:nvSpPr>
        <p:spPr>
          <a:xfrm>
            <a:off x="1235398" y="6355080"/>
            <a:ext cx="4572000" cy="15240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 Universidad Católica de Colombia · 2026</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slideLayout" Target="../slideLayouts/slideLayout5.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slideLayout" Target="../slideLayouts/slideLayout5.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chart" Target="../charts/chart11.xml"/><Relationship Id="rId3" Type="http://schemas.openxmlformats.org/officeDocument/2006/relationships/slideLayout" Target="../slideLayouts/slideLayout5.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12.xml"/><Relationship Id="rId2" Type="http://schemas.openxmlformats.org/officeDocument/2006/relationships/chart" Target="../charts/chart13.xml"/><Relationship Id="rId3" Type="http://schemas.openxmlformats.org/officeDocument/2006/relationships/chart" Target="../charts/chart14.xml"/><Relationship Id="rId4" Type="http://schemas.openxmlformats.org/officeDocument/2006/relationships/slideLayout" Target="../slideLayouts/slideLayout5.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charts/chart15.xml"/><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charts/chart16.xml"/><Relationship Id="rId2" Type="http://schemas.openxmlformats.org/officeDocument/2006/relationships/slideLayout" Target="../slideLayouts/slideLayout5.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charts/chart17.xml"/><Relationship Id="rId2" Type="http://schemas.openxmlformats.org/officeDocument/2006/relationships/chart" Target="../charts/chart18.xml"/><Relationship Id="rId3" Type="http://schemas.openxmlformats.org/officeDocument/2006/relationships/slideLayout" Target="../slideLayouts/slideLayout5.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charts/chart19.xml"/><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charts/chart20.xml"/><Relationship Id="rId2" Type="http://schemas.openxmlformats.org/officeDocument/2006/relationships/slideLayout" Target="../slideLayouts/slideLayou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charts/chart21.xml"/><Relationship Id="rId2" Type="http://schemas.openxmlformats.org/officeDocument/2006/relationships/slideLayout" Target="../slideLayouts/slideLayout5.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charts/chart22.xml"/><Relationship Id="rId2" Type="http://schemas.openxmlformats.org/officeDocument/2006/relationships/slideLayout" Target="../slideLayouts/slideLayout5.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23.xml"/><Relationship Id="rId2" Type="http://schemas.openxmlformats.org/officeDocument/2006/relationships/slideLayout" Target="../slideLayouts/slideLayout5.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charts/chart24.xml"/><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charts/chart25.xml"/><Relationship Id="rId2" Type="http://schemas.openxmlformats.org/officeDocument/2006/relationships/slideLayout" Target="../slideLayouts/slideLayout5.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5.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C" descr="/home/claude/deck/img/credirisk-logo_c.png">    </p:cNvPr>
          <p:cNvPicPr>
            <a:picLocks noChangeAspect="1"/>
          </p:cNvPicPr>
          <p:nvPr/>
        </p:nvPicPr>
        <p:blipFill>
          <a:blip r:embed="rId1"/>
          <a:stretch>
            <a:fillRect/>
          </a:stretch>
        </p:blipFill>
        <p:spPr>
          <a:xfrm>
            <a:off x="3980422" y="662178"/>
            <a:ext cx="695524" cy="737616"/>
          </a:xfrm>
          <a:prstGeom prst="rect">
            <a:avLst/>
          </a:prstGeom>
        </p:spPr>
      </p:pic>
      <p:sp>
        <p:nvSpPr>
          <p:cNvPr id="3" name="marca"/>
          <p:cNvSpPr txBox="1"/>
          <p:nvPr/>
        </p:nvSpPr>
        <p:spPr>
          <a:xfrm>
            <a:off x="4705283" y="502920"/>
            <a:ext cx="3505989" cy="1005840"/>
          </a:xfrm>
          <a:prstGeom prst="rect">
            <a:avLst/>
          </a:prstGeom>
          <a:noFill/>
          <a:ln/>
        </p:spPr>
        <p:txBody>
          <a:bodyPr wrap="square" lIns="0" tIns="0" rIns="0" bIns="0" rtlCol="0" anchor="ctr"/>
          <a:lstStyle/>
          <a:p>
            <a:pPr indent="0" marL="0">
              <a:buNone/>
            </a:pPr>
            <a:r>
              <a:rPr lang="en-US" sz="6600" b="1" dirty="0">
                <a:solidFill>
                  <a:srgbClr val="F8FAFC"/>
                </a:solidFill>
              </a:rPr>
              <a:t>rediRisk</a:t>
            </a:r>
            <a:endParaRPr lang="en-US" sz="6600" dirty="0"/>
          </a:p>
        </p:txBody>
      </p:sp>
      <p:sp>
        <p:nvSpPr>
          <p:cNvPr id="4" name="Text 1"/>
          <p:cNvSpPr txBox="1"/>
          <p:nvPr/>
        </p:nvSpPr>
        <p:spPr>
          <a:xfrm>
            <a:off x="1828800" y="1783080"/>
            <a:ext cx="8531352" cy="411480"/>
          </a:xfrm>
          <a:prstGeom prst="rect">
            <a:avLst/>
          </a:prstGeom>
          <a:noFill/>
          <a:ln/>
        </p:spPr>
        <p:txBody>
          <a:bodyPr wrap="square" lIns="0" tIns="0" rIns="0" bIns="0" rtlCol="0" anchor="t"/>
          <a:lstStyle/>
          <a:p>
            <a:pPr algn="ctr" indent="0" marL="0">
              <a:lnSpc>
                <a:spcPct val="110000"/>
              </a:lnSpc>
              <a:spcAft>
                <a:spcPts val="400"/>
              </a:spcAft>
              <a:buNone/>
            </a:pPr>
            <a:r>
              <a:rPr lang="en-US" sz="1800" dirty="0">
                <a:solidFill>
                  <a:schemeClr val="bg2"/>
                </a:solidFill>
              </a:rPr>
              <a:t>Evaluación del riesgo crediticio con un ensamble de redes neuronales profundas</a:t>
            </a:r>
            <a:endParaRPr lang="en-US" sz="1800" dirty="0"/>
          </a:p>
        </p:txBody>
      </p:sp>
      <p:sp>
        <p:nvSpPr>
          <p:cNvPr id="5" name="Shape 2"/>
          <p:cNvSpPr/>
          <p:nvPr/>
        </p:nvSpPr>
        <p:spPr>
          <a:xfrm>
            <a:off x="3063240" y="2331720"/>
            <a:ext cx="2926080" cy="384048"/>
          </a:xfrm>
          <a:prstGeom prst="roundRect">
            <a:avLst>
              <a:gd name="adj" fmla="val 50000"/>
            </a:avLst>
          </a:prstGeom>
          <a:solidFill>
            <a:schemeClr val="bg1"/>
          </a:solidFill>
          <a:ln w="12700">
            <a:solidFill>
              <a:srgbClr val="F8FAFC"/>
            </a:solidFill>
            <a:prstDash val="solid"/>
          </a:ln>
        </p:spPr>
      </p:sp>
      <p:sp>
        <p:nvSpPr>
          <p:cNvPr id="6" name="Text 3"/>
          <p:cNvSpPr txBox="1"/>
          <p:nvPr/>
        </p:nvSpPr>
        <p:spPr>
          <a:xfrm>
            <a:off x="3063240" y="2331720"/>
            <a:ext cx="2926080" cy="384048"/>
          </a:xfrm>
          <a:prstGeom prst="rect">
            <a:avLst/>
          </a:prstGeom>
          <a:noFill/>
          <a:ln/>
        </p:spPr>
        <p:txBody>
          <a:bodyPr wrap="square" lIns="0" tIns="0" rIns="0" bIns="0" rtlCol="0" anchor="ctr"/>
          <a:lstStyle/>
          <a:p>
            <a:pPr algn="ctr" indent="0" marL="0">
              <a:buNone/>
            </a:pPr>
            <a:r>
              <a:rPr lang="en-US" sz="1250" b="1" dirty="0">
                <a:solidFill>
                  <a:schemeClr val="tx1"/>
                </a:solidFill>
              </a:rPr>
              <a:t>Ensamble de 3 redes neuronales</a:t>
            </a:r>
            <a:endParaRPr lang="en-US" sz="1250" dirty="0"/>
          </a:p>
        </p:txBody>
      </p:sp>
      <p:sp>
        <p:nvSpPr>
          <p:cNvPr id="7" name="Shape 4"/>
          <p:cNvSpPr/>
          <p:nvPr/>
        </p:nvSpPr>
        <p:spPr>
          <a:xfrm>
            <a:off x="6172200" y="2331720"/>
            <a:ext cx="2971800" cy="384048"/>
          </a:xfrm>
          <a:prstGeom prst="roundRect">
            <a:avLst>
              <a:gd name="adj" fmla="val 50000"/>
            </a:avLst>
          </a:prstGeom>
          <a:solidFill>
            <a:schemeClr val="tx1">
              <a:alpha val="90000"/>
            </a:schemeClr>
          </a:solidFill>
          <a:ln w="12700">
            <a:solidFill>
              <a:srgbClr val="334155"/>
            </a:solidFill>
            <a:prstDash val="solid"/>
          </a:ln>
        </p:spPr>
      </p:sp>
      <p:sp>
        <p:nvSpPr>
          <p:cNvPr id="8" name="Text 5"/>
          <p:cNvSpPr txBox="1"/>
          <p:nvPr/>
        </p:nvSpPr>
        <p:spPr>
          <a:xfrm>
            <a:off x="6172200" y="2331720"/>
            <a:ext cx="2971800" cy="384048"/>
          </a:xfrm>
          <a:prstGeom prst="rect">
            <a:avLst/>
          </a:prstGeom>
          <a:noFill/>
          <a:ln/>
        </p:spPr>
        <p:txBody>
          <a:bodyPr wrap="square" lIns="0" tIns="0" rIns="0" bIns="0" rtlCol="0" anchor="ctr"/>
          <a:lstStyle/>
          <a:p>
            <a:pPr algn="ctr" indent="0" marL="0">
              <a:buNone/>
            </a:pPr>
            <a:r>
              <a:rPr lang="en-US" sz="1250" b="1" dirty="0">
                <a:solidFill>
                  <a:schemeClr val="bg1"/>
                </a:solidFill>
              </a:rPr>
              <a:t>AUC 0,745 en clientes nunca vistos</a:t>
            </a:r>
            <a:endParaRPr lang="en-US" sz="1250" dirty="0"/>
          </a:p>
        </p:txBody>
      </p:sp>
      <p:pic>
        <p:nvPicPr>
          <p:cNvPr id="9" name="carnet-1" descr="/home/claude/deck/img/badge-1.png">    </p:cNvPr>
          <p:cNvPicPr>
            <a:picLocks noChangeAspect="1"/>
          </p:cNvPicPr>
          <p:nvPr/>
        </p:nvPicPr>
        <p:blipFill>
          <a:blip r:embed="rId2"/>
          <a:stretch>
            <a:fillRect/>
          </a:stretch>
        </p:blipFill>
        <p:spPr>
          <a:xfrm>
            <a:off x="1624432" y="3017520"/>
            <a:ext cx="1481328" cy="2083443"/>
          </a:xfrm>
          <a:prstGeom prst="rect">
            <a:avLst/>
          </a:prstGeom>
        </p:spPr>
      </p:pic>
      <p:sp>
        <p:nvSpPr>
          <p:cNvPr id="10" name="Text 6"/>
          <p:cNvSpPr txBox="1"/>
          <p:nvPr/>
        </p:nvSpPr>
        <p:spPr>
          <a:xfrm>
            <a:off x="1441552"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Leidy Vanessa</a:t>
            </a:r>
            <a:endParaRPr lang="en-US" sz="1250" dirty="0"/>
          </a:p>
        </p:txBody>
      </p:sp>
      <p:sp>
        <p:nvSpPr>
          <p:cNvPr id="11" name="Text 7"/>
          <p:cNvSpPr txBox="1"/>
          <p:nvPr/>
        </p:nvSpPr>
        <p:spPr>
          <a:xfrm>
            <a:off x="1441552"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Guecha Alape</a:t>
            </a:r>
            <a:endParaRPr lang="en-US" sz="1100" dirty="0"/>
          </a:p>
        </p:txBody>
      </p:sp>
      <p:pic>
        <p:nvPicPr>
          <p:cNvPr id="12" name="carnet-2" descr="/home/claude/deck/img/badge-2.png">    </p:cNvPr>
          <p:cNvPicPr>
            <a:picLocks noChangeAspect="1"/>
          </p:cNvPicPr>
          <p:nvPr/>
        </p:nvPicPr>
        <p:blipFill>
          <a:blip r:embed="rId3"/>
          <a:stretch>
            <a:fillRect/>
          </a:stretch>
        </p:blipFill>
        <p:spPr>
          <a:xfrm>
            <a:off x="3489808" y="3017520"/>
            <a:ext cx="1481328" cy="2083443"/>
          </a:xfrm>
          <a:prstGeom prst="rect">
            <a:avLst/>
          </a:prstGeom>
        </p:spPr>
      </p:pic>
      <p:sp>
        <p:nvSpPr>
          <p:cNvPr id="13" name="Text 8"/>
          <p:cNvSpPr txBox="1"/>
          <p:nvPr/>
        </p:nvSpPr>
        <p:spPr>
          <a:xfrm>
            <a:off x="3306928"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Sharick Natalia</a:t>
            </a:r>
            <a:endParaRPr lang="en-US" sz="1250" dirty="0"/>
          </a:p>
        </p:txBody>
      </p:sp>
      <p:sp>
        <p:nvSpPr>
          <p:cNvPr id="14" name="Text 9"/>
          <p:cNvSpPr txBox="1"/>
          <p:nvPr/>
        </p:nvSpPr>
        <p:spPr>
          <a:xfrm>
            <a:off x="3306928"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Hernández Gómez</a:t>
            </a:r>
            <a:endParaRPr lang="en-US" sz="1100" dirty="0"/>
          </a:p>
        </p:txBody>
      </p:sp>
      <p:pic>
        <p:nvPicPr>
          <p:cNvPr id="15" name="carnet-3" descr="/home/claude/deck/img/badge-3.png">    </p:cNvPr>
          <p:cNvPicPr>
            <a:picLocks noChangeAspect="1"/>
          </p:cNvPicPr>
          <p:nvPr/>
        </p:nvPicPr>
        <p:blipFill>
          <a:blip r:embed="rId4"/>
          <a:stretch>
            <a:fillRect/>
          </a:stretch>
        </p:blipFill>
        <p:spPr>
          <a:xfrm>
            <a:off x="5355184" y="3017520"/>
            <a:ext cx="1481328" cy="2083443"/>
          </a:xfrm>
          <a:prstGeom prst="rect">
            <a:avLst/>
          </a:prstGeom>
        </p:spPr>
      </p:pic>
      <p:sp>
        <p:nvSpPr>
          <p:cNvPr id="16" name="Text 10"/>
          <p:cNvSpPr txBox="1"/>
          <p:nvPr/>
        </p:nvSpPr>
        <p:spPr>
          <a:xfrm>
            <a:off x="5172304"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Laura Sofía</a:t>
            </a:r>
            <a:endParaRPr lang="en-US" sz="1250" dirty="0"/>
          </a:p>
        </p:txBody>
      </p:sp>
      <p:sp>
        <p:nvSpPr>
          <p:cNvPr id="17" name="Text 11"/>
          <p:cNvSpPr txBox="1"/>
          <p:nvPr/>
        </p:nvSpPr>
        <p:spPr>
          <a:xfrm>
            <a:off x="5172304"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Díaz Suárez</a:t>
            </a:r>
            <a:endParaRPr lang="en-US" sz="1100" dirty="0"/>
          </a:p>
        </p:txBody>
      </p:sp>
      <p:pic>
        <p:nvPicPr>
          <p:cNvPr id="18" name="carnet-4" descr="/home/claude/deck/img/badge-4.png">    </p:cNvPr>
          <p:cNvPicPr>
            <a:picLocks noChangeAspect="1"/>
          </p:cNvPicPr>
          <p:nvPr/>
        </p:nvPicPr>
        <p:blipFill>
          <a:blip r:embed="rId5"/>
          <a:stretch>
            <a:fillRect/>
          </a:stretch>
        </p:blipFill>
        <p:spPr>
          <a:xfrm>
            <a:off x="7220560" y="3017520"/>
            <a:ext cx="1481328" cy="2083443"/>
          </a:xfrm>
          <a:prstGeom prst="rect">
            <a:avLst/>
          </a:prstGeom>
        </p:spPr>
      </p:pic>
      <p:sp>
        <p:nvSpPr>
          <p:cNvPr id="19" name="Text 12"/>
          <p:cNvSpPr txBox="1"/>
          <p:nvPr/>
        </p:nvSpPr>
        <p:spPr>
          <a:xfrm>
            <a:off x="7037680"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Iván Camilo</a:t>
            </a:r>
            <a:endParaRPr lang="en-US" sz="1250" dirty="0"/>
          </a:p>
        </p:txBody>
      </p:sp>
      <p:sp>
        <p:nvSpPr>
          <p:cNvPr id="20" name="Text 13"/>
          <p:cNvSpPr txBox="1"/>
          <p:nvPr/>
        </p:nvSpPr>
        <p:spPr>
          <a:xfrm>
            <a:off x="7037680"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Solano Sánchez</a:t>
            </a:r>
            <a:endParaRPr lang="en-US" sz="1100" dirty="0"/>
          </a:p>
        </p:txBody>
      </p:sp>
      <p:pic>
        <p:nvPicPr>
          <p:cNvPr id="21" name="carnet-5" descr="/home/claude/deck/img/badge-5.png">    </p:cNvPr>
          <p:cNvPicPr>
            <a:picLocks noChangeAspect="1"/>
          </p:cNvPicPr>
          <p:nvPr/>
        </p:nvPicPr>
        <p:blipFill>
          <a:blip r:embed="rId6"/>
          <a:stretch>
            <a:fillRect/>
          </a:stretch>
        </p:blipFill>
        <p:spPr>
          <a:xfrm>
            <a:off x="9085936" y="3017520"/>
            <a:ext cx="1481328" cy="2083443"/>
          </a:xfrm>
          <a:prstGeom prst="rect">
            <a:avLst/>
          </a:prstGeom>
        </p:spPr>
      </p:pic>
      <p:sp>
        <p:nvSpPr>
          <p:cNvPr id="22" name="Text 14"/>
          <p:cNvSpPr txBox="1"/>
          <p:nvPr/>
        </p:nvSpPr>
        <p:spPr>
          <a:xfrm>
            <a:off x="8903056"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Cristian Camilo</a:t>
            </a:r>
            <a:endParaRPr lang="en-US" sz="1250" dirty="0"/>
          </a:p>
        </p:txBody>
      </p:sp>
      <p:sp>
        <p:nvSpPr>
          <p:cNvPr id="23" name="Text 15"/>
          <p:cNvSpPr txBox="1"/>
          <p:nvPr/>
        </p:nvSpPr>
        <p:spPr>
          <a:xfrm>
            <a:off x="8903056"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Martínez Delgado</a:t>
            </a:r>
            <a:endParaRPr lang="en-US" sz="1100" dirty="0"/>
          </a:p>
        </p:txBody>
      </p:sp>
      <p:sp>
        <p:nvSpPr>
          <p:cNvPr id="24" name="Text 16"/>
          <p:cNvSpPr txBox="1"/>
          <p:nvPr/>
        </p:nvSpPr>
        <p:spPr>
          <a:xfrm>
            <a:off x="2011680" y="6355080"/>
            <a:ext cx="8165592" cy="32004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rgbClr val="94A3B8"/>
                </a:solidFill>
                <a:latin typeface="Consolas" pitchFamily="34" charset="0"/>
                <a:ea typeface="Consolas" pitchFamily="34" charset="-122"/>
                <a:cs typeface="Consolas" pitchFamily="34" charset="-120"/>
              </a:rPr>
              <a:t>Redes Neuronales Profundas · Universidad Católica de Colombia ·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Contenido de la presentación</a:t>
            </a:r>
            <a:endParaRPr lang="en-US" sz="2200" dirty="0"/>
          </a:p>
        </p:txBody>
      </p:sp>
      <p:sp>
        <p:nvSpPr>
          <p:cNvPr id="4" name="Shape 1"/>
          <p:cNvSpPr/>
          <p:nvPr/>
        </p:nvSpPr>
        <p:spPr>
          <a:xfrm>
            <a:off x="548640" y="1325880"/>
            <a:ext cx="3520440" cy="2240280"/>
          </a:xfrm>
          <a:prstGeom prst="roundRect">
            <a:avLst>
              <a:gd name="adj" fmla="val 5714"/>
            </a:avLst>
          </a:prstGeom>
          <a:solidFill>
            <a:schemeClr val="tx2">
              <a:alpha val="92000"/>
            </a:schemeClr>
          </a:solidFill>
          <a:ln w="12700">
            <a:solidFill>
              <a:srgbClr val="1E293B"/>
            </a:solidFill>
            <a:prstDash val="solid"/>
          </a:ln>
        </p:spPr>
      </p:sp>
      <p:sp>
        <p:nvSpPr>
          <p:cNvPr id="5" name="Text 2"/>
          <p:cNvSpPr txBox="1"/>
          <p:nvPr/>
        </p:nvSpPr>
        <p:spPr>
          <a:xfrm>
            <a:off x="822960" y="1600200"/>
            <a:ext cx="914400" cy="457200"/>
          </a:xfrm>
          <a:prstGeom prst="rect">
            <a:avLst/>
          </a:prstGeom>
          <a:noFill/>
          <a:ln/>
        </p:spPr>
        <p:txBody>
          <a:bodyPr wrap="square" lIns="0" tIns="0" rIns="0" bIns="0" rtlCol="0" anchor="t"/>
          <a:lstStyle/>
          <a:p>
            <a:pPr algn="l" indent="0" marL="0">
              <a:lnSpc>
                <a:spcPct val="110000"/>
              </a:lnSpc>
              <a:spcAft>
                <a:spcPts val="400"/>
              </a:spcAft>
              <a:buNone/>
            </a:pPr>
            <a:r>
              <a:rPr lang="en-US" sz="2800" b="1" dirty="0">
                <a:solidFill>
                  <a:schemeClr val="accent1"/>
                </a:solidFill>
                <a:latin typeface="Consolas" pitchFamily="34" charset="0"/>
                <a:ea typeface="Consolas" pitchFamily="34" charset="-122"/>
                <a:cs typeface="Consolas" pitchFamily="34" charset="-120"/>
              </a:rPr>
              <a:t>01</a:t>
            </a:r>
            <a:endParaRPr lang="en-US" sz="2800" dirty="0"/>
          </a:p>
        </p:txBody>
      </p:sp>
      <p:sp>
        <p:nvSpPr>
          <p:cNvPr id="6" name="Text 3"/>
          <p:cNvSpPr txBox="1"/>
          <p:nvPr/>
        </p:nvSpPr>
        <p:spPr>
          <a:xfrm>
            <a:off x="822960" y="214884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900" b="1" dirty="0">
                <a:solidFill>
                  <a:schemeClr val="bg1"/>
                </a:solidFill>
              </a:rPr>
              <a:t>Datos</a:t>
            </a:r>
            <a:endParaRPr lang="en-US" sz="1900" dirty="0"/>
          </a:p>
        </p:txBody>
      </p:sp>
      <p:sp>
        <p:nvSpPr>
          <p:cNvPr id="7" name="Text 4"/>
          <p:cNvSpPr txBox="1"/>
          <p:nvPr/>
        </p:nvSpPr>
        <p:spPr>
          <a:xfrm>
            <a:off x="822960" y="2587752"/>
            <a:ext cx="3017520" cy="86868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Qué queremos predecir, cómo dividimos los datos y por qué pasamos de 23 a 44 variables.</a:t>
            </a:r>
            <a:endParaRPr lang="en-US" sz="1350" dirty="0"/>
          </a:p>
        </p:txBody>
      </p:sp>
      <p:sp>
        <p:nvSpPr>
          <p:cNvPr id="8" name="Shape 5"/>
          <p:cNvSpPr/>
          <p:nvPr/>
        </p:nvSpPr>
        <p:spPr>
          <a:xfrm>
            <a:off x="4297680" y="1325880"/>
            <a:ext cx="3520440" cy="2240280"/>
          </a:xfrm>
          <a:prstGeom prst="roundRect">
            <a:avLst>
              <a:gd name="adj" fmla="val 5714"/>
            </a:avLst>
          </a:prstGeom>
          <a:solidFill>
            <a:schemeClr val="tx2">
              <a:alpha val="92000"/>
            </a:schemeClr>
          </a:solidFill>
          <a:ln w="12700">
            <a:solidFill>
              <a:srgbClr val="1E293B"/>
            </a:solidFill>
            <a:prstDash val="solid"/>
          </a:ln>
        </p:spPr>
      </p:sp>
      <p:sp>
        <p:nvSpPr>
          <p:cNvPr id="9" name="Text 6"/>
          <p:cNvSpPr txBox="1"/>
          <p:nvPr/>
        </p:nvSpPr>
        <p:spPr>
          <a:xfrm>
            <a:off x="4572000" y="1600200"/>
            <a:ext cx="914400" cy="457200"/>
          </a:xfrm>
          <a:prstGeom prst="rect">
            <a:avLst/>
          </a:prstGeom>
          <a:noFill/>
          <a:ln/>
        </p:spPr>
        <p:txBody>
          <a:bodyPr wrap="square" lIns="0" tIns="0" rIns="0" bIns="0" rtlCol="0" anchor="t"/>
          <a:lstStyle/>
          <a:p>
            <a:pPr algn="l" indent="0" marL="0">
              <a:lnSpc>
                <a:spcPct val="110000"/>
              </a:lnSpc>
              <a:spcAft>
                <a:spcPts val="400"/>
              </a:spcAft>
              <a:buNone/>
            </a:pPr>
            <a:r>
              <a:rPr lang="en-US" sz="2800" b="1" dirty="0">
                <a:solidFill>
                  <a:schemeClr val="accent1"/>
                </a:solidFill>
                <a:latin typeface="Consolas" pitchFamily="34" charset="0"/>
                <a:ea typeface="Consolas" pitchFamily="34" charset="-122"/>
                <a:cs typeface="Consolas" pitchFamily="34" charset="-120"/>
              </a:rPr>
              <a:t>02</a:t>
            </a:r>
            <a:endParaRPr lang="en-US" sz="2800" dirty="0"/>
          </a:p>
        </p:txBody>
      </p:sp>
      <p:sp>
        <p:nvSpPr>
          <p:cNvPr id="10" name="Text 7"/>
          <p:cNvSpPr txBox="1"/>
          <p:nvPr/>
        </p:nvSpPr>
        <p:spPr>
          <a:xfrm>
            <a:off x="4572000" y="214884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900" b="1" dirty="0">
                <a:solidFill>
                  <a:schemeClr val="bg1"/>
                </a:solidFill>
              </a:rPr>
              <a:t>Modelo</a:t>
            </a:r>
            <a:endParaRPr lang="en-US" sz="1900" dirty="0"/>
          </a:p>
        </p:txBody>
      </p:sp>
      <p:sp>
        <p:nvSpPr>
          <p:cNvPr id="11" name="Text 8"/>
          <p:cNvSpPr txBox="1"/>
          <p:nvPr/>
        </p:nvSpPr>
        <p:spPr>
          <a:xfrm>
            <a:off x="4572000" y="2587752"/>
            <a:ext cx="3017520" cy="86868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Cómo aprende una red, qué funciones de activación usamos y cómo funciona el ensamble de tres redes.</a:t>
            </a:r>
            <a:endParaRPr lang="en-US" sz="1350" dirty="0"/>
          </a:p>
        </p:txBody>
      </p:sp>
      <p:sp>
        <p:nvSpPr>
          <p:cNvPr id="12" name="Shape 9"/>
          <p:cNvSpPr/>
          <p:nvPr/>
        </p:nvSpPr>
        <p:spPr>
          <a:xfrm>
            <a:off x="8046720" y="1325880"/>
            <a:ext cx="3520440" cy="2240280"/>
          </a:xfrm>
          <a:prstGeom prst="roundRect">
            <a:avLst>
              <a:gd name="adj" fmla="val 5714"/>
            </a:avLst>
          </a:prstGeom>
          <a:solidFill>
            <a:schemeClr val="tx2">
              <a:alpha val="92000"/>
            </a:schemeClr>
          </a:solidFill>
          <a:ln w="12700">
            <a:solidFill>
              <a:srgbClr val="1E293B"/>
            </a:solidFill>
            <a:prstDash val="solid"/>
          </a:ln>
        </p:spPr>
      </p:sp>
      <p:sp>
        <p:nvSpPr>
          <p:cNvPr id="13" name="Text 10"/>
          <p:cNvSpPr txBox="1"/>
          <p:nvPr/>
        </p:nvSpPr>
        <p:spPr>
          <a:xfrm>
            <a:off x="8321040" y="1600200"/>
            <a:ext cx="914400" cy="457200"/>
          </a:xfrm>
          <a:prstGeom prst="rect">
            <a:avLst/>
          </a:prstGeom>
          <a:noFill/>
          <a:ln/>
        </p:spPr>
        <p:txBody>
          <a:bodyPr wrap="square" lIns="0" tIns="0" rIns="0" bIns="0" rtlCol="0" anchor="t"/>
          <a:lstStyle/>
          <a:p>
            <a:pPr algn="l" indent="0" marL="0">
              <a:lnSpc>
                <a:spcPct val="110000"/>
              </a:lnSpc>
              <a:spcAft>
                <a:spcPts val="400"/>
              </a:spcAft>
              <a:buNone/>
            </a:pPr>
            <a:r>
              <a:rPr lang="en-US" sz="2800" b="1" dirty="0">
                <a:solidFill>
                  <a:schemeClr val="accent1"/>
                </a:solidFill>
                <a:latin typeface="Consolas" pitchFamily="34" charset="0"/>
                <a:ea typeface="Consolas" pitchFamily="34" charset="-122"/>
                <a:cs typeface="Consolas" pitchFamily="34" charset="-120"/>
              </a:rPr>
              <a:t>03</a:t>
            </a:r>
            <a:endParaRPr lang="en-US" sz="2800" dirty="0"/>
          </a:p>
        </p:txBody>
      </p:sp>
      <p:sp>
        <p:nvSpPr>
          <p:cNvPr id="14" name="Text 11"/>
          <p:cNvSpPr txBox="1"/>
          <p:nvPr/>
        </p:nvSpPr>
        <p:spPr>
          <a:xfrm>
            <a:off x="8321040" y="214884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900" b="1" dirty="0">
                <a:solidFill>
                  <a:schemeClr val="bg1"/>
                </a:solidFill>
              </a:rPr>
              <a:t>Pruebas</a:t>
            </a:r>
            <a:endParaRPr lang="en-US" sz="1900" dirty="0"/>
          </a:p>
        </p:txBody>
      </p:sp>
      <p:sp>
        <p:nvSpPr>
          <p:cNvPr id="15" name="Text 12"/>
          <p:cNvSpPr txBox="1"/>
          <p:nvPr/>
        </p:nvSpPr>
        <p:spPr>
          <a:xfrm>
            <a:off x="8321040" y="2587752"/>
            <a:ext cx="3017520" cy="86868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Las 164 redes entrenadas: qué se probó en cada etapa y qué se decidió.</a:t>
            </a:r>
            <a:endParaRPr lang="en-US" sz="1350" dirty="0"/>
          </a:p>
        </p:txBody>
      </p:sp>
      <p:sp>
        <p:nvSpPr>
          <p:cNvPr id="16" name="Shape 13"/>
          <p:cNvSpPr/>
          <p:nvPr/>
        </p:nvSpPr>
        <p:spPr>
          <a:xfrm>
            <a:off x="548640" y="3794760"/>
            <a:ext cx="3520440" cy="2240280"/>
          </a:xfrm>
          <a:prstGeom prst="roundRect">
            <a:avLst>
              <a:gd name="adj" fmla="val 5714"/>
            </a:avLst>
          </a:prstGeom>
          <a:solidFill>
            <a:schemeClr val="tx2">
              <a:alpha val="92000"/>
            </a:schemeClr>
          </a:solidFill>
          <a:ln w="12700">
            <a:solidFill>
              <a:srgbClr val="1E293B"/>
            </a:solidFill>
            <a:prstDash val="solid"/>
          </a:ln>
        </p:spPr>
      </p:sp>
      <p:sp>
        <p:nvSpPr>
          <p:cNvPr id="17" name="Text 14"/>
          <p:cNvSpPr txBox="1"/>
          <p:nvPr/>
        </p:nvSpPr>
        <p:spPr>
          <a:xfrm>
            <a:off x="822960" y="4069080"/>
            <a:ext cx="914400" cy="457200"/>
          </a:xfrm>
          <a:prstGeom prst="rect">
            <a:avLst/>
          </a:prstGeom>
          <a:noFill/>
          <a:ln/>
        </p:spPr>
        <p:txBody>
          <a:bodyPr wrap="square" lIns="0" tIns="0" rIns="0" bIns="0" rtlCol="0" anchor="t"/>
          <a:lstStyle/>
          <a:p>
            <a:pPr algn="l" indent="0" marL="0">
              <a:lnSpc>
                <a:spcPct val="110000"/>
              </a:lnSpc>
              <a:spcAft>
                <a:spcPts val="400"/>
              </a:spcAft>
              <a:buNone/>
            </a:pPr>
            <a:r>
              <a:rPr lang="en-US" sz="2800" b="1" dirty="0">
                <a:solidFill>
                  <a:schemeClr val="accent1"/>
                </a:solidFill>
                <a:latin typeface="Consolas" pitchFamily="34" charset="0"/>
                <a:ea typeface="Consolas" pitchFamily="34" charset="-122"/>
                <a:cs typeface="Consolas" pitchFamily="34" charset="-120"/>
              </a:rPr>
              <a:t>04</a:t>
            </a:r>
            <a:endParaRPr lang="en-US" sz="2800" dirty="0"/>
          </a:p>
        </p:txBody>
      </p:sp>
      <p:sp>
        <p:nvSpPr>
          <p:cNvPr id="18" name="Text 15"/>
          <p:cNvSpPr txBox="1"/>
          <p:nvPr/>
        </p:nvSpPr>
        <p:spPr>
          <a:xfrm>
            <a:off x="822960" y="461772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900" b="1" dirty="0">
                <a:solidFill>
                  <a:schemeClr val="bg1"/>
                </a:solidFill>
              </a:rPr>
              <a:t>Aprendizaje</a:t>
            </a:r>
            <a:endParaRPr lang="en-US" sz="1900" dirty="0"/>
          </a:p>
        </p:txBody>
      </p:sp>
      <p:sp>
        <p:nvSpPr>
          <p:cNvPr id="19" name="Text 16"/>
          <p:cNvSpPr txBox="1"/>
          <p:nvPr/>
        </p:nvSpPr>
        <p:spPr>
          <a:xfrm>
            <a:off x="822960" y="5056632"/>
            <a:ext cx="3017520" cy="86868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Épocas, curvas de aprendizaje y cinco pruebas para saber si el modelo aprendió o memorizó.</a:t>
            </a:r>
            <a:endParaRPr lang="en-US" sz="1350" dirty="0"/>
          </a:p>
        </p:txBody>
      </p:sp>
      <p:sp>
        <p:nvSpPr>
          <p:cNvPr id="20" name="Shape 17"/>
          <p:cNvSpPr/>
          <p:nvPr/>
        </p:nvSpPr>
        <p:spPr>
          <a:xfrm>
            <a:off x="4297680" y="3794760"/>
            <a:ext cx="3520440" cy="2240280"/>
          </a:xfrm>
          <a:prstGeom prst="roundRect">
            <a:avLst>
              <a:gd name="adj" fmla="val 5714"/>
            </a:avLst>
          </a:prstGeom>
          <a:solidFill>
            <a:schemeClr val="tx2">
              <a:alpha val="92000"/>
            </a:schemeClr>
          </a:solidFill>
          <a:ln w="12700">
            <a:solidFill>
              <a:srgbClr val="1E293B"/>
            </a:solidFill>
            <a:prstDash val="solid"/>
          </a:ln>
        </p:spPr>
      </p:sp>
      <p:sp>
        <p:nvSpPr>
          <p:cNvPr id="21" name="Text 18"/>
          <p:cNvSpPr txBox="1"/>
          <p:nvPr/>
        </p:nvSpPr>
        <p:spPr>
          <a:xfrm>
            <a:off x="4572000" y="4069080"/>
            <a:ext cx="914400" cy="457200"/>
          </a:xfrm>
          <a:prstGeom prst="rect">
            <a:avLst/>
          </a:prstGeom>
          <a:noFill/>
          <a:ln/>
        </p:spPr>
        <p:txBody>
          <a:bodyPr wrap="square" lIns="0" tIns="0" rIns="0" bIns="0" rtlCol="0" anchor="t"/>
          <a:lstStyle/>
          <a:p>
            <a:pPr algn="l" indent="0" marL="0">
              <a:lnSpc>
                <a:spcPct val="110000"/>
              </a:lnSpc>
              <a:spcAft>
                <a:spcPts val="400"/>
              </a:spcAft>
              <a:buNone/>
            </a:pPr>
            <a:r>
              <a:rPr lang="en-US" sz="2800" b="1" dirty="0">
                <a:solidFill>
                  <a:schemeClr val="accent1"/>
                </a:solidFill>
                <a:latin typeface="Consolas" pitchFamily="34" charset="0"/>
                <a:ea typeface="Consolas" pitchFamily="34" charset="-122"/>
                <a:cs typeface="Consolas" pitchFamily="34" charset="-120"/>
              </a:rPr>
              <a:t>05</a:t>
            </a:r>
            <a:endParaRPr lang="en-US" sz="2800" dirty="0"/>
          </a:p>
        </p:txBody>
      </p:sp>
      <p:sp>
        <p:nvSpPr>
          <p:cNvPr id="22" name="Text 19"/>
          <p:cNvSpPr txBox="1"/>
          <p:nvPr/>
        </p:nvSpPr>
        <p:spPr>
          <a:xfrm>
            <a:off x="4572000" y="461772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900" b="1" dirty="0">
                <a:solidFill>
                  <a:schemeClr val="bg1"/>
                </a:solidFill>
              </a:rPr>
              <a:t>Resultados</a:t>
            </a:r>
            <a:endParaRPr lang="en-US" sz="1900" dirty="0"/>
          </a:p>
        </p:txBody>
      </p:sp>
      <p:sp>
        <p:nvSpPr>
          <p:cNvPr id="23" name="Text 20"/>
          <p:cNvSpPr txBox="1"/>
          <p:nvPr/>
        </p:nvSpPr>
        <p:spPr>
          <a:xfrm>
            <a:off x="4572000" y="5056632"/>
            <a:ext cx="3017520" cy="86868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Cómo se mide el error, resultados en prueba, matriz de confusión y variables importantes.</a:t>
            </a:r>
            <a:endParaRPr lang="en-US" sz="1350" dirty="0"/>
          </a:p>
        </p:txBody>
      </p:sp>
      <p:sp>
        <p:nvSpPr>
          <p:cNvPr id="24" name="Shape 21"/>
          <p:cNvSpPr/>
          <p:nvPr/>
        </p:nvSpPr>
        <p:spPr>
          <a:xfrm>
            <a:off x="8046720" y="3794760"/>
            <a:ext cx="3520440" cy="2240280"/>
          </a:xfrm>
          <a:prstGeom prst="roundRect">
            <a:avLst>
              <a:gd name="adj" fmla="val 5714"/>
            </a:avLst>
          </a:prstGeom>
          <a:solidFill>
            <a:schemeClr val="tx2">
              <a:alpha val="92000"/>
            </a:schemeClr>
          </a:solidFill>
          <a:ln w="12700">
            <a:solidFill>
              <a:srgbClr val="1E293B"/>
            </a:solidFill>
            <a:prstDash val="solid"/>
          </a:ln>
        </p:spPr>
      </p:sp>
      <p:sp>
        <p:nvSpPr>
          <p:cNvPr id="25" name="Text 22"/>
          <p:cNvSpPr txBox="1"/>
          <p:nvPr/>
        </p:nvSpPr>
        <p:spPr>
          <a:xfrm>
            <a:off x="8321040" y="4069080"/>
            <a:ext cx="914400" cy="457200"/>
          </a:xfrm>
          <a:prstGeom prst="rect">
            <a:avLst/>
          </a:prstGeom>
          <a:noFill/>
          <a:ln/>
        </p:spPr>
        <p:txBody>
          <a:bodyPr wrap="square" lIns="0" tIns="0" rIns="0" bIns="0" rtlCol="0" anchor="t"/>
          <a:lstStyle/>
          <a:p>
            <a:pPr algn="l" indent="0" marL="0">
              <a:lnSpc>
                <a:spcPct val="110000"/>
              </a:lnSpc>
              <a:spcAft>
                <a:spcPts val="400"/>
              </a:spcAft>
              <a:buNone/>
            </a:pPr>
            <a:r>
              <a:rPr lang="en-US" sz="2800" b="1" dirty="0">
                <a:solidFill>
                  <a:schemeClr val="accent1"/>
                </a:solidFill>
                <a:latin typeface="Consolas" pitchFamily="34" charset="0"/>
                <a:ea typeface="Consolas" pitchFamily="34" charset="-122"/>
                <a:cs typeface="Consolas" pitchFamily="34" charset="-120"/>
              </a:rPr>
              <a:t>06</a:t>
            </a:r>
            <a:endParaRPr lang="en-US" sz="2800" dirty="0"/>
          </a:p>
        </p:txBody>
      </p:sp>
      <p:sp>
        <p:nvSpPr>
          <p:cNvPr id="26" name="Text 23"/>
          <p:cNvSpPr txBox="1"/>
          <p:nvPr/>
        </p:nvSpPr>
        <p:spPr>
          <a:xfrm>
            <a:off x="8321040" y="461772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900" b="1" dirty="0">
                <a:solidFill>
                  <a:schemeClr val="bg1"/>
                </a:solidFill>
              </a:rPr>
              <a:t>Cierre</a:t>
            </a:r>
            <a:endParaRPr lang="en-US" sz="1900" dirty="0"/>
          </a:p>
        </p:txBody>
      </p:sp>
      <p:sp>
        <p:nvSpPr>
          <p:cNvPr id="27" name="Text 24"/>
          <p:cNvSpPr txBox="1"/>
          <p:nvPr/>
        </p:nvSpPr>
        <p:spPr>
          <a:xfrm>
            <a:off x="8321040" y="5056632"/>
            <a:ext cx="3017520" cy="86868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Limitaciones del estudio, conclusiones y página web.</a:t>
            </a:r>
            <a:endParaRPr lang="en-US" sz="13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El problema que resuelve el modelo</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Un banco recibe miles de solicitudes de crédito de consumo y debe decidir a quién prestarle. El modelo estudia los datos de cada solicitante y estima qué tan probable es que pague.</a:t>
            </a:r>
            <a:endParaRPr lang="en-US" sz="1500" dirty="0"/>
          </a:p>
        </p:txBody>
      </p:sp>
      <p:sp>
        <p:nvSpPr>
          <p:cNvPr id="5" name="Shape 2"/>
          <p:cNvSpPr/>
          <p:nvPr/>
        </p:nvSpPr>
        <p:spPr>
          <a:xfrm>
            <a:off x="548640" y="1965960"/>
            <a:ext cx="5486400" cy="4206240"/>
          </a:xfrm>
          <a:prstGeom prst="roundRect">
            <a:avLst>
              <a:gd name="adj" fmla="val 3043"/>
            </a:avLst>
          </a:prstGeom>
          <a:solidFill>
            <a:schemeClr val="tx2">
              <a:alpha val="92000"/>
            </a:schemeClr>
          </a:solidFill>
          <a:ln w="12700">
            <a:solidFill>
              <a:srgbClr val="1E293B"/>
            </a:solidFill>
            <a:prstDash val="solid"/>
          </a:ln>
        </p:spPr>
      </p:sp>
      <p:sp>
        <p:nvSpPr>
          <p:cNvPr id="6" name="Text 3"/>
          <p:cNvSpPr txBox="1"/>
          <p:nvPr/>
        </p:nvSpPr>
        <p:spPr>
          <a:xfrm>
            <a:off x="822960" y="2194560"/>
            <a:ext cx="45720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QUÉ HACE EL MODELO</a:t>
            </a:r>
            <a:endParaRPr lang="en-US" sz="1050" dirty="0"/>
          </a:p>
        </p:txBody>
      </p:sp>
      <p:sp>
        <p:nvSpPr>
          <p:cNvPr id="7" name="Text 4"/>
          <p:cNvSpPr txBox="1"/>
          <p:nvPr/>
        </p:nvSpPr>
        <p:spPr>
          <a:xfrm>
            <a:off x="822960" y="2560320"/>
            <a:ext cx="4937760" cy="731520"/>
          </a:xfrm>
          <a:prstGeom prst="rect">
            <a:avLst/>
          </a:prstGeom>
          <a:noFill/>
          <a:ln/>
        </p:spPr>
        <p:txBody>
          <a:bodyPr wrap="square" lIns="0" tIns="0" rIns="0" bIns="0" rtlCol="0" anchor="t"/>
          <a:lstStyle/>
          <a:p>
            <a:pPr algn="l" indent="0" marL="0">
              <a:lnSpc>
                <a:spcPct val="110000"/>
              </a:lnSpc>
              <a:spcAft>
                <a:spcPts val="400"/>
              </a:spcAft>
              <a:buNone/>
            </a:pPr>
            <a:r>
              <a:rPr lang="en-US" sz="1450" dirty="0">
                <a:solidFill>
                  <a:schemeClr val="bg2"/>
                </a:solidFill>
              </a:rPr>
              <a:t>Recibe los datos de una solicitud y responde con una probabilidad entre 0 % y 100 % de que la persona sea apta:</a:t>
            </a:r>
            <a:endParaRPr lang="en-US" sz="1450" dirty="0"/>
          </a:p>
        </p:txBody>
      </p:sp>
      <p:sp>
        <p:nvSpPr>
          <p:cNvPr id="8" name="Shape 5"/>
          <p:cNvSpPr/>
          <p:nvPr/>
        </p:nvSpPr>
        <p:spPr>
          <a:xfrm>
            <a:off x="822960" y="3429000"/>
            <a:ext cx="2331720" cy="1234440"/>
          </a:xfrm>
          <a:prstGeom prst="roundRect">
            <a:avLst>
              <a:gd name="adj" fmla="val 10370"/>
            </a:avLst>
          </a:prstGeom>
          <a:solidFill>
            <a:srgbClr val="064E3B">
              <a:alpha val="60000"/>
            </a:srgbClr>
          </a:solidFill>
          <a:ln w="12700">
            <a:solidFill>
              <a:srgbClr val="34D399"/>
            </a:solidFill>
            <a:prstDash val="solid"/>
          </a:ln>
        </p:spPr>
      </p:sp>
      <p:sp>
        <p:nvSpPr>
          <p:cNvPr id="9" name="Text 6"/>
          <p:cNvSpPr txBox="1"/>
          <p:nvPr/>
        </p:nvSpPr>
        <p:spPr>
          <a:xfrm>
            <a:off x="822960" y="3538728"/>
            <a:ext cx="2331720" cy="502920"/>
          </a:xfrm>
          <a:prstGeom prst="rect">
            <a:avLst/>
          </a:prstGeom>
          <a:noFill/>
          <a:ln/>
        </p:spPr>
        <p:txBody>
          <a:bodyPr wrap="square" lIns="0" tIns="0" rIns="0" bIns="0" rtlCol="0" anchor="t"/>
          <a:lstStyle/>
          <a:p>
            <a:pPr algn="ctr" indent="0" marL="0">
              <a:lnSpc>
                <a:spcPct val="110000"/>
              </a:lnSpc>
              <a:spcAft>
                <a:spcPts val="400"/>
              </a:spcAft>
              <a:buNone/>
            </a:pPr>
            <a:r>
              <a:rPr lang="en-US" sz="2400" b="1" dirty="0">
                <a:solidFill>
                  <a:schemeClr val="accent4"/>
                </a:solidFill>
              </a:rPr>
              <a:t>APTO (1)</a:t>
            </a:r>
            <a:endParaRPr lang="en-US" sz="2400" dirty="0"/>
          </a:p>
        </p:txBody>
      </p:sp>
      <p:sp>
        <p:nvSpPr>
          <p:cNvPr id="10" name="Text 7"/>
          <p:cNvSpPr txBox="1"/>
          <p:nvPr/>
        </p:nvSpPr>
        <p:spPr>
          <a:xfrm>
            <a:off x="822960" y="4069080"/>
            <a:ext cx="2331720" cy="365760"/>
          </a:xfrm>
          <a:prstGeom prst="rect">
            <a:avLst/>
          </a:prstGeom>
          <a:noFill/>
          <a:ln/>
        </p:spPr>
        <p:txBody>
          <a:bodyPr wrap="square" lIns="0" tIns="0" rIns="0" bIns="0" rtlCol="0" anchor="t"/>
          <a:lstStyle/>
          <a:p>
            <a:pPr algn="ctr" indent="0" marL="0">
              <a:lnSpc>
                <a:spcPct val="110000"/>
              </a:lnSpc>
              <a:spcAft>
                <a:spcPts val="400"/>
              </a:spcAft>
              <a:buNone/>
            </a:pPr>
            <a:r>
              <a:rPr lang="en-US" sz="1250" dirty="0">
                <a:solidFill>
                  <a:schemeClr val="bg2"/>
                </a:solidFill>
              </a:rPr>
              <a:t>probablemente pagará</a:t>
            </a:r>
            <a:endParaRPr lang="en-US" sz="1250" dirty="0"/>
          </a:p>
        </p:txBody>
      </p:sp>
      <p:sp>
        <p:nvSpPr>
          <p:cNvPr id="11" name="Shape 8"/>
          <p:cNvSpPr/>
          <p:nvPr/>
        </p:nvSpPr>
        <p:spPr>
          <a:xfrm>
            <a:off x="3429000" y="3429000"/>
            <a:ext cx="2331720" cy="1234440"/>
          </a:xfrm>
          <a:prstGeom prst="roundRect">
            <a:avLst>
              <a:gd name="adj" fmla="val 10370"/>
            </a:avLst>
          </a:prstGeom>
          <a:solidFill>
            <a:srgbClr val="7F1D1D">
              <a:alpha val="60000"/>
            </a:srgbClr>
          </a:solidFill>
          <a:ln w="12700">
            <a:solidFill>
              <a:srgbClr val="F87171"/>
            </a:solidFill>
            <a:prstDash val="solid"/>
          </a:ln>
        </p:spPr>
      </p:sp>
      <p:sp>
        <p:nvSpPr>
          <p:cNvPr id="12" name="Text 9"/>
          <p:cNvSpPr txBox="1"/>
          <p:nvPr/>
        </p:nvSpPr>
        <p:spPr>
          <a:xfrm>
            <a:off x="3429000" y="3538728"/>
            <a:ext cx="2331720" cy="502920"/>
          </a:xfrm>
          <a:prstGeom prst="rect">
            <a:avLst/>
          </a:prstGeom>
          <a:noFill/>
          <a:ln/>
        </p:spPr>
        <p:txBody>
          <a:bodyPr wrap="square" lIns="0" tIns="0" rIns="0" bIns="0" rtlCol="0" anchor="t"/>
          <a:lstStyle/>
          <a:p>
            <a:pPr algn="ctr" indent="0" marL="0">
              <a:lnSpc>
                <a:spcPct val="110000"/>
              </a:lnSpc>
              <a:spcAft>
                <a:spcPts val="400"/>
              </a:spcAft>
              <a:buNone/>
            </a:pPr>
            <a:r>
              <a:rPr lang="en-US" sz="2400" b="1" dirty="0">
                <a:solidFill>
                  <a:schemeClr val="accent5"/>
                </a:solidFill>
              </a:rPr>
              <a:t>NO APTO (0)</a:t>
            </a:r>
            <a:endParaRPr lang="en-US" sz="2400" dirty="0"/>
          </a:p>
        </p:txBody>
      </p:sp>
      <p:sp>
        <p:nvSpPr>
          <p:cNvPr id="13" name="Text 10"/>
          <p:cNvSpPr txBox="1"/>
          <p:nvPr/>
        </p:nvSpPr>
        <p:spPr>
          <a:xfrm>
            <a:off x="3429000" y="4069080"/>
            <a:ext cx="2331720" cy="365760"/>
          </a:xfrm>
          <a:prstGeom prst="rect">
            <a:avLst/>
          </a:prstGeom>
          <a:noFill/>
          <a:ln/>
        </p:spPr>
        <p:txBody>
          <a:bodyPr wrap="square" lIns="0" tIns="0" rIns="0" bIns="0" rtlCol="0" anchor="t"/>
          <a:lstStyle/>
          <a:p>
            <a:pPr algn="ctr" indent="0" marL="0">
              <a:lnSpc>
                <a:spcPct val="110000"/>
              </a:lnSpc>
              <a:spcAft>
                <a:spcPts val="400"/>
              </a:spcAft>
              <a:buNone/>
            </a:pPr>
            <a:r>
              <a:rPr lang="en-US" sz="1250" dirty="0">
                <a:solidFill>
                  <a:schemeClr val="bg2"/>
                </a:solidFill>
              </a:rPr>
              <a:t>riesgo de no pagar</a:t>
            </a:r>
            <a:endParaRPr lang="en-US" sz="1250" dirty="0"/>
          </a:p>
        </p:txBody>
      </p:sp>
      <p:sp>
        <p:nvSpPr>
          <p:cNvPr id="14" name="Text 11"/>
          <p:cNvSpPr txBox="1"/>
          <p:nvPr/>
        </p:nvSpPr>
        <p:spPr>
          <a:xfrm>
            <a:off x="822960" y="4892040"/>
            <a:ext cx="4937760" cy="109728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Regla de decisión: si la probabilidad es 50 % o más, el cliente se clasifica como APTO; si es menor, como NO APTO. A esto se le llama clasificación binaria.</a:t>
            </a:r>
            <a:endParaRPr lang="en-US" sz="1350" dirty="0"/>
          </a:p>
        </p:txBody>
      </p:sp>
      <p:sp>
        <p:nvSpPr>
          <p:cNvPr id="15" name="Shape 12"/>
          <p:cNvSpPr/>
          <p:nvPr/>
        </p:nvSpPr>
        <p:spPr>
          <a:xfrm>
            <a:off x="6355080" y="1965960"/>
            <a:ext cx="5285232" cy="1280160"/>
          </a:xfrm>
          <a:prstGeom prst="roundRect">
            <a:avLst>
              <a:gd name="adj" fmla="val 10000"/>
            </a:avLst>
          </a:prstGeom>
          <a:solidFill>
            <a:schemeClr val="tx2">
              <a:alpha val="92000"/>
            </a:schemeClr>
          </a:solidFill>
          <a:ln w="12700">
            <a:solidFill>
              <a:srgbClr val="1E293B"/>
            </a:solidFill>
            <a:prstDash val="solid"/>
          </a:ln>
        </p:spPr>
      </p:sp>
      <p:sp>
        <p:nvSpPr>
          <p:cNvPr id="16" name="Text 13"/>
          <p:cNvSpPr txBox="1"/>
          <p:nvPr/>
        </p:nvSpPr>
        <p:spPr>
          <a:xfrm>
            <a:off x="6629400" y="1965960"/>
            <a:ext cx="2103120" cy="1280160"/>
          </a:xfrm>
          <a:prstGeom prst="rect">
            <a:avLst/>
          </a:prstGeom>
          <a:noFill/>
          <a:ln/>
        </p:spPr>
        <p:txBody>
          <a:bodyPr wrap="square" lIns="0" tIns="0" rIns="0" bIns="0" rtlCol="0" anchor="ctr"/>
          <a:lstStyle/>
          <a:p>
            <a:pPr algn="l" indent="0" marL="0">
              <a:lnSpc>
                <a:spcPct val="110000"/>
              </a:lnSpc>
              <a:spcAft>
                <a:spcPts val="400"/>
              </a:spcAft>
              <a:buNone/>
            </a:pPr>
            <a:r>
              <a:rPr lang="en-US" sz="3200" b="1" dirty="0">
                <a:solidFill>
                  <a:schemeClr val="accent2"/>
                </a:solidFill>
                <a:latin typeface="Consolas" pitchFamily="34" charset="0"/>
                <a:ea typeface="Consolas" pitchFamily="34" charset="-122"/>
                <a:cs typeface="Consolas" pitchFamily="34" charset="-120"/>
              </a:rPr>
              <a:t>49.650</a:t>
            </a:r>
            <a:endParaRPr lang="en-US" sz="3200" dirty="0"/>
          </a:p>
        </p:txBody>
      </p:sp>
      <p:sp>
        <p:nvSpPr>
          <p:cNvPr id="17" name="Text 14"/>
          <p:cNvSpPr txBox="1"/>
          <p:nvPr/>
        </p:nvSpPr>
        <p:spPr>
          <a:xfrm>
            <a:off x="8641080" y="1965960"/>
            <a:ext cx="2834640" cy="1280160"/>
          </a:xfrm>
          <a:prstGeom prst="rect">
            <a:avLst/>
          </a:prstGeom>
          <a:noFill/>
          <a:ln/>
        </p:spPr>
        <p:txBody>
          <a:bodyPr wrap="square" lIns="0" tIns="0" rIns="0" bIns="0" rtlCol="0" anchor="ctr"/>
          <a:lstStyle/>
          <a:p>
            <a:pPr algn="l" indent="0" marL="0">
              <a:lnSpc>
                <a:spcPct val="110000"/>
              </a:lnSpc>
              <a:spcAft>
                <a:spcPts val="400"/>
              </a:spcAft>
              <a:buNone/>
            </a:pPr>
            <a:r>
              <a:rPr lang="en-US" sz="1350" dirty="0">
                <a:solidFill>
                  <a:schemeClr val="bg2"/>
                </a:solidFill>
              </a:rPr>
              <a:t>solicitudes de crédito en la base de datos</a:t>
            </a:r>
            <a:endParaRPr lang="en-US" sz="1350" dirty="0"/>
          </a:p>
        </p:txBody>
      </p:sp>
      <p:sp>
        <p:nvSpPr>
          <p:cNvPr id="18" name="Shape 15"/>
          <p:cNvSpPr/>
          <p:nvPr/>
        </p:nvSpPr>
        <p:spPr>
          <a:xfrm>
            <a:off x="6355080" y="3401568"/>
            <a:ext cx="5285232" cy="1280160"/>
          </a:xfrm>
          <a:prstGeom prst="roundRect">
            <a:avLst>
              <a:gd name="adj" fmla="val 10000"/>
            </a:avLst>
          </a:prstGeom>
          <a:solidFill>
            <a:schemeClr val="tx2">
              <a:alpha val="92000"/>
            </a:schemeClr>
          </a:solidFill>
          <a:ln w="12700">
            <a:solidFill>
              <a:srgbClr val="1E293B"/>
            </a:solidFill>
            <a:prstDash val="solid"/>
          </a:ln>
        </p:spPr>
      </p:sp>
      <p:sp>
        <p:nvSpPr>
          <p:cNvPr id="19" name="Text 16"/>
          <p:cNvSpPr txBox="1"/>
          <p:nvPr/>
        </p:nvSpPr>
        <p:spPr>
          <a:xfrm>
            <a:off x="6629400" y="3401568"/>
            <a:ext cx="2103120" cy="1280160"/>
          </a:xfrm>
          <a:prstGeom prst="rect">
            <a:avLst/>
          </a:prstGeom>
          <a:noFill/>
          <a:ln/>
        </p:spPr>
        <p:txBody>
          <a:bodyPr wrap="square" lIns="0" tIns="0" rIns="0" bIns="0" rtlCol="0" anchor="ctr"/>
          <a:lstStyle/>
          <a:p>
            <a:pPr algn="l" indent="0" marL="0">
              <a:lnSpc>
                <a:spcPct val="110000"/>
              </a:lnSpc>
              <a:spcAft>
                <a:spcPts val="400"/>
              </a:spcAft>
              <a:buNone/>
            </a:pPr>
            <a:r>
              <a:rPr lang="en-US" sz="3200" b="1" dirty="0">
                <a:solidFill>
                  <a:schemeClr val="accent2"/>
                </a:solidFill>
                <a:latin typeface="Consolas" pitchFamily="34" charset="0"/>
                <a:ea typeface="Consolas" pitchFamily="34" charset="-122"/>
                <a:cs typeface="Consolas" pitchFamily="34" charset="-120"/>
              </a:rPr>
              <a:t>23</a:t>
            </a:r>
            <a:endParaRPr lang="en-US" sz="3200" dirty="0"/>
          </a:p>
        </p:txBody>
      </p:sp>
      <p:sp>
        <p:nvSpPr>
          <p:cNvPr id="20" name="Text 17"/>
          <p:cNvSpPr txBox="1"/>
          <p:nvPr/>
        </p:nvSpPr>
        <p:spPr>
          <a:xfrm>
            <a:off x="8641080" y="3401568"/>
            <a:ext cx="2834640" cy="1280160"/>
          </a:xfrm>
          <a:prstGeom prst="rect">
            <a:avLst/>
          </a:prstGeom>
          <a:noFill/>
          <a:ln/>
        </p:spPr>
        <p:txBody>
          <a:bodyPr wrap="square" lIns="0" tIns="0" rIns="0" bIns="0" rtlCol="0" anchor="ctr"/>
          <a:lstStyle/>
          <a:p>
            <a:pPr algn="l" indent="0" marL="0">
              <a:lnSpc>
                <a:spcPct val="110000"/>
              </a:lnSpc>
              <a:spcAft>
                <a:spcPts val="400"/>
              </a:spcAft>
              <a:buNone/>
            </a:pPr>
            <a:r>
              <a:rPr lang="en-US" sz="1350" dirty="0">
                <a:solidFill>
                  <a:schemeClr val="bg2"/>
                </a:solidFill>
              </a:rPr>
              <a:t>datos por persona: edad, ingresos, deudas, historial de pagos, tipo de contrato…</a:t>
            </a:r>
            <a:endParaRPr lang="en-US" sz="1350" dirty="0"/>
          </a:p>
        </p:txBody>
      </p:sp>
      <p:sp>
        <p:nvSpPr>
          <p:cNvPr id="21" name="Shape 18"/>
          <p:cNvSpPr/>
          <p:nvPr/>
        </p:nvSpPr>
        <p:spPr>
          <a:xfrm>
            <a:off x="6355080" y="4837176"/>
            <a:ext cx="5285232" cy="1280160"/>
          </a:xfrm>
          <a:prstGeom prst="roundRect">
            <a:avLst>
              <a:gd name="adj" fmla="val 10000"/>
            </a:avLst>
          </a:prstGeom>
          <a:solidFill>
            <a:schemeClr val="tx2">
              <a:alpha val="92000"/>
            </a:schemeClr>
          </a:solidFill>
          <a:ln w="12700">
            <a:solidFill>
              <a:srgbClr val="1E293B"/>
            </a:solidFill>
            <a:prstDash val="solid"/>
          </a:ln>
        </p:spPr>
      </p:sp>
      <p:sp>
        <p:nvSpPr>
          <p:cNvPr id="22" name="Text 19"/>
          <p:cNvSpPr txBox="1"/>
          <p:nvPr/>
        </p:nvSpPr>
        <p:spPr>
          <a:xfrm>
            <a:off x="6629400" y="4837176"/>
            <a:ext cx="2103120" cy="1280160"/>
          </a:xfrm>
          <a:prstGeom prst="rect">
            <a:avLst/>
          </a:prstGeom>
          <a:noFill/>
          <a:ln/>
        </p:spPr>
        <p:txBody>
          <a:bodyPr wrap="square" lIns="0" tIns="0" rIns="0" bIns="0" rtlCol="0" anchor="ctr"/>
          <a:lstStyle/>
          <a:p>
            <a:pPr algn="l" indent="0" marL="0">
              <a:lnSpc>
                <a:spcPct val="110000"/>
              </a:lnSpc>
              <a:spcAft>
                <a:spcPts val="400"/>
              </a:spcAft>
              <a:buNone/>
            </a:pPr>
            <a:r>
              <a:rPr lang="en-US" sz="3200" b="1" dirty="0">
                <a:solidFill>
                  <a:schemeClr val="accent2"/>
                </a:solidFill>
                <a:latin typeface="Consolas" pitchFamily="34" charset="0"/>
                <a:ea typeface="Consolas" pitchFamily="34" charset="-122"/>
                <a:cs typeface="Consolas" pitchFamily="34" charset="-120"/>
              </a:rPr>
              <a:t>50 / 50</a:t>
            </a:r>
            <a:endParaRPr lang="en-US" sz="3200" dirty="0"/>
          </a:p>
        </p:txBody>
      </p:sp>
      <p:sp>
        <p:nvSpPr>
          <p:cNvPr id="23" name="Text 20"/>
          <p:cNvSpPr txBox="1"/>
          <p:nvPr/>
        </p:nvSpPr>
        <p:spPr>
          <a:xfrm>
            <a:off x="8641080" y="4837176"/>
            <a:ext cx="2834640" cy="1280160"/>
          </a:xfrm>
          <a:prstGeom prst="rect">
            <a:avLst/>
          </a:prstGeom>
          <a:noFill/>
          <a:ln/>
        </p:spPr>
        <p:txBody>
          <a:bodyPr wrap="square" lIns="0" tIns="0" rIns="0" bIns="0" rtlCol="0" anchor="ctr"/>
          <a:lstStyle/>
          <a:p>
            <a:pPr algn="l" indent="0" marL="0">
              <a:lnSpc>
                <a:spcPct val="110000"/>
              </a:lnSpc>
              <a:spcAft>
                <a:spcPts val="400"/>
              </a:spcAft>
              <a:buNone/>
            </a:pPr>
            <a:r>
              <a:rPr lang="en-US" sz="1350" dirty="0">
                <a:solidFill>
                  <a:schemeClr val="bg2"/>
                </a:solidFill>
              </a:rPr>
              <a:t>mitad aptos y mitad no aptos: adivinar al azar acertaría el 50 %</a:t>
            </a:r>
            <a:endParaRPr lang="en-US" sz="13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División de los datos (70 / 15 / 15)</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Antes de hacer cualquier cálculo, los 49.650 clientes se dividieron en tres grupos al azar, manteniendo la misma proporción de aptos en cada uno (semilla 42).</a:t>
            </a:r>
            <a:endParaRPr lang="en-US" sz="1500" dirty="0"/>
          </a:p>
        </p:txBody>
      </p:sp>
      <p:sp>
        <p:nvSpPr>
          <p:cNvPr id="5" name="Shape 2"/>
          <p:cNvSpPr/>
          <p:nvPr/>
        </p:nvSpPr>
        <p:spPr>
          <a:xfrm>
            <a:off x="548640" y="1920240"/>
            <a:ext cx="7709306" cy="777240"/>
          </a:xfrm>
          <a:prstGeom prst="roundRect">
            <a:avLst>
              <a:gd name="adj" fmla="val 14118"/>
            </a:avLst>
          </a:prstGeom>
          <a:solidFill>
            <a:srgbClr val="3B82F6"/>
          </a:solidFill>
          <a:ln w="12700">
            <a:solidFill>
              <a:srgbClr val="3B82F6"/>
            </a:solidFill>
            <a:prstDash val="solid"/>
          </a:ln>
        </p:spPr>
      </p:sp>
      <p:sp>
        <p:nvSpPr>
          <p:cNvPr id="6" name="Text 3"/>
          <p:cNvSpPr txBox="1"/>
          <p:nvPr/>
        </p:nvSpPr>
        <p:spPr>
          <a:xfrm>
            <a:off x="548640" y="1920240"/>
            <a:ext cx="7709306" cy="777240"/>
          </a:xfrm>
          <a:prstGeom prst="rect">
            <a:avLst/>
          </a:prstGeom>
          <a:noFill/>
          <a:ln/>
        </p:spPr>
        <p:txBody>
          <a:bodyPr wrap="square" lIns="0" tIns="0" rIns="0" bIns="0" rtlCol="0" anchor="ctr"/>
          <a:lstStyle/>
          <a:p>
            <a:pPr algn="ctr" indent="0" marL="0">
              <a:buNone/>
            </a:pPr>
            <a:r>
              <a:rPr lang="en-US" sz="2200" b="1" dirty="0">
                <a:solidFill>
                  <a:schemeClr val="tx1"/>
                </a:solidFill>
              </a:rPr>
              <a:t>70 %</a:t>
            </a:r>
            <a:endParaRPr lang="en-US" sz="2200" dirty="0"/>
          </a:p>
        </p:txBody>
      </p:sp>
      <p:sp>
        <p:nvSpPr>
          <p:cNvPr id="7" name="Shape 4"/>
          <p:cNvSpPr/>
          <p:nvPr/>
        </p:nvSpPr>
        <p:spPr>
          <a:xfrm>
            <a:off x="8312810" y="1920240"/>
            <a:ext cx="1608775" cy="777240"/>
          </a:xfrm>
          <a:prstGeom prst="roundRect">
            <a:avLst>
              <a:gd name="adj" fmla="val 14118"/>
            </a:avLst>
          </a:prstGeom>
          <a:solidFill>
            <a:srgbClr val="F59E0B"/>
          </a:solidFill>
          <a:ln w="12700">
            <a:solidFill>
              <a:srgbClr val="F59E0B"/>
            </a:solidFill>
            <a:prstDash val="solid"/>
          </a:ln>
        </p:spPr>
      </p:sp>
      <p:sp>
        <p:nvSpPr>
          <p:cNvPr id="8" name="Text 5"/>
          <p:cNvSpPr txBox="1"/>
          <p:nvPr/>
        </p:nvSpPr>
        <p:spPr>
          <a:xfrm>
            <a:off x="8312810" y="1920240"/>
            <a:ext cx="1608775" cy="777240"/>
          </a:xfrm>
          <a:prstGeom prst="rect">
            <a:avLst/>
          </a:prstGeom>
          <a:noFill/>
          <a:ln/>
        </p:spPr>
        <p:txBody>
          <a:bodyPr wrap="square" lIns="0" tIns="0" rIns="0" bIns="0" rtlCol="0" anchor="ctr"/>
          <a:lstStyle/>
          <a:p>
            <a:pPr algn="ctr" indent="0" marL="0">
              <a:buNone/>
            </a:pPr>
            <a:r>
              <a:rPr lang="en-US" sz="2200" b="1" dirty="0">
                <a:solidFill>
                  <a:schemeClr val="tx1"/>
                </a:solidFill>
              </a:rPr>
              <a:t>15 %</a:t>
            </a:r>
            <a:endParaRPr lang="en-US" sz="2200" dirty="0"/>
          </a:p>
        </p:txBody>
      </p:sp>
      <p:sp>
        <p:nvSpPr>
          <p:cNvPr id="9" name="Shape 6"/>
          <p:cNvSpPr/>
          <p:nvPr/>
        </p:nvSpPr>
        <p:spPr>
          <a:xfrm>
            <a:off x="9976450" y="1920240"/>
            <a:ext cx="1608998" cy="777240"/>
          </a:xfrm>
          <a:prstGeom prst="roundRect">
            <a:avLst>
              <a:gd name="adj" fmla="val 14118"/>
            </a:avLst>
          </a:prstGeom>
          <a:solidFill>
            <a:srgbClr val="34D399"/>
          </a:solidFill>
          <a:ln w="12700">
            <a:solidFill>
              <a:srgbClr val="34D399"/>
            </a:solidFill>
            <a:prstDash val="solid"/>
          </a:ln>
        </p:spPr>
      </p:sp>
      <p:sp>
        <p:nvSpPr>
          <p:cNvPr id="10" name="Text 7"/>
          <p:cNvSpPr txBox="1"/>
          <p:nvPr/>
        </p:nvSpPr>
        <p:spPr>
          <a:xfrm>
            <a:off x="9976450" y="1920240"/>
            <a:ext cx="1608998" cy="777240"/>
          </a:xfrm>
          <a:prstGeom prst="rect">
            <a:avLst/>
          </a:prstGeom>
          <a:noFill/>
          <a:ln/>
        </p:spPr>
        <p:txBody>
          <a:bodyPr wrap="square" lIns="0" tIns="0" rIns="0" bIns="0" rtlCol="0" anchor="ctr"/>
          <a:lstStyle/>
          <a:p>
            <a:pPr algn="ctr" indent="0" marL="0">
              <a:buNone/>
            </a:pPr>
            <a:r>
              <a:rPr lang="en-US" sz="2200" b="1" dirty="0">
                <a:solidFill>
                  <a:schemeClr val="tx1"/>
                </a:solidFill>
              </a:rPr>
              <a:t>15 %</a:t>
            </a:r>
            <a:endParaRPr lang="en-US" sz="2200" dirty="0"/>
          </a:p>
        </p:txBody>
      </p:sp>
      <p:sp>
        <p:nvSpPr>
          <p:cNvPr id="11" name="Shape 8"/>
          <p:cNvSpPr/>
          <p:nvPr/>
        </p:nvSpPr>
        <p:spPr>
          <a:xfrm>
            <a:off x="548640" y="2926080"/>
            <a:ext cx="3520440" cy="2103120"/>
          </a:xfrm>
          <a:prstGeom prst="roundRect">
            <a:avLst>
              <a:gd name="adj" fmla="val 6087"/>
            </a:avLst>
          </a:prstGeom>
          <a:solidFill>
            <a:schemeClr val="tx2">
              <a:alpha val="92000"/>
            </a:schemeClr>
          </a:solidFill>
          <a:ln w="12700">
            <a:solidFill>
              <a:srgbClr val="1E293B"/>
            </a:solidFill>
            <a:prstDash val="solid"/>
          </a:ln>
        </p:spPr>
      </p:sp>
      <p:sp>
        <p:nvSpPr>
          <p:cNvPr id="12" name="Shape 9"/>
          <p:cNvSpPr/>
          <p:nvPr/>
        </p:nvSpPr>
        <p:spPr>
          <a:xfrm>
            <a:off x="822960" y="3200400"/>
            <a:ext cx="201168" cy="201168"/>
          </a:xfrm>
          <a:prstGeom prst="ellipse">
            <a:avLst/>
          </a:prstGeom>
          <a:solidFill>
            <a:srgbClr val="3B82F6"/>
          </a:solidFill>
          <a:ln w="12700">
            <a:solidFill>
              <a:srgbClr val="3B82F6"/>
            </a:solidFill>
            <a:prstDash val="solid"/>
          </a:ln>
        </p:spPr>
      </p:sp>
      <p:sp>
        <p:nvSpPr>
          <p:cNvPr id="13" name="Text 10"/>
          <p:cNvSpPr txBox="1"/>
          <p:nvPr/>
        </p:nvSpPr>
        <p:spPr>
          <a:xfrm>
            <a:off x="1143000" y="3136392"/>
            <a:ext cx="2743200" cy="365760"/>
          </a:xfrm>
          <a:prstGeom prst="rect">
            <a:avLst/>
          </a:prstGeom>
          <a:noFill/>
          <a:ln/>
        </p:spPr>
        <p:txBody>
          <a:bodyPr wrap="square" lIns="0" tIns="0" rIns="0" bIns="0" rtlCol="0" anchor="t"/>
          <a:lstStyle/>
          <a:p>
            <a:pPr algn="l" indent="0" marL="0">
              <a:lnSpc>
                <a:spcPct val="110000"/>
              </a:lnSpc>
              <a:spcAft>
                <a:spcPts val="400"/>
              </a:spcAft>
              <a:buNone/>
            </a:pPr>
            <a:r>
              <a:rPr lang="en-US" sz="1800" b="1" dirty="0">
                <a:solidFill>
                  <a:schemeClr val="bg1"/>
                </a:solidFill>
              </a:rPr>
              <a:t>Entrenamiento</a:t>
            </a:r>
            <a:endParaRPr lang="en-US" sz="1800" dirty="0"/>
          </a:p>
        </p:txBody>
      </p:sp>
      <p:sp>
        <p:nvSpPr>
          <p:cNvPr id="14" name="Text 11"/>
          <p:cNvSpPr txBox="1"/>
          <p:nvPr/>
        </p:nvSpPr>
        <p:spPr>
          <a:xfrm>
            <a:off x="822960" y="3584448"/>
            <a:ext cx="3017520" cy="32004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accent2"/>
                </a:solidFill>
                <a:latin typeface="Consolas" pitchFamily="34" charset="0"/>
                <a:ea typeface="Consolas" pitchFamily="34" charset="-122"/>
                <a:cs typeface="Consolas" pitchFamily="34" charset="-120"/>
              </a:rPr>
              <a:t>34.755 clientes · 70 %</a:t>
            </a:r>
            <a:endParaRPr lang="en-US" sz="1300" dirty="0"/>
          </a:p>
        </p:txBody>
      </p:sp>
      <p:sp>
        <p:nvSpPr>
          <p:cNvPr id="15" name="Text 12"/>
          <p:cNvSpPr txBox="1"/>
          <p:nvPr/>
        </p:nvSpPr>
        <p:spPr>
          <a:xfrm>
            <a:off x="822960" y="3977640"/>
            <a:ext cx="3017520" cy="100584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Es el «libro de ejercicios». Con estos clientes la red aprende y ajusta sus pesos.</a:t>
            </a:r>
            <a:endParaRPr lang="en-US" sz="1350" dirty="0"/>
          </a:p>
        </p:txBody>
      </p:sp>
      <p:sp>
        <p:nvSpPr>
          <p:cNvPr id="16" name="Shape 13"/>
          <p:cNvSpPr/>
          <p:nvPr/>
        </p:nvSpPr>
        <p:spPr>
          <a:xfrm>
            <a:off x="4297680" y="2926080"/>
            <a:ext cx="3520440" cy="2103120"/>
          </a:xfrm>
          <a:prstGeom prst="roundRect">
            <a:avLst>
              <a:gd name="adj" fmla="val 6087"/>
            </a:avLst>
          </a:prstGeom>
          <a:solidFill>
            <a:schemeClr val="tx2">
              <a:alpha val="92000"/>
            </a:schemeClr>
          </a:solidFill>
          <a:ln w="12700">
            <a:solidFill>
              <a:srgbClr val="1E293B"/>
            </a:solidFill>
            <a:prstDash val="solid"/>
          </a:ln>
        </p:spPr>
      </p:sp>
      <p:sp>
        <p:nvSpPr>
          <p:cNvPr id="17" name="Shape 14"/>
          <p:cNvSpPr/>
          <p:nvPr/>
        </p:nvSpPr>
        <p:spPr>
          <a:xfrm>
            <a:off x="4572000" y="3200400"/>
            <a:ext cx="201168" cy="201168"/>
          </a:xfrm>
          <a:prstGeom prst="ellipse">
            <a:avLst/>
          </a:prstGeom>
          <a:solidFill>
            <a:srgbClr val="F59E0B"/>
          </a:solidFill>
          <a:ln w="12700">
            <a:solidFill>
              <a:srgbClr val="F59E0B"/>
            </a:solidFill>
            <a:prstDash val="solid"/>
          </a:ln>
        </p:spPr>
      </p:sp>
      <p:sp>
        <p:nvSpPr>
          <p:cNvPr id="18" name="Text 15"/>
          <p:cNvSpPr txBox="1"/>
          <p:nvPr/>
        </p:nvSpPr>
        <p:spPr>
          <a:xfrm>
            <a:off x="4892040" y="3136392"/>
            <a:ext cx="2743200" cy="365760"/>
          </a:xfrm>
          <a:prstGeom prst="rect">
            <a:avLst/>
          </a:prstGeom>
          <a:noFill/>
          <a:ln/>
        </p:spPr>
        <p:txBody>
          <a:bodyPr wrap="square" lIns="0" tIns="0" rIns="0" bIns="0" rtlCol="0" anchor="t"/>
          <a:lstStyle/>
          <a:p>
            <a:pPr algn="l" indent="0" marL="0">
              <a:lnSpc>
                <a:spcPct val="110000"/>
              </a:lnSpc>
              <a:spcAft>
                <a:spcPts val="400"/>
              </a:spcAft>
              <a:buNone/>
            </a:pPr>
            <a:r>
              <a:rPr lang="en-US" sz="1800" b="1" dirty="0">
                <a:solidFill>
                  <a:schemeClr val="bg1"/>
                </a:solidFill>
              </a:rPr>
              <a:t>Validación</a:t>
            </a:r>
            <a:endParaRPr lang="en-US" sz="1800" dirty="0"/>
          </a:p>
        </p:txBody>
      </p:sp>
      <p:sp>
        <p:nvSpPr>
          <p:cNvPr id="19" name="Text 16"/>
          <p:cNvSpPr txBox="1"/>
          <p:nvPr/>
        </p:nvSpPr>
        <p:spPr>
          <a:xfrm>
            <a:off x="4572000" y="3584448"/>
            <a:ext cx="3017520" cy="32004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accent2"/>
                </a:solidFill>
                <a:latin typeface="Consolas" pitchFamily="34" charset="0"/>
                <a:ea typeface="Consolas" pitchFamily="34" charset="-122"/>
                <a:cs typeface="Consolas" pitchFamily="34" charset="-120"/>
              </a:rPr>
              <a:t>7.447 clientes · 15 %</a:t>
            </a:r>
            <a:endParaRPr lang="en-US" sz="1300" dirty="0"/>
          </a:p>
        </p:txBody>
      </p:sp>
      <p:sp>
        <p:nvSpPr>
          <p:cNvPr id="20" name="Text 17"/>
          <p:cNvSpPr txBox="1"/>
          <p:nvPr/>
        </p:nvSpPr>
        <p:spPr>
          <a:xfrm>
            <a:off x="4572000" y="3977640"/>
            <a:ext cx="3017520" cy="100584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Son los «simulacros». Sirven para comparar versiones y decidir cuándo parar. La red nunca aprende de ellos.</a:t>
            </a:r>
            <a:endParaRPr lang="en-US" sz="1350" dirty="0"/>
          </a:p>
        </p:txBody>
      </p:sp>
      <p:sp>
        <p:nvSpPr>
          <p:cNvPr id="21" name="Shape 18"/>
          <p:cNvSpPr/>
          <p:nvPr/>
        </p:nvSpPr>
        <p:spPr>
          <a:xfrm>
            <a:off x="8046720" y="2926080"/>
            <a:ext cx="3520440" cy="2103120"/>
          </a:xfrm>
          <a:prstGeom prst="roundRect">
            <a:avLst>
              <a:gd name="adj" fmla="val 6087"/>
            </a:avLst>
          </a:prstGeom>
          <a:solidFill>
            <a:schemeClr val="tx2">
              <a:alpha val="92000"/>
            </a:schemeClr>
          </a:solidFill>
          <a:ln w="12700">
            <a:solidFill>
              <a:srgbClr val="1E293B"/>
            </a:solidFill>
            <a:prstDash val="solid"/>
          </a:ln>
        </p:spPr>
      </p:sp>
      <p:sp>
        <p:nvSpPr>
          <p:cNvPr id="22" name="Shape 19"/>
          <p:cNvSpPr/>
          <p:nvPr/>
        </p:nvSpPr>
        <p:spPr>
          <a:xfrm>
            <a:off x="8321040" y="3200400"/>
            <a:ext cx="201168" cy="201168"/>
          </a:xfrm>
          <a:prstGeom prst="ellipse">
            <a:avLst/>
          </a:prstGeom>
          <a:solidFill>
            <a:srgbClr val="34D399"/>
          </a:solidFill>
          <a:ln w="12700">
            <a:solidFill>
              <a:srgbClr val="34D399"/>
            </a:solidFill>
            <a:prstDash val="solid"/>
          </a:ln>
        </p:spPr>
      </p:sp>
      <p:sp>
        <p:nvSpPr>
          <p:cNvPr id="23" name="Text 20"/>
          <p:cNvSpPr txBox="1"/>
          <p:nvPr/>
        </p:nvSpPr>
        <p:spPr>
          <a:xfrm>
            <a:off x="8641080" y="3136392"/>
            <a:ext cx="2743200" cy="365760"/>
          </a:xfrm>
          <a:prstGeom prst="rect">
            <a:avLst/>
          </a:prstGeom>
          <a:noFill/>
          <a:ln/>
        </p:spPr>
        <p:txBody>
          <a:bodyPr wrap="square" lIns="0" tIns="0" rIns="0" bIns="0" rtlCol="0" anchor="t"/>
          <a:lstStyle/>
          <a:p>
            <a:pPr algn="l" indent="0" marL="0">
              <a:lnSpc>
                <a:spcPct val="110000"/>
              </a:lnSpc>
              <a:spcAft>
                <a:spcPts val="400"/>
              </a:spcAft>
              <a:buNone/>
            </a:pPr>
            <a:r>
              <a:rPr lang="en-US" sz="1800" b="1" dirty="0">
                <a:solidFill>
                  <a:schemeClr val="bg1"/>
                </a:solidFill>
              </a:rPr>
              <a:t>Prueba (Test)</a:t>
            </a:r>
            <a:endParaRPr lang="en-US" sz="1800" dirty="0"/>
          </a:p>
        </p:txBody>
      </p:sp>
      <p:sp>
        <p:nvSpPr>
          <p:cNvPr id="24" name="Text 21"/>
          <p:cNvSpPr txBox="1"/>
          <p:nvPr/>
        </p:nvSpPr>
        <p:spPr>
          <a:xfrm>
            <a:off x="8321040" y="3584448"/>
            <a:ext cx="3017520" cy="32004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accent2"/>
                </a:solidFill>
                <a:latin typeface="Consolas" pitchFamily="34" charset="0"/>
                <a:ea typeface="Consolas" pitchFamily="34" charset="-122"/>
                <a:cs typeface="Consolas" pitchFamily="34" charset="-120"/>
              </a:rPr>
              <a:t>7.448 clientes · 15 %</a:t>
            </a:r>
            <a:endParaRPr lang="en-US" sz="1300" dirty="0"/>
          </a:p>
        </p:txBody>
      </p:sp>
      <p:sp>
        <p:nvSpPr>
          <p:cNvPr id="25" name="Text 22"/>
          <p:cNvSpPr txBox="1"/>
          <p:nvPr/>
        </p:nvSpPr>
        <p:spPr>
          <a:xfrm>
            <a:off x="8321040" y="3977640"/>
            <a:ext cx="3017520" cy="100584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Es el «examen final». Se guardó sin tocar y se usó una sola vez, al final del proyecto.</a:t>
            </a:r>
            <a:endParaRPr lang="en-US" sz="1350" dirty="0"/>
          </a:p>
        </p:txBody>
      </p:sp>
      <p:sp>
        <p:nvSpPr>
          <p:cNvPr id="26" name="Shape 23"/>
          <p:cNvSpPr/>
          <p:nvPr/>
        </p:nvSpPr>
        <p:spPr>
          <a:xfrm>
            <a:off x="548640" y="5257800"/>
            <a:ext cx="11091672" cy="914400"/>
          </a:xfrm>
          <a:prstGeom prst="roundRect">
            <a:avLst>
              <a:gd name="adj" fmla="val 14000"/>
            </a:avLst>
          </a:prstGeom>
          <a:solidFill>
            <a:srgbClr val="1E3A8A">
              <a:alpha val="45000"/>
            </a:srgbClr>
          </a:solidFill>
          <a:ln w="12700">
            <a:solidFill>
              <a:srgbClr val="3B82F6"/>
            </a:solidFill>
            <a:prstDash val="solid"/>
          </a:ln>
        </p:spPr>
      </p:sp>
      <p:sp>
        <p:nvSpPr>
          <p:cNvPr id="27" name="Text 24"/>
          <p:cNvSpPr txBox="1"/>
          <p:nvPr/>
        </p:nvSpPr>
        <p:spPr>
          <a:xfrm>
            <a:off x="822960" y="5257800"/>
            <a:ext cx="10607040" cy="914400"/>
          </a:xfrm>
          <a:prstGeom prst="rect">
            <a:avLst/>
          </a:prstGeom>
          <a:noFill/>
          <a:ln/>
        </p:spPr>
        <p:txBody>
          <a:bodyPr wrap="square" lIns="0" tIns="0" rIns="0" bIns="0" rtlCol="0" anchor="ctr"/>
          <a:lstStyle/>
          <a:p>
            <a:pPr algn="l" indent="0" marL="0">
              <a:lnSpc>
                <a:spcPct val="110000"/>
              </a:lnSpc>
              <a:spcAft>
                <a:spcPts val="400"/>
              </a:spcAft>
              <a:buNone/>
            </a:pPr>
            <a:r>
              <a:rPr lang="en-US" sz="1400" b="1" dirty="0">
                <a:solidFill>
                  <a:schemeClr val="bg1"/>
                </a:solidFill>
              </a:rPr>
              <a:t>Por qué tres grupos: </a:t>
            </a:r>
            <a:pPr algn="l" indent="0" marL="0">
              <a:lnSpc>
                <a:spcPct val="110000"/>
              </a:lnSpc>
              <a:spcAft>
                <a:spcPts val="400"/>
              </a:spcAft>
              <a:buNone/>
            </a:pPr>
            <a:r>
              <a:rPr lang="en-US" sz="1400" dirty="0">
                <a:solidFill>
                  <a:schemeClr val="bg2"/>
                </a:solidFill>
              </a:rPr>
              <a:t>si usáramos el examen final para tomar decisiones, la nota final ya no sería honesta. Por eso todas las decisiones se tomaron con validación y la prueba se usó una sola vez.</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Preparación de los datos</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Una red neuronal solo entiende números, y funciona mejor si todos están en una escala parecida. Por eso los datos pasan por cuatro pasos antes de entrar a la red.</a:t>
            </a:r>
            <a:endParaRPr lang="en-US" sz="1500" dirty="0"/>
          </a:p>
        </p:txBody>
      </p:sp>
      <p:sp>
        <p:nvSpPr>
          <p:cNvPr id="5" name="Shape 2"/>
          <p:cNvSpPr/>
          <p:nvPr/>
        </p:nvSpPr>
        <p:spPr>
          <a:xfrm>
            <a:off x="548640" y="1965960"/>
            <a:ext cx="2606040" cy="3063240"/>
          </a:xfrm>
          <a:prstGeom prst="roundRect">
            <a:avLst>
              <a:gd name="adj" fmla="val 4912"/>
            </a:avLst>
          </a:prstGeom>
          <a:solidFill>
            <a:schemeClr val="tx2">
              <a:alpha val="92000"/>
            </a:schemeClr>
          </a:solidFill>
          <a:ln w="12700">
            <a:solidFill>
              <a:srgbClr val="1E293B"/>
            </a:solidFill>
            <a:prstDash val="solid"/>
          </a:ln>
        </p:spPr>
      </p:sp>
      <p:sp>
        <p:nvSpPr>
          <p:cNvPr id="6" name="Text 3"/>
          <p:cNvSpPr txBox="1"/>
          <p:nvPr/>
        </p:nvSpPr>
        <p:spPr>
          <a:xfrm>
            <a:off x="777240" y="2176272"/>
            <a:ext cx="219456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PASO 1</a:t>
            </a:r>
            <a:endParaRPr lang="en-US" sz="1050" dirty="0"/>
          </a:p>
        </p:txBody>
      </p:sp>
      <p:sp>
        <p:nvSpPr>
          <p:cNvPr id="7" name="Text 4"/>
          <p:cNvSpPr txBox="1"/>
          <p:nvPr/>
        </p:nvSpPr>
        <p:spPr>
          <a:xfrm>
            <a:off x="777240" y="2487168"/>
            <a:ext cx="2194560" cy="365760"/>
          </a:xfrm>
          <a:prstGeom prst="rect">
            <a:avLst/>
          </a:prstGeom>
          <a:noFill/>
          <a:ln/>
        </p:spPr>
        <p:txBody>
          <a:bodyPr wrap="square" lIns="0" tIns="0" rIns="0" bIns="0" rtlCol="0" anchor="t"/>
          <a:lstStyle/>
          <a:p>
            <a:pPr algn="l" indent="0" marL="0">
              <a:lnSpc>
                <a:spcPct val="110000"/>
              </a:lnSpc>
              <a:spcAft>
                <a:spcPts val="400"/>
              </a:spcAft>
              <a:buNone/>
            </a:pPr>
            <a:r>
              <a:rPr lang="en-US" sz="1700" b="1" dirty="0">
                <a:solidFill>
                  <a:schemeClr val="bg1"/>
                </a:solidFill>
              </a:rPr>
              <a:t>Limpiar</a:t>
            </a:r>
            <a:endParaRPr lang="en-US" sz="1700" dirty="0"/>
          </a:p>
        </p:txBody>
      </p:sp>
      <p:sp>
        <p:nvSpPr>
          <p:cNvPr id="8" name="Text 5"/>
          <p:cNvSpPr txBox="1"/>
          <p:nvPr/>
        </p:nvSpPr>
        <p:spPr>
          <a:xfrm>
            <a:off x="777240" y="2926080"/>
            <a:ext cx="2194560" cy="201168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Se quita el número de solicitud (no dice nada de la persona) y la columna INCUMPLIO_PAGO, que es la respuesta disfrazada: dejarla sería hacer trampa.</a:t>
            </a:r>
            <a:endParaRPr lang="en-US" sz="1300" dirty="0"/>
          </a:p>
        </p:txBody>
      </p:sp>
      <p:sp>
        <p:nvSpPr>
          <p:cNvPr id="9" name="Shape 6"/>
          <p:cNvSpPr/>
          <p:nvPr/>
        </p:nvSpPr>
        <p:spPr>
          <a:xfrm>
            <a:off x="3364992" y="1965960"/>
            <a:ext cx="2606040" cy="3063240"/>
          </a:xfrm>
          <a:prstGeom prst="roundRect">
            <a:avLst>
              <a:gd name="adj" fmla="val 4912"/>
            </a:avLst>
          </a:prstGeom>
          <a:solidFill>
            <a:schemeClr val="tx2">
              <a:alpha val="92000"/>
            </a:schemeClr>
          </a:solidFill>
          <a:ln w="12700">
            <a:solidFill>
              <a:srgbClr val="1E293B"/>
            </a:solidFill>
            <a:prstDash val="solid"/>
          </a:ln>
        </p:spPr>
      </p:sp>
      <p:sp>
        <p:nvSpPr>
          <p:cNvPr id="10" name="Text 7"/>
          <p:cNvSpPr txBox="1"/>
          <p:nvPr/>
        </p:nvSpPr>
        <p:spPr>
          <a:xfrm>
            <a:off x="3593592" y="2176272"/>
            <a:ext cx="219456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PASO 2</a:t>
            </a:r>
            <a:endParaRPr lang="en-US" sz="1050" dirty="0"/>
          </a:p>
        </p:txBody>
      </p:sp>
      <p:sp>
        <p:nvSpPr>
          <p:cNvPr id="11" name="Text 8"/>
          <p:cNvSpPr txBox="1"/>
          <p:nvPr/>
        </p:nvSpPr>
        <p:spPr>
          <a:xfrm>
            <a:off x="3593592" y="2487168"/>
            <a:ext cx="2194560" cy="365760"/>
          </a:xfrm>
          <a:prstGeom prst="rect">
            <a:avLst/>
          </a:prstGeom>
          <a:noFill/>
          <a:ln/>
        </p:spPr>
        <p:txBody>
          <a:bodyPr wrap="square" lIns="0" tIns="0" rIns="0" bIns="0" rtlCol="0" anchor="t"/>
          <a:lstStyle/>
          <a:p>
            <a:pPr algn="l" indent="0" marL="0">
              <a:lnSpc>
                <a:spcPct val="110000"/>
              </a:lnSpc>
              <a:spcAft>
                <a:spcPts val="400"/>
              </a:spcAft>
              <a:buNone/>
            </a:pPr>
            <a:r>
              <a:rPr lang="en-US" sz="1700" b="1" dirty="0">
                <a:solidFill>
                  <a:schemeClr val="bg1"/>
                </a:solidFill>
              </a:rPr>
              <a:t>Rellenar vacíos</a:t>
            </a:r>
            <a:endParaRPr lang="en-US" sz="1700" dirty="0"/>
          </a:p>
        </p:txBody>
      </p:sp>
      <p:sp>
        <p:nvSpPr>
          <p:cNvPr id="12" name="Text 9"/>
          <p:cNvSpPr txBox="1"/>
          <p:nvPr/>
        </p:nvSpPr>
        <p:spPr>
          <a:xfrm>
            <a:off x="3593592" y="2926080"/>
            <a:ext cx="2194560" cy="201168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Si a alguien le falta un dato, se usa el valor típico (la mediana) y se agrega una columna que avisa «este dato faltaba», porque eso también puede ser información.</a:t>
            </a:r>
            <a:endParaRPr lang="en-US" sz="1300" dirty="0"/>
          </a:p>
        </p:txBody>
      </p:sp>
      <p:sp>
        <p:nvSpPr>
          <p:cNvPr id="13" name="Shape 10"/>
          <p:cNvSpPr/>
          <p:nvPr/>
        </p:nvSpPr>
        <p:spPr>
          <a:xfrm>
            <a:off x="6181344" y="1965960"/>
            <a:ext cx="2606040" cy="3063240"/>
          </a:xfrm>
          <a:prstGeom prst="roundRect">
            <a:avLst>
              <a:gd name="adj" fmla="val 4912"/>
            </a:avLst>
          </a:prstGeom>
          <a:solidFill>
            <a:schemeClr val="tx2">
              <a:alpha val="92000"/>
            </a:schemeClr>
          </a:solidFill>
          <a:ln w="12700">
            <a:solidFill>
              <a:srgbClr val="1E293B"/>
            </a:solidFill>
            <a:prstDash val="solid"/>
          </a:ln>
        </p:spPr>
      </p:sp>
      <p:sp>
        <p:nvSpPr>
          <p:cNvPr id="14" name="Text 11"/>
          <p:cNvSpPr txBox="1"/>
          <p:nvPr/>
        </p:nvSpPr>
        <p:spPr>
          <a:xfrm>
            <a:off x="6409944" y="2176272"/>
            <a:ext cx="219456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PASO 3</a:t>
            </a:r>
            <a:endParaRPr lang="en-US" sz="1050" dirty="0"/>
          </a:p>
        </p:txBody>
      </p:sp>
      <p:sp>
        <p:nvSpPr>
          <p:cNvPr id="15" name="Text 12"/>
          <p:cNvSpPr txBox="1"/>
          <p:nvPr/>
        </p:nvSpPr>
        <p:spPr>
          <a:xfrm>
            <a:off x="6409944" y="2487168"/>
            <a:ext cx="2194560" cy="365760"/>
          </a:xfrm>
          <a:prstGeom prst="rect">
            <a:avLst/>
          </a:prstGeom>
          <a:noFill/>
          <a:ln/>
        </p:spPr>
        <p:txBody>
          <a:bodyPr wrap="square" lIns="0" tIns="0" rIns="0" bIns="0" rtlCol="0" anchor="t"/>
          <a:lstStyle/>
          <a:p>
            <a:pPr algn="l" indent="0" marL="0">
              <a:lnSpc>
                <a:spcPct val="110000"/>
              </a:lnSpc>
              <a:spcAft>
                <a:spcPts val="400"/>
              </a:spcAft>
              <a:buNone/>
            </a:pPr>
            <a:r>
              <a:rPr lang="en-US" sz="1700" b="1" dirty="0">
                <a:solidFill>
                  <a:schemeClr val="bg1"/>
                </a:solidFill>
              </a:rPr>
              <a:t>Suavizar extremos</a:t>
            </a:r>
            <a:endParaRPr lang="en-US" sz="1700" dirty="0"/>
          </a:p>
        </p:txBody>
      </p:sp>
      <p:sp>
        <p:nvSpPr>
          <p:cNvPr id="16" name="Text 13"/>
          <p:cNvSpPr txBox="1"/>
          <p:nvPr/>
        </p:nvSpPr>
        <p:spPr>
          <a:xfrm>
            <a:off x="6409944" y="2926080"/>
            <a:ext cx="2194560" cy="201168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Ingresos, deudas y montos tienen unos pocos valores enormes. Se recortan los extremos y se comprimen con logaritmo para que no dominen a los demás.</a:t>
            </a:r>
            <a:endParaRPr lang="en-US" sz="1300" dirty="0"/>
          </a:p>
        </p:txBody>
      </p:sp>
      <p:sp>
        <p:nvSpPr>
          <p:cNvPr id="17" name="Shape 14"/>
          <p:cNvSpPr/>
          <p:nvPr/>
        </p:nvSpPr>
        <p:spPr>
          <a:xfrm>
            <a:off x="8997696" y="1965960"/>
            <a:ext cx="2606040" cy="3063240"/>
          </a:xfrm>
          <a:prstGeom prst="roundRect">
            <a:avLst>
              <a:gd name="adj" fmla="val 4912"/>
            </a:avLst>
          </a:prstGeom>
          <a:solidFill>
            <a:schemeClr val="tx2">
              <a:alpha val="92000"/>
            </a:schemeClr>
          </a:solidFill>
          <a:ln w="12700">
            <a:solidFill>
              <a:srgbClr val="1E293B"/>
            </a:solidFill>
            <a:prstDash val="solid"/>
          </a:ln>
        </p:spPr>
      </p:sp>
      <p:sp>
        <p:nvSpPr>
          <p:cNvPr id="18" name="Text 15"/>
          <p:cNvSpPr txBox="1"/>
          <p:nvPr/>
        </p:nvSpPr>
        <p:spPr>
          <a:xfrm>
            <a:off x="9226296" y="2176272"/>
            <a:ext cx="219456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PASO 4</a:t>
            </a:r>
            <a:endParaRPr lang="en-US" sz="1050" dirty="0"/>
          </a:p>
        </p:txBody>
      </p:sp>
      <p:sp>
        <p:nvSpPr>
          <p:cNvPr id="19" name="Text 16"/>
          <p:cNvSpPr txBox="1"/>
          <p:nvPr/>
        </p:nvSpPr>
        <p:spPr>
          <a:xfrm>
            <a:off x="9226296" y="2487168"/>
            <a:ext cx="2194560" cy="365760"/>
          </a:xfrm>
          <a:prstGeom prst="rect">
            <a:avLst/>
          </a:prstGeom>
          <a:noFill/>
          <a:ln/>
        </p:spPr>
        <p:txBody>
          <a:bodyPr wrap="square" lIns="0" tIns="0" rIns="0" bIns="0" rtlCol="0" anchor="t"/>
          <a:lstStyle/>
          <a:p>
            <a:pPr algn="l" indent="0" marL="0">
              <a:lnSpc>
                <a:spcPct val="110000"/>
              </a:lnSpc>
              <a:spcAft>
                <a:spcPts val="400"/>
              </a:spcAft>
              <a:buNone/>
            </a:pPr>
            <a:r>
              <a:rPr lang="en-US" sz="1700" b="1" dirty="0">
                <a:solidFill>
                  <a:schemeClr val="bg1"/>
                </a:solidFill>
              </a:rPr>
              <a:t>Traducir y escalar</a:t>
            </a:r>
            <a:endParaRPr lang="en-US" sz="1700" dirty="0"/>
          </a:p>
        </p:txBody>
      </p:sp>
      <p:sp>
        <p:nvSpPr>
          <p:cNvPr id="20" name="Text 17"/>
          <p:cNvSpPr txBox="1"/>
          <p:nvPr/>
        </p:nvSpPr>
        <p:spPr>
          <a:xfrm>
            <a:off x="9226296" y="2926080"/>
            <a:ext cx="2194560" cy="201168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Las categorías (estado civil, contrato…) se convierten en columnas de 0 y 1, y todas las columnas se llevan a la misma escala (promedio 0, desviación 1).</a:t>
            </a:r>
            <a:endParaRPr lang="en-US" sz="1300" dirty="0"/>
          </a:p>
        </p:txBody>
      </p:sp>
      <p:sp>
        <p:nvSpPr>
          <p:cNvPr id="21" name="Shape 18"/>
          <p:cNvSpPr/>
          <p:nvPr/>
        </p:nvSpPr>
        <p:spPr>
          <a:xfrm>
            <a:off x="548640" y="5257800"/>
            <a:ext cx="11091672" cy="914400"/>
          </a:xfrm>
          <a:prstGeom prst="roundRect">
            <a:avLst>
              <a:gd name="adj" fmla="val 14000"/>
            </a:avLst>
          </a:prstGeom>
          <a:solidFill>
            <a:srgbClr val="1E3A8A">
              <a:alpha val="45000"/>
            </a:srgbClr>
          </a:solidFill>
          <a:ln w="12700">
            <a:solidFill>
              <a:srgbClr val="3B82F6"/>
            </a:solidFill>
            <a:prstDash val="solid"/>
          </a:ln>
        </p:spPr>
      </p:sp>
      <p:sp>
        <p:nvSpPr>
          <p:cNvPr id="22" name="Text 19"/>
          <p:cNvSpPr txBox="1"/>
          <p:nvPr/>
        </p:nvSpPr>
        <p:spPr>
          <a:xfrm>
            <a:off x="822960" y="5257800"/>
            <a:ext cx="10607040" cy="914400"/>
          </a:xfrm>
          <a:prstGeom prst="rect">
            <a:avLst/>
          </a:prstGeom>
          <a:noFill/>
          <a:ln/>
        </p:spPr>
        <p:txBody>
          <a:bodyPr wrap="square" lIns="0" tIns="0" rIns="0" bIns="0" rtlCol="0" anchor="ctr"/>
          <a:lstStyle/>
          <a:p>
            <a:pPr algn="l" indent="0" marL="0">
              <a:lnSpc>
                <a:spcPct val="110000"/>
              </a:lnSpc>
              <a:spcAft>
                <a:spcPts val="400"/>
              </a:spcAft>
              <a:buNone/>
            </a:pPr>
            <a:r>
              <a:rPr lang="en-US" sz="1400" b="1" dirty="0">
                <a:solidFill>
                  <a:schemeClr val="bg1"/>
                </a:solidFill>
              </a:rPr>
              <a:t>Sin fuga de información: </a:t>
            </a:r>
            <a:pPr algn="l" indent="0" marL="0">
              <a:lnSpc>
                <a:spcPct val="110000"/>
              </a:lnSpc>
              <a:spcAft>
                <a:spcPts val="400"/>
              </a:spcAft>
              <a:buNone/>
            </a:pPr>
            <a:r>
              <a:rPr lang="en-US" sz="1400" dirty="0">
                <a:solidFill>
                  <a:schemeClr val="bg2"/>
                </a:solidFill>
              </a:rPr>
              <a:t>las medianas, los recortes y la escala se calcularon solo con el grupo de entrenamiento y luego se aplicaron igual a validación, prueba y a clientes nuevos.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De 23 datos a 44 variables de entrada</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Cada solicitante llega con 23 datos, pero la red recibe 44 números. La diferencia no es información nueva: es la forma de escribir esos mismos datos para que la red los entienda.</a:t>
            </a:r>
            <a:endParaRPr lang="en-US" sz="1500" dirty="0"/>
          </a:p>
        </p:txBody>
      </p:sp>
      <p:sp>
        <p:nvSpPr>
          <p:cNvPr id="5" name="Shape 2"/>
          <p:cNvSpPr/>
          <p:nvPr/>
        </p:nvSpPr>
        <p:spPr>
          <a:xfrm>
            <a:off x="548640" y="1874520"/>
            <a:ext cx="2148840" cy="868680"/>
          </a:xfrm>
          <a:prstGeom prst="roundRect">
            <a:avLst>
              <a:gd name="adj" fmla="val 14737"/>
            </a:avLst>
          </a:prstGeom>
          <a:solidFill>
            <a:schemeClr val="tx2">
              <a:alpha val="92000"/>
            </a:schemeClr>
          </a:solidFill>
          <a:ln w="12700">
            <a:solidFill>
              <a:srgbClr val="1E293B"/>
            </a:solidFill>
            <a:prstDash val="solid"/>
          </a:ln>
        </p:spPr>
      </p:sp>
      <p:sp>
        <p:nvSpPr>
          <p:cNvPr id="6" name="Text 3"/>
          <p:cNvSpPr txBox="1"/>
          <p:nvPr/>
        </p:nvSpPr>
        <p:spPr>
          <a:xfrm>
            <a:off x="731520" y="1874520"/>
            <a:ext cx="822960" cy="868680"/>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rgbClr val="3B82F6"/>
                </a:solidFill>
                <a:latin typeface="Consolas" pitchFamily="34" charset="0"/>
                <a:ea typeface="Consolas" pitchFamily="34" charset="-122"/>
                <a:cs typeface="Consolas" pitchFamily="34" charset="-120"/>
              </a:rPr>
              <a:t>19</a:t>
            </a:r>
            <a:endParaRPr lang="en-US" sz="3000" dirty="0"/>
          </a:p>
        </p:txBody>
      </p:sp>
      <p:sp>
        <p:nvSpPr>
          <p:cNvPr id="7" name="Text 4"/>
          <p:cNvSpPr txBox="1"/>
          <p:nvPr/>
        </p:nvSpPr>
        <p:spPr>
          <a:xfrm>
            <a:off x="1463040" y="1874520"/>
            <a:ext cx="1143000" cy="868680"/>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numéricas</a:t>
            </a:r>
            <a:endParaRPr lang="en-US" sz="1300" dirty="0"/>
          </a:p>
        </p:txBody>
      </p:sp>
      <p:sp>
        <p:nvSpPr>
          <p:cNvPr id="8" name="Text 5"/>
          <p:cNvSpPr txBox="1"/>
          <p:nvPr/>
        </p:nvSpPr>
        <p:spPr>
          <a:xfrm>
            <a:off x="2697480" y="1874520"/>
            <a:ext cx="411480" cy="868680"/>
          </a:xfrm>
          <a:prstGeom prst="rect">
            <a:avLst/>
          </a:prstGeom>
          <a:noFill/>
          <a:ln/>
        </p:spPr>
        <p:txBody>
          <a:bodyPr wrap="square" lIns="0" tIns="0" rIns="0" bIns="0" rtlCol="0" anchor="ctr"/>
          <a:lstStyle/>
          <a:p>
            <a:pPr algn="ctr" indent="0" marL="0">
              <a:lnSpc>
                <a:spcPct val="110000"/>
              </a:lnSpc>
              <a:spcAft>
                <a:spcPts val="400"/>
              </a:spcAft>
              <a:buNone/>
            </a:pPr>
            <a:r>
              <a:rPr lang="en-US" sz="2600" b="1" dirty="0">
                <a:solidFill>
                  <a:srgbClr val="94A3B8"/>
                </a:solidFill>
              </a:rPr>
              <a:t>+</a:t>
            </a:r>
            <a:endParaRPr lang="en-US" sz="2600" dirty="0"/>
          </a:p>
        </p:txBody>
      </p:sp>
      <p:sp>
        <p:nvSpPr>
          <p:cNvPr id="9" name="Shape 6"/>
          <p:cNvSpPr/>
          <p:nvPr/>
        </p:nvSpPr>
        <p:spPr>
          <a:xfrm>
            <a:off x="3108960" y="1874520"/>
            <a:ext cx="2606040" cy="868680"/>
          </a:xfrm>
          <a:prstGeom prst="roundRect">
            <a:avLst>
              <a:gd name="adj" fmla="val 14737"/>
            </a:avLst>
          </a:prstGeom>
          <a:solidFill>
            <a:schemeClr val="tx2">
              <a:alpha val="92000"/>
            </a:schemeClr>
          </a:solidFill>
          <a:ln w="12700">
            <a:solidFill>
              <a:srgbClr val="1E293B"/>
            </a:solidFill>
            <a:prstDash val="solid"/>
          </a:ln>
        </p:spPr>
      </p:sp>
      <p:sp>
        <p:nvSpPr>
          <p:cNvPr id="10" name="Text 7"/>
          <p:cNvSpPr txBox="1"/>
          <p:nvPr/>
        </p:nvSpPr>
        <p:spPr>
          <a:xfrm>
            <a:off x="3291840" y="1874520"/>
            <a:ext cx="822960" cy="868680"/>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rgbClr val="F59E0B"/>
                </a:solidFill>
                <a:latin typeface="Consolas" pitchFamily="34" charset="0"/>
                <a:ea typeface="Consolas" pitchFamily="34" charset="-122"/>
                <a:cs typeface="Consolas" pitchFamily="34" charset="-120"/>
              </a:rPr>
              <a:t>7</a:t>
            </a:r>
            <a:endParaRPr lang="en-US" sz="3000" dirty="0"/>
          </a:p>
        </p:txBody>
      </p:sp>
      <p:sp>
        <p:nvSpPr>
          <p:cNvPr id="11" name="Text 8"/>
          <p:cNvSpPr txBox="1"/>
          <p:nvPr/>
        </p:nvSpPr>
        <p:spPr>
          <a:xfrm>
            <a:off x="4023360" y="1874520"/>
            <a:ext cx="1600200" cy="868680"/>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avisos de dato faltante</a:t>
            </a:r>
            <a:endParaRPr lang="en-US" sz="1300" dirty="0"/>
          </a:p>
        </p:txBody>
      </p:sp>
      <p:sp>
        <p:nvSpPr>
          <p:cNvPr id="12" name="Text 9"/>
          <p:cNvSpPr txBox="1"/>
          <p:nvPr/>
        </p:nvSpPr>
        <p:spPr>
          <a:xfrm>
            <a:off x="5715000" y="1874520"/>
            <a:ext cx="411480" cy="868680"/>
          </a:xfrm>
          <a:prstGeom prst="rect">
            <a:avLst/>
          </a:prstGeom>
          <a:noFill/>
          <a:ln/>
        </p:spPr>
        <p:txBody>
          <a:bodyPr wrap="square" lIns="0" tIns="0" rIns="0" bIns="0" rtlCol="0" anchor="ctr"/>
          <a:lstStyle/>
          <a:p>
            <a:pPr algn="ctr" indent="0" marL="0">
              <a:lnSpc>
                <a:spcPct val="110000"/>
              </a:lnSpc>
              <a:spcAft>
                <a:spcPts val="400"/>
              </a:spcAft>
              <a:buNone/>
            </a:pPr>
            <a:r>
              <a:rPr lang="en-US" sz="2600" b="1" dirty="0">
                <a:solidFill>
                  <a:srgbClr val="94A3B8"/>
                </a:solidFill>
              </a:rPr>
              <a:t>+</a:t>
            </a:r>
            <a:endParaRPr lang="en-US" sz="2600" dirty="0"/>
          </a:p>
        </p:txBody>
      </p:sp>
      <p:sp>
        <p:nvSpPr>
          <p:cNvPr id="13" name="Shape 10"/>
          <p:cNvSpPr/>
          <p:nvPr/>
        </p:nvSpPr>
        <p:spPr>
          <a:xfrm>
            <a:off x="6126480" y="1874520"/>
            <a:ext cx="2606040" cy="868680"/>
          </a:xfrm>
          <a:prstGeom prst="roundRect">
            <a:avLst>
              <a:gd name="adj" fmla="val 14737"/>
            </a:avLst>
          </a:prstGeom>
          <a:solidFill>
            <a:schemeClr val="tx2">
              <a:alpha val="92000"/>
            </a:schemeClr>
          </a:solidFill>
          <a:ln w="12700">
            <a:solidFill>
              <a:srgbClr val="1E293B"/>
            </a:solidFill>
            <a:prstDash val="solid"/>
          </a:ln>
        </p:spPr>
      </p:sp>
      <p:sp>
        <p:nvSpPr>
          <p:cNvPr id="14" name="Text 11"/>
          <p:cNvSpPr txBox="1"/>
          <p:nvPr/>
        </p:nvSpPr>
        <p:spPr>
          <a:xfrm>
            <a:off x="6309360" y="1874520"/>
            <a:ext cx="822960" cy="868680"/>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rgbClr val="34D399"/>
                </a:solidFill>
                <a:latin typeface="Consolas" pitchFamily="34" charset="0"/>
                <a:ea typeface="Consolas" pitchFamily="34" charset="-122"/>
                <a:cs typeface="Consolas" pitchFamily="34" charset="-120"/>
              </a:rPr>
              <a:t>18</a:t>
            </a:r>
            <a:endParaRPr lang="en-US" sz="3000" dirty="0"/>
          </a:p>
        </p:txBody>
      </p:sp>
      <p:sp>
        <p:nvSpPr>
          <p:cNvPr id="15" name="Text 12"/>
          <p:cNvSpPr txBox="1"/>
          <p:nvPr/>
        </p:nvSpPr>
        <p:spPr>
          <a:xfrm>
            <a:off x="7040880" y="1874520"/>
            <a:ext cx="1600200" cy="868680"/>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columnas de categorías</a:t>
            </a:r>
            <a:endParaRPr lang="en-US" sz="1300" dirty="0"/>
          </a:p>
        </p:txBody>
      </p:sp>
      <p:sp>
        <p:nvSpPr>
          <p:cNvPr id="16" name="Text 13"/>
          <p:cNvSpPr txBox="1"/>
          <p:nvPr/>
        </p:nvSpPr>
        <p:spPr>
          <a:xfrm>
            <a:off x="8732520" y="1874520"/>
            <a:ext cx="411480" cy="868680"/>
          </a:xfrm>
          <a:prstGeom prst="rect">
            <a:avLst/>
          </a:prstGeom>
          <a:noFill/>
          <a:ln/>
        </p:spPr>
        <p:txBody>
          <a:bodyPr wrap="square" lIns="0" tIns="0" rIns="0" bIns="0" rtlCol="0" anchor="ctr"/>
          <a:lstStyle/>
          <a:p>
            <a:pPr algn="ctr" indent="0" marL="0">
              <a:lnSpc>
                <a:spcPct val="110000"/>
              </a:lnSpc>
              <a:spcAft>
                <a:spcPts val="400"/>
              </a:spcAft>
              <a:buNone/>
            </a:pPr>
            <a:r>
              <a:rPr lang="en-US" sz="2600" b="1" dirty="0">
                <a:solidFill>
                  <a:srgbClr val="94A3B8"/>
                </a:solidFill>
              </a:rPr>
              <a:t>=</a:t>
            </a:r>
            <a:endParaRPr lang="en-US" sz="2600" dirty="0"/>
          </a:p>
        </p:txBody>
      </p:sp>
      <p:sp>
        <p:nvSpPr>
          <p:cNvPr id="17" name="Shape 14"/>
          <p:cNvSpPr/>
          <p:nvPr/>
        </p:nvSpPr>
        <p:spPr>
          <a:xfrm>
            <a:off x="9144000" y="1874520"/>
            <a:ext cx="2496312" cy="868680"/>
          </a:xfrm>
          <a:prstGeom prst="roundRect">
            <a:avLst>
              <a:gd name="adj" fmla="val 14737"/>
            </a:avLst>
          </a:prstGeom>
          <a:solidFill>
            <a:schemeClr val="tx2">
              <a:alpha val="92000"/>
            </a:schemeClr>
          </a:solidFill>
          <a:ln w="12700">
            <a:solidFill>
              <a:srgbClr val="1E293B"/>
            </a:solidFill>
            <a:prstDash val="solid"/>
          </a:ln>
        </p:spPr>
      </p:sp>
      <p:sp>
        <p:nvSpPr>
          <p:cNvPr id="18" name="Text 15"/>
          <p:cNvSpPr txBox="1"/>
          <p:nvPr/>
        </p:nvSpPr>
        <p:spPr>
          <a:xfrm>
            <a:off x="9326880" y="1874520"/>
            <a:ext cx="822960" cy="868680"/>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rgbClr val="F8FAFC"/>
                </a:solidFill>
                <a:latin typeface="Consolas" pitchFamily="34" charset="0"/>
                <a:ea typeface="Consolas" pitchFamily="34" charset="-122"/>
                <a:cs typeface="Consolas" pitchFamily="34" charset="-120"/>
              </a:rPr>
              <a:t>44</a:t>
            </a:r>
            <a:endParaRPr lang="en-US" sz="3000" dirty="0"/>
          </a:p>
        </p:txBody>
      </p:sp>
      <p:sp>
        <p:nvSpPr>
          <p:cNvPr id="19" name="Text 16"/>
          <p:cNvSpPr txBox="1"/>
          <p:nvPr/>
        </p:nvSpPr>
        <p:spPr>
          <a:xfrm>
            <a:off x="10058400" y="1874520"/>
            <a:ext cx="1490472" cy="868680"/>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entradas de la red</a:t>
            </a:r>
            <a:endParaRPr lang="en-US" sz="1300" dirty="0"/>
          </a:p>
        </p:txBody>
      </p:sp>
      <p:sp>
        <p:nvSpPr>
          <p:cNvPr id="20" name="Shape 17"/>
          <p:cNvSpPr/>
          <p:nvPr/>
        </p:nvSpPr>
        <p:spPr>
          <a:xfrm>
            <a:off x="548640" y="2971800"/>
            <a:ext cx="3429000" cy="3200400"/>
          </a:xfrm>
          <a:prstGeom prst="roundRect">
            <a:avLst>
              <a:gd name="adj" fmla="val 4000"/>
            </a:avLst>
          </a:prstGeom>
          <a:solidFill>
            <a:schemeClr val="tx2">
              <a:alpha val="92000"/>
            </a:schemeClr>
          </a:solidFill>
          <a:ln w="12700">
            <a:solidFill>
              <a:srgbClr val="1E293B"/>
            </a:solidFill>
            <a:prstDash val="solid"/>
          </a:ln>
        </p:spPr>
      </p:sp>
      <p:sp>
        <p:nvSpPr>
          <p:cNvPr id="21" name="Text 18"/>
          <p:cNvSpPr txBox="1"/>
          <p:nvPr/>
        </p:nvSpPr>
        <p:spPr>
          <a:xfrm>
            <a:off x="777240" y="3154680"/>
            <a:ext cx="3017520" cy="256032"/>
          </a:xfrm>
          <a:prstGeom prst="rect">
            <a:avLst/>
          </a:prstGeom>
          <a:noFill/>
          <a:ln/>
        </p:spPr>
        <p:txBody>
          <a:bodyPr wrap="square" lIns="0" tIns="0" rIns="0" bIns="0" rtlCol="0" anchor="ctr"/>
          <a:lstStyle/>
          <a:p>
            <a:pPr indent="0" marL="0">
              <a:buNone/>
            </a:pPr>
            <a:r>
              <a:rPr lang="en-US" sz="1050" spc="200" kern="0" dirty="0">
                <a:solidFill>
                  <a:srgbClr val="3B82F6"/>
                </a:solidFill>
                <a:latin typeface="Consolas" pitchFamily="34" charset="0"/>
                <a:ea typeface="Consolas" pitchFamily="34" charset="-122"/>
                <a:cs typeface="Consolas" pitchFamily="34" charset="-120"/>
              </a:rPr>
              <a:t>19 NUMÉRICAS → 19 COLUMNAS</a:t>
            </a:r>
            <a:endParaRPr lang="en-US" sz="1050" dirty="0"/>
          </a:p>
        </p:txBody>
      </p:sp>
      <p:sp>
        <p:nvSpPr>
          <p:cNvPr id="22" name="Text 19"/>
          <p:cNvSpPr txBox="1"/>
          <p:nvPr/>
        </p:nvSpPr>
        <p:spPr>
          <a:xfrm>
            <a:off x="777240" y="3474720"/>
            <a:ext cx="3017520" cy="19202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Edad, ingreso mensual, obligaciones, ingreso disponible, monto, plazo, cuota, tasa de interés, endeudamiento, score crediticio, créditos activos, saldo, cuotas y días de mora, pagos oportunos, antigüedad laboral y como cliente, patrimonio y personas a cargo.</a:t>
            </a:r>
            <a:endParaRPr lang="en-US" sz="1250" dirty="0"/>
          </a:p>
        </p:txBody>
      </p:sp>
      <p:sp>
        <p:nvSpPr>
          <p:cNvPr id="23" name="Text 20"/>
          <p:cNvSpPr txBox="1"/>
          <p:nvPr/>
        </p:nvSpPr>
        <p:spPr>
          <a:xfrm>
            <a:off x="777240" y="5486400"/>
            <a:ext cx="3017520" cy="5486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accent2"/>
                </a:solidFill>
              </a:rPr>
              <a:t>Cada una sigue siendo una sola columna (ya escalada).</a:t>
            </a:r>
            <a:endParaRPr lang="en-US" sz="1250" dirty="0"/>
          </a:p>
        </p:txBody>
      </p:sp>
      <p:sp>
        <p:nvSpPr>
          <p:cNvPr id="24" name="Shape 21"/>
          <p:cNvSpPr/>
          <p:nvPr/>
        </p:nvSpPr>
        <p:spPr>
          <a:xfrm>
            <a:off x="4160520" y="2971800"/>
            <a:ext cx="3429000" cy="3200400"/>
          </a:xfrm>
          <a:prstGeom prst="roundRect">
            <a:avLst>
              <a:gd name="adj" fmla="val 4000"/>
            </a:avLst>
          </a:prstGeom>
          <a:solidFill>
            <a:schemeClr val="tx2">
              <a:alpha val="92000"/>
            </a:schemeClr>
          </a:solidFill>
          <a:ln w="12700">
            <a:solidFill>
              <a:srgbClr val="1E293B"/>
            </a:solidFill>
            <a:prstDash val="solid"/>
          </a:ln>
        </p:spPr>
      </p:sp>
      <p:sp>
        <p:nvSpPr>
          <p:cNvPr id="25" name="Text 22"/>
          <p:cNvSpPr txBox="1"/>
          <p:nvPr/>
        </p:nvSpPr>
        <p:spPr>
          <a:xfrm>
            <a:off x="4389120" y="3154680"/>
            <a:ext cx="3017520" cy="256032"/>
          </a:xfrm>
          <a:prstGeom prst="rect">
            <a:avLst/>
          </a:prstGeom>
          <a:noFill/>
          <a:ln/>
        </p:spPr>
        <p:txBody>
          <a:bodyPr wrap="square" lIns="0" tIns="0" rIns="0" bIns="0" rtlCol="0" anchor="ctr"/>
          <a:lstStyle/>
          <a:p>
            <a:pPr indent="0" marL="0">
              <a:buNone/>
            </a:pPr>
            <a:r>
              <a:rPr lang="en-US" sz="1050" spc="200" kern="0" dirty="0">
                <a:solidFill>
                  <a:srgbClr val="F59E0B"/>
                </a:solidFill>
                <a:latin typeface="Consolas" pitchFamily="34" charset="0"/>
                <a:ea typeface="Consolas" pitchFamily="34" charset="-122"/>
                <a:cs typeface="Consolas" pitchFamily="34" charset="-120"/>
              </a:rPr>
              <a:t>7 AVISOS DE DATO FALTANTE</a:t>
            </a:r>
            <a:endParaRPr lang="en-US" sz="1050" dirty="0"/>
          </a:p>
        </p:txBody>
      </p:sp>
      <p:sp>
        <p:nvSpPr>
          <p:cNvPr id="26" name="Text 23"/>
          <p:cNvSpPr txBox="1"/>
          <p:nvPr/>
        </p:nvSpPr>
        <p:spPr>
          <a:xfrm>
            <a:off x="4389120" y="3474720"/>
            <a:ext cx="3017520" cy="82296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Las variables con más del 1 % de vacíos reciben una columna extra de 0/1 que dice si el dato faltaba:</a:t>
            </a:r>
            <a:endParaRPr lang="en-US" sz="1250" dirty="0"/>
          </a:p>
        </p:txBody>
      </p:sp>
      <p:sp>
        <p:nvSpPr>
          <p:cNvPr id="27" name="Text 24"/>
          <p:cNvSpPr txBox="1"/>
          <p:nvPr/>
        </p:nvSpPr>
        <p:spPr>
          <a:xfrm>
            <a:off x="4389120" y="4343400"/>
            <a:ext cx="3017520" cy="10972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1"/>
                </a:solidFill>
              </a:rPr>
              <a:t>saldo de créditos · créditos activos · antigüedad laboral · antigüedad como cliente · pagos oportunos · obligaciones · cuotas en mora</a:t>
            </a:r>
            <a:endParaRPr lang="en-US" sz="1250" dirty="0"/>
          </a:p>
        </p:txBody>
      </p:sp>
      <p:sp>
        <p:nvSpPr>
          <p:cNvPr id="28" name="Text 25"/>
          <p:cNvSpPr txBox="1"/>
          <p:nvPr/>
        </p:nvSpPr>
        <p:spPr>
          <a:xfrm>
            <a:off x="4389120" y="5486400"/>
            <a:ext cx="3017520" cy="5486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accent2"/>
                </a:solidFill>
              </a:rPr>
              <a:t>Que falte un dato también puede decir algo de la persona.</a:t>
            </a:r>
            <a:endParaRPr lang="en-US" sz="1250" dirty="0"/>
          </a:p>
        </p:txBody>
      </p:sp>
      <p:sp>
        <p:nvSpPr>
          <p:cNvPr id="29" name="Shape 26"/>
          <p:cNvSpPr/>
          <p:nvPr/>
        </p:nvSpPr>
        <p:spPr>
          <a:xfrm>
            <a:off x="7772400" y="2971800"/>
            <a:ext cx="3867912" cy="3200400"/>
          </a:xfrm>
          <a:prstGeom prst="roundRect">
            <a:avLst>
              <a:gd name="adj" fmla="val 4000"/>
            </a:avLst>
          </a:prstGeom>
          <a:solidFill>
            <a:schemeClr val="tx2">
              <a:alpha val="92000"/>
            </a:schemeClr>
          </a:solidFill>
          <a:ln w="12700">
            <a:solidFill>
              <a:srgbClr val="1E293B"/>
            </a:solidFill>
            <a:prstDash val="solid"/>
          </a:ln>
        </p:spPr>
      </p:sp>
      <p:sp>
        <p:nvSpPr>
          <p:cNvPr id="30" name="Text 27"/>
          <p:cNvSpPr txBox="1"/>
          <p:nvPr/>
        </p:nvSpPr>
        <p:spPr>
          <a:xfrm>
            <a:off x="8001000" y="3154680"/>
            <a:ext cx="3474720" cy="256032"/>
          </a:xfrm>
          <a:prstGeom prst="rect">
            <a:avLst/>
          </a:prstGeom>
          <a:noFill/>
          <a:ln/>
        </p:spPr>
        <p:txBody>
          <a:bodyPr wrap="square" lIns="0" tIns="0" rIns="0" bIns="0" rtlCol="0" anchor="ctr"/>
          <a:lstStyle/>
          <a:p>
            <a:pPr indent="0" marL="0">
              <a:buNone/>
            </a:pPr>
            <a:r>
              <a:rPr lang="en-US" sz="1050" spc="200" kern="0" dirty="0">
                <a:solidFill>
                  <a:srgbClr val="34D399"/>
                </a:solidFill>
                <a:latin typeface="Consolas" pitchFamily="34" charset="0"/>
                <a:ea typeface="Consolas" pitchFamily="34" charset="-122"/>
                <a:cs typeface="Consolas" pitchFamily="34" charset="-120"/>
              </a:rPr>
              <a:t>4 CATEGORÍAS → 18 COLUMNAS</a:t>
            </a:r>
            <a:endParaRPr lang="en-US" sz="1050" dirty="0"/>
          </a:p>
        </p:txBody>
      </p:sp>
      <p:sp>
        <p:nvSpPr>
          <p:cNvPr id="31" name="Text 28"/>
          <p:cNvSpPr txBox="1"/>
          <p:nvPr/>
        </p:nvSpPr>
        <p:spPr>
          <a:xfrm>
            <a:off x="8001000" y="3493008"/>
            <a:ext cx="2560320" cy="2743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Estado civil</a:t>
            </a:r>
            <a:endParaRPr lang="en-US" sz="1250" dirty="0"/>
          </a:p>
        </p:txBody>
      </p:sp>
      <p:sp>
        <p:nvSpPr>
          <p:cNvPr id="32" name="Text 29"/>
          <p:cNvSpPr txBox="1"/>
          <p:nvPr/>
        </p:nvSpPr>
        <p:spPr>
          <a:xfrm>
            <a:off x="10332720" y="3493008"/>
            <a:ext cx="1143000" cy="27432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bg1"/>
                </a:solidFill>
              </a:rPr>
              <a:t>5 columnas</a:t>
            </a:r>
            <a:endParaRPr lang="en-US" sz="1250" dirty="0"/>
          </a:p>
        </p:txBody>
      </p:sp>
      <p:sp>
        <p:nvSpPr>
          <p:cNvPr id="33" name="Text 30"/>
          <p:cNvSpPr txBox="1"/>
          <p:nvPr/>
        </p:nvSpPr>
        <p:spPr>
          <a:xfrm>
            <a:off x="8001000" y="3767328"/>
            <a:ext cx="2560320" cy="2743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Tipo de contrato</a:t>
            </a:r>
            <a:endParaRPr lang="en-US" sz="1250" dirty="0"/>
          </a:p>
        </p:txBody>
      </p:sp>
      <p:sp>
        <p:nvSpPr>
          <p:cNvPr id="34" name="Text 31"/>
          <p:cNvSpPr txBox="1"/>
          <p:nvPr/>
        </p:nvSpPr>
        <p:spPr>
          <a:xfrm>
            <a:off x="10332720" y="3767328"/>
            <a:ext cx="1143000" cy="27432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bg1"/>
                </a:solidFill>
              </a:rPr>
              <a:t>5 columnas</a:t>
            </a:r>
            <a:endParaRPr lang="en-US" sz="1250" dirty="0"/>
          </a:p>
        </p:txBody>
      </p:sp>
      <p:sp>
        <p:nvSpPr>
          <p:cNvPr id="35" name="Text 32"/>
          <p:cNvSpPr txBox="1"/>
          <p:nvPr/>
        </p:nvSpPr>
        <p:spPr>
          <a:xfrm>
            <a:off x="8001000" y="4041648"/>
            <a:ext cx="2560320" cy="2743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Tipo de vivienda</a:t>
            </a:r>
            <a:endParaRPr lang="en-US" sz="1250" dirty="0"/>
          </a:p>
        </p:txBody>
      </p:sp>
      <p:sp>
        <p:nvSpPr>
          <p:cNvPr id="36" name="Text 33"/>
          <p:cNvSpPr txBox="1"/>
          <p:nvPr/>
        </p:nvSpPr>
        <p:spPr>
          <a:xfrm>
            <a:off x="10332720" y="4041648"/>
            <a:ext cx="1143000" cy="27432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bg1"/>
                </a:solidFill>
              </a:rPr>
              <a:t>6 columnas</a:t>
            </a:r>
            <a:endParaRPr lang="en-US" sz="1250" dirty="0"/>
          </a:p>
        </p:txBody>
      </p:sp>
      <p:sp>
        <p:nvSpPr>
          <p:cNvPr id="37" name="Text 34"/>
          <p:cNvSpPr txBox="1"/>
          <p:nvPr/>
        </p:nvSpPr>
        <p:spPr>
          <a:xfrm>
            <a:off x="8001000" y="4315968"/>
            <a:ext cx="2560320" cy="2743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Línea de negocio</a:t>
            </a:r>
            <a:endParaRPr lang="en-US" sz="1250" dirty="0"/>
          </a:p>
        </p:txBody>
      </p:sp>
      <p:sp>
        <p:nvSpPr>
          <p:cNvPr id="38" name="Text 35"/>
          <p:cNvSpPr txBox="1"/>
          <p:nvPr/>
        </p:nvSpPr>
        <p:spPr>
          <a:xfrm>
            <a:off x="10332720" y="4315968"/>
            <a:ext cx="1143000" cy="27432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bg1"/>
                </a:solidFill>
              </a:rPr>
              <a:t>2 columnas</a:t>
            </a:r>
            <a:endParaRPr lang="en-US" sz="1250" dirty="0"/>
          </a:p>
        </p:txBody>
      </p:sp>
      <p:sp>
        <p:nvSpPr>
          <p:cNvPr id="39" name="Text 36"/>
          <p:cNvSpPr txBox="1"/>
          <p:nvPr/>
        </p:nvSpPr>
        <p:spPr>
          <a:xfrm>
            <a:off x="8001000" y="4663440"/>
            <a:ext cx="347472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rPr>
              <a:t>Ejemplo: una persona casada</a:t>
            </a:r>
            <a:endParaRPr lang="en-US" sz="1200" dirty="0"/>
          </a:p>
        </p:txBody>
      </p:sp>
      <p:sp>
        <p:nvSpPr>
          <p:cNvPr id="40" name="Shape 37"/>
          <p:cNvSpPr/>
          <p:nvPr/>
        </p:nvSpPr>
        <p:spPr>
          <a:xfrm>
            <a:off x="8001000" y="4956048"/>
            <a:ext cx="640080" cy="438912"/>
          </a:xfrm>
          <a:prstGeom prst="roundRect">
            <a:avLst>
              <a:gd name="adj" fmla="val 16667"/>
            </a:avLst>
          </a:prstGeom>
          <a:solidFill>
            <a:srgbClr val="1E293B"/>
          </a:solidFill>
          <a:ln w="12700">
            <a:solidFill>
              <a:srgbClr val="334155"/>
            </a:solidFill>
            <a:prstDash val="solid"/>
          </a:ln>
        </p:spPr>
      </p:sp>
      <p:sp>
        <p:nvSpPr>
          <p:cNvPr id="41" name="Text 38"/>
          <p:cNvSpPr txBox="1"/>
          <p:nvPr/>
        </p:nvSpPr>
        <p:spPr>
          <a:xfrm>
            <a:off x="8001000" y="4956048"/>
            <a:ext cx="640080" cy="438912"/>
          </a:xfrm>
          <a:prstGeom prst="rect">
            <a:avLst/>
          </a:prstGeom>
          <a:noFill/>
          <a:ln/>
        </p:spPr>
        <p:txBody>
          <a:bodyPr wrap="square" lIns="0" tIns="0" rIns="0" bIns="0" rtlCol="0" anchor="ctr"/>
          <a:lstStyle/>
          <a:p>
            <a:pPr algn="ctr" indent="0" marL="0">
              <a:lnSpc>
                <a:spcPct val="110000"/>
              </a:lnSpc>
              <a:spcAft>
                <a:spcPts val="400"/>
              </a:spcAft>
              <a:buNone/>
            </a:pPr>
            <a:r>
              <a:rPr lang="en-US" sz="1600" b="1" dirty="0">
                <a:solidFill>
                  <a:srgbClr val="94A3B8"/>
                </a:solidFill>
                <a:latin typeface="Consolas" pitchFamily="34" charset="0"/>
                <a:ea typeface="Consolas" pitchFamily="34" charset="-122"/>
                <a:cs typeface="Consolas" pitchFamily="34" charset="-120"/>
              </a:rPr>
              <a:t>0</a:t>
            </a:r>
            <a:endParaRPr lang="en-US" sz="1600" dirty="0"/>
          </a:p>
        </p:txBody>
      </p:sp>
      <p:sp>
        <p:nvSpPr>
          <p:cNvPr id="42" name="Text 39"/>
          <p:cNvSpPr txBox="1"/>
          <p:nvPr/>
        </p:nvSpPr>
        <p:spPr>
          <a:xfrm>
            <a:off x="7955280" y="5422392"/>
            <a:ext cx="731520" cy="27432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Unión libre</a:t>
            </a:r>
            <a:endParaRPr lang="en-US" sz="850" dirty="0"/>
          </a:p>
        </p:txBody>
      </p:sp>
      <p:sp>
        <p:nvSpPr>
          <p:cNvPr id="43" name="Shape 40"/>
          <p:cNvSpPr/>
          <p:nvPr/>
        </p:nvSpPr>
        <p:spPr>
          <a:xfrm>
            <a:off x="8705088" y="4956048"/>
            <a:ext cx="640080" cy="438912"/>
          </a:xfrm>
          <a:prstGeom prst="roundRect">
            <a:avLst>
              <a:gd name="adj" fmla="val 16667"/>
            </a:avLst>
          </a:prstGeom>
          <a:solidFill>
            <a:srgbClr val="34D399"/>
          </a:solidFill>
          <a:ln w="12700">
            <a:solidFill>
              <a:srgbClr val="34D399"/>
            </a:solidFill>
            <a:prstDash val="solid"/>
          </a:ln>
        </p:spPr>
      </p:sp>
      <p:sp>
        <p:nvSpPr>
          <p:cNvPr id="44" name="Text 41"/>
          <p:cNvSpPr txBox="1"/>
          <p:nvPr/>
        </p:nvSpPr>
        <p:spPr>
          <a:xfrm>
            <a:off x="8705088" y="4956048"/>
            <a:ext cx="640080" cy="438912"/>
          </a:xfrm>
          <a:prstGeom prst="rect">
            <a:avLst/>
          </a:prstGeom>
          <a:noFill/>
          <a:ln/>
        </p:spPr>
        <p:txBody>
          <a:bodyPr wrap="square" lIns="0" tIns="0" rIns="0" bIns="0" rtlCol="0" anchor="ctr"/>
          <a:lstStyle/>
          <a:p>
            <a:pPr algn="ctr" indent="0" marL="0">
              <a:lnSpc>
                <a:spcPct val="110000"/>
              </a:lnSpc>
              <a:spcAft>
                <a:spcPts val="400"/>
              </a:spcAft>
              <a:buNone/>
            </a:pPr>
            <a:r>
              <a:rPr lang="en-US" sz="1600" b="1" dirty="0">
                <a:solidFill>
                  <a:schemeClr val="tx1"/>
                </a:solidFill>
                <a:latin typeface="Consolas" pitchFamily="34" charset="0"/>
                <a:ea typeface="Consolas" pitchFamily="34" charset="-122"/>
                <a:cs typeface="Consolas" pitchFamily="34" charset="-120"/>
              </a:rPr>
              <a:t>1</a:t>
            </a:r>
            <a:endParaRPr lang="en-US" sz="1600" dirty="0"/>
          </a:p>
        </p:txBody>
      </p:sp>
      <p:sp>
        <p:nvSpPr>
          <p:cNvPr id="45" name="Text 42"/>
          <p:cNvSpPr txBox="1"/>
          <p:nvPr/>
        </p:nvSpPr>
        <p:spPr>
          <a:xfrm>
            <a:off x="8659368" y="5422392"/>
            <a:ext cx="731520" cy="27432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Casado</a:t>
            </a:r>
            <a:endParaRPr lang="en-US" sz="850" dirty="0"/>
          </a:p>
        </p:txBody>
      </p:sp>
      <p:sp>
        <p:nvSpPr>
          <p:cNvPr id="46" name="Shape 43"/>
          <p:cNvSpPr/>
          <p:nvPr/>
        </p:nvSpPr>
        <p:spPr>
          <a:xfrm>
            <a:off x="9409176" y="4956048"/>
            <a:ext cx="640080" cy="438912"/>
          </a:xfrm>
          <a:prstGeom prst="roundRect">
            <a:avLst>
              <a:gd name="adj" fmla="val 16667"/>
            </a:avLst>
          </a:prstGeom>
          <a:solidFill>
            <a:srgbClr val="1E293B"/>
          </a:solidFill>
          <a:ln w="12700">
            <a:solidFill>
              <a:srgbClr val="334155"/>
            </a:solidFill>
            <a:prstDash val="solid"/>
          </a:ln>
        </p:spPr>
      </p:sp>
      <p:sp>
        <p:nvSpPr>
          <p:cNvPr id="47" name="Text 44"/>
          <p:cNvSpPr txBox="1"/>
          <p:nvPr/>
        </p:nvSpPr>
        <p:spPr>
          <a:xfrm>
            <a:off x="9409176" y="4956048"/>
            <a:ext cx="640080" cy="438912"/>
          </a:xfrm>
          <a:prstGeom prst="rect">
            <a:avLst/>
          </a:prstGeom>
          <a:noFill/>
          <a:ln/>
        </p:spPr>
        <p:txBody>
          <a:bodyPr wrap="square" lIns="0" tIns="0" rIns="0" bIns="0" rtlCol="0" anchor="ctr"/>
          <a:lstStyle/>
          <a:p>
            <a:pPr algn="ctr" indent="0" marL="0">
              <a:lnSpc>
                <a:spcPct val="110000"/>
              </a:lnSpc>
              <a:spcAft>
                <a:spcPts val="400"/>
              </a:spcAft>
              <a:buNone/>
            </a:pPr>
            <a:r>
              <a:rPr lang="en-US" sz="1600" b="1" dirty="0">
                <a:solidFill>
                  <a:srgbClr val="94A3B8"/>
                </a:solidFill>
                <a:latin typeface="Consolas" pitchFamily="34" charset="0"/>
                <a:ea typeface="Consolas" pitchFamily="34" charset="-122"/>
                <a:cs typeface="Consolas" pitchFamily="34" charset="-120"/>
              </a:rPr>
              <a:t>0</a:t>
            </a:r>
            <a:endParaRPr lang="en-US" sz="1600" dirty="0"/>
          </a:p>
        </p:txBody>
      </p:sp>
      <p:sp>
        <p:nvSpPr>
          <p:cNvPr id="48" name="Text 45"/>
          <p:cNvSpPr txBox="1"/>
          <p:nvPr/>
        </p:nvSpPr>
        <p:spPr>
          <a:xfrm>
            <a:off x="9363456" y="5422392"/>
            <a:ext cx="731520" cy="27432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Separado</a:t>
            </a:r>
            <a:endParaRPr lang="en-US" sz="850" dirty="0"/>
          </a:p>
        </p:txBody>
      </p:sp>
      <p:sp>
        <p:nvSpPr>
          <p:cNvPr id="49" name="Shape 46"/>
          <p:cNvSpPr/>
          <p:nvPr/>
        </p:nvSpPr>
        <p:spPr>
          <a:xfrm>
            <a:off x="10113264" y="4956048"/>
            <a:ext cx="640080" cy="438912"/>
          </a:xfrm>
          <a:prstGeom prst="roundRect">
            <a:avLst>
              <a:gd name="adj" fmla="val 16667"/>
            </a:avLst>
          </a:prstGeom>
          <a:solidFill>
            <a:srgbClr val="1E293B"/>
          </a:solidFill>
          <a:ln w="12700">
            <a:solidFill>
              <a:srgbClr val="334155"/>
            </a:solidFill>
            <a:prstDash val="solid"/>
          </a:ln>
        </p:spPr>
      </p:sp>
      <p:sp>
        <p:nvSpPr>
          <p:cNvPr id="50" name="Text 47"/>
          <p:cNvSpPr txBox="1"/>
          <p:nvPr/>
        </p:nvSpPr>
        <p:spPr>
          <a:xfrm>
            <a:off x="10113264" y="4956048"/>
            <a:ext cx="640080" cy="438912"/>
          </a:xfrm>
          <a:prstGeom prst="rect">
            <a:avLst/>
          </a:prstGeom>
          <a:noFill/>
          <a:ln/>
        </p:spPr>
        <p:txBody>
          <a:bodyPr wrap="square" lIns="0" tIns="0" rIns="0" bIns="0" rtlCol="0" anchor="ctr"/>
          <a:lstStyle/>
          <a:p>
            <a:pPr algn="ctr" indent="0" marL="0">
              <a:lnSpc>
                <a:spcPct val="110000"/>
              </a:lnSpc>
              <a:spcAft>
                <a:spcPts val="400"/>
              </a:spcAft>
              <a:buNone/>
            </a:pPr>
            <a:r>
              <a:rPr lang="en-US" sz="1600" b="1" dirty="0">
                <a:solidFill>
                  <a:srgbClr val="94A3B8"/>
                </a:solidFill>
                <a:latin typeface="Consolas" pitchFamily="34" charset="0"/>
                <a:ea typeface="Consolas" pitchFamily="34" charset="-122"/>
                <a:cs typeface="Consolas" pitchFamily="34" charset="-120"/>
              </a:rPr>
              <a:t>0</a:t>
            </a:r>
            <a:endParaRPr lang="en-US" sz="1600" dirty="0"/>
          </a:p>
        </p:txBody>
      </p:sp>
      <p:sp>
        <p:nvSpPr>
          <p:cNvPr id="51" name="Text 48"/>
          <p:cNvSpPr txBox="1"/>
          <p:nvPr/>
        </p:nvSpPr>
        <p:spPr>
          <a:xfrm>
            <a:off x="10067544" y="5422392"/>
            <a:ext cx="731520" cy="27432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Soltero</a:t>
            </a:r>
            <a:endParaRPr lang="en-US" sz="850" dirty="0"/>
          </a:p>
        </p:txBody>
      </p:sp>
      <p:sp>
        <p:nvSpPr>
          <p:cNvPr id="52" name="Shape 49"/>
          <p:cNvSpPr/>
          <p:nvPr/>
        </p:nvSpPr>
        <p:spPr>
          <a:xfrm>
            <a:off x="10817352" y="4956048"/>
            <a:ext cx="640080" cy="438912"/>
          </a:xfrm>
          <a:prstGeom prst="roundRect">
            <a:avLst>
              <a:gd name="adj" fmla="val 16667"/>
            </a:avLst>
          </a:prstGeom>
          <a:solidFill>
            <a:srgbClr val="1E293B"/>
          </a:solidFill>
          <a:ln w="12700">
            <a:solidFill>
              <a:srgbClr val="334155"/>
            </a:solidFill>
            <a:prstDash val="solid"/>
          </a:ln>
        </p:spPr>
      </p:sp>
      <p:sp>
        <p:nvSpPr>
          <p:cNvPr id="53" name="Text 50"/>
          <p:cNvSpPr txBox="1"/>
          <p:nvPr/>
        </p:nvSpPr>
        <p:spPr>
          <a:xfrm>
            <a:off x="10817352" y="4956048"/>
            <a:ext cx="640080" cy="438912"/>
          </a:xfrm>
          <a:prstGeom prst="rect">
            <a:avLst/>
          </a:prstGeom>
          <a:noFill/>
          <a:ln/>
        </p:spPr>
        <p:txBody>
          <a:bodyPr wrap="square" lIns="0" tIns="0" rIns="0" bIns="0" rtlCol="0" anchor="ctr"/>
          <a:lstStyle/>
          <a:p>
            <a:pPr algn="ctr" indent="0" marL="0">
              <a:lnSpc>
                <a:spcPct val="110000"/>
              </a:lnSpc>
              <a:spcAft>
                <a:spcPts val="400"/>
              </a:spcAft>
              <a:buNone/>
            </a:pPr>
            <a:r>
              <a:rPr lang="en-US" sz="1600" b="1" dirty="0">
                <a:solidFill>
                  <a:srgbClr val="94A3B8"/>
                </a:solidFill>
                <a:latin typeface="Consolas" pitchFamily="34" charset="0"/>
                <a:ea typeface="Consolas" pitchFamily="34" charset="-122"/>
                <a:cs typeface="Consolas" pitchFamily="34" charset="-120"/>
              </a:rPr>
              <a:t>0</a:t>
            </a:r>
            <a:endParaRPr lang="en-US" sz="1600" dirty="0"/>
          </a:p>
        </p:txBody>
      </p:sp>
      <p:sp>
        <p:nvSpPr>
          <p:cNvPr id="54" name="Text 51"/>
          <p:cNvSpPr txBox="1"/>
          <p:nvPr/>
        </p:nvSpPr>
        <p:spPr>
          <a:xfrm>
            <a:off x="10771632" y="5422392"/>
            <a:ext cx="731520" cy="27432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Viudo</a:t>
            </a:r>
            <a:endParaRPr lang="en-US" sz="850" dirty="0"/>
          </a:p>
        </p:txBody>
      </p:sp>
      <p:sp>
        <p:nvSpPr>
          <p:cNvPr id="55" name="Text 52"/>
          <p:cNvSpPr txBox="1"/>
          <p:nvPr/>
        </p:nvSpPr>
        <p:spPr>
          <a:xfrm>
            <a:off x="8001000" y="5715000"/>
            <a:ext cx="3474720" cy="4114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accent2"/>
                </a:solidFill>
              </a:rPr>
              <a:t>Si numeráramos 1, 2, 3…, la red creería que «viudo» es mayor que «casado».</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Cómo aprende una red neuronal</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Una red neuronal es un conjunto de pequeñas calculadoras (neuronas) organizadas en capas. Cada conexión tiene un número llamado «peso». Aprender significa ajustar esos pesos hasta equivocarse lo menos posible.</a:t>
            </a:r>
            <a:endParaRPr lang="en-US" sz="1500" dirty="0"/>
          </a:p>
        </p:txBody>
      </p:sp>
      <p:sp>
        <p:nvSpPr>
          <p:cNvPr id="5" name="Shape 2"/>
          <p:cNvSpPr/>
          <p:nvPr/>
        </p:nvSpPr>
        <p:spPr>
          <a:xfrm>
            <a:off x="548640" y="1965960"/>
            <a:ext cx="5669280" cy="4206240"/>
          </a:xfrm>
          <a:prstGeom prst="roundRect">
            <a:avLst>
              <a:gd name="adj" fmla="val 3043"/>
            </a:avLst>
          </a:prstGeom>
          <a:solidFill>
            <a:schemeClr val="tx2">
              <a:alpha val="92000"/>
            </a:schemeClr>
          </a:solidFill>
          <a:ln w="12700">
            <a:solidFill>
              <a:srgbClr val="1E293B"/>
            </a:solidFill>
            <a:prstDash val="solid"/>
          </a:ln>
        </p:spPr>
      </p:sp>
      <p:sp>
        <p:nvSpPr>
          <p:cNvPr id="6" name="Text 3"/>
          <p:cNvSpPr txBox="1"/>
          <p:nvPr/>
        </p:nvSpPr>
        <p:spPr>
          <a:xfrm>
            <a:off x="777240" y="2121408"/>
            <a:ext cx="530352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RED PRINCIPAL: 44 → 64 → 32 → 16 → 1</a:t>
            </a:r>
            <a:endParaRPr lang="en-US" sz="1050" dirty="0"/>
          </a:p>
        </p:txBody>
      </p:sp>
      <p:sp>
        <p:nvSpPr>
          <p:cNvPr id="7" name="Shape 4"/>
          <p:cNvSpPr/>
          <p:nvPr/>
        </p:nvSpPr>
        <p:spPr>
          <a:xfrm>
            <a:off x="1088136" y="2688336"/>
            <a:ext cx="1097280" cy="914"/>
          </a:xfrm>
          <a:prstGeom prst="line">
            <a:avLst/>
          </a:prstGeom>
          <a:noFill/>
          <a:ln w="6350">
            <a:solidFill>
              <a:srgbClr val="1E3A8A"/>
            </a:solidFill>
            <a:prstDash val="solid"/>
          </a:ln>
        </p:spPr>
      </p:sp>
      <p:sp>
        <p:nvSpPr>
          <p:cNvPr id="8" name="Shape 5"/>
          <p:cNvSpPr/>
          <p:nvPr/>
        </p:nvSpPr>
        <p:spPr>
          <a:xfrm>
            <a:off x="1088136" y="2688336"/>
            <a:ext cx="1097280" cy="441960"/>
          </a:xfrm>
          <a:prstGeom prst="line">
            <a:avLst/>
          </a:prstGeom>
          <a:noFill/>
          <a:ln w="6350">
            <a:solidFill>
              <a:srgbClr val="1E3A8A"/>
            </a:solidFill>
            <a:prstDash val="solid"/>
          </a:ln>
        </p:spPr>
      </p:sp>
      <p:sp>
        <p:nvSpPr>
          <p:cNvPr id="9" name="Shape 6"/>
          <p:cNvSpPr/>
          <p:nvPr/>
        </p:nvSpPr>
        <p:spPr>
          <a:xfrm>
            <a:off x="1088136" y="2688336"/>
            <a:ext cx="1097280" cy="883920"/>
          </a:xfrm>
          <a:prstGeom prst="line">
            <a:avLst/>
          </a:prstGeom>
          <a:noFill/>
          <a:ln w="6350">
            <a:solidFill>
              <a:srgbClr val="1E3A8A"/>
            </a:solidFill>
            <a:prstDash val="solid"/>
          </a:ln>
        </p:spPr>
      </p:sp>
      <p:sp>
        <p:nvSpPr>
          <p:cNvPr id="10" name="Shape 7"/>
          <p:cNvSpPr/>
          <p:nvPr/>
        </p:nvSpPr>
        <p:spPr>
          <a:xfrm>
            <a:off x="1088136" y="2688336"/>
            <a:ext cx="1097280" cy="1325880"/>
          </a:xfrm>
          <a:prstGeom prst="line">
            <a:avLst/>
          </a:prstGeom>
          <a:noFill/>
          <a:ln w="6350">
            <a:solidFill>
              <a:srgbClr val="1E3A8A"/>
            </a:solidFill>
            <a:prstDash val="solid"/>
          </a:ln>
        </p:spPr>
      </p:sp>
      <p:sp>
        <p:nvSpPr>
          <p:cNvPr id="11" name="Shape 8"/>
          <p:cNvSpPr/>
          <p:nvPr/>
        </p:nvSpPr>
        <p:spPr>
          <a:xfrm>
            <a:off x="1088136" y="2688336"/>
            <a:ext cx="1097280" cy="1767840"/>
          </a:xfrm>
          <a:prstGeom prst="line">
            <a:avLst/>
          </a:prstGeom>
          <a:noFill/>
          <a:ln w="6350">
            <a:solidFill>
              <a:srgbClr val="1E3A8A"/>
            </a:solidFill>
            <a:prstDash val="solid"/>
          </a:ln>
        </p:spPr>
      </p:sp>
      <p:sp>
        <p:nvSpPr>
          <p:cNvPr id="12" name="Shape 9"/>
          <p:cNvSpPr/>
          <p:nvPr/>
        </p:nvSpPr>
        <p:spPr>
          <a:xfrm>
            <a:off x="1088136" y="2688336"/>
            <a:ext cx="1097280" cy="2209800"/>
          </a:xfrm>
          <a:prstGeom prst="line">
            <a:avLst/>
          </a:prstGeom>
          <a:noFill/>
          <a:ln w="6350">
            <a:solidFill>
              <a:srgbClr val="1E3A8A"/>
            </a:solidFill>
            <a:prstDash val="solid"/>
          </a:ln>
        </p:spPr>
      </p:sp>
      <p:sp>
        <p:nvSpPr>
          <p:cNvPr id="13" name="Shape 10"/>
          <p:cNvSpPr/>
          <p:nvPr/>
        </p:nvSpPr>
        <p:spPr>
          <a:xfrm>
            <a:off x="1088136" y="2688336"/>
            <a:ext cx="1097280" cy="2651760"/>
          </a:xfrm>
          <a:prstGeom prst="line">
            <a:avLst/>
          </a:prstGeom>
          <a:noFill/>
          <a:ln w="6350">
            <a:solidFill>
              <a:srgbClr val="1E3A8A"/>
            </a:solidFill>
            <a:prstDash val="solid"/>
          </a:ln>
        </p:spPr>
      </p:sp>
      <p:sp>
        <p:nvSpPr>
          <p:cNvPr id="14" name="Shape 11"/>
          <p:cNvSpPr/>
          <p:nvPr/>
        </p:nvSpPr>
        <p:spPr>
          <a:xfrm flipV="1">
            <a:off x="1088136" y="2688336"/>
            <a:ext cx="1097280" cy="530352"/>
          </a:xfrm>
          <a:prstGeom prst="line">
            <a:avLst/>
          </a:prstGeom>
          <a:noFill/>
          <a:ln w="6350">
            <a:solidFill>
              <a:srgbClr val="1E3A8A"/>
            </a:solidFill>
            <a:prstDash val="solid"/>
          </a:ln>
        </p:spPr>
      </p:sp>
      <p:sp>
        <p:nvSpPr>
          <p:cNvPr id="15" name="Shape 12"/>
          <p:cNvSpPr/>
          <p:nvPr/>
        </p:nvSpPr>
        <p:spPr>
          <a:xfrm flipV="1">
            <a:off x="1088136" y="3130296"/>
            <a:ext cx="1097280" cy="88392"/>
          </a:xfrm>
          <a:prstGeom prst="line">
            <a:avLst/>
          </a:prstGeom>
          <a:noFill/>
          <a:ln w="6350">
            <a:solidFill>
              <a:srgbClr val="1E3A8A"/>
            </a:solidFill>
            <a:prstDash val="solid"/>
          </a:ln>
        </p:spPr>
      </p:sp>
      <p:sp>
        <p:nvSpPr>
          <p:cNvPr id="16" name="Shape 13"/>
          <p:cNvSpPr/>
          <p:nvPr/>
        </p:nvSpPr>
        <p:spPr>
          <a:xfrm>
            <a:off x="1088136" y="3218688"/>
            <a:ext cx="1097280" cy="353568"/>
          </a:xfrm>
          <a:prstGeom prst="line">
            <a:avLst/>
          </a:prstGeom>
          <a:noFill/>
          <a:ln w="6350">
            <a:solidFill>
              <a:srgbClr val="1E3A8A"/>
            </a:solidFill>
            <a:prstDash val="solid"/>
          </a:ln>
        </p:spPr>
      </p:sp>
      <p:sp>
        <p:nvSpPr>
          <p:cNvPr id="17" name="Shape 14"/>
          <p:cNvSpPr/>
          <p:nvPr/>
        </p:nvSpPr>
        <p:spPr>
          <a:xfrm>
            <a:off x="1088136" y="3218688"/>
            <a:ext cx="1097280" cy="795528"/>
          </a:xfrm>
          <a:prstGeom prst="line">
            <a:avLst/>
          </a:prstGeom>
          <a:noFill/>
          <a:ln w="6350">
            <a:solidFill>
              <a:srgbClr val="1E3A8A"/>
            </a:solidFill>
            <a:prstDash val="solid"/>
          </a:ln>
        </p:spPr>
      </p:sp>
      <p:sp>
        <p:nvSpPr>
          <p:cNvPr id="18" name="Shape 15"/>
          <p:cNvSpPr/>
          <p:nvPr/>
        </p:nvSpPr>
        <p:spPr>
          <a:xfrm>
            <a:off x="1088136" y="3218688"/>
            <a:ext cx="1097280" cy="1237488"/>
          </a:xfrm>
          <a:prstGeom prst="line">
            <a:avLst/>
          </a:prstGeom>
          <a:noFill/>
          <a:ln w="6350">
            <a:solidFill>
              <a:srgbClr val="1E3A8A"/>
            </a:solidFill>
            <a:prstDash val="solid"/>
          </a:ln>
        </p:spPr>
      </p:sp>
      <p:sp>
        <p:nvSpPr>
          <p:cNvPr id="19" name="Shape 16"/>
          <p:cNvSpPr/>
          <p:nvPr/>
        </p:nvSpPr>
        <p:spPr>
          <a:xfrm>
            <a:off x="1088136" y="3218688"/>
            <a:ext cx="1097280" cy="1679448"/>
          </a:xfrm>
          <a:prstGeom prst="line">
            <a:avLst/>
          </a:prstGeom>
          <a:noFill/>
          <a:ln w="6350">
            <a:solidFill>
              <a:srgbClr val="1E3A8A"/>
            </a:solidFill>
            <a:prstDash val="solid"/>
          </a:ln>
        </p:spPr>
      </p:sp>
      <p:sp>
        <p:nvSpPr>
          <p:cNvPr id="20" name="Shape 17"/>
          <p:cNvSpPr/>
          <p:nvPr/>
        </p:nvSpPr>
        <p:spPr>
          <a:xfrm>
            <a:off x="1088136" y="3218688"/>
            <a:ext cx="1097280" cy="2121408"/>
          </a:xfrm>
          <a:prstGeom prst="line">
            <a:avLst/>
          </a:prstGeom>
          <a:noFill/>
          <a:ln w="6350">
            <a:solidFill>
              <a:srgbClr val="1E3A8A"/>
            </a:solidFill>
            <a:prstDash val="solid"/>
          </a:ln>
        </p:spPr>
      </p:sp>
      <p:sp>
        <p:nvSpPr>
          <p:cNvPr id="21" name="Shape 18"/>
          <p:cNvSpPr/>
          <p:nvPr/>
        </p:nvSpPr>
        <p:spPr>
          <a:xfrm flipV="1">
            <a:off x="1088136" y="2688336"/>
            <a:ext cx="1097280" cy="1060704"/>
          </a:xfrm>
          <a:prstGeom prst="line">
            <a:avLst/>
          </a:prstGeom>
          <a:noFill/>
          <a:ln w="6350">
            <a:solidFill>
              <a:srgbClr val="1E3A8A"/>
            </a:solidFill>
            <a:prstDash val="solid"/>
          </a:ln>
        </p:spPr>
      </p:sp>
      <p:sp>
        <p:nvSpPr>
          <p:cNvPr id="22" name="Shape 19"/>
          <p:cNvSpPr/>
          <p:nvPr/>
        </p:nvSpPr>
        <p:spPr>
          <a:xfrm flipV="1">
            <a:off x="1088136" y="3130296"/>
            <a:ext cx="1097280" cy="618744"/>
          </a:xfrm>
          <a:prstGeom prst="line">
            <a:avLst/>
          </a:prstGeom>
          <a:noFill/>
          <a:ln w="6350">
            <a:solidFill>
              <a:srgbClr val="1E3A8A"/>
            </a:solidFill>
            <a:prstDash val="solid"/>
          </a:ln>
        </p:spPr>
      </p:sp>
      <p:sp>
        <p:nvSpPr>
          <p:cNvPr id="23" name="Shape 20"/>
          <p:cNvSpPr/>
          <p:nvPr/>
        </p:nvSpPr>
        <p:spPr>
          <a:xfrm flipV="1">
            <a:off x="1088136" y="3572256"/>
            <a:ext cx="1097280" cy="176784"/>
          </a:xfrm>
          <a:prstGeom prst="line">
            <a:avLst/>
          </a:prstGeom>
          <a:noFill/>
          <a:ln w="6350">
            <a:solidFill>
              <a:srgbClr val="1E3A8A"/>
            </a:solidFill>
            <a:prstDash val="solid"/>
          </a:ln>
        </p:spPr>
      </p:sp>
      <p:sp>
        <p:nvSpPr>
          <p:cNvPr id="24" name="Shape 21"/>
          <p:cNvSpPr/>
          <p:nvPr/>
        </p:nvSpPr>
        <p:spPr>
          <a:xfrm>
            <a:off x="1088136" y="3749040"/>
            <a:ext cx="1097280" cy="265176"/>
          </a:xfrm>
          <a:prstGeom prst="line">
            <a:avLst/>
          </a:prstGeom>
          <a:noFill/>
          <a:ln w="6350">
            <a:solidFill>
              <a:srgbClr val="1E3A8A"/>
            </a:solidFill>
            <a:prstDash val="solid"/>
          </a:ln>
        </p:spPr>
      </p:sp>
      <p:sp>
        <p:nvSpPr>
          <p:cNvPr id="25" name="Shape 22"/>
          <p:cNvSpPr/>
          <p:nvPr/>
        </p:nvSpPr>
        <p:spPr>
          <a:xfrm>
            <a:off x="1088136" y="3749040"/>
            <a:ext cx="1097280" cy="707136"/>
          </a:xfrm>
          <a:prstGeom prst="line">
            <a:avLst/>
          </a:prstGeom>
          <a:noFill/>
          <a:ln w="6350">
            <a:solidFill>
              <a:srgbClr val="1E3A8A"/>
            </a:solidFill>
            <a:prstDash val="solid"/>
          </a:ln>
        </p:spPr>
      </p:sp>
      <p:sp>
        <p:nvSpPr>
          <p:cNvPr id="26" name="Shape 23"/>
          <p:cNvSpPr/>
          <p:nvPr/>
        </p:nvSpPr>
        <p:spPr>
          <a:xfrm>
            <a:off x="1088136" y="3749040"/>
            <a:ext cx="1097280" cy="1149096"/>
          </a:xfrm>
          <a:prstGeom prst="line">
            <a:avLst/>
          </a:prstGeom>
          <a:noFill/>
          <a:ln w="6350">
            <a:solidFill>
              <a:srgbClr val="1E3A8A"/>
            </a:solidFill>
            <a:prstDash val="solid"/>
          </a:ln>
        </p:spPr>
      </p:sp>
      <p:sp>
        <p:nvSpPr>
          <p:cNvPr id="27" name="Shape 24"/>
          <p:cNvSpPr/>
          <p:nvPr/>
        </p:nvSpPr>
        <p:spPr>
          <a:xfrm>
            <a:off x="1088136" y="3749040"/>
            <a:ext cx="1097280" cy="1591056"/>
          </a:xfrm>
          <a:prstGeom prst="line">
            <a:avLst/>
          </a:prstGeom>
          <a:noFill/>
          <a:ln w="6350">
            <a:solidFill>
              <a:srgbClr val="1E3A8A"/>
            </a:solidFill>
            <a:prstDash val="solid"/>
          </a:ln>
        </p:spPr>
      </p:sp>
      <p:sp>
        <p:nvSpPr>
          <p:cNvPr id="28" name="Shape 25"/>
          <p:cNvSpPr/>
          <p:nvPr/>
        </p:nvSpPr>
        <p:spPr>
          <a:xfrm flipV="1">
            <a:off x="1088136" y="2688336"/>
            <a:ext cx="1097280" cy="1591056"/>
          </a:xfrm>
          <a:prstGeom prst="line">
            <a:avLst/>
          </a:prstGeom>
          <a:noFill/>
          <a:ln w="6350">
            <a:solidFill>
              <a:srgbClr val="1E3A8A"/>
            </a:solidFill>
            <a:prstDash val="solid"/>
          </a:ln>
        </p:spPr>
      </p:sp>
      <p:sp>
        <p:nvSpPr>
          <p:cNvPr id="29" name="Shape 26"/>
          <p:cNvSpPr/>
          <p:nvPr/>
        </p:nvSpPr>
        <p:spPr>
          <a:xfrm flipV="1">
            <a:off x="1088136" y="3130296"/>
            <a:ext cx="1097280" cy="1149096"/>
          </a:xfrm>
          <a:prstGeom prst="line">
            <a:avLst/>
          </a:prstGeom>
          <a:noFill/>
          <a:ln w="6350">
            <a:solidFill>
              <a:srgbClr val="1E3A8A"/>
            </a:solidFill>
            <a:prstDash val="solid"/>
          </a:ln>
        </p:spPr>
      </p:sp>
      <p:sp>
        <p:nvSpPr>
          <p:cNvPr id="30" name="Shape 27"/>
          <p:cNvSpPr/>
          <p:nvPr/>
        </p:nvSpPr>
        <p:spPr>
          <a:xfrm flipV="1">
            <a:off x="1088136" y="3572256"/>
            <a:ext cx="1097280" cy="707136"/>
          </a:xfrm>
          <a:prstGeom prst="line">
            <a:avLst/>
          </a:prstGeom>
          <a:noFill/>
          <a:ln w="6350">
            <a:solidFill>
              <a:srgbClr val="1E3A8A"/>
            </a:solidFill>
            <a:prstDash val="solid"/>
          </a:ln>
        </p:spPr>
      </p:sp>
      <p:sp>
        <p:nvSpPr>
          <p:cNvPr id="31" name="Shape 28"/>
          <p:cNvSpPr/>
          <p:nvPr/>
        </p:nvSpPr>
        <p:spPr>
          <a:xfrm flipV="1">
            <a:off x="1088136" y="4014216"/>
            <a:ext cx="1097280" cy="265176"/>
          </a:xfrm>
          <a:prstGeom prst="line">
            <a:avLst/>
          </a:prstGeom>
          <a:noFill/>
          <a:ln w="6350">
            <a:solidFill>
              <a:srgbClr val="1E3A8A"/>
            </a:solidFill>
            <a:prstDash val="solid"/>
          </a:ln>
        </p:spPr>
      </p:sp>
      <p:sp>
        <p:nvSpPr>
          <p:cNvPr id="32" name="Shape 29"/>
          <p:cNvSpPr/>
          <p:nvPr/>
        </p:nvSpPr>
        <p:spPr>
          <a:xfrm>
            <a:off x="1088136" y="4279392"/>
            <a:ext cx="1097280" cy="176784"/>
          </a:xfrm>
          <a:prstGeom prst="line">
            <a:avLst/>
          </a:prstGeom>
          <a:noFill/>
          <a:ln w="6350">
            <a:solidFill>
              <a:srgbClr val="1E3A8A"/>
            </a:solidFill>
            <a:prstDash val="solid"/>
          </a:ln>
        </p:spPr>
      </p:sp>
      <p:sp>
        <p:nvSpPr>
          <p:cNvPr id="33" name="Shape 30"/>
          <p:cNvSpPr/>
          <p:nvPr/>
        </p:nvSpPr>
        <p:spPr>
          <a:xfrm>
            <a:off x="1088136" y="4279392"/>
            <a:ext cx="1097280" cy="618744"/>
          </a:xfrm>
          <a:prstGeom prst="line">
            <a:avLst/>
          </a:prstGeom>
          <a:noFill/>
          <a:ln w="6350">
            <a:solidFill>
              <a:srgbClr val="1E3A8A"/>
            </a:solidFill>
            <a:prstDash val="solid"/>
          </a:ln>
        </p:spPr>
      </p:sp>
      <p:sp>
        <p:nvSpPr>
          <p:cNvPr id="34" name="Shape 31"/>
          <p:cNvSpPr/>
          <p:nvPr/>
        </p:nvSpPr>
        <p:spPr>
          <a:xfrm>
            <a:off x="1088136" y="4279392"/>
            <a:ext cx="1097280" cy="1060704"/>
          </a:xfrm>
          <a:prstGeom prst="line">
            <a:avLst/>
          </a:prstGeom>
          <a:noFill/>
          <a:ln w="6350">
            <a:solidFill>
              <a:srgbClr val="1E3A8A"/>
            </a:solidFill>
            <a:prstDash val="solid"/>
          </a:ln>
        </p:spPr>
      </p:sp>
      <p:sp>
        <p:nvSpPr>
          <p:cNvPr id="35" name="Shape 32"/>
          <p:cNvSpPr/>
          <p:nvPr/>
        </p:nvSpPr>
        <p:spPr>
          <a:xfrm flipV="1">
            <a:off x="1088136" y="2688336"/>
            <a:ext cx="1097280" cy="2121408"/>
          </a:xfrm>
          <a:prstGeom prst="line">
            <a:avLst/>
          </a:prstGeom>
          <a:noFill/>
          <a:ln w="6350">
            <a:solidFill>
              <a:srgbClr val="1E3A8A"/>
            </a:solidFill>
            <a:prstDash val="solid"/>
          </a:ln>
        </p:spPr>
      </p:sp>
      <p:sp>
        <p:nvSpPr>
          <p:cNvPr id="36" name="Shape 33"/>
          <p:cNvSpPr/>
          <p:nvPr/>
        </p:nvSpPr>
        <p:spPr>
          <a:xfrm flipV="1">
            <a:off x="1088136" y="3130296"/>
            <a:ext cx="1097280" cy="1679448"/>
          </a:xfrm>
          <a:prstGeom prst="line">
            <a:avLst/>
          </a:prstGeom>
          <a:noFill/>
          <a:ln w="6350">
            <a:solidFill>
              <a:srgbClr val="1E3A8A"/>
            </a:solidFill>
            <a:prstDash val="solid"/>
          </a:ln>
        </p:spPr>
      </p:sp>
      <p:sp>
        <p:nvSpPr>
          <p:cNvPr id="37" name="Shape 34"/>
          <p:cNvSpPr/>
          <p:nvPr/>
        </p:nvSpPr>
        <p:spPr>
          <a:xfrm flipV="1">
            <a:off x="1088136" y="3572256"/>
            <a:ext cx="1097280" cy="1237488"/>
          </a:xfrm>
          <a:prstGeom prst="line">
            <a:avLst/>
          </a:prstGeom>
          <a:noFill/>
          <a:ln w="6350">
            <a:solidFill>
              <a:srgbClr val="1E3A8A"/>
            </a:solidFill>
            <a:prstDash val="solid"/>
          </a:ln>
        </p:spPr>
      </p:sp>
      <p:sp>
        <p:nvSpPr>
          <p:cNvPr id="38" name="Shape 35"/>
          <p:cNvSpPr/>
          <p:nvPr/>
        </p:nvSpPr>
        <p:spPr>
          <a:xfrm flipV="1">
            <a:off x="1088136" y="4014216"/>
            <a:ext cx="1097280" cy="795528"/>
          </a:xfrm>
          <a:prstGeom prst="line">
            <a:avLst/>
          </a:prstGeom>
          <a:noFill/>
          <a:ln w="6350">
            <a:solidFill>
              <a:srgbClr val="1E3A8A"/>
            </a:solidFill>
            <a:prstDash val="solid"/>
          </a:ln>
        </p:spPr>
      </p:sp>
      <p:sp>
        <p:nvSpPr>
          <p:cNvPr id="39" name="Shape 36"/>
          <p:cNvSpPr/>
          <p:nvPr/>
        </p:nvSpPr>
        <p:spPr>
          <a:xfrm flipV="1">
            <a:off x="1088136" y="4456176"/>
            <a:ext cx="1097280" cy="353568"/>
          </a:xfrm>
          <a:prstGeom prst="line">
            <a:avLst/>
          </a:prstGeom>
          <a:noFill/>
          <a:ln w="6350">
            <a:solidFill>
              <a:srgbClr val="1E3A8A"/>
            </a:solidFill>
            <a:prstDash val="solid"/>
          </a:ln>
        </p:spPr>
      </p:sp>
      <p:sp>
        <p:nvSpPr>
          <p:cNvPr id="40" name="Shape 37"/>
          <p:cNvSpPr/>
          <p:nvPr/>
        </p:nvSpPr>
        <p:spPr>
          <a:xfrm>
            <a:off x="1088136" y="4809744"/>
            <a:ext cx="1097280" cy="88392"/>
          </a:xfrm>
          <a:prstGeom prst="line">
            <a:avLst/>
          </a:prstGeom>
          <a:noFill/>
          <a:ln w="6350">
            <a:solidFill>
              <a:srgbClr val="1E3A8A"/>
            </a:solidFill>
            <a:prstDash val="solid"/>
          </a:ln>
        </p:spPr>
      </p:sp>
      <p:sp>
        <p:nvSpPr>
          <p:cNvPr id="41" name="Shape 38"/>
          <p:cNvSpPr/>
          <p:nvPr/>
        </p:nvSpPr>
        <p:spPr>
          <a:xfrm>
            <a:off x="1088136" y="4809744"/>
            <a:ext cx="1097280" cy="530352"/>
          </a:xfrm>
          <a:prstGeom prst="line">
            <a:avLst/>
          </a:prstGeom>
          <a:noFill/>
          <a:ln w="6350">
            <a:solidFill>
              <a:srgbClr val="1E3A8A"/>
            </a:solidFill>
            <a:prstDash val="solid"/>
          </a:ln>
        </p:spPr>
      </p:sp>
      <p:sp>
        <p:nvSpPr>
          <p:cNvPr id="42" name="Shape 39"/>
          <p:cNvSpPr/>
          <p:nvPr/>
        </p:nvSpPr>
        <p:spPr>
          <a:xfrm flipV="1">
            <a:off x="1088136" y="2688336"/>
            <a:ext cx="1097280" cy="2651760"/>
          </a:xfrm>
          <a:prstGeom prst="line">
            <a:avLst/>
          </a:prstGeom>
          <a:noFill/>
          <a:ln w="6350">
            <a:solidFill>
              <a:srgbClr val="1E3A8A"/>
            </a:solidFill>
            <a:prstDash val="solid"/>
          </a:ln>
        </p:spPr>
      </p:sp>
      <p:sp>
        <p:nvSpPr>
          <p:cNvPr id="43" name="Shape 40"/>
          <p:cNvSpPr/>
          <p:nvPr/>
        </p:nvSpPr>
        <p:spPr>
          <a:xfrm flipV="1">
            <a:off x="1088136" y="3130296"/>
            <a:ext cx="1097280" cy="2209800"/>
          </a:xfrm>
          <a:prstGeom prst="line">
            <a:avLst/>
          </a:prstGeom>
          <a:noFill/>
          <a:ln w="6350">
            <a:solidFill>
              <a:srgbClr val="1E3A8A"/>
            </a:solidFill>
            <a:prstDash val="solid"/>
          </a:ln>
        </p:spPr>
      </p:sp>
      <p:sp>
        <p:nvSpPr>
          <p:cNvPr id="44" name="Shape 41"/>
          <p:cNvSpPr/>
          <p:nvPr/>
        </p:nvSpPr>
        <p:spPr>
          <a:xfrm flipV="1">
            <a:off x="1088136" y="3572256"/>
            <a:ext cx="1097280" cy="1767840"/>
          </a:xfrm>
          <a:prstGeom prst="line">
            <a:avLst/>
          </a:prstGeom>
          <a:noFill/>
          <a:ln w="6350">
            <a:solidFill>
              <a:srgbClr val="1E3A8A"/>
            </a:solidFill>
            <a:prstDash val="solid"/>
          </a:ln>
        </p:spPr>
      </p:sp>
      <p:sp>
        <p:nvSpPr>
          <p:cNvPr id="45" name="Shape 42"/>
          <p:cNvSpPr/>
          <p:nvPr/>
        </p:nvSpPr>
        <p:spPr>
          <a:xfrm flipV="1">
            <a:off x="1088136" y="4014216"/>
            <a:ext cx="1097280" cy="1325880"/>
          </a:xfrm>
          <a:prstGeom prst="line">
            <a:avLst/>
          </a:prstGeom>
          <a:noFill/>
          <a:ln w="6350">
            <a:solidFill>
              <a:srgbClr val="1E3A8A"/>
            </a:solidFill>
            <a:prstDash val="solid"/>
          </a:ln>
        </p:spPr>
      </p:sp>
      <p:sp>
        <p:nvSpPr>
          <p:cNvPr id="46" name="Shape 43"/>
          <p:cNvSpPr/>
          <p:nvPr/>
        </p:nvSpPr>
        <p:spPr>
          <a:xfrm flipV="1">
            <a:off x="1088136" y="4456176"/>
            <a:ext cx="1097280" cy="883920"/>
          </a:xfrm>
          <a:prstGeom prst="line">
            <a:avLst/>
          </a:prstGeom>
          <a:noFill/>
          <a:ln w="6350">
            <a:solidFill>
              <a:srgbClr val="1E3A8A"/>
            </a:solidFill>
            <a:prstDash val="solid"/>
          </a:ln>
        </p:spPr>
      </p:sp>
      <p:sp>
        <p:nvSpPr>
          <p:cNvPr id="47" name="Shape 44"/>
          <p:cNvSpPr/>
          <p:nvPr/>
        </p:nvSpPr>
        <p:spPr>
          <a:xfrm flipV="1">
            <a:off x="1088136" y="4898136"/>
            <a:ext cx="1097280" cy="441960"/>
          </a:xfrm>
          <a:prstGeom prst="line">
            <a:avLst/>
          </a:prstGeom>
          <a:noFill/>
          <a:ln w="6350">
            <a:solidFill>
              <a:srgbClr val="1E3A8A"/>
            </a:solidFill>
            <a:prstDash val="solid"/>
          </a:ln>
        </p:spPr>
      </p:sp>
      <p:sp>
        <p:nvSpPr>
          <p:cNvPr id="48" name="Shape 45"/>
          <p:cNvSpPr/>
          <p:nvPr/>
        </p:nvSpPr>
        <p:spPr>
          <a:xfrm>
            <a:off x="1088136" y="5340096"/>
            <a:ext cx="1097280" cy="914"/>
          </a:xfrm>
          <a:prstGeom prst="line">
            <a:avLst/>
          </a:prstGeom>
          <a:noFill/>
          <a:ln w="6350">
            <a:solidFill>
              <a:srgbClr val="1E3A8A"/>
            </a:solidFill>
            <a:prstDash val="solid"/>
          </a:ln>
        </p:spPr>
      </p:sp>
      <p:sp>
        <p:nvSpPr>
          <p:cNvPr id="49" name="Shape 46"/>
          <p:cNvSpPr/>
          <p:nvPr/>
        </p:nvSpPr>
        <p:spPr>
          <a:xfrm>
            <a:off x="2185416" y="2688336"/>
            <a:ext cx="1097280" cy="914"/>
          </a:xfrm>
          <a:prstGeom prst="line">
            <a:avLst/>
          </a:prstGeom>
          <a:noFill/>
          <a:ln w="6350">
            <a:solidFill>
              <a:srgbClr val="1E3A8A"/>
            </a:solidFill>
            <a:prstDash val="solid"/>
          </a:ln>
        </p:spPr>
      </p:sp>
      <p:sp>
        <p:nvSpPr>
          <p:cNvPr id="50" name="Shape 47"/>
          <p:cNvSpPr/>
          <p:nvPr/>
        </p:nvSpPr>
        <p:spPr>
          <a:xfrm>
            <a:off x="2185416" y="2688336"/>
            <a:ext cx="1097280" cy="662940"/>
          </a:xfrm>
          <a:prstGeom prst="line">
            <a:avLst/>
          </a:prstGeom>
          <a:noFill/>
          <a:ln w="6350">
            <a:solidFill>
              <a:srgbClr val="1E3A8A"/>
            </a:solidFill>
            <a:prstDash val="solid"/>
          </a:ln>
        </p:spPr>
      </p:sp>
      <p:sp>
        <p:nvSpPr>
          <p:cNvPr id="51" name="Shape 48"/>
          <p:cNvSpPr/>
          <p:nvPr/>
        </p:nvSpPr>
        <p:spPr>
          <a:xfrm>
            <a:off x="2185416" y="2688336"/>
            <a:ext cx="1097280" cy="1325880"/>
          </a:xfrm>
          <a:prstGeom prst="line">
            <a:avLst/>
          </a:prstGeom>
          <a:noFill/>
          <a:ln w="6350">
            <a:solidFill>
              <a:srgbClr val="1E3A8A"/>
            </a:solidFill>
            <a:prstDash val="solid"/>
          </a:ln>
        </p:spPr>
      </p:sp>
      <p:sp>
        <p:nvSpPr>
          <p:cNvPr id="52" name="Shape 49"/>
          <p:cNvSpPr/>
          <p:nvPr/>
        </p:nvSpPr>
        <p:spPr>
          <a:xfrm>
            <a:off x="2185416" y="2688336"/>
            <a:ext cx="1097280" cy="1988820"/>
          </a:xfrm>
          <a:prstGeom prst="line">
            <a:avLst/>
          </a:prstGeom>
          <a:noFill/>
          <a:ln w="6350">
            <a:solidFill>
              <a:srgbClr val="1E3A8A"/>
            </a:solidFill>
            <a:prstDash val="solid"/>
          </a:ln>
        </p:spPr>
      </p:sp>
      <p:sp>
        <p:nvSpPr>
          <p:cNvPr id="53" name="Shape 50"/>
          <p:cNvSpPr/>
          <p:nvPr/>
        </p:nvSpPr>
        <p:spPr>
          <a:xfrm>
            <a:off x="2185416" y="2688336"/>
            <a:ext cx="1097280" cy="2651760"/>
          </a:xfrm>
          <a:prstGeom prst="line">
            <a:avLst/>
          </a:prstGeom>
          <a:noFill/>
          <a:ln w="6350">
            <a:solidFill>
              <a:srgbClr val="1E3A8A"/>
            </a:solidFill>
            <a:prstDash val="solid"/>
          </a:ln>
        </p:spPr>
      </p:sp>
      <p:sp>
        <p:nvSpPr>
          <p:cNvPr id="54" name="Shape 51"/>
          <p:cNvSpPr/>
          <p:nvPr/>
        </p:nvSpPr>
        <p:spPr>
          <a:xfrm flipV="1">
            <a:off x="2185416" y="2688336"/>
            <a:ext cx="1097280" cy="441960"/>
          </a:xfrm>
          <a:prstGeom prst="line">
            <a:avLst/>
          </a:prstGeom>
          <a:noFill/>
          <a:ln w="6350">
            <a:solidFill>
              <a:srgbClr val="1E3A8A"/>
            </a:solidFill>
            <a:prstDash val="solid"/>
          </a:ln>
        </p:spPr>
      </p:sp>
      <p:sp>
        <p:nvSpPr>
          <p:cNvPr id="55" name="Shape 52"/>
          <p:cNvSpPr/>
          <p:nvPr/>
        </p:nvSpPr>
        <p:spPr>
          <a:xfrm>
            <a:off x="2185416" y="3130296"/>
            <a:ext cx="1097280" cy="220980"/>
          </a:xfrm>
          <a:prstGeom prst="line">
            <a:avLst/>
          </a:prstGeom>
          <a:noFill/>
          <a:ln w="6350">
            <a:solidFill>
              <a:srgbClr val="1E3A8A"/>
            </a:solidFill>
            <a:prstDash val="solid"/>
          </a:ln>
        </p:spPr>
      </p:sp>
      <p:sp>
        <p:nvSpPr>
          <p:cNvPr id="56" name="Shape 53"/>
          <p:cNvSpPr/>
          <p:nvPr/>
        </p:nvSpPr>
        <p:spPr>
          <a:xfrm>
            <a:off x="2185416" y="3130296"/>
            <a:ext cx="1097280" cy="883920"/>
          </a:xfrm>
          <a:prstGeom prst="line">
            <a:avLst/>
          </a:prstGeom>
          <a:noFill/>
          <a:ln w="6350">
            <a:solidFill>
              <a:srgbClr val="1E3A8A"/>
            </a:solidFill>
            <a:prstDash val="solid"/>
          </a:ln>
        </p:spPr>
      </p:sp>
      <p:sp>
        <p:nvSpPr>
          <p:cNvPr id="57" name="Shape 54"/>
          <p:cNvSpPr/>
          <p:nvPr/>
        </p:nvSpPr>
        <p:spPr>
          <a:xfrm>
            <a:off x="2185416" y="3130296"/>
            <a:ext cx="1097280" cy="1546860"/>
          </a:xfrm>
          <a:prstGeom prst="line">
            <a:avLst/>
          </a:prstGeom>
          <a:noFill/>
          <a:ln w="6350">
            <a:solidFill>
              <a:srgbClr val="1E3A8A"/>
            </a:solidFill>
            <a:prstDash val="solid"/>
          </a:ln>
        </p:spPr>
      </p:sp>
      <p:sp>
        <p:nvSpPr>
          <p:cNvPr id="58" name="Shape 55"/>
          <p:cNvSpPr/>
          <p:nvPr/>
        </p:nvSpPr>
        <p:spPr>
          <a:xfrm>
            <a:off x="2185416" y="3130296"/>
            <a:ext cx="1097280" cy="2209800"/>
          </a:xfrm>
          <a:prstGeom prst="line">
            <a:avLst/>
          </a:prstGeom>
          <a:noFill/>
          <a:ln w="6350">
            <a:solidFill>
              <a:srgbClr val="1E3A8A"/>
            </a:solidFill>
            <a:prstDash val="solid"/>
          </a:ln>
        </p:spPr>
      </p:sp>
      <p:sp>
        <p:nvSpPr>
          <p:cNvPr id="59" name="Shape 56"/>
          <p:cNvSpPr/>
          <p:nvPr/>
        </p:nvSpPr>
        <p:spPr>
          <a:xfrm flipV="1">
            <a:off x="2185416" y="2688336"/>
            <a:ext cx="1097280" cy="883920"/>
          </a:xfrm>
          <a:prstGeom prst="line">
            <a:avLst/>
          </a:prstGeom>
          <a:noFill/>
          <a:ln w="6350">
            <a:solidFill>
              <a:srgbClr val="1E3A8A"/>
            </a:solidFill>
            <a:prstDash val="solid"/>
          </a:ln>
        </p:spPr>
      </p:sp>
      <p:sp>
        <p:nvSpPr>
          <p:cNvPr id="60" name="Shape 57"/>
          <p:cNvSpPr/>
          <p:nvPr/>
        </p:nvSpPr>
        <p:spPr>
          <a:xfrm flipV="1">
            <a:off x="2185416" y="3351276"/>
            <a:ext cx="1097280" cy="220980"/>
          </a:xfrm>
          <a:prstGeom prst="line">
            <a:avLst/>
          </a:prstGeom>
          <a:noFill/>
          <a:ln w="6350">
            <a:solidFill>
              <a:srgbClr val="1E3A8A"/>
            </a:solidFill>
            <a:prstDash val="solid"/>
          </a:ln>
        </p:spPr>
      </p:sp>
      <p:sp>
        <p:nvSpPr>
          <p:cNvPr id="61" name="Shape 58"/>
          <p:cNvSpPr/>
          <p:nvPr/>
        </p:nvSpPr>
        <p:spPr>
          <a:xfrm>
            <a:off x="2185416" y="3572256"/>
            <a:ext cx="1097280" cy="441960"/>
          </a:xfrm>
          <a:prstGeom prst="line">
            <a:avLst/>
          </a:prstGeom>
          <a:noFill/>
          <a:ln w="6350">
            <a:solidFill>
              <a:srgbClr val="1E3A8A"/>
            </a:solidFill>
            <a:prstDash val="solid"/>
          </a:ln>
        </p:spPr>
      </p:sp>
      <p:sp>
        <p:nvSpPr>
          <p:cNvPr id="62" name="Shape 59"/>
          <p:cNvSpPr/>
          <p:nvPr/>
        </p:nvSpPr>
        <p:spPr>
          <a:xfrm>
            <a:off x="2185416" y="3572256"/>
            <a:ext cx="1097280" cy="1104900"/>
          </a:xfrm>
          <a:prstGeom prst="line">
            <a:avLst/>
          </a:prstGeom>
          <a:noFill/>
          <a:ln w="6350">
            <a:solidFill>
              <a:srgbClr val="1E3A8A"/>
            </a:solidFill>
            <a:prstDash val="solid"/>
          </a:ln>
        </p:spPr>
      </p:sp>
      <p:sp>
        <p:nvSpPr>
          <p:cNvPr id="63" name="Shape 60"/>
          <p:cNvSpPr/>
          <p:nvPr/>
        </p:nvSpPr>
        <p:spPr>
          <a:xfrm>
            <a:off x="2185416" y="3572256"/>
            <a:ext cx="1097280" cy="1767840"/>
          </a:xfrm>
          <a:prstGeom prst="line">
            <a:avLst/>
          </a:prstGeom>
          <a:noFill/>
          <a:ln w="6350">
            <a:solidFill>
              <a:srgbClr val="1E3A8A"/>
            </a:solidFill>
            <a:prstDash val="solid"/>
          </a:ln>
        </p:spPr>
      </p:sp>
      <p:sp>
        <p:nvSpPr>
          <p:cNvPr id="64" name="Shape 61"/>
          <p:cNvSpPr/>
          <p:nvPr/>
        </p:nvSpPr>
        <p:spPr>
          <a:xfrm flipV="1">
            <a:off x="2185416" y="2688336"/>
            <a:ext cx="1097280" cy="1325880"/>
          </a:xfrm>
          <a:prstGeom prst="line">
            <a:avLst/>
          </a:prstGeom>
          <a:noFill/>
          <a:ln w="6350">
            <a:solidFill>
              <a:srgbClr val="1E3A8A"/>
            </a:solidFill>
            <a:prstDash val="solid"/>
          </a:ln>
        </p:spPr>
      </p:sp>
      <p:sp>
        <p:nvSpPr>
          <p:cNvPr id="65" name="Shape 62"/>
          <p:cNvSpPr/>
          <p:nvPr/>
        </p:nvSpPr>
        <p:spPr>
          <a:xfrm flipV="1">
            <a:off x="2185416" y="3351276"/>
            <a:ext cx="1097280" cy="662940"/>
          </a:xfrm>
          <a:prstGeom prst="line">
            <a:avLst/>
          </a:prstGeom>
          <a:noFill/>
          <a:ln w="6350">
            <a:solidFill>
              <a:srgbClr val="1E3A8A"/>
            </a:solidFill>
            <a:prstDash val="solid"/>
          </a:ln>
        </p:spPr>
      </p:sp>
      <p:sp>
        <p:nvSpPr>
          <p:cNvPr id="66" name="Shape 63"/>
          <p:cNvSpPr/>
          <p:nvPr/>
        </p:nvSpPr>
        <p:spPr>
          <a:xfrm>
            <a:off x="2185416" y="4014216"/>
            <a:ext cx="1097280" cy="914"/>
          </a:xfrm>
          <a:prstGeom prst="line">
            <a:avLst/>
          </a:prstGeom>
          <a:noFill/>
          <a:ln w="6350">
            <a:solidFill>
              <a:srgbClr val="1E3A8A"/>
            </a:solidFill>
            <a:prstDash val="solid"/>
          </a:ln>
        </p:spPr>
      </p:sp>
      <p:sp>
        <p:nvSpPr>
          <p:cNvPr id="67" name="Shape 64"/>
          <p:cNvSpPr/>
          <p:nvPr/>
        </p:nvSpPr>
        <p:spPr>
          <a:xfrm>
            <a:off x="2185416" y="4014216"/>
            <a:ext cx="1097280" cy="662940"/>
          </a:xfrm>
          <a:prstGeom prst="line">
            <a:avLst/>
          </a:prstGeom>
          <a:noFill/>
          <a:ln w="6350">
            <a:solidFill>
              <a:srgbClr val="1E3A8A"/>
            </a:solidFill>
            <a:prstDash val="solid"/>
          </a:ln>
        </p:spPr>
      </p:sp>
      <p:sp>
        <p:nvSpPr>
          <p:cNvPr id="68" name="Shape 65"/>
          <p:cNvSpPr/>
          <p:nvPr/>
        </p:nvSpPr>
        <p:spPr>
          <a:xfrm>
            <a:off x="2185416" y="4014216"/>
            <a:ext cx="1097280" cy="1325880"/>
          </a:xfrm>
          <a:prstGeom prst="line">
            <a:avLst/>
          </a:prstGeom>
          <a:noFill/>
          <a:ln w="6350">
            <a:solidFill>
              <a:srgbClr val="1E3A8A"/>
            </a:solidFill>
            <a:prstDash val="solid"/>
          </a:ln>
        </p:spPr>
      </p:sp>
      <p:sp>
        <p:nvSpPr>
          <p:cNvPr id="69" name="Shape 66"/>
          <p:cNvSpPr/>
          <p:nvPr/>
        </p:nvSpPr>
        <p:spPr>
          <a:xfrm flipV="1">
            <a:off x="2185416" y="2688336"/>
            <a:ext cx="1097280" cy="1767840"/>
          </a:xfrm>
          <a:prstGeom prst="line">
            <a:avLst/>
          </a:prstGeom>
          <a:noFill/>
          <a:ln w="6350">
            <a:solidFill>
              <a:srgbClr val="1E3A8A"/>
            </a:solidFill>
            <a:prstDash val="solid"/>
          </a:ln>
        </p:spPr>
      </p:sp>
      <p:sp>
        <p:nvSpPr>
          <p:cNvPr id="70" name="Shape 67"/>
          <p:cNvSpPr/>
          <p:nvPr/>
        </p:nvSpPr>
        <p:spPr>
          <a:xfrm flipV="1">
            <a:off x="2185416" y="3351276"/>
            <a:ext cx="1097280" cy="1104900"/>
          </a:xfrm>
          <a:prstGeom prst="line">
            <a:avLst/>
          </a:prstGeom>
          <a:noFill/>
          <a:ln w="6350">
            <a:solidFill>
              <a:srgbClr val="1E3A8A"/>
            </a:solidFill>
            <a:prstDash val="solid"/>
          </a:ln>
        </p:spPr>
      </p:sp>
      <p:sp>
        <p:nvSpPr>
          <p:cNvPr id="71" name="Shape 68"/>
          <p:cNvSpPr/>
          <p:nvPr/>
        </p:nvSpPr>
        <p:spPr>
          <a:xfrm flipV="1">
            <a:off x="2185416" y="4014216"/>
            <a:ext cx="1097280" cy="441960"/>
          </a:xfrm>
          <a:prstGeom prst="line">
            <a:avLst/>
          </a:prstGeom>
          <a:noFill/>
          <a:ln w="6350">
            <a:solidFill>
              <a:srgbClr val="1E3A8A"/>
            </a:solidFill>
            <a:prstDash val="solid"/>
          </a:ln>
        </p:spPr>
      </p:sp>
      <p:sp>
        <p:nvSpPr>
          <p:cNvPr id="72" name="Shape 69"/>
          <p:cNvSpPr/>
          <p:nvPr/>
        </p:nvSpPr>
        <p:spPr>
          <a:xfrm>
            <a:off x="2185416" y="4456176"/>
            <a:ext cx="1097280" cy="220980"/>
          </a:xfrm>
          <a:prstGeom prst="line">
            <a:avLst/>
          </a:prstGeom>
          <a:noFill/>
          <a:ln w="6350">
            <a:solidFill>
              <a:srgbClr val="1E3A8A"/>
            </a:solidFill>
            <a:prstDash val="solid"/>
          </a:ln>
        </p:spPr>
      </p:sp>
      <p:sp>
        <p:nvSpPr>
          <p:cNvPr id="73" name="Shape 70"/>
          <p:cNvSpPr/>
          <p:nvPr/>
        </p:nvSpPr>
        <p:spPr>
          <a:xfrm>
            <a:off x="2185416" y="4456176"/>
            <a:ext cx="1097280" cy="883920"/>
          </a:xfrm>
          <a:prstGeom prst="line">
            <a:avLst/>
          </a:prstGeom>
          <a:noFill/>
          <a:ln w="6350">
            <a:solidFill>
              <a:srgbClr val="1E3A8A"/>
            </a:solidFill>
            <a:prstDash val="solid"/>
          </a:ln>
        </p:spPr>
      </p:sp>
      <p:sp>
        <p:nvSpPr>
          <p:cNvPr id="74" name="Shape 71"/>
          <p:cNvSpPr/>
          <p:nvPr/>
        </p:nvSpPr>
        <p:spPr>
          <a:xfrm flipV="1">
            <a:off x="2185416" y="2688336"/>
            <a:ext cx="1097280" cy="2209800"/>
          </a:xfrm>
          <a:prstGeom prst="line">
            <a:avLst/>
          </a:prstGeom>
          <a:noFill/>
          <a:ln w="6350">
            <a:solidFill>
              <a:srgbClr val="1E3A8A"/>
            </a:solidFill>
            <a:prstDash val="solid"/>
          </a:ln>
        </p:spPr>
      </p:sp>
      <p:sp>
        <p:nvSpPr>
          <p:cNvPr id="75" name="Shape 72"/>
          <p:cNvSpPr/>
          <p:nvPr/>
        </p:nvSpPr>
        <p:spPr>
          <a:xfrm flipV="1">
            <a:off x="2185416" y="3351276"/>
            <a:ext cx="1097280" cy="1546860"/>
          </a:xfrm>
          <a:prstGeom prst="line">
            <a:avLst/>
          </a:prstGeom>
          <a:noFill/>
          <a:ln w="6350">
            <a:solidFill>
              <a:srgbClr val="1E3A8A"/>
            </a:solidFill>
            <a:prstDash val="solid"/>
          </a:ln>
        </p:spPr>
      </p:sp>
      <p:sp>
        <p:nvSpPr>
          <p:cNvPr id="76" name="Shape 73"/>
          <p:cNvSpPr/>
          <p:nvPr/>
        </p:nvSpPr>
        <p:spPr>
          <a:xfrm flipV="1">
            <a:off x="2185416" y="4014216"/>
            <a:ext cx="1097280" cy="883920"/>
          </a:xfrm>
          <a:prstGeom prst="line">
            <a:avLst/>
          </a:prstGeom>
          <a:noFill/>
          <a:ln w="6350">
            <a:solidFill>
              <a:srgbClr val="1E3A8A"/>
            </a:solidFill>
            <a:prstDash val="solid"/>
          </a:ln>
        </p:spPr>
      </p:sp>
      <p:sp>
        <p:nvSpPr>
          <p:cNvPr id="77" name="Shape 74"/>
          <p:cNvSpPr/>
          <p:nvPr/>
        </p:nvSpPr>
        <p:spPr>
          <a:xfrm flipV="1">
            <a:off x="2185416" y="4677156"/>
            <a:ext cx="1097280" cy="220980"/>
          </a:xfrm>
          <a:prstGeom prst="line">
            <a:avLst/>
          </a:prstGeom>
          <a:noFill/>
          <a:ln w="6350">
            <a:solidFill>
              <a:srgbClr val="1E3A8A"/>
            </a:solidFill>
            <a:prstDash val="solid"/>
          </a:ln>
        </p:spPr>
      </p:sp>
      <p:sp>
        <p:nvSpPr>
          <p:cNvPr id="78" name="Shape 75"/>
          <p:cNvSpPr/>
          <p:nvPr/>
        </p:nvSpPr>
        <p:spPr>
          <a:xfrm>
            <a:off x="2185416" y="4898136"/>
            <a:ext cx="1097280" cy="441960"/>
          </a:xfrm>
          <a:prstGeom prst="line">
            <a:avLst/>
          </a:prstGeom>
          <a:noFill/>
          <a:ln w="6350">
            <a:solidFill>
              <a:srgbClr val="1E3A8A"/>
            </a:solidFill>
            <a:prstDash val="solid"/>
          </a:ln>
        </p:spPr>
      </p:sp>
      <p:sp>
        <p:nvSpPr>
          <p:cNvPr id="79" name="Shape 76"/>
          <p:cNvSpPr/>
          <p:nvPr/>
        </p:nvSpPr>
        <p:spPr>
          <a:xfrm flipV="1">
            <a:off x="2185416" y="2688336"/>
            <a:ext cx="1097280" cy="2651760"/>
          </a:xfrm>
          <a:prstGeom prst="line">
            <a:avLst/>
          </a:prstGeom>
          <a:noFill/>
          <a:ln w="6350">
            <a:solidFill>
              <a:srgbClr val="1E3A8A"/>
            </a:solidFill>
            <a:prstDash val="solid"/>
          </a:ln>
        </p:spPr>
      </p:sp>
      <p:sp>
        <p:nvSpPr>
          <p:cNvPr id="80" name="Shape 77"/>
          <p:cNvSpPr/>
          <p:nvPr/>
        </p:nvSpPr>
        <p:spPr>
          <a:xfrm flipV="1">
            <a:off x="2185416" y="3351276"/>
            <a:ext cx="1097280" cy="1988820"/>
          </a:xfrm>
          <a:prstGeom prst="line">
            <a:avLst/>
          </a:prstGeom>
          <a:noFill/>
          <a:ln w="6350">
            <a:solidFill>
              <a:srgbClr val="1E3A8A"/>
            </a:solidFill>
            <a:prstDash val="solid"/>
          </a:ln>
        </p:spPr>
      </p:sp>
      <p:sp>
        <p:nvSpPr>
          <p:cNvPr id="81" name="Shape 78"/>
          <p:cNvSpPr/>
          <p:nvPr/>
        </p:nvSpPr>
        <p:spPr>
          <a:xfrm flipV="1">
            <a:off x="2185416" y="4014216"/>
            <a:ext cx="1097280" cy="1325880"/>
          </a:xfrm>
          <a:prstGeom prst="line">
            <a:avLst/>
          </a:prstGeom>
          <a:noFill/>
          <a:ln w="6350">
            <a:solidFill>
              <a:srgbClr val="1E3A8A"/>
            </a:solidFill>
            <a:prstDash val="solid"/>
          </a:ln>
        </p:spPr>
      </p:sp>
      <p:sp>
        <p:nvSpPr>
          <p:cNvPr id="82" name="Shape 79"/>
          <p:cNvSpPr/>
          <p:nvPr/>
        </p:nvSpPr>
        <p:spPr>
          <a:xfrm flipV="1">
            <a:off x="2185416" y="4677156"/>
            <a:ext cx="1097280" cy="662940"/>
          </a:xfrm>
          <a:prstGeom prst="line">
            <a:avLst/>
          </a:prstGeom>
          <a:noFill/>
          <a:ln w="6350">
            <a:solidFill>
              <a:srgbClr val="1E3A8A"/>
            </a:solidFill>
            <a:prstDash val="solid"/>
          </a:ln>
        </p:spPr>
      </p:sp>
      <p:sp>
        <p:nvSpPr>
          <p:cNvPr id="83" name="Shape 80"/>
          <p:cNvSpPr/>
          <p:nvPr/>
        </p:nvSpPr>
        <p:spPr>
          <a:xfrm>
            <a:off x="2185416" y="5340096"/>
            <a:ext cx="1097280" cy="914"/>
          </a:xfrm>
          <a:prstGeom prst="line">
            <a:avLst/>
          </a:prstGeom>
          <a:noFill/>
          <a:ln w="6350">
            <a:solidFill>
              <a:srgbClr val="1E3A8A"/>
            </a:solidFill>
            <a:prstDash val="solid"/>
          </a:ln>
        </p:spPr>
      </p:sp>
      <p:sp>
        <p:nvSpPr>
          <p:cNvPr id="84" name="Shape 81"/>
          <p:cNvSpPr/>
          <p:nvPr/>
        </p:nvSpPr>
        <p:spPr>
          <a:xfrm>
            <a:off x="3282696" y="2688336"/>
            <a:ext cx="1097280" cy="914"/>
          </a:xfrm>
          <a:prstGeom prst="line">
            <a:avLst/>
          </a:prstGeom>
          <a:noFill/>
          <a:ln w="6350">
            <a:solidFill>
              <a:srgbClr val="1E3A8A"/>
            </a:solidFill>
            <a:prstDash val="solid"/>
          </a:ln>
        </p:spPr>
      </p:sp>
      <p:sp>
        <p:nvSpPr>
          <p:cNvPr id="85" name="Shape 82"/>
          <p:cNvSpPr/>
          <p:nvPr/>
        </p:nvSpPr>
        <p:spPr>
          <a:xfrm>
            <a:off x="3282696" y="2688336"/>
            <a:ext cx="1097280" cy="883920"/>
          </a:xfrm>
          <a:prstGeom prst="line">
            <a:avLst/>
          </a:prstGeom>
          <a:noFill/>
          <a:ln w="6350">
            <a:solidFill>
              <a:srgbClr val="1E3A8A"/>
            </a:solidFill>
            <a:prstDash val="solid"/>
          </a:ln>
        </p:spPr>
      </p:sp>
      <p:sp>
        <p:nvSpPr>
          <p:cNvPr id="86" name="Shape 83"/>
          <p:cNvSpPr/>
          <p:nvPr/>
        </p:nvSpPr>
        <p:spPr>
          <a:xfrm>
            <a:off x="3282696" y="2688336"/>
            <a:ext cx="1097280" cy="1767840"/>
          </a:xfrm>
          <a:prstGeom prst="line">
            <a:avLst/>
          </a:prstGeom>
          <a:noFill/>
          <a:ln w="6350">
            <a:solidFill>
              <a:srgbClr val="1E3A8A"/>
            </a:solidFill>
            <a:prstDash val="solid"/>
          </a:ln>
        </p:spPr>
      </p:sp>
      <p:sp>
        <p:nvSpPr>
          <p:cNvPr id="87" name="Shape 84"/>
          <p:cNvSpPr/>
          <p:nvPr/>
        </p:nvSpPr>
        <p:spPr>
          <a:xfrm>
            <a:off x="3282696" y="2688336"/>
            <a:ext cx="1097280" cy="2651760"/>
          </a:xfrm>
          <a:prstGeom prst="line">
            <a:avLst/>
          </a:prstGeom>
          <a:noFill/>
          <a:ln w="6350">
            <a:solidFill>
              <a:srgbClr val="1E3A8A"/>
            </a:solidFill>
            <a:prstDash val="solid"/>
          </a:ln>
        </p:spPr>
      </p:sp>
      <p:sp>
        <p:nvSpPr>
          <p:cNvPr id="88" name="Shape 85"/>
          <p:cNvSpPr/>
          <p:nvPr/>
        </p:nvSpPr>
        <p:spPr>
          <a:xfrm flipV="1">
            <a:off x="3282696" y="2688336"/>
            <a:ext cx="1097280" cy="662940"/>
          </a:xfrm>
          <a:prstGeom prst="line">
            <a:avLst/>
          </a:prstGeom>
          <a:noFill/>
          <a:ln w="6350">
            <a:solidFill>
              <a:srgbClr val="1E3A8A"/>
            </a:solidFill>
            <a:prstDash val="solid"/>
          </a:ln>
        </p:spPr>
      </p:sp>
      <p:sp>
        <p:nvSpPr>
          <p:cNvPr id="89" name="Shape 86"/>
          <p:cNvSpPr/>
          <p:nvPr/>
        </p:nvSpPr>
        <p:spPr>
          <a:xfrm>
            <a:off x="3282696" y="3351276"/>
            <a:ext cx="1097280" cy="220980"/>
          </a:xfrm>
          <a:prstGeom prst="line">
            <a:avLst/>
          </a:prstGeom>
          <a:noFill/>
          <a:ln w="6350">
            <a:solidFill>
              <a:srgbClr val="1E3A8A"/>
            </a:solidFill>
            <a:prstDash val="solid"/>
          </a:ln>
        </p:spPr>
      </p:sp>
      <p:sp>
        <p:nvSpPr>
          <p:cNvPr id="90" name="Shape 87"/>
          <p:cNvSpPr/>
          <p:nvPr/>
        </p:nvSpPr>
        <p:spPr>
          <a:xfrm>
            <a:off x="3282696" y="3351276"/>
            <a:ext cx="1097280" cy="1104900"/>
          </a:xfrm>
          <a:prstGeom prst="line">
            <a:avLst/>
          </a:prstGeom>
          <a:noFill/>
          <a:ln w="6350">
            <a:solidFill>
              <a:srgbClr val="1E3A8A"/>
            </a:solidFill>
            <a:prstDash val="solid"/>
          </a:ln>
        </p:spPr>
      </p:sp>
      <p:sp>
        <p:nvSpPr>
          <p:cNvPr id="91" name="Shape 88"/>
          <p:cNvSpPr/>
          <p:nvPr/>
        </p:nvSpPr>
        <p:spPr>
          <a:xfrm>
            <a:off x="3282696" y="3351276"/>
            <a:ext cx="1097280" cy="1988820"/>
          </a:xfrm>
          <a:prstGeom prst="line">
            <a:avLst/>
          </a:prstGeom>
          <a:noFill/>
          <a:ln w="6350">
            <a:solidFill>
              <a:srgbClr val="1E3A8A"/>
            </a:solidFill>
            <a:prstDash val="solid"/>
          </a:ln>
        </p:spPr>
      </p:sp>
      <p:sp>
        <p:nvSpPr>
          <p:cNvPr id="92" name="Shape 89"/>
          <p:cNvSpPr/>
          <p:nvPr/>
        </p:nvSpPr>
        <p:spPr>
          <a:xfrm flipV="1">
            <a:off x="3282696" y="2688336"/>
            <a:ext cx="1097280" cy="1325880"/>
          </a:xfrm>
          <a:prstGeom prst="line">
            <a:avLst/>
          </a:prstGeom>
          <a:noFill/>
          <a:ln w="6350">
            <a:solidFill>
              <a:srgbClr val="1E3A8A"/>
            </a:solidFill>
            <a:prstDash val="solid"/>
          </a:ln>
        </p:spPr>
      </p:sp>
      <p:sp>
        <p:nvSpPr>
          <p:cNvPr id="93" name="Shape 90"/>
          <p:cNvSpPr/>
          <p:nvPr/>
        </p:nvSpPr>
        <p:spPr>
          <a:xfrm flipV="1">
            <a:off x="3282696" y="3572256"/>
            <a:ext cx="1097280" cy="441960"/>
          </a:xfrm>
          <a:prstGeom prst="line">
            <a:avLst/>
          </a:prstGeom>
          <a:noFill/>
          <a:ln w="6350">
            <a:solidFill>
              <a:srgbClr val="1E3A8A"/>
            </a:solidFill>
            <a:prstDash val="solid"/>
          </a:ln>
        </p:spPr>
      </p:sp>
      <p:sp>
        <p:nvSpPr>
          <p:cNvPr id="94" name="Shape 91"/>
          <p:cNvSpPr/>
          <p:nvPr/>
        </p:nvSpPr>
        <p:spPr>
          <a:xfrm>
            <a:off x="3282696" y="4014216"/>
            <a:ext cx="1097280" cy="441960"/>
          </a:xfrm>
          <a:prstGeom prst="line">
            <a:avLst/>
          </a:prstGeom>
          <a:noFill/>
          <a:ln w="6350">
            <a:solidFill>
              <a:srgbClr val="1E3A8A"/>
            </a:solidFill>
            <a:prstDash val="solid"/>
          </a:ln>
        </p:spPr>
      </p:sp>
      <p:sp>
        <p:nvSpPr>
          <p:cNvPr id="95" name="Shape 92"/>
          <p:cNvSpPr/>
          <p:nvPr/>
        </p:nvSpPr>
        <p:spPr>
          <a:xfrm>
            <a:off x="3282696" y="4014216"/>
            <a:ext cx="1097280" cy="1325880"/>
          </a:xfrm>
          <a:prstGeom prst="line">
            <a:avLst/>
          </a:prstGeom>
          <a:noFill/>
          <a:ln w="6350">
            <a:solidFill>
              <a:srgbClr val="1E3A8A"/>
            </a:solidFill>
            <a:prstDash val="solid"/>
          </a:ln>
        </p:spPr>
      </p:sp>
      <p:sp>
        <p:nvSpPr>
          <p:cNvPr id="96" name="Shape 93"/>
          <p:cNvSpPr/>
          <p:nvPr/>
        </p:nvSpPr>
        <p:spPr>
          <a:xfrm flipV="1">
            <a:off x="3282696" y="2688336"/>
            <a:ext cx="1097280" cy="1988820"/>
          </a:xfrm>
          <a:prstGeom prst="line">
            <a:avLst/>
          </a:prstGeom>
          <a:noFill/>
          <a:ln w="6350">
            <a:solidFill>
              <a:srgbClr val="1E3A8A"/>
            </a:solidFill>
            <a:prstDash val="solid"/>
          </a:ln>
        </p:spPr>
      </p:sp>
      <p:sp>
        <p:nvSpPr>
          <p:cNvPr id="97" name="Shape 94"/>
          <p:cNvSpPr/>
          <p:nvPr/>
        </p:nvSpPr>
        <p:spPr>
          <a:xfrm flipV="1">
            <a:off x="3282696" y="3572256"/>
            <a:ext cx="1097280" cy="1104900"/>
          </a:xfrm>
          <a:prstGeom prst="line">
            <a:avLst/>
          </a:prstGeom>
          <a:noFill/>
          <a:ln w="6350">
            <a:solidFill>
              <a:srgbClr val="1E3A8A"/>
            </a:solidFill>
            <a:prstDash val="solid"/>
          </a:ln>
        </p:spPr>
      </p:sp>
      <p:sp>
        <p:nvSpPr>
          <p:cNvPr id="98" name="Shape 95"/>
          <p:cNvSpPr/>
          <p:nvPr/>
        </p:nvSpPr>
        <p:spPr>
          <a:xfrm flipV="1">
            <a:off x="3282696" y="4456176"/>
            <a:ext cx="1097280" cy="220980"/>
          </a:xfrm>
          <a:prstGeom prst="line">
            <a:avLst/>
          </a:prstGeom>
          <a:noFill/>
          <a:ln w="6350">
            <a:solidFill>
              <a:srgbClr val="1E3A8A"/>
            </a:solidFill>
            <a:prstDash val="solid"/>
          </a:ln>
        </p:spPr>
      </p:sp>
      <p:sp>
        <p:nvSpPr>
          <p:cNvPr id="99" name="Shape 96"/>
          <p:cNvSpPr/>
          <p:nvPr/>
        </p:nvSpPr>
        <p:spPr>
          <a:xfrm>
            <a:off x="3282696" y="4677156"/>
            <a:ext cx="1097280" cy="662940"/>
          </a:xfrm>
          <a:prstGeom prst="line">
            <a:avLst/>
          </a:prstGeom>
          <a:noFill/>
          <a:ln w="6350">
            <a:solidFill>
              <a:srgbClr val="1E3A8A"/>
            </a:solidFill>
            <a:prstDash val="solid"/>
          </a:ln>
        </p:spPr>
      </p:sp>
      <p:sp>
        <p:nvSpPr>
          <p:cNvPr id="100" name="Shape 97"/>
          <p:cNvSpPr/>
          <p:nvPr/>
        </p:nvSpPr>
        <p:spPr>
          <a:xfrm flipV="1">
            <a:off x="3282696" y="2688336"/>
            <a:ext cx="1097280" cy="2651760"/>
          </a:xfrm>
          <a:prstGeom prst="line">
            <a:avLst/>
          </a:prstGeom>
          <a:noFill/>
          <a:ln w="6350">
            <a:solidFill>
              <a:srgbClr val="1E3A8A"/>
            </a:solidFill>
            <a:prstDash val="solid"/>
          </a:ln>
        </p:spPr>
      </p:sp>
      <p:sp>
        <p:nvSpPr>
          <p:cNvPr id="101" name="Shape 98"/>
          <p:cNvSpPr/>
          <p:nvPr/>
        </p:nvSpPr>
        <p:spPr>
          <a:xfrm flipV="1">
            <a:off x="3282696" y="3572256"/>
            <a:ext cx="1097280" cy="1767840"/>
          </a:xfrm>
          <a:prstGeom prst="line">
            <a:avLst/>
          </a:prstGeom>
          <a:noFill/>
          <a:ln w="6350">
            <a:solidFill>
              <a:srgbClr val="1E3A8A"/>
            </a:solidFill>
            <a:prstDash val="solid"/>
          </a:ln>
        </p:spPr>
      </p:sp>
      <p:sp>
        <p:nvSpPr>
          <p:cNvPr id="102" name="Shape 99"/>
          <p:cNvSpPr/>
          <p:nvPr/>
        </p:nvSpPr>
        <p:spPr>
          <a:xfrm flipV="1">
            <a:off x="3282696" y="4456176"/>
            <a:ext cx="1097280" cy="883920"/>
          </a:xfrm>
          <a:prstGeom prst="line">
            <a:avLst/>
          </a:prstGeom>
          <a:noFill/>
          <a:ln w="6350">
            <a:solidFill>
              <a:srgbClr val="1E3A8A"/>
            </a:solidFill>
            <a:prstDash val="solid"/>
          </a:ln>
        </p:spPr>
      </p:sp>
      <p:sp>
        <p:nvSpPr>
          <p:cNvPr id="103" name="Shape 100"/>
          <p:cNvSpPr/>
          <p:nvPr/>
        </p:nvSpPr>
        <p:spPr>
          <a:xfrm>
            <a:off x="3282696" y="5340096"/>
            <a:ext cx="1097280" cy="914"/>
          </a:xfrm>
          <a:prstGeom prst="line">
            <a:avLst/>
          </a:prstGeom>
          <a:noFill/>
          <a:ln w="6350">
            <a:solidFill>
              <a:srgbClr val="1E3A8A"/>
            </a:solidFill>
            <a:prstDash val="solid"/>
          </a:ln>
        </p:spPr>
      </p:sp>
      <p:sp>
        <p:nvSpPr>
          <p:cNvPr id="104" name="Shape 101"/>
          <p:cNvSpPr/>
          <p:nvPr/>
        </p:nvSpPr>
        <p:spPr>
          <a:xfrm>
            <a:off x="4379976" y="2688336"/>
            <a:ext cx="1097280" cy="1325880"/>
          </a:xfrm>
          <a:prstGeom prst="line">
            <a:avLst/>
          </a:prstGeom>
          <a:noFill/>
          <a:ln w="6350">
            <a:solidFill>
              <a:srgbClr val="1E3A8A"/>
            </a:solidFill>
            <a:prstDash val="solid"/>
          </a:ln>
        </p:spPr>
      </p:sp>
      <p:sp>
        <p:nvSpPr>
          <p:cNvPr id="105" name="Shape 102"/>
          <p:cNvSpPr/>
          <p:nvPr/>
        </p:nvSpPr>
        <p:spPr>
          <a:xfrm>
            <a:off x="4379976" y="3572256"/>
            <a:ext cx="1097280" cy="441960"/>
          </a:xfrm>
          <a:prstGeom prst="line">
            <a:avLst/>
          </a:prstGeom>
          <a:noFill/>
          <a:ln w="6350">
            <a:solidFill>
              <a:srgbClr val="1E3A8A"/>
            </a:solidFill>
            <a:prstDash val="solid"/>
          </a:ln>
        </p:spPr>
      </p:sp>
      <p:sp>
        <p:nvSpPr>
          <p:cNvPr id="106" name="Shape 103"/>
          <p:cNvSpPr/>
          <p:nvPr/>
        </p:nvSpPr>
        <p:spPr>
          <a:xfrm flipV="1">
            <a:off x="4379976" y="4014216"/>
            <a:ext cx="1097280" cy="441960"/>
          </a:xfrm>
          <a:prstGeom prst="line">
            <a:avLst/>
          </a:prstGeom>
          <a:noFill/>
          <a:ln w="6350">
            <a:solidFill>
              <a:srgbClr val="1E3A8A"/>
            </a:solidFill>
            <a:prstDash val="solid"/>
          </a:ln>
        </p:spPr>
      </p:sp>
      <p:sp>
        <p:nvSpPr>
          <p:cNvPr id="107" name="Shape 104"/>
          <p:cNvSpPr/>
          <p:nvPr/>
        </p:nvSpPr>
        <p:spPr>
          <a:xfrm flipV="1">
            <a:off x="4379976" y="4014216"/>
            <a:ext cx="1097280" cy="1325880"/>
          </a:xfrm>
          <a:prstGeom prst="line">
            <a:avLst/>
          </a:prstGeom>
          <a:noFill/>
          <a:ln w="6350">
            <a:solidFill>
              <a:srgbClr val="1E3A8A"/>
            </a:solidFill>
            <a:prstDash val="solid"/>
          </a:ln>
        </p:spPr>
      </p:sp>
      <p:sp>
        <p:nvSpPr>
          <p:cNvPr id="108" name="Shape 105"/>
          <p:cNvSpPr/>
          <p:nvPr/>
        </p:nvSpPr>
        <p:spPr>
          <a:xfrm>
            <a:off x="1005840" y="2606040"/>
            <a:ext cx="164592" cy="164592"/>
          </a:xfrm>
          <a:prstGeom prst="ellipse">
            <a:avLst/>
          </a:prstGeom>
          <a:solidFill>
            <a:srgbClr val="94A3B8"/>
          </a:solidFill>
          <a:ln w="12700">
            <a:solidFill>
              <a:srgbClr val="0B1220"/>
            </a:solidFill>
            <a:prstDash val="solid"/>
          </a:ln>
        </p:spPr>
      </p:sp>
      <p:sp>
        <p:nvSpPr>
          <p:cNvPr id="109" name="Shape 106"/>
          <p:cNvSpPr/>
          <p:nvPr/>
        </p:nvSpPr>
        <p:spPr>
          <a:xfrm>
            <a:off x="1005840" y="3136392"/>
            <a:ext cx="164592" cy="164592"/>
          </a:xfrm>
          <a:prstGeom prst="ellipse">
            <a:avLst/>
          </a:prstGeom>
          <a:solidFill>
            <a:srgbClr val="94A3B8"/>
          </a:solidFill>
          <a:ln w="12700">
            <a:solidFill>
              <a:srgbClr val="0B1220"/>
            </a:solidFill>
            <a:prstDash val="solid"/>
          </a:ln>
        </p:spPr>
      </p:sp>
      <p:sp>
        <p:nvSpPr>
          <p:cNvPr id="110" name="Shape 107"/>
          <p:cNvSpPr/>
          <p:nvPr/>
        </p:nvSpPr>
        <p:spPr>
          <a:xfrm>
            <a:off x="1005840" y="3666744"/>
            <a:ext cx="164592" cy="164592"/>
          </a:xfrm>
          <a:prstGeom prst="ellipse">
            <a:avLst/>
          </a:prstGeom>
          <a:solidFill>
            <a:srgbClr val="94A3B8"/>
          </a:solidFill>
          <a:ln w="12700">
            <a:solidFill>
              <a:srgbClr val="0B1220"/>
            </a:solidFill>
            <a:prstDash val="solid"/>
          </a:ln>
        </p:spPr>
      </p:sp>
      <p:sp>
        <p:nvSpPr>
          <p:cNvPr id="111" name="Shape 108"/>
          <p:cNvSpPr/>
          <p:nvPr/>
        </p:nvSpPr>
        <p:spPr>
          <a:xfrm>
            <a:off x="1005840" y="4197096"/>
            <a:ext cx="164592" cy="164592"/>
          </a:xfrm>
          <a:prstGeom prst="ellipse">
            <a:avLst/>
          </a:prstGeom>
          <a:solidFill>
            <a:srgbClr val="94A3B8"/>
          </a:solidFill>
          <a:ln w="12700">
            <a:solidFill>
              <a:srgbClr val="0B1220"/>
            </a:solidFill>
            <a:prstDash val="solid"/>
          </a:ln>
        </p:spPr>
      </p:sp>
      <p:sp>
        <p:nvSpPr>
          <p:cNvPr id="112" name="Shape 109"/>
          <p:cNvSpPr/>
          <p:nvPr/>
        </p:nvSpPr>
        <p:spPr>
          <a:xfrm>
            <a:off x="1005840" y="4727448"/>
            <a:ext cx="164592" cy="164592"/>
          </a:xfrm>
          <a:prstGeom prst="ellipse">
            <a:avLst/>
          </a:prstGeom>
          <a:solidFill>
            <a:srgbClr val="94A3B8"/>
          </a:solidFill>
          <a:ln w="12700">
            <a:solidFill>
              <a:srgbClr val="0B1220"/>
            </a:solidFill>
            <a:prstDash val="solid"/>
          </a:ln>
        </p:spPr>
      </p:sp>
      <p:sp>
        <p:nvSpPr>
          <p:cNvPr id="113" name="Shape 110"/>
          <p:cNvSpPr/>
          <p:nvPr/>
        </p:nvSpPr>
        <p:spPr>
          <a:xfrm>
            <a:off x="1005840" y="5257800"/>
            <a:ext cx="164592" cy="164592"/>
          </a:xfrm>
          <a:prstGeom prst="ellipse">
            <a:avLst/>
          </a:prstGeom>
          <a:solidFill>
            <a:srgbClr val="94A3B8"/>
          </a:solidFill>
          <a:ln w="12700">
            <a:solidFill>
              <a:srgbClr val="0B1220"/>
            </a:solidFill>
            <a:prstDash val="solid"/>
          </a:ln>
        </p:spPr>
      </p:sp>
      <p:sp>
        <p:nvSpPr>
          <p:cNvPr id="114" name="Shape 111"/>
          <p:cNvSpPr/>
          <p:nvPr/>
        </p:nvSpPr>
        <p:spPr>
          <a:xfrm>
            <a:off x="2103120" y="2606040"/>
            <a:ext cx="164592" cy="164592"/>
          </a:xfrm>
          <a:prstGeom prst="ellipse">
            <a:avLst/>
          </a:prstGeom>
          <a:solidFill>
            <a:srgbClr val="3B82F6"/>
          </a:solidFill>
          <a:ln w="12700">
            <a:solidFill>
              <a:srgbClr val="0B1220"/>
            </a:solidFill>
            <a:prstDash val="solid"/>
          </a:ln>
        </p:spPr>
      </p:sp>
      <p:sp>
        <p:nvSpPr>
          <p:cNvPr id="115" name="Shape 112"/>
          <p:cNvSpPr/>
          <p:nvPr/>
        </p:nvSpPr>
        <p:spPr>
          <a:xfrm>
            <a:off x="2103120" y="3048000"/>
            <a:ext cx="164592" cy="164592"/>
          </a:xfrm>
          <a:prstGeom prst="ellipse">
            <a:avLst/>
          </a:prstGeom>
          <a:solidFill>
            <a:srgbClr val="3B82F6"/>
          </a:solidFill>
          <a:ln w="12700">
            <a:solidFill>
              <a:srgbClr val="0B1220"/>
            </a:solidFill>
            <a:prstDash val="solid"/>
          </a:ln>
        </p:spPr>
      </p:sp>
      <p:sp>
        <p:nvSpPr>
          <p:cNvPr id="116" name="Shape 113"/>
          <p:cNvSpPr/>
          <p:nvPr/>
        </p:nvSpPr>
        <p:spPr>
          <a:xfrm>
            <a:off x="2103120" y="3489960"/>
            <a:ext cx="164592" cy="164592"/>
          </a:xfrm>
          <a:prstGeom prst="ellipse">
            <a:avLst/>
          </a:prstGeom>
          <a:solidFill>
            <a:srgbClr val="3B82F6"/>
          </a:solidFill>
          <a:ln w="12700">
            <a:solidFill>
              <a:srgbClr val="0B1220"/>
            </a:solidFill>
            <a:prstDash val="solid"/>
          </a:ln>
        </p:spPr>
      </p:sp>
      <p:sp>
        <p:nvSpPr>
          <p:cNvPr id="117" name="Shape 114"/>
          <p:cNvSpPr/>
          <p:nvPr/>
        </p:nvSpPr>
        <p:spPr>
          <a:xfrm>
            <a:off x="2103120" y="3931920"/>
            <a:ext cx="164592" cy="164592"/>
          </a:xfrm>
          <a:prstGeom prst="ellipse">
            <a:avLst/>
          </a:prstGeom>
          <a:solidFill>
            <a:srgbClr val="3B82F6"/>
          </a:solidFill>
          <a:ln w="12700">
            <a:solidFill>
              <a:srgbClr val="0B1220"/>
            </a:solidFill>
            <a:prstDash val="solid"/>
          </a:ln>
        </p:spPr>
      </p:sp>
      <p:sp>
        <p:nvSpPr>
          <p:cNvPr id="118" name="Shape 115"/>
          <p:cNvSpPr/>
          <p:nvPr/>
        </p:nvSpPr>
        <p:spPr>
          <a:xfrm>
            <a:off x="2103120" y="4373880"/>
            <a:ext cx="164592" cy="164592"/>
          </a:xfrm>
          <a:prstGeom prst="ellipse">
            <a:avLst/>
          </a:prstGeom>
          <a:solidFill>
            <a:srgbClr val="3B82F6"/>
          </a:solidFill>
          <a:ln w="12700">
            <a:solidFill>
              <a:srgbClr val="0B1220"/>
            </a:solidFill>
            <a:prstDash val="solid"/>
          </a:ln>
        </p:spPr>
      </p:sp>
      <p:sp>
        <p:nvSpPr>
          <p:cNvPr id="119" name="Shape 116"/>
          <p:cNvSpPr/>
          <p:nvPr/>
        </p:nvSpPr>
        <p:spPr>
          <a:xfrm>
            <a:off x="2103120" y="4815840"/>
            <a:ext cx="164592" cy="164592"/>
          </a:xfrm>
          <a:prstGeom prst="ellipse">
            <a:avLst/>
          </a:prstGeom>
          <a:solidFill>
            <a:srgbClr val="3B82F6"/>
          </a:solidFill>
          <a:ln w="12700">
            <a:solidFill>
              <a:srgbClr val="0B1220"/>
            </a:solidFill>
            <a:prstDash val="solid"/>
          </a:ln>
        </p:spPr>
      </p:sp>
      <p:sp>
        <p:nvSpPr>
          <p:cNvPr id="120" name="Shape 117"/>
          <p:cNvSpPr/>
          <p:nvPr/>
        </p:nvSpPr>
        <p:spPr>
          <a:xfrm>
            <a:off x="2103120" y="5257800"/>
            <a:ext cx="164592" cy="164592"/>
          </a:xfrm>
          <a:prstGeom prst="ellipse">
            <a:avLst/>
          </a:prstGeom>
          <a:solidFill>
            <a:srgbClr val="3B82F6"/>
          </a:solidFill>
          <a:ln w="12700">
            <a:solidFill>
              <a:srgbClr val="0B1220"/>
            </a:solidFill>
            <a:prstDash val="solid"/>
          </a:ln>
        </p:spPr>
      </p:sp>
      <p:sp>
        <p:nvSpPr>
          <p:cNvPr id="121" name="Shape 118"/>
          <p:cNvSpPr/>
          <p:nvPr/>
        </p:nvSpPr>
        <p:spPr>
          <a:xfrm>
            <a:off x="3200400" y="2606040"/>
            <a:ext cx="164592" cy="164592"/>
          </a:xfrm>
          <a:prstGeom prst="ellipse">
            <a:avLst/>
          </a:prstGeom>
          <a:solidFill>
            <a:srgbClr val="3B82F6"/>
          </a:solidFill>
          <a:ln w="12700">
            <a:solidFill>
              <a:srgbClr val="0B1220"/>
            </a:solidFill>
            <a:prstDash val="solid"/>
          </a:ln>
        </p:spPr>
      </p:sp>
      <p:sp>
        <p:nvSpPr>
          <p:cNvPr id="122" name="Shape 119"/>
          <p:cNvSpPr/>
          <p:nvPr/>
        </p:nvSpPr>
        <p:spPr>
          <a:xfrm>
            <a:off x="3200400" y="3268980"/>
            <a:ext cx="164592" cy="164592"/>
          </a:xfrm>
          <a:prstGeom prst="ellipse">
            <a:avLst/>
          </a:prstGeom>
          <a:solidFill>
            <a:srgbClr val="3B82F6"/>
          </a:solidFill>
          <a:ln w="12700">
            <a:solidFill>
              <a:srgbClr val="0B1220"/>
            </a:solidFill>
            <a:prstDash val="solid"/>
          </a:ln>
        </p:spPr>
      </p:sp>
      <p:sp>
        <p:nvSpPr>
          <p:cNvPr id="123" name="Shape 120"/>
          <p:cNvSpPr/>
          <p:nvPr/>
        </p:nvSpPr>
        <p:spPr>
          <a:xfrm>
            <a:off x="3200400" y="3931920"/>
            <a:ext cx="164592" cy="164592"/>
          </a:xfrm>
          <a:prstGeom prst="ellipse">
            <a:avLst/>
          </a:prstGeom>
          <a:solidFill>
            <a:srgbClr val="3B82F6"/>
          </a:solidFill>
          <a:ln w="12700">
            <a:solidFill>
              <a:srgbClr val="0B1220"/>
            </a:solidFill>
            <a:prstDash val="solid"/>
          </a:ln>
        </p:spPr>
      </p:sp>
      <p:sp>
        <p:nvSpPr>
          <p:cNvPr id="124" name="Shape 121"/>
          <p:cNvSpPr/>
          <p:nvPr/>
        </p:nvSpPr>
        <p:spPr>
          <a:xfrm>
            <a:off x="3200400" y="4594860"/>
            <a:ext cx="164592" cy="164592"/>
          </a:xfrm>
          <a:prstGeom prst="ellipse">
            <a:avLst/>
          </a:prstGeom>
          <a:solidFill>
            <a:srgbClr val="3B82F6"/>
          </a:solidFill>
          <a:ln w="12700">
            <a:solidFill>
              <a:srgbClr val="0B1220"/>
            </a:solidFill>
            <a:prstDash val="solid"/>
          </a:ln>
        </p:spPr>
      </p:sp>
      <p:sp>
        <p:nvSpPr>
          <p:cNvPr id="125" name="Shape 122"/>
          <p:cNvSpPr/>
          <p:nvPr/>
        </p:nvSpPr>
        <p:spPr>
          <a:xfrm>
            <a:off x="3200400" y="5257800"/>
            <a:ext cx="164592" cy="164592"/>
          </a:xfrm>
          <a:prstGeom prst="ellipse">
            <a:avLst/>
          </a:prstGeom>
          <a:solidFill>
            <a:srgbClr val="3B82F6"/>
          </a:solidFill>
          <a:ln w="12700">
            <a:solidFill>
              <a:srgbClr val="0B1220"/>
            </a:solidFill>
            <a:prstDash val="solid"/>
          </a:ln>
        </p:spPr>
      </p:sp>
      <p:sp>
        <p:nvSpPr>
          <p:cNvPr id="126" name="Shape 123"/>
          <p:cNvSpPr/>
          <p:nvPr/>
        </p:nvSpPr>
        <p:spPr>
          <a:xfrm>
            <a:off x="4297680" y="2606040"/>
            <a:ext cx="164592" cy="164592"/>
          </a:xfrm>
          <a:prstGeom prst="ellipse">
            <a:avLst/>
          </a:prstGeom>
          <a:solidFill>
            <a:srgbClr val="3B82F6"/>
          </a:solidFill>
          <a:ln w="12700">
            <a:solidFill>
              <a:srgbClr val="0B1220"/>
            </a:solidFill>
            <a:prstDash val="solid"/>
          </a:ln>
        </p:spPr>
      </p:sp>
      <p:sp>
        <p:nvSpPr>
          <p:cNvPr id="127" name="Shape 124"/>
          <p:cNvSpPr/>
          <p:nvPr/>
        </p:nvSpPr>
        <p:spPr>
          <a:xfrm>
            <a:off x="4297680" y="3489960"/>
            <a:ext cx="164592" cy="164592"/>
          </a:xfrm>
          <a:prstGeom prst="ellipse">
            <a:avLst/>
          </a:prstGeom>
          <a:solidFill>
            <a:srgbClr val="3B82F6"/>
          </a:solidFill>
          <a:ln w="12700">
            <a:solidFill>
              <a:srgbClr val="0B1220"/>
            </a:solidFill>
            <a:prstDash val="solid"/>
          </a:ln>
        </p:spPr>
      </p:sp>
      <p:sp>
        <p:nvSpPr>
          <p:cNvPr id="128" name="Shape 125"/>
          <p:cNvSpPr/>
          <p:nvPr/>
        </p:nvSpPr>
        <p:spPr>
          <a:xfrm>
            <a:off x="4297680" y="4373880"/>
            <a:ext cx="164592" cy="164592"/>
          </a:xfrm>
          <a:prstGeom prst="ellipse">
            <a:avLst/>
          </a:prstGeom>
          <a:solidFill>
            <a:srgbClr val="3B82F6"/>
          </a:solidFill>
          <a:ln w="12700">
            <a:solidFill>
              <a:srgbClr val="0B1220"/>
            </a:solidFill>
            <a:prstDash val="solid"/>
          </a:ln>
        </p:spPr>
      </p:sp>
      <p:sp>
        <p:nvSpPr>
          <p:cNvPr id="129" name="Shape 126"/>
          <p:cNvSpPr/>
          <p:nvPr/>
        </p:nvSpPr>
        <p:spPr>
          <a:xfrm>
            <a:off x="4297680" y="5257800"/>
            <a:ext cx="164592" cy="164592"/>
          </a:xfrm>
          <a:prstGeom prst="ellipse">
            <a:avLst/>
          </a:prstGeom>
          <a:solidFill>
            <a:srgbClr val="3B82F6"/>
          </a:solidFill>
          <a:ln w="12700">
            <a:solidFill>
              <a:srgbClr val="0B1220"/>
            </a:solidFill>
            <a:prstDash val="solid"/>
          </a:ln>
        </p:spPr>
      </p:sp>
      <p:sp>
        <p:nvSpPr>
          <p:cNvPr id="130" name="Shape 127"/>
          <p:cNvSpPr/>
          <p:nvPr/>
        </p:nvSpPr>
        <p:spPr>
          <a:xfrm>
            <a:off x="5394960" y="3931920"/>
            <a:ext cx="164592" cy="164592"/>
          </a:xfrm>
          <a:prstGeom prst="ellipse">
            <a:avLst/>
          </a:prstGeom>
          <a:solidFill>
            <a:srgbClr val="34D399"/>
          </a:solidFill>
          <a:ln w="12700">
            <a:solidFill>
              <a:srgbClr val="0B1220"/>
            </a:solidFill>
            <a:prstDash val="solid"/>
          </a:ln>
        </p:spPr>
      </p:sp>
      <p:sp>
        <p:nvSpPr>
          <p:cNvPr id="131" name="Text 128"/>
          <p:cNvSpPr txBox="1"/>
          <p:nvPr/>
        </p:nvSpPr>
        <p:spPr>
          <a:xfrm>
            <a:off x="548640" y="5440680"/>
            <a:ext cx="1078992" cy="502920"/>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entrada</a:t>
            </a:r>
            <a:endParaRPr lang="en-US" sz="1050" dirty="0"/>
          </a:p>
          <a:p>
            <a:pPr algn="ctr" indent="0" marL="0">
              <a:lnSpc>
                <a:spcPct val="110000"/>
              </a:lnSpc>
              <a:spcAft>
                <a:spcPts val="400"/>
              </a:spcAft>
              <a:buNone/>
            </a:pPr>
            <a:r>
              <a:rPr lang="en-US" sz="1050" dirty="0">
                <a:solidFill>
                  <a:srgbClr val="94A3B8"/>
                </a:solidFill>
              </a:rPr>
              <a:t>44 datos</a:t>
            </a:r>
            <a:endParaRPr lang="en-US" sz="1050" dirty="0"/>
          </a:p>
        </p:txBody>
      </p:sp>
      <p:sp>
        <p:nvSpPr>
          <p:cNvPr id="132" name="Text 129"/>
          <p:cNvSpPr txBox="1"/>
          <p:nvPr/>
        </p:nvSpPr>
        <p:spPr>
          <a:xfrm>
            <a:off x="1645920" y="5440680"/>
            <a:ext cx="1078992" cy="502920"/>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capa 1</a:t>
            </a:r>
            <a:endParaRPr lang="en-US" sz="1050" dirty="0"/>
          </a:p>
          <a:p>
            <a:pPr algn="ctr" indent="0" marL="0">
              <a:lnSpc>
                <a:spcPct val="110000"/>
              </a:lnSpc>
              <a:spcAft>
                <a:spcPts val="400"/>
              </a:spcAft>
              <a:buNone/>
            </a:pPr>
            <a:r>
              <a:rPr lang="en-US" sz="1050" dirty="0">
                <a:solidFill>
                  <a:srgbClr val="94A3B8"/>
                </a:solidFill>
              </a:rPr>
              <a:t>64</a:t>
            </a:r>
            <a:endParaRPr lang="en-US" sz="1050" dirty="0"/>
          </a:p>
        </p:txBody>
      </p:sp>
      <p:sp>
        <p:nvSpPr>
          <p:cNvPr id="133" name="Text 130"/>
          <p:cNvSpPr txBox="1"/>
          <p:nvPr/>
        </p:nvSpPr>
        <p:spPr>
          <a:xfrm>
            <a:off x="2743200" y="5440680"/>
            <a:ext cx="1078992" cy="502920"/>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capa 2</a:t>
            </a:r>
            <a:endParaRPr lang="en-US" sz="1050" dirty="0"/>
          </a:p>
          <a:p>
            <a:pPr algn="ctr" indent="0" marL="0">
              <a:lnSpc>
                <a:spcPct val="110000"/>
              </a:lnSpc>
              <a:spcAft>
                <a:spcPts val="400"/>
              </a:spcAft>
              <a:buNone/>
            </a:pPr>
            <a:r>
              <a:rPr lang="en-US" sz="1050" dirty="0">
                <a:solidFill>
                  <a:srgbClr val="94A3B8"/>
                </a:solidFill>
              </a:rPr>
              <a:t>32</a:t>
            </a:r>
            <a:endParaRPr lang="en-US" sz="1050" dirty="0"/>
          </a:p>
        </p:txBody>
      </p:sp>
      <p:sp>
        <p:nvSpPr>
          <p:cNvPr id="134" name="Text 131"/>
          <p:cNvSpPr txBox="1"/>
          <p:nvPr/>
        </p:nvSpPr>
        <p:spPr>
          <a:xfrm>
            <a:off x="3840480" y="5440680"/>
            <a:ext cx="1078992" cy="502920"/>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capa 3</a:t>
            </a:r>
            <a:endParaRPr lang="en-US" sz="1050" dirty="0"/>
          </a:p>
          <a:p>
            <a:pPr algn="ctr" indent="0" marL="0">
              <a:lnSpc>
                <a:spcPct val="110000"/>
              </a:lnSpc>
              <a:spcAft>
                <a:spcPts val="400"/>
              </a:spcAft>
              <a:buNone/>
            </a:pPr>
            <a:r>
              <a:rPr lang="en-US" sz="1050" dirty="0">
                <a:solidFill>
                  <a:srgbClr val="94A3B8"/>
                </a:solidFill>
              </a:rPr>
              <a:t>16</a:t>
            </a:r>
            <a:endParaRPr lang="en-US" sz="1050" dirty="0"/>
          </a:p>
        </p:txBody>
      </p:sp>
      <p:sp>
        <p:nvSpPr>
          <p:cNvPr id="135" name="Text 132"/>
          <p:cNvSpPr txBox="1"/>
          <p:nvPr/>
        </p:nvSpPr>
        <p:spPr>
          <a:xfrm>
            <a:off x="4937760" y="5440680"/>
            <a:ext cx="1078992" cy="502920"/>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salida</a:t>
            </a:r>
            <a:endParaRPr lang="en-US" sz="1050" dirty="0"/>
          </a:p>
          <a:p>
            <a:pPr algn="ctr" indent="0" marL="0">
              <a:lnSpc>
                <a:spcPct val="110000"/>
              </a:lnSpc>
              <a:spcAft>
                <a:spcPts val="400"/>
              </a:spcAft>
              <a:buNone/>
            </a:pPr>
            <a:r>
              <a:rPr lang="en-US" sz="1050" dirty="0">
                <a:solidFill>
                  <a:srgbClr val="94A3B8"/>
                </a:solidFill>
              </a:rPr>
              <a:t>1</a:t>
            </a:r>
            <a:endParaRPr lang="en-US" sz="1050" dirty="0"/>
          </a:p>
        </p:txBody>
      </p:sp>
      <p:sp>
        <p:nvSpPr>
          <p:cNvPr id="136" name="Text 133"/>
          <p:cNvSpPr txBox="1"/>
          <p:nvPr/>
        </p:nvSpPr>
        <p:spPr>
          <a:xfrm>
            <a:off x="4846320" y="4160520"/>
            <a:ext cx="1280160" cy="457200"/>
          </a:xfrm>
          <a:prstGeom prst="rect">
            <a:avLst/>
          </a:prstGeom>
          <a:noFill/>
          <a:ln/>
        </p:spPr>
        <p:txBody>
          <a:bodyPr wrap="square" lIns="0" tIns="0" rIns="0" bIns="0" rtlCol="0" anchor="t"/>
          <a:lstStyle/>
          <a:p>
            <a:pPr algn="ctr" indent="0" marL="0">
              <a:lnSpc>
                <a:spcPct val="110000"/>
              </a:lnSpc>
              <a:spcAft>
                <a:spcPts val="400"/>
              </a:spcAft>
              <a:buNone/>
            </a:pPr>
            <a:r>
              <a:rPr lang="en-US" sz="1000" dirty="0">
                <a:solidFill>
                  <a:schemeClr val="accent4"/>
                </a:solidFill>
              </a:rPr>
              <a:t>probabilidad de ser APTO</a:t>
            </a:r>
            <a:endParaRPr lang="en-US" sz="1000" dirty="0"/>
          </a:p>
        </p:txBody>
      </p:sp>
      <p:sp>
        <p:nvSpPr>
          <p:cNvPr id="137" name="Shape 134"/>
          <p:cNvSpPr/>
          <p:nvPr/>
        </p:nvSpPr>
        <p:spPr>
          <a:xfrm>
            <a:off x="6492240" y="1965960"/>
            <a:ext cx="5148072" cy="886968"/>
          </a:xfrm>
          <a:prstGeom prst="roundRect">
            <a:avLst>
              <a:gd name="adj" fmla="val 14433"/>
            </a:avLst>
          </a:prstGeom>
          <a:solidFill>
            <a:schemeClr val="tx2">
              <a:alpha val="92000"/>
            </a:schemeClr>
          </a:solidFill>
          <a:ln w="12700">
            <a:solidFill>
              <a:srgbClr val="1E293B"/>
            </a:solidFill>
            <a:prstDash val="solid"/>
          </a:ln>
        </p:spPr>
      </p:sp>
      <p:sp>
        <p:nvSpPr>
          <p:cNvPr id="138" name="Shape 135"/>
          <p:cNvSpPr/>
          <p:nvPr/>
        </p:nvSpPr>
        <p:spPr>
          <a:xfrm>
            <a:off x="6675120" y="2148840"/>
            <a:ext cx="457200" cy="457200"/>
          </a:xfrm>
          <a:prstGeom prst="ellipse">
            <a:avLst/>
          </a:prstGeom>
          <a:solidFill>
            <a:srgbClr val="3B82F6"/>
          </a:solidFill>
          <a:ln w="12700">
            <a:solidFill>
              <a:srgbClr val="3B82F6"/>
            </a:solidFill>
            <a:prstDash val="solid"/>
          </a:ln>
        </p:spPr>
      </p:sp>
      <p:sp>
        <p:nvSpPr>
          <p:cNvPr id="139" name="Text 136"/>
          <p:cNvSpPr txBox="1"/>
          <p:nvPr/>
        </p:nvSpPr>
        <p:spPr>
          <a:xfrm>
            <a:off x="6675120" y="2148840"/>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chemeClr val="bg1"/>
                </a:solidFill>
              </a:rPr>
              <a:t>1</a:t>
            </a:r>
            <a:endParaRPr lang="en-US" sz="1500" dirty="0"/>
          </a:p>
        </p:txBody>
      </p:sp>
      <p:sp>
        <p:nvSpPr>
          <p:cNvPr id="140" name="Text 137"/>
          <p:cNvSpPr txBox="1"/>
          <p:nvPr/>
        </p:nvSpPr>
        <p:spPr>
          <a:xfrm>
            <a:off x="7315200" y="2057400"/>
            <a:ext cx="42062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Predice</a:t>
            </a:r>
            <a:endParaRPr lang="en-US" sz="1500" dirty="0"/>
          </a:p>
        </p:txBody>
      </p:sp>
      <p:sp>
        <p:nvSpPr>
          <p:cNvPr id="141" name="Text 138"/>
          <p:cNvSpPr txBox="1"/>
          <p:nvPr/>
        </p:nvSpPr>
        <p:spPr>
          <a:xfrm>
            <a:off x="7315200" y="2368296"/>
            <a:ext cx="4206240" cy="4572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Toma 128 clientes y calcula una probabilidad para cada uno.</a:t>
            </a:r>
            <a:endParaRPr lang="en-US" sz="1250" dirty="0"/>
          </a:p>
        </p:txBody>
      </p:sp>
      <p:sp>
        <p:nvSpPr>
          <p:cNvPr id="142" name="Shape 139"/>
          <p:cNvSpPr/>
          <p:nvPr/>
        </p:nvSpPr>
        <p:spPr>
          <a:xfrm>
            <a:off x="6492240" y="2916936"/>
            <a:ext cx="5148072" cy="886968"/>
          </a:xfrm>
          <a:prstGeom prst="roundRect">
            <a:avLst>
              <a:gd name="adj" fmla="val 14433"/>
            </a:avLst>
          </a:prstGeom>
          <a:solidFill>
            <a:schemeClr val="tx2">
              <a:alpha val="92000"/>
            </a:schemeClr>
          </a:solidFill>
          <a:ln w="12700">
            <a:solidFill>
              <a:srgbClr val="1E293B"/>
            </a:solidFill>
            <a:prstDash val="solid"/>
          </a:ln>
        </p:spPr>
      </p:sp>
      <p:sp>
        <p:nvSpPr>
          <p:cNvPr id="143" name="Shape 140"/>
          <p:cNvSpPr/>
          <p:nvPr/>
        </p:nvSpPr>
        <p:spPr>
          <a:xfrm>
            <a:off x="6675120" y="3099816"/>
            <a:ext cx="457200" cy="457200"/>
          </a:xfrm>
          <a:prstGeom prst="ellipse">
            <a:avLst/>
          </a:prstGeom>
          <a:solidFill>
            <a:srgbClr val="3B82F6"/>
          </a:solidFill>
          <a:ln w="12700">
            <a:solidFill>
              <a:srgbClr val="3B82F6"/>
            </a:solidFill>
            <a:prstDash val="solid"/>
          </a:ln>
        </p:spPr>
      </p:sp>
      <p:sp>
        <p:nvSpPr>
          <p:cNvPr id="144" name="Text 141"/>
          <p:cNvSpPr txBox="1"/>
          <p:nvPr/>
        </p:nvSpPr>
        <p:spPr>
          <a:xfrm>
            <a:off x="6675120" y="3099816"/>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chemeClr val="bg1"/>
                </a:solidFill>
              </a:rPr>
              <a:t>2</a:t>
            </a:r>
            <a:endParaRPr lang="en-US" sz="1500" dirty="0"/>
          </a:p>
        </p:txBody>
      </p:sp>
      <p:sp>
        <p:nvSpPr>
          <p:cNvPr id="145" name="Text 142"/>
          <p:cNvSpPr txBox="1"/>
          <p:nvPr/>
        </p:nvSpPr>
        <p:spPr>
          <a:xfrm>
            <a:off x="7315200" y="3008376"/>
            <a:ext cx="42062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Mide el error</a:t>
            </a:r>
            <a:endParaRPr lang="en-US" sz="1500" dirty="0"/>
          </a:p>
        </p:txBody>
      </p:sp>
      <p:sp>
        <p:nvSpPr>
          <p:cNvPr id="146" name="Text 143"/>
          <p:cNvSpPr txBox="1"/>
          <p:nvPr/>
        </p:nvSpPr>
        <p:spPr>
          <a:xfrm>
            <a:off x="7315200" y="3319272"/>
            <a:ext cx="4206240" cy="4572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Compara cada probabilidad con la respuesta real.</a:t>
            </a:r>
            <a:endParaRPr lang="en-US" sz="1250" dirty="0"/>
          </a:p>
        </p:txBody>
      </p:sp>
      <p:sp>
        <p:nvSpPr>
          <p:cNvPr id="147" name="Shape 144"/>
          <p:cNvSpPr/>
          <p:nvPr/>
        </p:nvSpPr>
        <p:spPr>
          <a:xfrm>
            <a:off x="6492240" y="3867912"/>
            <a:ext cx="5148072" cy="886968"/>
          </a:xfrm>
          <a:prstGeom prst="roundRect">
            <a:avLst>
              <a:gd name="adj" fmla="val 14433"/>
            </a:avLst>
          </a:prstGeom>
          <a:solidFill>
            <a:schemeClr val="tx2">
              <a:alpha val="92000"/>
            </a:schemeClr>
          </a:solidFill>
          <a:ln w="12700">
            <a:solidFill>
              <a:srgbClr val="1E293B"/>
            </a:solidFill>
            <a:prstDash val="solid"/>
          </a:ln>
        </p:spPr>
      </p:sp>
      <p:sp>
        <p:nvSpPr>
          <p:cNvPr id="148" name="Shape 145"/>
          <p:cNvSpPr/>
          <p:nvPr/>
        </p:nvSpPr>
        <p:spPr>
          <a:xfrm>
            <a:off x="6675120" y="4050792"/>
            <a:ext cx="457200" cy="457200"/>
          </a:xfrm>
          <a:prstGeom prst="ellipse">
            <a:avLst/>
          </a:prstGeom>
          <a:solidFill>
            <a:srgbClr val="3B82F6"/>
          </a:solidFill>
          <a:ln w="12700">
            <a:solidFill>
              <a:srgbClr val="3B82F6"/>
            </a:solidFill>
            <a:prstDash val="solid"/>
          </a:ln>
        </p:spPr>
      </p:sp>
      <p:sp>
        <p:nvSpPr>
          <p:cNvPr id="149" name="Text 146"/>
          <p:cNvSpPr txBox="1"/>
          <p:nvPr/>
        </p:nvSpPr>
        <p:spPr>
          <a:xfrm>
            <a:off x="6675120" y="4050792"/>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chemeClr val="bg1"/>
                </a:solidFill>
              </a:rPr>
              <a:t>3</a:t>
            </a:r>
            <a:endParaRPr lang="en-US" sz="1500" dirty="0"/>
          </a:p>
        </p:txBody>
      </p:sp>
      <p:sp>
        <p:nvSpPr>
          <p:cNvPr id="150" name="Text 147"/>
          <p:cNvSpPr txBox="1"/>
          <p:nvPr/>
        </p:nvSpPr>
        <p:spPr>
          <a:xfrm>
            <a:off x="7315200" y="3959352"/>
            <a:ext cx="42062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Busca responsables</a:t>
            </a:r>
            <a:endParaRPr lang="en-US" sz="1500" dirty="0"/>
          </a:p>
        </p:txBody>
      </p:sp>
      <p:sp>
        <p:nvSpPr>
          <p:cNvPr id="151" name="Text 148"/>
          <p:cNvSpPr txBox="1"/>
          <p:nvPr/>
        </p:nvSpPr>
        <p:spPr>
          <a:xfrm>
            <a:off x="7315200" y="4270248"/>
            <a:ext cx="4206240" cy="4572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Calcula cuánto contribuyó cada peso a ese error (retropropagación).</a:t>
            </a:r>
            <a:endParaRPr lang="en-US" sz="1250" dirty="0"/>
          </a:p>
        </p:txBody>
      </p:sp>
      <p:sp>
        <p:nvSpPr>
          <p:cNvPr id="152" name="Shape 149"/>
          <p:cNvSpPr/>
          <p:nvPr/>
        </p:nvSpPr>
        <p:spPr>
          <a:xfrm>
            <a:off x="6492240" y="4818888"/>
            <a:ext cx="5148072" cy="886968"/>
          </a:xfrm>
          <a:prstGeom prst="roundRect">
            <a:avLst>
              <a:gd name="adj" fmla="val 14433"/>
            </a:avLst>
          </a:prstGeom>
          <a:solidFill>
            <a:schemeClr val="tx2">
              <a:alpha val="92000"/>
            </a:schemeClr>
          </a:solidFill>
          <a:ln w="12700">
            <a:solidFill>
              <a:srgbClr val="1E293B"/>
            </a:solidFill>
            <a:prstDash val="solid"/>
          </a:ln>
        </p:spPr>
      </p:sp>
      <p:sp>
        <p:nvSpPr>
          <p:cNvPr id="153" name="Shape 150"/>
          <p:cNvSpPr/>
          <p:nvPr/>
        </p:nvSpPr>
        <p:spPr>
          <a:xfrm>
            <a:off x="6675120" y="5001768"/>
            <a:ext cx="457200" cy="457200"/>
          </a:xfrm>
          <a:prstGeom prst="ellipse">
            <a:avLst/>
          </a:prstGeom>
          <a:solidFill>
            <a:srgbClr val="3B82F6"/>
          </a:solidFill>
          <a:ln w="12700">
            <a:solidFill>
              <a:srgbClr val="3B82F6"/>
            </a:solidFill>
            <a:prstDash val="solid"/>
          </a:ln>
        </p:spPr>
      </p:sp>
      <p:sp>
        <p:nvSpPr>
          <p:cNvPr id="154" name="Text 151"/>
          <p:cNvSpPr txBox="1"/>
          <p:nvPr/>
        </p:nvSpPr>
        <p:spPr>
          <a:xfrm>
            <a:off x="6675120" y="5001768"/>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chemeClr val="bg1"/>
                </a:solidFill>
              </a:rPr>
              <a:t>4</a:t>
            </a:r>
            <a:endParaRPr lang="en-US" sz="1500" dirty="0"/>
          </a:p>
        </p:txBody>
      </p:sp>
      <p:sp>
        <p:nvSpPr>
          <p:cNvPr id="155" name="Text 152"/>
          <p:cNvSpPr txBox="1"/>
          <p:nvPr/>
        </p:nvSpPr>
        <p:spPr>
          <a:xfrm>
            <a:off x="7315200" y="4910328"/>
            <a:ext cx="42062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Corrige</a:t>
            </a:r>
            <a:endParaRPr lang="en-US" sz="1500" dirty="0"/>
          </a:p>
        </p:txBody>
      </p:sp>
      <p:sp>
        <p:nvSpPr>
          <p:cNvPr id="156" name="Text 153"/>
          <p:cNvSpPr txBox="1"/>
          <p:nvPr/>
        </p:nvSpPr>
        <p:spPr>
          <a:xfrm>
            <a:off x="7315200" y="5221224"/>
            <a:ext cx="4206240" cy="4572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El optimizador Adam mueve cada peso un poco para equivocarse menos.</a:t>
            </a:r>
            <a:endParaRPr lang="en-US" sz="1250" dirty="0"/>
          </a:p>
        </p:txBody>
      </p:sp>
      <p:sp>
        <p:nvSpPr>
          <p:cNvPr id="157" name="Text 154"/>
          <p:cNvSpPr txBox="1"/>
          <p:nvPr/>
        </p:nvSpPr>
        <p:spPr>
          <a:xfrm>
            <a:off x="6492240" y="5788152"/>
            <a:ext cx="5148072" cy="41148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rPr>
              <a:t>Estos cuatro pasos se repiten 272 veces por cada vuelta completa a los 34.755 clientes (una «época»).</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Partes de una neurona: pesos, sesgo y función de activación</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Todas las neuronas de la red funcionan igual: reciben números, los combinan con sus pesos y su sesgo, y aplican una función de activación. Esta es una neurona vista de cerca:</a:t>
            </a:r>
            <a:endParaRPr lang="en-US" sz="1500" dirty="0"/>
          </a:p>
        </p:txBody>
      </p:sp>
      <p:sp>
        <p:nvSpPr>
          <p:cNvPr id="5" name="Shape 2"/>
          <p:cNvSpPr/>
          <p:nvPr/>
        </p:nvSpPr>
        <p:spPr>
          <a:xfrm>
            <a:off x="548640" y="1874520"/>
            <a:ext cx="6675120" cy="3246120"/>
          </a:xfrm>
          <a:prstGeom prst="roundRect">
            <a:avLst>
              <a:gd name="adj" fmla="val 3944"/>
            </a:avLst>
          </a:prstGeom>
          <a:solidFill>
            <a:schemeClr val="tx2">
              <a:alpha val="92000"/>
            </a:schemeClr>
          </a:solidFill>
          <a:ln w="12700">
            <a:solidFill>
              <a:srgbClr val="1E293B"/>
            </a:solidFill>
            <a:prstDash val="solid"/>
          </a:ln>
        </p:spPr>
      </p:sp>
      <p:sp>
        <p:nvSpPr>
          <p:cNvPr id="6" name="Shape 3"/>
          <p:cNvSpPr/>
          <p:nvPr/>
        </p:nvSpPr>
        <p:spPr>
          <a:xfrm>
            <a:off x="822960" y="2240280"/>
            <a:ext cx="502920" cy="502920"/>
          </a:xfrm>
          <a:prstGeom prst="ellipse">
            <a:avLst/>
          </a:prstGeom>
          <a:solidFill>
            <a:srgbClr val="1E293B"/>
          </a:solidFill>
          <a:ln w="12700">
            <a:solidFill>
              <a:srgbClr val="94A3B8"/>
            </a:solidFill>
            <a:prstDash val="solid"/>
          </a:ln>
        </p:spPr>
      </p:sp>
      <p:sp>
        <p:nvSpPr>
          <p:cNvPr id="7" name="Text 4"/>
          <p:cNvSpPr txBox="1"/>
          <p:nvPr/>
        </p:nvSpPr>
        <p:spPr>
          <a:xfrm>
            <a:off x="822960" y="224028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x₁</a:t>
            </a:r>
            <a:endParaRPr lang="en-US" sz="1300" dirty="0"/>
          </a:p>
        </p:txBody>
      </p:sp>
      <p:sp>
        <p:nvSpPr>
          <p:cNvPr id="8" name="Shape 5"/>
          <p:cNvSpPr/>
          <p:nvPr/>
        </p:nvSpPr>
        <p:spPr>
          <a:xfrm>
            <a:off x="1325880" y="2487168"/>
            <a:ext cx="1783080" cy="804672"/>
          </a:xfrm>
          <a:prstGeom prst="line">
            <a:avLst/>
          </a:prstGeom>
          <a:noFill/>
          <a:ln w="19050">
            <a:solidFill>
              <a:srgbClr val="3B82F6"/>
            </a:solidFill>
            <a:prstDash val="solid"/>
            <a:tailEnd type="triangle"/>
          </a:ln>
        </p:spPr>
      </p:sp>
      <p:sp>
        <p:nvSpPr>
          <p:cNvPr id="9" name="Text 6"/>
          <p:cNvSpPr txBox="1"/>
          <p:nvPr/>
        </p:nvSpPr>
        <p:spPr>
          <a:xfrm>
            <a:off x="1874520" y="2404872"/>
            <a:ext cx="548640" cy="27432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accent2"/>
                </a:solidFill>
                <a:latin typeface="Consolas" pitchFamily="34" charset="0"/>
                <a:ea typeface="Consolas" pitchFamily="34" charset="-122"/>
                <a:cs typeface="Consolas" pitchFamily="34" charset="-120"/>
              </a:rPr>
              <a:t>w₁</a:t>
            </a:r>
            <a:endParaRPr lang="en-US" sz="1200" dirty="0"/>
          </a:p>
        </p:txBody>
      </p:sp>
      <p:sp>
        <p:nvSpPr>
          <p:cNvPr id="10" name="Shape 7"/>
          <p:cNvSpPr/>
          <p:nvPr/>
        </p:nvSpPr>
        <p:spPr>
          <a:xfrm>
            <a:off x="822960" y="2880360"/>
            <a:ext cx="502920" cy="502920"/>
          </a:xfrm>
          <a:prstGeom prst="ellipse">
            <a:avLst/>
          </a:prstGeom>
          <a:solidFill>
            <a:srgbClr val="1E293B"/>
          </a:solidFill>
          <a:ln w="12700">
            <a:solidFill>
              <a:srgbClr val="94A3B8"/>
            </a:solidFill>
            <a:prstDash val="solid"/>
          </a:ln>
        </p:spPr>
      </p:sp>
      <p:sp>
        <p:nvSpPr>
          <p:cNvPr id="11" name="Text 8"/>
          <p:cNvSpPr txBox="1"/>
          <p:nvPr/>
        </p:nvSpPr>
        <p:spPr>
          <a:xfrm>
            <a:off x="822960" y="288036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x₂</a:t>
            </a:r>
            <a:endParaRPr lang="en-US" sz="1300" dirty="0"/>
          </a:p>
        </p:txBody>
      </p:sp>
      <p:sp>
        <p:nvSpPr>
          <p:cNvPr id="12" name="Shape 9"/>
          <p:cNvSpPr/>
          <p:nvPr/>
        </p:nvSpPr>
        <p:spPr>
          <a:xfrm>
            <a:off x="1325880" y="3127248"/>
            <a:ext cx="1783080" cy="164592"/>
          </a:xfrm>
          <a:prstGeom prst="line">
            <a:avLst/>
          </a:prstGeom>
          <a:noFill/>
          <a:ln w="19050">
            <a:solidFill>
              <a:srgbClr val="3B82F6"/>
            </a:solidFill>
            <a:prstDash val="solid"/>
            <a:tailEnd type="triangle"/>
          </a:ln>
        </p:spPr>
      </p:sp>
      <p:sp>
        <p:nvSpPr>
          <p:cNvPr id="13" name="Text 10"/>
          <p:cNvSpPr txBox="1"/>
          <p:nvPr/>
        </p:nvSpPr>
        <p:spPr>
          <a:xfrm>
            <a:off x="1874520" y="3044952"/>
            <a:ext cx="548640" cy="27432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accent2"/>
                </a:solidFill>
                <a:latin typeface="Consolas" pitchFamily="34" charset="0"/>
                <a:ea typeface="Consolas" pitchFamily="34" charset="-122"/>
                <a:cs typeface="Consolas" pitchFamily="34" charset="-120"/>
              </a:rPr>
              <a:t>w₂</a:t>
            </a:r>
            <a:endParaRPr lang="en-US" sz="1200" dirty="0"/>
          </a:p>
        </p:txBody>
      </p:sp>
      <p:sp>
        <p:nvSpPr>
          <p:cNvPr id="14" name="Text 11"/>
          <p:cNvSpPr txBox="1"/>
          <p:nvPr/>
        </p:nvSpPr>
        <p:spPr>
          <a:xfrm>
            <a:off x="822960" y="3337560"/>
            <a:ext cx="502920" cy="457200"/>
          </a:xfrm>
          <a:prstGeom prst="rect">
            <a:avLst/>
          </a:prstGeom>
          <a:noFill/>
          <a:ln/>
        </p:spPr>
        <p:txBody>
          <a:bodyPr wrap="square" lIns="0" tIns="0" rIns="0" bIns="0" rtlCol="0" anchor="t"/>
          <a:lstStyle/>
          <a:p>
            <a:pPr algn="ctr" indent="0" marL="0">
              <a:lnSpc>
                <a:spcPct val="110000"/>
              </a:lnSpc>
              <a:spcAft>
                <a:spcPts val="400"/>
              </a:spcAft>
              <a:buNone/>
            </a:pPr>
            <a:r>
              <a:rPr lang="en-US" sz="1800" dirty="0">
                <a:solidFill>
                  <a:srgbClr val="94A3B8"/>
                </a:solidFill>
              </a:rPr>
              <a:t>⋮</a:t>
            </a:r>
            <a:endParaRPr lang="en-US" sz="1800" dirty="0"/>
          </a:p>
        </p:txBody>
      </p:sp>
      <p:sp>
        <p:nvSpPr>
          <p:cNvPr id="15" name="Shape 12"/>
          <p:cNvSpPr/>
          <p:nvPr/>
        </p:nvSpPr>
        <p:spPr>
          <a:xfrm>
            <a:off x="822960" y="3931920"/>
            <a:ext cx="502920" cy="502920"/>
          </a:xfrm>
          <a:prstGeom prst="ellipse">
            <a:avLst/>
          </a:prstGeom>
          <a:solidFill>
            <a:srgbClr val="1E293B"/>
          </a:solidFill>
          <a:ln w="12700">
            <a:solidFill>
              <a:srgbClr val="94A3B8"/>
            </a:solidFill>
            <a:prstDash val="solid"/>
          </a:ln>
        </p:spPr>
      </p:sp>
      <p:sp>
        <p:nvSpPr>
          <p:cNvPr id="16" name="Text 13"/>
          <p:cNvSpPr txBox="1"/>
          <p:nvPr/>
        </p:nvSpPr>
        <p:spPr>
          <a:xfrm>
            <a:off x="822960" y="39319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x₄₄</a:t>
            </a:r>
            <a:endParaRPr lang="en-US" sz="1300" dirty="0"/>
          </a:p>
        </p:txBody>
      </p:sp>
      <p:sp>
        <p:nvSpPr>
          <p:cNvPr id="17" name="Shape 14"/>
          <p:cNvSpPr/>
          <p:nvPr/>
        </p:nvSpPr>
        <p:spPr>
          <a:xfrm flipV="1">
            <a:off x="1325880" y="3291840"/>
            <a:ext cx="1783080" cy="886968"/>
          </a:xfrm>
          <a:prstGeom prst="line">
            <a:avLst/>
          </a:prstGeom>
          <a:noFill/>
          <a:ln w="19050">
            <a:solidFill>
              <a:srgbClr val="3B82F6"/>
            </a:solidFill>
            <a:prstDash val="solid"/>
            <a:tailEnd type="triangle"/>
          </a:ln>
        </p:spPr>
      </p:sp>
      <p:sp>
        <p:nvSpPr>
          <p:cNvPr id="18" name="Text 15"/>
          <p:cNvSpPr txBox="1"/>
          <p:nvPr/>
        </p:nvSpPr>
        <p:spPr>
          <a:xfrm>
            <a:off x="1874520" y="3886200"/>
            <a:ext cx="548640" cy="27432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accent2"/>
                </a:solidFill>
                <a:latin typeface="Consolas" pitchFamily="34" charset="0"/>
                <a:ea typeface="Consolas" pitchFamily="34" charset="-122"/>
                <a:cs typeface="Consolas" pitchFamily="34" charset="-120"/>
              </a:rPr>
              <a:t>w₄₄</a:t>
            </a:r>
            <a:endParaRPr lang="en-US" sz="1200" dirty="0"/>
          </a:p>
        </p:txBody>
      </p:sp>
      <p:sp>
        <p:nvSpPr>
          <p:cNvPr id="19" name="Shape 16"/>
          <p:cNvSpPr/>
          <p:nvPr/>
        </p:nvSpPr>
        <p:spPr>
          <a:xfrm>
            <a:off x="3108960" y="2743200"/>
            <a:ext cx="1097280" cy="1097280"/>
          </a:xfrm>
          <a:prstGeom prst="ellipse">
            <a:avLst/>
          </a:prstGeom>
          <a:solidFill>
            <a:srgbClr val="1E3A8A"/>
          </a:solidFill>
          <a:ln w="19050">
            <a:solidFill>
              <a:srgbClr val="3B82F6"/>
            </a:solidFill>
            <a:prstDash val="solid"/>
          </a:ln>
        </p:spPr>
      </p:sp>
      <p:sp>
        <p:nvSpPr>
          <p:cNvPr id="20" name="Text 17"/>
          <p:cNvSpPr txBox="1"/>
          <p:nvPr/>
        </p:nvSpPr>
        <p:spPr>
          <a:xfrm>
            <a:off x="3108960" y="2743200"/>
            <a:ext cx="1097280" cy="1097280"/>
          </a:xfrm>
          <a:prstGeom prst="rect">
            <a:avLst/>
          </a:prstGeom>
          <a:noFill/>
          <a:ln/>
        </p:spPr>
        <p:txBody>
          <a:bodyPr wrap="square" lIns="0" tIns="0" rIns="0" bIns="0" rtlCol="0" anchor="ctr"/>
          <a:lstStyle/>
          <a:p>
            <a:pPr algn="ctr" indent="0" marL="0">
              <a:lnSpc>
                <a:spcPct val="110000"/>
              </a:lnSpc>
              <a:spcAft>
                <a:spcPts val="400"/>
              </a:spcAft>
              <a:buNone/>
            </a:pPr>
            <a:r>
              <a:rPr lang="en-US" sz="3000" b="1" dirty="0">
                <a:solidFill>
                  <a:schemeClr val="bg1"/>
                </a:solidFill>
              </a:rPr>
              <a:t>Σ</a:t>
            </a:r>
            <a:endParaRPr lang="en-US" sz="3000" dirty="0"/>
          </a:p>
        </p:txBody>
      </p:sp>
      <p:sp>
        <p:nvSpPr>
          <p:cNvPr id="21" name="Shape 18"/>
          <p:cNvSpPr/>
          <p:nvPr/>
        </p:nvSpPr>
        <p:spPr>
          <a:xfrm>
            <a:off x="2971800" y="2011680"/>
            <a:ext cx="1371600" cy="457200"/>
          </a:xfrm>
          <a:prstGeom prst="roundRect">
            <a:avLst>
              <a:gd name="adj" fmla="val 28000"/>
            </a:avLst>
          </a:prstGeom>
          <a:solidFill>
            <a:srgbClr val="78350F">
              <a:alpha val="70000"/>
            </a:srgbClr>
          </a:solidFill>
          <a:ln w="12700">
            <a:solidFill>
              <a:srgbClr val="F59E0B"/>
            </a:solidFill>
            <a:prstDash val="solid"/>
          </a:ln>
        </p:spPr>
      </p:sp>
      <p:sp>
        <p:nvSpPr>
          <p:cNvPr id="22" name="Text 19"/>
          <p:cNvSpPr txBox="1"/>
          <p:nvPr/>
        </p:nvSpPr>
        <p:spPr>
          <a:xfrm>
            <a:off x="2971800" y="2011680"/>
            <a:ext cx="1371600" cy="457200"/>
          </a:xfrm>
          <a:prstGeom prst="rect">
            <a:avLst/>
          </a:prstGeom>
          <a:noFill/>
          <a:ln/>
        </p:spPr>
        <p:txBody>
          <a:bodyPr wrap="square" lIns="0" tIns="0" rIns="0" bIns="0" rtlCol="0" anchor="ctr"/>
          <a:lstStyle/>
          <a:p>
            <a:pPr algn="ctr" indent="0" marL="0">
              <a:lnSpc>
                <a:spcPct val="110000"/>
              </a:lnSpc>
              <a:spcAft>
                <a:spcPts val="400"/>
              </a:spcAft>
              <a:buNone/>
            </a:pPr>
            <a:r>
              <a:rPr lang="en-US" sz="1200" b="1" dirty="0">
                <a:solidFill>
                  <a:schemeClr val="accent3"/>
                </a:solidFill>
              </a:rPr>
              <a:t>+ b (sesgo)</a:t>
            </a:r>
            <a:endParaRPr lang="en-US" sz="1200" dirty="0"/>
          </a:p>
        </p:txBody>
      </p:sp>
      <p:sp>
        <p:nvSpPr>
          <p:cNvPr id="23" name="Shape 20"/>
          <p:cNvSpPr/>
          <p:nvPr/>
        </p:nvSpPr>
        <p:spPr>
          <a:xfrm>
            <a:off x="3657600" y="2468880"/>
            <a:ext cx="0" cy="274320"/>
          </a:xfrm>
          <a:prstGeom prst="line">
            <a:avLst/>
          </a:prstGeom>
          <a:noFill/>
          <a:ln w="19050">
            <a:solidFill>
              <a:srgbClr val="F59E0B"/>
            </a:solidFill>
            <a:prstDash val="solid"/>
            <a:tailEnd type="triangle"/>
          </a:ln>
        </p:spPr>
      </p:sp>
      <p:sp>
        <p:nvSpPr>
          <p:cNvPr id="24" name="Shape 21"/>
          <p:cNvSpPr/>
          <p:nvPr/>
        </p:nvSpPr>
        <p:spPr>
          <a:xfrm>
            <a:off x="4206240" y="3291840"/>
            <a:ext cx="548640" cy="0"/>
          </a:xfrm>
          <a:prstGeom prst="line">
            <a:avLst/>
          </a:prstGeom>
          <a:noFill/>
          <a:ln w="19050">
            <a:solidFill>
              <a:srgbClr val="475569"/>
            </a:solidFill>
            <a:prstDash val="solid"/>
            <a:tailEnd type="triangle"/>
          </a:ln>
        </p:spPr>
      </p:sp>
      <p:sp>
        <p:nvSpPr>
          <p:cNvPr id="25" name="Shape 22"/>
          <p:cNvSpPr/>
          <p:nvPr/>
        </p:nvSpPr>
        <p:spPr>
          <a:xfrm>
            <a:off x="4754880" y="2788920"/>
            <a:ext cx="1234440" cy="1005840"/>
          </a:xfrm>
          <a:prstGeom prst="roundRect">
            <a:avLst>
              <a:gd name="adj" fmla="val 12727"/>
            </a:avLst>
          </a:prstGeom>
          <a:solidFill>
            <a:srgbClr val="064E3B">
              <a:alpha val="70000"/>
            </a:srgbClr>
          </a:solidFill>
          <a:ln w="12700">
            <a:solidFill>
              <a:srgbClr val="34D399"/>
            </a:solidFill>
            <a:prstDash val="solid"/>
          </a:ln>
        </p:spPr>
      </p:sp>
      <p:sp>
        <p:nvSpPr>
          <p:cNvPr id="26" name="Text 23"/>
          <p:cNvSpPr txBox="1"/>
          <p:nvPr/>
        </p:nvSpPr>
        <p:spPr>
          <a:xfrm>
            <a:off x="4754880" y="2788920"/>
            <a:ext cx="1234440" cy="1005840"/>
          </a:xfrm>
          <a:prstGeom prst="rect">
            <a:avLst/>
          </a:prstGeom>
          <a:noFill/>
          <a:ln/>
        </p:spPr>
        <p:txBody>
          <a:bodyPr wrap="square" lIns="0" tIns="0" rIns="0" bIns="0" rtlCol="0" anchor="ctr"/>
          <a:lstStyle/>
          <a:p>
            <a:pPr algn="ctr" indent="0" marL="0">
              <a:lnSpc>
                <a:spcPct val="110000"/>
              </a:lnSpc>
              <a:spcAft>
                <a:spcPts val="400"/>
              </a:spcAft>
              <a:buNone/>
            </a:pPr>
            <a:r>
              <a:rPr lang="en-US" sz="1250" b="1" dirty="0">
                <a:solidFill>
                  <a:schemeClr val="accent4"/>
                </a:solidFill>
              </a:rPr>
              <a:t>f( )</a:t>
            </a:r>
            <a:endParaRPr lang="en-US" sz="1250" dirty="0"/>
          </a:p>
          <a:p>
            <a:pPr algn="ctr" indent="0" marL="0">
              <a:lnSpc>
                <a:spcPct val="110000"/>
              </a:lnSpc>
              <a:spcAft>
                <a:spcPts val="400"/>
              </a:spcAft>
              <a:buNone/>
            </a:pPr>
            <a:r>
              <a:rPr lang="en-US" sz="1250" b="1" dirty="0">
                <a:solidFill>
                  <a:schemeClr val="accent4"/>
                </a:solidFill>
              </a:rPr>
              <a:t>activación</a:t>
            </a:r>
            <a:endParaRPr lang="en-US" sz="1250" dirty="0"/>
          </a:p>
        </p:txBody>
      </p:sp>
      <p:sp>
        <p:nvSpPr>
          <p:cNvPr id="27" name="Shape 24"/>
          <p:cNvSpPr/>
          <p:nvPr/>
        </p:nvSpPr>
        <p:spPr>
          <a:xfrm>
            <a:off x="5989320" y="3291840"/>
            <a:ext cx="457200" cy="0"/>
          </a:xfrm>
          <a:prstGeom prst="line">
            <a:avLst/>
          </a:prstGeom>
          <a:noFill/>
          <a:ln w="19050">
            <a:solidFill>
              <a:srgbClr val="475569"/>
            </a:solidFill>
            <a:prstDash val="solid"/>
            <a:tailEnd type="triangle"/>
          </a:ln>
        </p:spPr>
      </p:sp>
      <p:sp>
        <p:nvSpPr>
          <p:cNvPr id="28" name="Shape 25"/>
          <p:cNvSpPr/>
          <p:nvPr/>
        </p:nvSpPr>
        <p:spPr>
          <a:xfrm>
            <a:off x="6446520" y="3035808"/>
            <a:ext cx="502920" cy="502920"/>
          </a:xfrm>
          <a:prstGeom prst="ellipse">
            <a:avLst/>
          </a:prstGeom>
          <a:solidFill>
            <a:srgbClr val="F8FAFC"/>
          </a:solidFill>
          <a:ln w="12700">
            <a:solidFill>
              <a:srgbClr val="F8FAFC"/>
            </a:solidFill>
            <a:prstDash val="solid"/>
          </a:ln>
        </p:spPr>
      </p:sp>
      <p:sp>
        <p:nvSpPr>
          <p:cNvPr id="29" name="Text 26"/>
          <p:cNvSpPr txBox="1"/>
          <p:nvPr/>
        </p:nvSpPr>
        <p:spPr>
          <a:xfrm>
            <a:off x="6446520" y="3035808"/>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tx1"/>
                </a:solidFill>
              </a:rPr>
              <a:t>a</a:t>
            </a:r>
            <a:endParaRPr lang="en-US" sz="1400" dirty="0"/>
          </a:p>
        </p:txBody>
      </p:sp>
      <p:sp>
        <p:nvSpPr>
          <p:cNvPr id="30" name="Text 27"/>
          <p:cNvSpPr txBox="1"/>
          <p:nvPr/>
        </p:nvSpPr>
        <p:spPr>
          <a:xfrm>
            <a:off x="777240" y="4645152"/>
            <a:ext cx="6309360" cy="384048"/>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latin typeface="Consolas" pitchFamily="34" charset="0"/>
                <a:ea typeface="Consolas" pitchFamily="34" charset="-122"/>
                <a:cs typeface="Consolas" pitchFamily="34" charset="-120"/>
              </a:rPr>
              <a:t>salida = f( w₁·x₁ + w₂·x₂ + … + w₄₄·x₄₄ + b )</a:t>
            </a:r>
            <a:endParaRPr lang="en-US" sz="1500" dirty="0"/>
          </a:p>
        </p:txBody>
      </p:sp>
      <p:sp>
        <p:nvSpPr>
          <p:cNvPr id="31" name="Shape 28"/>
          <p:cNvSpPr/>
          <p:nvPr/>
        </p:nvSpPr>
        <p:spPr>
          <a:xfrm>
            <a:off x="548640" y="5303520"/>
            <a:ext cx="6675120" cy="868680"/>
          </a:xfrm>
          <a:prstGeom prst="roundRect">
            <a:avLst>
              <a:gd name="adj" fmla="val 14737"/>
            </a:avLst>
          </a:prstGeom>
          <a:solidFill>
            <a:schemeClr val="tx2">
              <a:alpha val="92000"/>
            </a:schemeClr>
          </a:solidFill>
          <a:ln w="12700">
            <a:solidFill>
              <a:srgbClr val="1E293B"/>
            </a:solidFill>
            <a:prstDash val="solid"/>
          </a:ln>
        </p:spPr>
      </p:sp>
      <p:sp>
        <p:nvSpPr>
          <p:cNvPr id="32" name="Text 29"/>
          <p:cNvSpPr txBox="1"/>
          <p:nvPr/>
        </p:nvSpPr>
        <p:spPr>
          <a:xfrm>
            <a:off x="777240" y="5303520"/>
            <a:ext cx="6309360" cy="86868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Ejemplo con 2 entradas: </a:t>
            </a:r>
            <a:pPr algn="l" indent="0" marL="0">
              <a:lnSpc>
                <a:spcPct val="110000"/>
              </a:lnSpc>
              <a:spcAft>
                <a:spcPts val="400"/>
              </a:spcAft>
              <a:buNone/>
            </a:pPr>
            <a:r>
              <a:rPr lang="en-US" sz="1250" dirty="0">
                <a:solidFill>
                  <a:schemeClr val="bg2"/>
                </a:solidFill>
              </a:rPr>
              <a:t>x = (0,5 ; −1,2), w = (0,8 ; 0,3), b = 0,1 → 0,8·0,5 + 0,3·(−1,2) + 0,1 = 0,14 → ReLU(0,14) = 0,14</a:t>
            </a:r>
            <a:endParaRPr lang="en-US" sz="1250" dirty="0"/>
          </a:p>
        </p:txBody>
      </p:sp>
      <p:sp>
        <p:nvSpPr>
          <p:cNvPr id="33" name="Shape 30"/>
          <p:cNvSpPr/>
          <p:nvPr/>
        </p:nvSpPr>
        <p:spPr>
          <a:xfrm>
            <a:off x="7452360" y="1874520"/>
            <a:ext cx="4187952" cy="1325880"/>
          </a:xfrm>
          <a:prstGeom prst="roundRect">
            <a:avLst>
              <a:gd name="adj" fmla="val 9655"/>
            </a:avLst>
          </a:prstGeom>
          <a:solidFill>
            <a:schemeClr val="tx2">
              <a:alpha val="92000"/>
            </a:schemeClr>
          </a:solidFill>
          <a:ln w="12700">
            <a:solidFill>
              <a:srgbClr val="1E293B"/>
            </a:solidFill>
            <a:prstDash val="solid"/>
          </a:ln>
        </p:spPr>
      </p:sp>
      <p:sp>
        <p:nvSpPr>
          <p:cNvPr id="34" name="Text 31"/>
          <p:cNvSpPr txBox="1"/>
          <p:nvPr/>
        </p:nvSpPr>
        <p:spPr>
          <a:xfrm>
            <a:off x="7680960" y="2011680"/>
            <a:ext cx="37490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rgbClr val="3B82F6"/>
                </a:solidFill>
              </a:rPr>
              <a:t>Pesos (w)</a:t>
            </a:r>
            <a:endParaRPr lang="en-US" sz="1500" dirty="0"/>
          </a:p>
        </p:txBody>
      </p:sp>
      <p:sp>
        <p:nvSpPr>
          <p:cNvPr id="35" name="Text 32"/>
          <p:cNvSpPr txBox="1"/>
          <p:nvPr/>
        </p:nvSpPr>
        <p:spPr>
          <a:xfrm>
            <a:off x="7680960" y="2350008"/>
            <a:ext cx="3794760" cy="82296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Indican qué tan importante es cada dato para esa neurona. Pueden ser positivos (empujan hacia arriba) o negativos. La Red 1 tiene 5.392 pesos.</a:t>
            </a:r>
            <a:endParaRPr lang="en-US" sz="1200" dirty="0"/>
          </a:p>
        </p:txBody>
      </p:sp>
      <p:sp>
        <p:nvSpPr>
          <p:cNvPr id="36" name="Shape 33"/>
          <p:cNvSpPr/>
          <p:nvPr/>
        </p:nvSpPr>
        <p:spPr>
          <a:xfrm>
            <a:off x="7452360" y="3337560"/>
            <a:ext cx="4187952" cy="1325880"/>
          </a:xfrm>
          <a:prstGeom prst="roundRect">
            <a:avLst>
              <a:gd name="adj" fmla="val 9655"/>
            </a:avLst>
          </a:prstGeom>
          <a:solidFill>
            <a:schemeClr val="tx2">
              <a:alpha val="92000"/>
            </a:schemeClr>
          </a:solidFill>
          <a:ln w="12700">
            <a:solidFill>
              <a:srgbClr val="1E293B"/>
            </a:solidFill>
            <a:prstDash val="solid"/>
          </a:ln>
        </p:spPr>
      </p:sp>
      <p:sp>
        <p:nvSpPr>
          <p:cNvPr id="37" name="Text 34"/>
          <p:cNvSpPr txBox="1"/>
          <p:nvPr/>
        </p:nvSpPr>
        <p:spPr>
          <a:xfrm>
            <a:off x="7680960" y="3474720"/>
            <a:ext cx="37490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rgbClr val="F59E0B"/>
                </a:solidFill>
              </a:rPr>
              <a:t>Sesgo (b)</a:t>
            </a:r>
            <a:endParaRPr lang="en-US" sz="1500" dirty="0"/>
          </a:p>
        </p:txBody>
      </p:sp>
      <p:sp>
        <p:nvSpPr>
          <p:cNvPr id="38" name="Text 35"/>
          <p:cNvSpPr txBox="1"/>
          <p:nvPr/>
        </p:nvSpPr>
        <p:spPr>
          <a:xfrm>
            <a:off x="7680960" y="3813048"/>
            <a:ext cx="3794760" cy="82296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Un número propio de cada neurona que se suma al final. Le permite activarse aunque las entradas sean 0, como el punto de partida de una recta. Hay un sesgo por neurona: 113 en la Red 1.</a:t>
            </a:r>
            <a:endParaRPr lang="en-US" sz="1200" dirty="0"/>
          </a:p>
        </p:txBody>
      </p:sp>
      <p:sp>
        <p:nvSpPr>
          <p:cNvPr id="39" name="Shape 36"/>
          <p:cNvSpPr/>
          <p:nvPr/>
        </p:nvSpPr>
        <p:spPr>
          <a:xfrm>
            <a:off x="7452360" y="4800600"/>
            <a:ext cx="4187952" cy="1325880"/>
          </a:xfrm>
          <a:prstGeom prst="roundRect">
            <a:avLst>
              <a:gd name="adj" fmla="val 9655"/>
            </a:avLst>
          </a:prstGeom>
          <a:solidFill>
            <a:schemeClr val="tx2">
              <a:alpha val="92000"/>
            </a:schemeClr>
          </a:solidFill>
          <a:ln w="12700">
            <a:solidFill>
              <a:srgbClr val="1E293B"/>
            </a:solidFill>
            <a:prstDash val="solid"/>
          </a:ln>
        </p:spPr>
      </p:sp>
      <p:sp>
        <p:nvSpPr>
          <p:cNvPr id="40" name="Text 37"/>
          <p:cNvSpPr txBox="1"/>
          <p:nvPr/>
        </p:nvSpPr>
        <p:spPr>
          <a:xfrm>
            <a:off x="7680960" y="4937760"/>
            <a:ext cx="37490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rgbClr val="34D399"/>
                </a:solidFill>
              </a:rPr>
              <a:t>Función de activación f( )</a:t>
            </a:r>
            <a:endParaRPr lang="en-US" sz="1500" dirty="0"/>
          </a:p>
        </p:txBody>
      </p:sp>
      <p:sp>
        <p:nvSpPr>
          <p:cNvPr id="41" name="Text 38"/>
          <p:cNvSpPr txBox="1"/>
          <p:nvPr/>
        </p:nvSpPr>
        <p:spPr>
          <a:xfrm>
            <a:off x="7680960" y="5276088"/>
            <a:ext cx="3794760" cy="82296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Decide cuánto se «enciende» la neurona con el total. Sin ella, la red entera solo podría aprender líneas rectas.</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Funciones de activación utilizadas</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La función de activación es el último paso de cada neurona: toma el total (pesos + sesgo) y decide cuánto se «enciende». En cada gráfica, el eje horizontal es ese total y el vertical lo que entrega la neurona.</a:t>
            </a:r>
            <a:endParaRPr lang="en-US" sz="1500" dirty="0"/>
          </a:p>
        </p:txBody>
      </p:sp>
      <p:sp>
        <p:nvSpPr>
          <p:cNvPr id="5" name="Shape 2"/>
          <p:cNvSpPr/>
          <p:nvPr/>
        </p:nvSpPr>
        <p:spPr>
          <a:xfrm>
            <a:off x="548640" y="2057400"/>
            <a:ext cx="2606040" cy="4114800"/>
          </a:xfrm>
          <a:prstGeom prst="roundRect">
            <a:avLst>
              <a:gd name="adj" fmla="val 4912"/>
            </a:avLst>
          </a:prstGeom>
          <a:solidFill>
            <a:schemeClr val="tx2">
              <a:alpha val="92000"/>
            </a:schemeClr>
          </a:solidFill>
          <a:ln w="12700">
            <a:solidFill>
              <a:srgbClr val="1E293B"/>
            </a:solidFill>
            <a:prstDash val="solid"/>
          </a:ln>
        </p:spPr>
      </p:sp>
      <p:sp>
        <p:nvSpPr>
          <p:cNvPr id="6" name="Text 3"/>
          <p:cNvSpPr txBox="1"/>
          <p:nvPr/>
        </p:nvSpPr>
        <p:spPr>
          <a:xfrm>
            <a:off x="777240" y="219456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ReLU</a:t>
            </a:r>
            <a:endParaRPr lang="en-US" sz="1600" dirty="0"/>
          </a:p>
        </p:txBody>
      </p:sp>
      <p:sp>
        <p:nvSpPr>
          <p:cNvPr id="7" name="Text 4"/>
          <p:cNvSpPr txBox="1"/>
          <p:nvPr/>
        </p:nvSpPr>
        <p:spPr>
          <a:xfrm>
            <a:off x="777240" y="2532888"/>
            <a:ext cx="2240280" cy="256032"/>
          </a:xfrm>
          <a:prstGeom prst="rect">
            <a:avLst/>
          </a:prstGeom>
          <a:noFill/>
          <a:ln/>
        </p:spPr>
        <p:txBody>
          <a:bodyPr wrap="square" lIns="0" tIns="0" rIns="0" bIns="0" rtlCol="0" anchor="ctr"/>
          <a:lstStyle/>
          <a:p>
            <a:pPr indent="0" marL="0">
              <a:buNone/>
            </a:pPr>
            <a:r>
              <a:rPr lang="en-US" sz="900" spc="200" kern="0" dirty="0">
                <a:solidFill>
                  <a:srgbClr val="3B82F6"/>
                </a:solidFill>
                <a:latin typeface="Consolas" pitchFamily="34" charset="0"/>
                <a:ea typeface="Consolas" pitchFamily="34" charset="-122"/>
                <a:cs typeface="Consolas" pitchFamily="34" charset="-120"/>
              </a:rPr>
              <a:t>REDES 1 Y 3 (OCULTAS)</a:t>
            </a:r>
            <a:endParaRPr lang="en-US" sz="900" dirty="0"/>
          </a:p>
        </p:txBody>
      </p:sp>
      <p:graphicFrame>
        <p:nvGraphicFramePr>
          <p:cNvPr id="8" name="Chart 0" descr=""/>
          <p:cNvGraphicFramePr/>
          <p:nvPr/>
        </p:nvGraphicFramePr>
        <p:xfrm>
          <a:off x="640080" y="2834640"/>
          <a:ext cx="2423160" cy="16916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777240" y="4617720"/>
            <a:ext cx="2194560" cy="1463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Deja pasar los valores positivos y convierte los negativos en 0. Es simple y rápida de entrenar.</a:t>
            </a:r>
            <a:endParaRPr lang="en-US" sz="1250" dirty="0"/>
          </a:p>
        </p:txBody>
      </p:sp>
      <p:sp>
        <p:nvSpPr>
          <p:cNvPr id="10" name="Shape 6"/>
          <p:cNvSpPr/>
          <p:nvPr/>
        </p:nvSpPr>
        <p:spPr>
          <a:xfrm>
            <a:off x="3364992" y="2057400"/>
            <a:ext cx="2606040" cy="4114800"/>
          </a:xfrm>
          <a:prstGeom prst="roundRect">
            <a:avLst>
              <a:gd name="adj" fmla="val 4912"/>
            </a:avLst>
          </a:prstGeom>
          <a:solidFill>
            <a:schemeClr val="tx2">
              <a:alpha val="92000"/>
            </a:schemeClr>
          </a:solidFill>
          <a:ln w="12700">
            <a:solidFill>
              <a:srgbClr val="1E293B"/>
            </a:solidFill>
            <a:prstDash val="solid"/>
          </a:ln>
        </p:spPr>
      </p:sp>
      <p:sp>
        <p:nvSpPr>
          <p:cNvPr id="11" name="Text 7"/>
          <p:cNvSpPr txBox="1"/>
          <p:nvPr/>
        </p:nvSpPr>
        <p:spPr>
          <a:xfrm>
            <a:off x="3593592" y="219456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LeakyReLU (α = 0,1)</a:t>
            </a:r>
            <a:endParaRPr lang="en-US" sz="1600" dirty="0"/>
          </a:p>
        </p:txBody>
      </p:sp>
      <p:sp>
        <p:nvSpPr>
          <p:cNvPr id="12" name="Text 8"/>
          <p:cNvSpPr txBox="1"/>
          <p:nvPr/>
        </p:nvSpPr>
        <p:spPr>
          <a:xfrm>
            <a:off x="3593592" y="2532888"/>
            <a:ext cx="2240280" cy="256032"/>
          </a:xfrm>
          <a:prstGeom prst="rect">
            <a:avLst/>
          </a:prstGeom>
          <a:noFill/>
          <a:ln/>
        </p:spPr>
        <p:txBody>
          <a:bodyPr wrap="square" lIns="0" tIns="0" rIns="0" bIns="0" rtlCol="0" anchor="ctr"/>
          <a:lstStyle/>
          <a:p>
            <a:pPr indent="0" marL="0">
              <a:buNone/>
            </a:pPr>
            <a:r>
              <a:rPr lang="en-US" sz="900" spc="200" kern="0" dirty="0">
                <a:solidFill>
                  <a:srgbClr val="38BDF8"/>
                </a:solidFill>
                <a:latin typeface="Consolas" pitchFamily="34" charset="0"/>
                <a:ea typeface="Consolas" pitchFamily="34" charset="-122"/>
                <a:cs typeface="Consolas" pitchFamily="34" charset="-120"/>
              </a:rPr>
              <a:t>RED 2 (OCULTAS)</a:t>
            </a:r>
            <a:endParaRPr lang="en-US" sz="900" dirty="0"/>
          </a:p>
        </p:txBody>
      </p:sp>
      <p:graphicFrame>
        <p:nvGraphicFramePr>
          <p:cNvPr id="13" name="Chart 1" descr=""/>
          <p:cNvGraphicFramePr/>
          <p:nvPr/>
        </p:nvGraphicFramePr>
        <p:xfrm>
          <a:off x="3456432" y="2834640"/>
          <a:ext cx="2423160" cy="1691640"/>
        </p:xfrm>
        <a:graphic xmlns:a="http://schemas.openxmlformats.org/drawingml/2006/main">
          <a:graphicData uri="http://schemas.openxmlformats.org/drawingml/2006/chart">
            <c:chart xmlns:c="http://schemas.openxmlformats.org/drawingml/2006/chart" r:id="rId2"/>
          </a:graphicData>
        </a:graphic>
      </p:graphicFrame>
      <p:sp>
        <p:nvSpPr>
          <p:cNvPr id="14" name="Text 9"/>
          <p:cNvSpPr txBox="1"/>
          <p:nvPr/>
        </p:nvSpPr>
        <p:spPr>
          <a:xfrm>
            <a:off x="3593592" y="4617720"/>
            <a:ext cx="2194560" cy="1463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Igual que ReLU, pero deja pasar un 10 % de los negativos, para que ninguna neurona se «apague» del todo.</a:t>
            </a:r>
            <a:endParaRPr lang="en-US" sz="1250" dirty="0"/>
          </a:p>
        </p:txBody>
      </p:sp>
      <p:sp>
        <p:nvSpPr>
          <p:cNvPr id="15" name="Shape 10"/>
          <p:cNvSpPr/>
          <p:nvPr/>
        </p:nvSpPr>
        <p:spPr>
          <a:xfrm>
            <a:off x="6181344" y="2057400"/>
            <a:ext cx="2606040" cy="4114800"/>
          </a:xfrm>
          <a:prstGeom prst="roundRect">
            <a:avLst>
              <a:gd name="adj" fmla="val 4912"/>
            </a:avLst>
          </a:prstGeom>
          <a:solidFill>
            <a:schemeClr val="tx2">
              <a:alpha val="92000"/>
            </a:schemeClr>
          </a:solidFill>
          <a:ln w="12700">
            <a:solidFill>
              <a:srgbClr val="1E293B"/>
            </a:solidFill>
            <a:prstDash val="solid"/>
          </a:ln>
        </p:spPr>
      </p:sp>
      <p:sp>
        <p:nvSpPr>
          <p:cNvPr id="16" name="Text 11"/>
          <p:cNvSpPr txBox="1"/>
          <p:nvPr/>
        </p:nvSpPr>
        <p:spPr>
          <a:xfrm>
            <a:off x="6409944" y="219456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Sigmoide</a:t>
            </a:r>
            <a:endParaRPr lang="en-US" sz="1600" dirty="0"/>
          </a:p>
        </p:txBody>
      </p:sp>
      <p:sp>
        <p:nvSpPr>
          <p:cNvPr id="17" name="Text 12"/>
          <p:cNvSpPr txBox="1"/>
          <p:nvPr/>
        </p:nvSpPr>
        <p:spPr>
          <a:xfrm>
            <a:off x="6409944" y="2532888"/>
            <a:ext cx="2240280" cy="256032"/>
          </a:xfrm>
          <a:prstGeom prst="rect">
            <a:avLst/>
          </a:prstGeom>
          <a:noFill/>
          <a:ln/>
        </p:spPr>
        <p:txBody>
          <a:bodyPr wrap="square" lIns="0" tIns="0" rIns="0" bIns="0" rtlCol="0" anchor="ctr"/>
          <a:lstStyle/>
          <a:p>
            <a:pPr indent="0" marL="0">
              <a:buNone/>
            </a:pPr>
            <a:r>
              <a:rPr lang="en-US" sz="900" spc="200" kern="0" dirty="0">
                <a:solidFill>
                  <a:srgbClr val="34D399"/>
                </a:solidFill>
                <a:latin typeface="Consolas" pitchFamily="34" charset="0"/>
                <a:ea typeface="Consolas" pitchFamily="34" charset="-122"/>
                <a:cs typeface="Consolas" pitchFamily="34" charset="-120"/>
              </a:rPr>
              <a:t>SALIDA DE LAS 3 REDES</a:t>
            </a:r>
            <a:endParaRPr lang="en-US" sz="900" dirty="0"/>
          </a:p>
        </p:txBody>
      </p:sp>
      <p:graphicFrame>
        <p:nvGraphicFramePr>
          <p:cNvPr id="18" name="Chart 2" descr=""/>
          <p:cNvGraphicFramePr/>
          <p:nvPr/>
        </p:nvGraphicFramePr>
        <p:xfrm>
          <a:off x="6272784" y="2834640"/>
          <a:ext cx="2423160" cy="1691640"/>
        </p:xfrm>
        <a:graphic xmlns:a="http://schemas.openxmlformats.org/drawingml/2006/main">
          <a:graphicData uri="http://schemas.openxmlformats.org/drawingml/2006/chart">
            <c:chart xmlns:c="http://schemas.openxmlformats.org/drawingml/2006/chart" r:id="rId3"/>
          </a:graphicData>
        </a:graphic>
      </p:graphicFrame>
      <p:sp>
        <p:nvSpPr>
          <p:cNvPr id="19" name="Text 13"/>
          <p:cNvSpPr txBox="1"/>
          <p:nvPr/>
        </p:nvSpPr>
        <p:spPr>
          <a:xfrm>
            <a:off x="6409944" y="4617720"/>
            <a:ext cx="2194560" cy="1463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Convierte el resultado final en una probabilidad entre 0 y 1. Si da 0,5 o más, el cliente es APTO.</a:t>
            </a:r>
            <a:endParaRPr lang="en-US" sz="1250" dirty="0"/>
          </a:p>
        </p:txBody>
      </p:sp>
      <p:sp>
        <p:nvSpPr>
          <p:cNvPr id="20" name="Shape 14"/>
          <p:cNvSpPr/>
          <p:nvPr/>
        </p:nvSpPr>
        <p:spPr>
          <a:xfrm>
            <a:off x="8997696" y="2057400"/>
            <a:ext cx="2606040" cy="4114800"/>
          </a:xfrm>
          <a:prstGeom prst="roundRect">
            <a:avLst>
              <a:gd name="adj" fmla="val 4912"/>
            </a:avLst>
          </a:prstGeom>
          <a:solidFill>
            <a:schemeClr val="tx2">
              <a:alpha val="92000"/>
            </a:schemeClr>
          </a:solidFill>
          <a:ln w="12700">
            <a:solidFill>
              <a:srgbClr val="1E293B"/>
            </a:solidFill>
            <a:prstDash val="solid"/>
          </a:ln>
        </p:spPr>
      </p:sp>
      <p:sp>
        <p:nvSpPr>
          <p:cNvPr id="21" name="Text 15"/>
          <p:cNvSpPr txBox="1"/>
          <p:nvPr/>
        </p:nvSpPr>
        <p:spPr>
          <a:xfrm>
            <a:off x="9226296" y="219456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ELU y GELU</a:t>
            </a:r>
            <a:endParaRPr lang="en-US" sz="1600" dirty="0"/>
          </a:p>
        </p:txBody>
      </p:sp>
      <p:sp>
        <p:nvSpPr>
          <p:cNvPr id="22" name="Text 16"/>
          <p:cNvSpPr txBox="1"/>
          <p:nvPr/>
        </p:nvSpPr>
        <p:spPr>
          <a:xfrm>
            <a:off x="9226296" y="2532888"/>
            <a:ext cx="2240280" cy="256032"/>
          </a:xfrm>
          <a:prstGeom prst="rect">
            <a:avLst/>
          </a:prstGeom>
          <a:noFill/>
          <a:ln/>
        </p:spPr>
        <p:txBody>
          <a:bodyPr wrap="square" lIns="0" tIns="0" rIns="0" bIns="0" rtlCol="0" anchor="ctr"/>
          <a:lstStyle/>
          <a:p>
            <a:pPr indent="0" marL="0">
              <a:buNone/>
            </a:pPr>
            <a:r>
              <a:rPr lang="en-US" sz="900" spc="200" kern="0" dirty="0">
                <a:solidFill>
                  <a:srgbClr val="F59E0B"/>
                </a:solidFill>
                <a:latin typeface="Consolas" pitchFamily="34" charset="0"/>
                <a:ea typeface="Consolas" pitchFamily="34" charset="-122"/>
                <a:cs typeface="Consolas" pitchFamily="34" charset="-120"/>
              </a:rPr>
              <a:t>PROBADAS EN FASE 3</a:t>
            </a:r>
            <a:endParaRPr lang="en-US" sz="900" dirty="0"/>
          </a:p>
        </p:txBody>
      </p:sp>
      <p:graphicFrame>
        <p:nvGraphicFramePr>
          <p:cNvPr id="23" name="Chart 3" descr=""/>
          <p:cNvGraphicFramePr/>
          <p:nvPr/>
        </p:nvGraphicFramePr>
        <p:xfrm>
          <a:off x="9089136" y="2834640"/>
          <a:ext cx="2423160" cy="1691640"/>
        </p:xfrm>
        <a:graphic xmlns:a="http://schemas.openxmlformats.org/drawingml/2006/main">
          <a:graphicData uri="http://schemas.openxmlformats.org/drawingml/2006/chart">
            <c:chart xmlns:c="http://schemas.openxmlformats.org/drawingml/2006/chart" r:id="rId4"/>
          </a:graphicData>
        </a:graphic>
      </p:graphicFrame>
      <p:sp>
        <p:nvSpPr>
          <p:cNvPr id="24" name="Text 17"/>
          <p:cNvSpPr txBox="1"/>
          <p:nvPr/>
        </p:nvSpPr>
        <p:spPr>
          <a:xfrm>
            <a:off x="9226296" y="4617720"/>
            <a:ext cx="2194560" cy="1463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Versiones «suaves» de ReLU. ELU fue la más estable entre semillas, pero ninguna superó al ensamble final.</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Arquitectura completa de la Red 1</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Recorrido de un cliente por la Red 1, capa por capa. Cada capa oculta tiene sus pesos, un sesgo por neurona y la función ReLU; la salida usa sigmoide para entregar la probabilidad.</a:t>
            </a:r>
            <a:endParaRPr lang="en-US" sz="1500" dirty="0"/>
          </a:p>
        </p:txBody>
      </p:sp>
      <p:sp>
        <p:nvSpPr>
          <p:cNvPr id="5" name="Shape 2"/>
          <p:cNvSpPr/>
          <p:nvPr/>
        </p:nvSpPr>
        <p:spPr>
          <a:xfrm>
            <a:off x="548640" y="1874520"/>
            <a:ext cx="2002536" cy="3246120"/>
          </a:xfrm>
          <a:prstGeom prst="roundRect">
            <a:avLst>
              <a:gd name="adj" fmla="val 6393"/>
            </a:avLst>
          </a:prstGeom>
          <a:solidFill>
            <a:schemeClr val="tx2">
              <a:alpha val="92000"/>
            </a:schemeClr>
          </a:solidFill>
          <a:ln w="12700">
            <a:solidFill>
              <a:srgbClr val="94A3B8"/>
            </a:solidFill>
            <a:prstDash val="solid"/>
          </a:ln>
        </p:spPr>
      </p:sp>
      <p:sp>
        <p:nvSpPr>
          <p:cNvPr id="6" name="Text 3"/>
          <p:cNvSpPr txBox="1"/>
          <p:nvPr/>
        </p:nvSpPr>
        <p:spPr>
          <a:xfrm>
            <a:off x="713232" y="1984248"/>
            <a:ext cx="1728216"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ENTRADA</a:t>
            </a:r>
            <a:endParaRPr lang="en-US" sz="950" dirty="0"/>
          </a:p>
        </p:txBody>
      </p:sp>
      <p:sp>
        <p:nvSpPr>
          <p:cNvPr id="7" name="Text 4"/>
          <p:cNvSpPr txBox="1"/>
          <p:nvPr/>
        </p:nvSpPr>
        <p:spPr>
          <a:xfrm>
            <a:off x="713232" y="2240280"/>
            <a:ext cx="868680" cy="548640"/>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chemeClr val="bg1"/>
                </a:solidFill>
                <a:latin typeface="Consolas" pitchFamily="34" charset="0"/>
                <a:ea typeface="Consolas" pitchFamily="34" charset="-122"/>
                <a:cs typeface="Consolas" pitchFamily="34" charset="-120"/>
              </a:rPr>
              <a:t>44</a:t>
            </a:r>
            <a:endParaRPr lang="en-US" sz="3000" dirty="0"/>
          </a:p>
        </p:txBody>
      </p:sp>
      <p:sp>
        <p:nvSpPr>
          <p:cNvPr id="8" name="Text 5"/>
          <p:cNvSpPr txBox="1"/>
          <p:nvPr/>
        </p:nvSpPr>
        <p:spPr>
          <a:xfrm>
            <a:off x="1645920" y="2240280"/>
            <a:ext cx="1005840" cy="54864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datos del cliente</a:t>
            </a:r>
            <a:endParaRPr lang="en-US" sz="1150" dirty="0"/>
          </a:p>
        </p:txBody>
      </p:sp>
      <p:sp>
        <p:nvSpPr>
          <p:cNvPr id="9" name="Text 6"/>
          <p:cNvSpPr txBox="1"/>
          <p:nvPr/>
        </p:nvSpPr>
        <p:spPr>
          <a:xfrm>
            <a:off x="713232" y="2926080"/>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10" name="Text 7"/>
          <p:cNvSpPr txBox="1"/>
          <p:nvPr/>
        </p:nvSpPr>
        <p:spPr>
          <a:xfrm>
            <a:off x="1463040" y="2926080"/>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a:t>
            </a:r>
            <a:endParaRPr lang="en-US" sz="1050" dirty="0"/>
          </a:p>
        </p:txBody>
      </p:sp>
      <p:sp>
        <p:nvSpPr>
          <p:cNvPr id="11" name="Text 8"/>
          <p:cNvSpPr txBox="1"/>
          <p:nvPr/>
        </p:nvSpPr>
        <p:spPr>
          <a:xfrm>
            <a:off x="713232" y="33101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12" name="Text 9"/>
          <p:cNvSpPr txBox="1"/>
          <p:nvPr/>
        </p:nvSpPr>
        <p:spPr>
          <a:xfrm>
            <a:off x="1463040" y="33101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a:t>
            </a:r>
            <a:endParaRPr lang="en-US" sz="1050" dirty="0"/>
          </a:p>
        </p:txBody>
      </p:sp>
      <p:sp>
        <p:nvSpPr>
          <p:cNvPr id="13" name="Text 10"/>
          <p:cNvSpPr txBox="1"/>
          <p:nvPr/>
        </p:nvSpPr>
        <p:spPr>
          <a:xfrm>
            <a:off x="713232" y="36941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14" name="Text 11"/>
          <p:cNvSpPr txBox="1"/>
          <p:nvPr/>
        </p:nvSpPr>
        <p:spPr>
          <a:xfrm>
            <a:off x="1463040" y="3694176"/>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ninguna</a:t>
            </a:r>
            <a:endParaRPr lang="en-US" sz="1050" dirty="0"/>
          </a:p>
        </p:txBody>
      </p:sp>
      <p:sp>
        <p:nvSpPr>
          <p:cNvPr id="15" name="Text 12"/>
          <p:cNvSpPr txBox="1"/>
          <p:nvPr/>
        </p:nvSpPr>
        <p:spPr>
          <a:xfrm>
            <a:off x="713232" y="40782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16" name="Text 13"/>
          <p:cNvSpPr txBox="1"/>
          <p:nvPr/>
        </p:nvSpPr>
        <p:spPr>
          <a:xfrm>
            <a:off x="1463040" y="4078224"/>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a:t>
            </a:r>
            <a:endParaRPr lang="en-US" sz="1050" dirty="0"/>
          </a:p>
        </p:txBody>
      </p:sp>
      <p:sp>
        <p:nvSpPr>
          <p:cNvPr id="17" name="Text 14"/>
          <p:cNvSpPr txBox="1"/>
          <p:nvPr/>
        </p:nvSpPr>
        <p:spPr>
          <a:xfrm>
            <a:off x="713232" y="4526280"/>
            <a:ext cx="1709928" cy="54864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chemeClr val="accent2"/>
                </a:solidFill>
              </a:rPr>
              <a:t>Los 44 números ya preparados (escalados y en 0/1).</a:t>
            </a:r>
            <a:endParaRPr lang="en-US" sz="1050" dirty="0"/>
          </a:p>
        </p:txBody>
      </p:sp>
      <p:sp>
        <p:nvSpPr>
          <p:cNvPr id="18" name="Shape 15"/>
          <p:cNvSpPr/>
          <p:nvPr/>
        </p:nvSpPr>
        <p:spPr>
          <a:xfrm>
            <a:off x="2578608" y="3493008"/>
            <a:ext cx="214884" cy="0"/>
          </a:xfrm>
          <a:prstGeom prst="line">
            <a:avLst/>
          </a:prstGeom>
          <a:noFill/>
          <a:ln w="19050">
            <a:solidFill>
              <a:srgbClr val="475569"/>
            </a:solidFill>
            <a:prstDash val="solid"/>
            <a:tailEnd type="triangle"/>
          </a:ln>
        </p:spPr>
      </p:sp>
      <p:sp>
        <p:nvSpPr>
          <p:cNvPr id="19" name="Shape 16"/>
          <p:cNvSpPr/>
          <p:nvPr/>
        </p:nvSpPr>
        <p:spPr>
          <a:xfrm>
            <a:off x="2820924" y="1874520"/>
            <a:ext cx="2002536" cy="3246120"/>
          </a:xfrm>
          <a:prstGeom prst="roundRect">
            <a:avLst>
              <a:gd name="adj" fmla="val 6393"/>
            </a:avLst>
          </a:prstGeom>
          <a:solidFill>
            <a:schemeClr val="tx2">
              <a:alpha val="92000"/>
            </a:schemeClr>
          </a:solidFill>
          <a:ln w="15875">
            <a:solidFill>
              <a:srgbClr val="3B82F6"/>
            </a:solidFill>
            <a:prstDash val="solid"/>
          </a:ln>
        </p:spPr>
      </p:sp>
      <p:sp>
        <p:nvSpPr>
          <p:cNvPr id="20" name="Text 17"/>
          <p:cNvSpPr txBox="1"/>
          <p:nvPr/>
        </p:nvSpPr>
        <p:spPr>
          <a:xfrm>
            <a:off x="2985516" y="1984248"/>
            <a:ext cx="1728216" cy="256032"/>
          </a:xfrm>
          <a:prstGeom prst="rect">
            <a:avLst/>
          </a:prstGeom>
          <a:noFill/>
          <a:ln/>
        </p:spPr>
        <p:txBody>
          <a:bodyPr wrap="square" lIns="0" tIns="0" rIns="0" bIns="0" rtlCol="0" anchor="ctr"/>
          <a:lstStyle/>
          <a:p>
            <a:pPr indent="0" marL="0">
              <a:buNone/>
            </a:pPr>
            <a:r>
              <a:rPr lang="en-US" sz="950" spc="200" kern="0" dirty="0">
                <a:solidFill>
                  <a:srgbClr val="3B82F6"/>
                </a:solidFill>
                <a:latin typeface="Consolas" pitchFamily="34" charset="0"/>
                <a:ea typeface="Consolas" pitchFamily="34" charset="-122"/>
                <a:cs typeface="Consolas" pitchFamily="34" charset="-120"/>
              </a:rPr>
              <a:t>CAPA OCULTA 1</a:t>
            </a:r>
            <a:endParaRPr lang="en-US" sz="950" dirty="0"/>
          </a:p>
        </p:txBody>
      </p:sp>
      <p:sp>
        <p:nvSpPr>
          <p:cNvPr id="21" name="Text 18"/>
          <p:cNvSpPr txBox="1"/>
          <p:nvPr/>
        </p:nvSpPr>
        <p:spPr>
          <a:xfrm>
            <a:off x="2985516" y="2240280"/>
            <a:ext cx="868680" cy="548640"/>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chemeClr val="bg1"/>
                </a:solidFill>
                <a:latin typeface="Consolas" pitchFamily="34" charset="0"/>
                <a:ea typeface="Consolas" pitchFamily="34" charset="-122"/>
                <a:cs typeface="Consolas" pitchFamily="34" charset="-120"/>
              </a:rPr>
              <a:t>64</a:t>
            </a:r>
            <a:endParaRPr lang="en-US" sz="3000" dirty="0"/>
          </a:p>
        </p:txBody>
      </p:sp>
      <p:sp>
        <p:nvSpPr>
          <p:cNvPr id="22" name="Text 19"/>
          <p:cNvSpPr txBox="1"/>
          <p:nvPr/>
        </p:nvSpPr>
        <p:spPr>
          <a:xfrm>
            <a:off x="3918204" y="2240280"/>
            <a:ext cx="1005840" cy="54864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neuronas</a:t>
            </a:r>
            <a:endParaRPr lang="en-US" sz="1150" dirty="0"/>
          </a:p>
        </p:txBody>
      </p:sp>
      <p:sp>
        <p:nvSpPr>
          <p:cNvPr id="23" name="Text 20"/>
          <p:cNvSpPr txBox="1"/>
          <p:nvPr/>
        </p:nvSpPr>
        <p:spPr>
          <a:xfrm>
            <a:off x="2985516" y="2926080"/>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24" name="Text 21"/>
          <p:cNvSpPr txBox="1"/>
          <p:nvPr/>
        </p:nvSpPr>
        <p:spPr>
          <a:xfrm>
            <a:off x="3735324" y="2926080"/>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44 × 64 = 2.816</a:t>
            </a:r>
            <a:endParaRPr lang="en-US" sz="1050" dirty="0"/>
          </a:p>
        </p:txBody>
      </p:sp>
      <p:sp>
        <p:nvSpPr>
          <p:cNvPr id="25" name="Text 22"/>
          <p:cNvSpPr txBox="1"/>
          <p:nvPr/>
        </p:nvSpPr>
        <p:spPr>
          <a:xfrm>
            <a:off x="2985516" y="33101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26" name="Text 23"/>
          <p:cNvSpPr txBox="1"/>
          <p:nvPr/>
        </p:nvSpPr>
        <p:spPr>
          <a:xfrm>
            <a:off x="3735324" y="33101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64</a:t>
            </a:r>
            <a:endParaRPr lang="en-US" sz="1050" dirty="0"/>
          </a:p>
        </p:txBody>
      </p:sp>
      <p:sp>
        <p:nvSpPr>
          <p:cNvPr id="27" name="Text 24"/>
          <p:cNvSpPr txBox="1"/>
          <p:nvPr/>
        </p:nvSpPr>
        <p:spPr>
          <a:xfrm>
            <a:off x="2985516" y="36941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28" name="Shape 25"/>
          <p:cNvSpPr/>
          <p:nvPr/>
        </p:nvSpPr>
        <p:spPr>
          <a:xfrm>
            <a:off x="3735324" y="3675888"/>
            <a:ext cx="978408" cy="274320"/>
          </a:xfrm>
          <a:prstGeom prst="roundRect">
            <a:avLst>
              <a:gd name="adj" fmla="val 50000"/>
            </a:avLst>
          </a:prstGeom>
          <a:solidFill>
            <a:srgbClr val="3B82F6">
              <a:alpha val="85000"/>
            </a:srgbClr>
          </a:solidFill>
          <a:ln w="12700">
            <a:solidFill>
              <a:srgbClr val="3B82F6"/>
            </a:solidFill>
            <a:prstDash val="solid"/>
          </a:ln>
        </p:spPr>
      </p:sp>
      <p:sp>
        <p:nvSpPr>
          <p:cNvPr id="29" name="Text 26"/>
          <p:cNvSpPr txBox="1"/>
          <p:nvPr/>
        </p:nvSpPr>
        <p:spPr>
          <a:xfrm>
            <a:off x="3735324" y="3675888"/>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ReLU</a:t>
            </a:r>
            <a:endParaRPr lang="en-US" sz="1050" dirty="0"/>
          </a:p>
        </p:txBody>
      </p:sp>
      <p:sp>
        <p:nvSpPr>
          <p:cNvPr id="30" name="Text 27"/>
          <p:cNvSpPr txBox="1"/>
          <p:nvPr/>
        </p:nvSpPr>
        <p:spPr>
          <a:xfrm>
            <a:off x="2985516" y="40782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31" name="Text 28"/>
          <p:cNvSpPr txBox="1"/>
          <p:nvPr/>
        </p:nvSpPr>
        <p:spPr>
          <a:xfrm>
            <a:off x="3735324" y="4078224"/>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15 %</a:t>
            </a:r>
            <a:endParaRPr lang="en-US" sz="1050" dirty="0"/>
          </a:p>
        </p:txBody>
      </p:sp>
      <p:sp>
        <p:nvSpPr>
          <p:cNvPr id="32" name="Text 29"/>
          <p:cNvSpPr txBox="1"/>
          <p:nvPr/>
        </p:nvSpPr>
        <p:spPr>
          <a:xfrm>
            <a:off x="2985516" y="4526280"/>
            <a:ext cx="1709928" cy="54864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chemeClr val="accent2"/>
                </a:solidFill>
              </a:rPr>
              <a:t>Detecta combinaciones simples de los datos.</a:t>
            </a:r>
            <a:endParaRPr lang="en-US" sz="1050" dirty="0"/>
          </a:p>
        </p:txBody>
      </p:sp>
      <p:sp>
        <p:nvSpPr>
          <p:cNvPr id="33" name="Shape 30"/>
          <p:cNvSpPr/>
          <p:nvPr/>
        </p:nvSpPr>
        <p:spPr>
          <a:xfrm>
            <a:off x="4850892" y="3493008"/>
            <a:ext cx="214884" cy="0"/>
          </a:xfrm>
          <a:prstGeom prst="line">
            <a:avLst/>
          </a:prstGeom>
          <a:noFill/>
          <a:ln w="19050">
            <a:solidFill>
              <a:srgbClr val="475569"/>
            </a:solidFill>
            <a:prstDash val="solid"/>
            <a:tailEnd type="triangle"/>
          </a:ln>
        </p:spPr>
      </p:sp>
      <p:sp>
        <p:nvSpPr>
          <p:cNvPr id="34" name="Shape 31"/>
          <p:cNvSpPr/>
          <p:nvPr/>
        </p:nvSpPr>
        <p:spPr>
          <a:xfrm>
            <a:off x="5093208" y="1874520"/>
            <a:ext cx="2002536" cy="3246120"/>
          </a:xfrm>
          <a:prstGeom prst="roundRect">
            <a:avLst>
              <a:gd name="adj" fmla="val 6393"/>
            </a:avLst>
          </a:prstGeom>
          <a:solidFill>
            <a:schemeClr val="tx2">
              <a:alpha val="92000"/>
            </a:schemeClr>
          </a:solidFill>
          <a:ln w="15875">
            <a:solidFill>
              <a:srgbClr val="3B82F6"/>
            </a:solidFill>
            <a:prstDash val="solid"/>
          </a:ln>
        </p:spPr>
      </p:sp>
      <p:sp>
        <p:nvSpPr>
          <p:cNvPr id="35" name="Text 32"/>
          <p:cNvSpPr txBox="1"/>
          <p:nvPr/>
        </p:nvSpPr>
        <p:spPr>
          <a:xfrm>
            <a:off x="5257800" y="1984248"/>
            <a:ext cx="1728216" cy="256032"/>
          </a:xfrm>
          <a:prstGeom prst="rect">
            <a:avLst/>
          </a:prstGeom>
          <a:noFill/>
          <a:ln/>
        </p:spPr>
        <p:txBody>
          <a:bodyPr wrap="square" lIns="0" tIns="0" rIns="0" bIns="0" rtlCol="0" anchor="ctr"/>
          <a:lstStyle/>
          <a:p>
            <a:pPr indent="0" marL="0">
              <a:buNone/>
            </a:pPr>
            <a:r>
              <a:rPr lang="en-US" sz="950" spc="200" kern="0" dirty="0">
                <a:solidFill>
                  <a:srgbClr val="3B82F6"/>
                </a:solidFill>
                <a:latin typeface="Consolas" pitchFamily="34" charset="0"/>
                <a:ea typeface="Consolas" pitchFamily="34" charset="-122"/>
                <a:cs typeface="Consolas" pitchFamily="34" charset="-120"/>
              </a:rPr>
              <a:t>CAPA OCULTA 2</a:t>
            </a:r>
            <a:endParaRPr lang="en-US" sz="950" dirty="0"/>
          </a:p>
        </p:txBody>
      </p:sp>
      <p:sp>
        <p:nvSpPr>
          <p:cNvPr id="36" name="Text 33"/>
          <p:cNvSpPr txBox="1"/>
          <p:nvPr/>
        </p:nvSpPr>
        <p:spPr>
          <a:xfrm>
            <a:off x="5257800" y="2240280"/>
            <a:ext cx="868680" cy="548640"/>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chemeClr val="bg1"/>
                </a:solidFill>
                <a:latin typeface="Consolas" pitchFamily="34" charset="0"/>
                <a:ea typeface="Consolas" pitchFamily="34" charset="-122"/>
                <a:cs typeface="Consolas" pitchFamily="34" charset="-120"/>
              </a:rPr>
              <a:t>32</a:t>
            </a:r>
            <a:endParaRPr lang="en-US" sz="3000" dirty="0"/>
          </a:p>
        </p:txBody>
      </p:sp>
      <p:sp>
        <p:nvSpPr>
          <p:cNvPr id="37" name="Text 34"/>
          <p:cNvSpPr txBox="1"/>
          <p:nvPr/>
        </p:nvSpPr>
        <p:spPr>
          <a:xfrm>
            <a:off x="6190488" y="2240280"/>
            <a:ext cx="1005840" cy="54864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neuronas</a:t>
            </a:r>
            <a:endParaRPr lang="en-US" sz="1150" dirty="0"/>
          </a:p>
        </p:txBody>
      </p:sp>
      <p:sp>
        <p:nvSpPr>
          <p:cNvPr id="38" name="Text 35"/>
          <p:cNvSpPr txBox="1"/>
          <p:nvPr/>
        </p:nvSpPr>
        <p:spPr>
          <a:xfrm>
            <a:off x="5257800" y="2926080"/>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39" name="Text 36"/>
          <p:cNvSpPr txBox="1"/>
          <p:nvPr/>
        </p:nvSpPr>
        <p:spPr>
          <a:xfrm>
            <a:off x="6007608" y="2926080"/>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64 × 32 = 2.048</a:t>
            </a:r>
            <a:endParaRPr lang="en-US" sz="1050" dirty="0"/>
          </a:p>
        </p:txBody>
      </p:sp>
      <p:sp>
        <p:nvSpPr>
          <p:cNvPr id="40" name="Text 37"/>
          <p:cNvSpPr txBox="1"/>
          <p:nvPr/>
        </p:nvSpPr>
        <p:spPr>
          <a:xfrm>
            <a:off x="5257800" y="33101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41" name="Text 38"/>
          <p:cNvSpPr txBox="1"/>
          <p:nvPr/>
        </p:nvSpPr>
        <p:spPr>
          <a:xfrm>
            <a:off x="6007608" y="33101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32</a:t>
            </a:r>
            <a:endParaRPr lang="en-US" sz="1050" dirty="0"/>
          </a:p>
        </p:txBody>
      </p:sp>
      <p:sp>
        <p:nvSpPr>
          <p:cNvPr id="42" name="Text 39"/>
          <p:cNvSpPr txBox="1"/>
          <p:nvPr/>
        </p:nvSpPr>
        <p:spPr>
          <a:xfrm>
            <a:off x="5257800" y="36941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43" name="Shape 40"/>
          <p:cNvSpPr/>
          <p:nvPr/>
        </p:nvSpPr>
        <p:spPr>
          <a:xfrm>
            <a:off x="6007608" y="3675888"/>
            <a:ext cx="978408" cy="274320"/>
          </a:xfrm>
          <a:prstGeom prst="roundRect">
            <a:avLst>
              <a:gd name="adj" fmla="val 50000"/>
            </a:avLst>
          </a:prstGeom>
          <a:solidFill>
            <a:srgbClr val="3B82F6">
              <a:alpha val="85000"/>
            </a:srgbClr>
          </a:solidFill>
          <a:ln w="12700">
            <a:solidFill>
              <a:srgbClr val="3B82F6"/>
            </a:solidFill>
            <a:prstDash val="solid"/>
          </a:ln>
        </p:spPr>
      </p:sp>
      <p:sp>
        <p:nvSpPr>
          <p:cNvPr id="44" name="Text 41"/>
          <p:cNvSpPr txBox="1"/>
          <p:nvPr/>
        </p:nvSpPr>
        <p:spPr>
          <a:xfrm>
            <a:off x="6007608" y="3675888"/>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ReLU</a:t>
            </a:r>
            <a:endParaRPr lang="en-US" sz="1050" dirty="0"/>
          </a:p>
        </p:txBody>
      </p:sp>
      <p:sp>
        <p:nvSpPr>
          <p:cNvPr id="45" name="Text 42"/>
          <p:cNvSpPr txBox="1"/>
          <p:nvPr/>
        </p:nvSpPr>
        <p:spPr>
          <a:xfrm>
            <a:off x="5257800" y="40782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46" name="Text 43"/>
          <p:cNvSpPr txBox="1"/>
          <p:nvPr/>
        </p:nvSpPr>
        <p:spPr>
          <a:xfrm>
            <a:off x="6007608" y="4078224"/>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15 %</a:t>
            </a:r>
            <a:endParaRPr lang="en-US" sz="1050" dirty="0"/>
          </a:p>
        </p:txBody>
      </p:sp>
      <p:sp>
        <p:nvSpPr>
          <p:cNvPr id="47" name="Text 44"/>
          <p:cNvSpPr txBox="1"/>
          <p:nvPr/>
        </p:nvSpPr>
        <p:spPr>
          <a:xfrm>
            <a:off x="5257800" y="4526280"/>
            <a:ext cx="1709928" cy="54864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chemeClr val="accent2"/>
                </a:solidFill>
              </a:rPr>
              <a:t>Combina lo que encontró la capa 1.</a:t>
            </a:r>
            <a:endParaRPr lang="en-US" sz="1050" dirty="0"/>
          </a:p>
        </p:txBody>
      </p:sp>
      <p:sp>
        <p:nvSpPr>
          <p:cNvPr id="48" name="Shape 45"/>
          <p:cNvSpPr/>
          <p:nvPr/>
        </p:nvSpPr>
        <p:spPr>
          <a:xfrm>
            <a:off x="7123176" y="3493008"/>
            <a:ext cx="214884" cy="0"/>
          </a:xfrm>
          <a:prstGeom prst="line">
            <a:avLst/>
          </a:prstGeom>
          <a:noFill/>
          <a:ln w="19050">
            <a:solidFill>
              <a:srgbClr val="475569"/>
            </a:solidFill>
            <a:prstDash val="solid"/>
            <a:tailEnd type="triangle"/>
          </a:ln>
        </p:spPr>
      </p:sp>
      <p:sp>
        <p:nvSpPr>
          <p:cNvPr id="49" name="Shape 46"/>
          <p:cNvSpPr/>
          <p:nvPr/>
        </p:nvSpPr>
        <p:spPr>
          <a:xfrm>
            <a:off x="7365492" y="1874520"/>
            <a:ext cx="2002536" cy="3246120"/>
          </a:xfrm>
          <a:prstGeom prst="roundRect">
            <a:avLst>
              <a:gd name="adj" fmla="val 6393"/>
            </a:avLst>
          </a:prstGeom>
          <a:solidFill>
            <a:schemeClr val="tx2">
              <a:alpha val="92000"/>
            </a:schemeClr>
          </a:solidFill>
          <a:ln w="15875">
            <a:solidFill>
              <a:srgbClr val="3B82F6"/>
            </a:solidFill>
            <a:prstDash val="solid"/>
          </a:ln>
        </p:spPr>
      </p:sp>
      <p:sp>
        <p:nvSpPr>
          <p:cNvPr id="50" name="Text 47"/>
          <p:cNvSpPr txBox="1"/>
          <p:nvPr/>
        </p:nvSpPr>
        <p:spPr>
          <a:xfrm>
            <a:off x="7530084" y="1984248"/>
            <a:ext cx="1728216" cy="256032"/>
          </a:xfrm>
          <a:prstGeom prst="rect">
            <a:avLst/>
          </a:prstGeom>
          <a:noFill/>
          <a:ln/>
        </p:spPr>
        <p:txBody>
          <a:bodyPr wrap="square" lIns="0" tIns="0" rIns="0" bIns="0" rtlCol="0" anchor="ctr"/>
          <a:lstStyle/>
          <a:p>
            <a:pPr indent="0" marL="0">
              <a:buNone/>
            </a:pPr>
            <a:r>
              <a:rPr lang="en-US" sz="950" spc="200" kern="0" dirty="0">
                <a:solidFill>
                  <a:srgbClr val="3B82F6"/>
                </a:solidFill>
                <a:latin typeface="Consolas" pitchFamily="34" charset="0"/>
                <a:ea typeface="Consolas" pitchFamily="34" charset="-122"/>
                <a:cs typeface="Consolas" pitchFamily="34" charset="-120"/>
              </a:rPr>
              <a:t>CAPA OCULTA 3</a:t>
            </a:r>
            <a:endParaRPr lang="en-US" sz="950" dirty="0"/>
          </a:p>
        </p:txBody>
      </p:sp>
      <p:sp>
        <p:nvSpPr>
          <p:cNvPr id="51" name="Text 48"/>
          <p:cNvSpPr txBox="1"/>
          <p:nvPr/>
        </p:nvSpPr>
        <p:spPr>
          <a:xfrm>
            <a:off x="7530084" y="2240280"/>
            <a:ext cx="868680" cy="548640"/>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chemeClr val="bg1"/>
                </a:solidFill>
                <a:latin typeface="Consolas" pitchFamily="34" charset="0"/>
                <a:ea typeface="Consolas" pitchFamily="34" charset="-122"/>
                <a:cs typeface="Consolas" pitchFamily="34" charset="-120"/>
              </a:rPr>
              <a:t>16</a:t>
            </a:r>
            <a:endParaRPr lang="en-US" sz="3000" dirty="0"/>
          </a:p>
        </p:txBody>
      </p:sp>
      <p:sp>
        <p:nvSpPr>
          <p:cNvPr id="52" name="Text 49"/>
          <p:cNvSpPr txBox="1"/>
          <p:nvPr/>
        </p:nvSpPr>
        <p:spPr>
          <a:xfrm>
            <a:off x="8462772" y="2240280"/>
            <a:ext cx="1005840" cy="54864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neuronas</a:t>
            </a:r>
            <a:endParaRPr lang="en-US" sz="1150" dirty="0"/>
          </a:p>
        </p:txBody>
      </p:sp>
      <p:sp>
        <p:nvSpPr>
          <p:cNvPr id="53" name="Text 50"/>
          <p:cNvSpPr txBox="1"/>
          <p:nvPr/>
        </p:nvSpPr>
        <p:spPr>
          <a:xfrm>
            <a:off x="7530084" y="2926080"/>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54" name="Text 51"/>
          <p:cNvSpPr txBox="1"/>
          <p:nvPr/>
        </p:nvSpPr>
        <p:spPr>
          <a:xfrm>
            <a:off x="8279892" y="2926080"/>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32 × 16 = 512</a:t>
            </a:r>
            <a:endParaRPr lang="en-US" sz="1050" dirty="0"/>
          </a:p>
        </p:txBody>
      </p:sp>
      <p:sp>
        <p:nvSpPr>
          <p:cNvPr id="55" name="Text 52"/>
          <p:cNvSpPr txBox="1"/>
          <p:nvPr/>
        </p:nvSpPr>
        <p:spPr>
          <a:xfrm>
            <a:off x="7530084" y="33101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56" name="Text 53"/>
          <p:cNvSpPr txBox="1"/>
          <p:nvPr/>
        </p:nvSpPr>
        <p:spPr>
          <a:xfrm>
            <a:off x="8279892" y="33101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16</a:t>
            </a:r>
            <a:endParaRPr lang="en-US" sz="1050" dirty="0"/>
          </a:p>
        </p:txBody>
      </p:sp>
      <p:sp>
        <p:nvSpPr>
          <p:cNvPr id="57" name="Text 54"/>
          <p:cNvSpPr txBox="1"/>
          <p:nvPr/>
        </p:nvSpPr>
        <p:spPr>
          <a:xfrm>
            <a:off x="7530084" y="36941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58" name="Shape 55"/>
          <p:cNvSpPr/>
          <p:nvPr/>
        </p:nvSpPr>
        <p:spPr>
          <a:xfrm>
            <a:off x="8279892" y="3675888"/>
            <a:ext cx="978408" cy="274320"/>
          </a:xfrm>
          <a:prstGeom prst="roundRect">
            <a:avLst>
              <a:gd name="adj" fmla="val 50000"/>
            </a:avLst>
          </a:prstGeom>
          <a:solidFill>
            <a:srgbClr val="3B82F6">
              <a:alpha val="85000"/>
            </a:srgbClr>
          </a:solidFill>
          <a:ln w="12700">
            <a:solidFill>
              <a:srgbClr val="3B82F6"/>
            </a:solidFill>
            <a:prstDash val="solid"/>
          </a:ln>
        </p:spPr>
      </p:sp>
      <p:sp>
        <p:nvSpPr>
          <p:cNvPr id="59" name="Text 56"/>
          <p:cNvSpPr txBox="1"/>
          <p:nvPr/>
        </p:nvSpPr>
        <p:spPr>
          <a:xfrm>
            <a:off x="8279892" y="3675888"/>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ReLU</a:t>
            </a:r>
            <a:endParaRPr lang="en-US" sz="1050" dirty="0"/>
          </a:p>
        </p:txBody>
      </p:sp>
      <p:sp>
        <p:nvSpPr>
          <p:cNvPr id="60" name="Text 57"/>
          <p:cNvSpPr txBox="1"/>
          <p:nvPr/>
        </p:nvSpPr>
        <p:spPr>
          <a:xfrm>
            <a:off x="7530084" y="40782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61" name="Text 58"/>
          <p:cNvSpPr txBox="1"/>
          <p:nvPr/>
        </p:nvSpPr>
        <p:spPr>
          <a:xfrm>
            <a:off x="8279892" y="4078224"/>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no</a:t>
            </a:r>
            <a:endParaRPr lang="en-US" sz="1050" dirty="0"/>
          </a:p>
        </p:txBody>
      </p:sp>
      <p:sp>
        <p:nvSpPr>
          <p:cNvPr id="62" name="Text 59"/>
          <p:cNvSpPr txBox="1"/>
          <p:nvPr/>
        </p:nvSpPr>
        <p:spPr>
          <a:xfrm>
            <a:off x="7530084" y="4526280"/>
            <a:ext cx="1709928" cy="54864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chemeClr val="accent2"/>
                </a:solidFill>
              </a:rPr>
              <a:t>Resume todo en 16 señales de riesgo.</a:t>
            </a:r>
            <a:endParaRPr lang="en-US" sz="1050" dirty="0"/>
          </a:p>
        </p:txBody>
      </p:sp>
      <p:sp>
        <p:nvSpPr>
          <p:cNvPr id="63" name="Shape 60"/>
          <p:cNvSpPr/>
          <p:nvPr/>
        </p:nvSpPr>
        <p:spPr>
          <a:xfrm>
            <a:off x="9395460" y="3493008"/>
            <a:ext cx="214884" cy="0"/>
          </a:xfrm>
          <a:prstGeom prst="line">
            <a:avLst/>
          </a:prstGeom>
          <a:noFill/>
          <a:ln w="19050">
            <a:solidFill>
              <a:srgbClr val="475569"/>
            </a:solidFill>
            <a:prstDash val="solid"/>
            <a:tailEnd type="triangle"/>
          </a:ln>
        </p:spPr>
      </p:sp>
      <p:sp>
        <p:nvSpPr>
          <p:cNvPr id="64" name="Shape 61"/>
          <p:cNvSpPr/>
          <p:nvPr/>
        </p:nvSpPr>
        <p:spPr>
          <a:xfrm>
            <a:off x="9637776" y="1874520"/>
            <a:ext cx="2002536" cy="3246120"/>
          </a:xfrm>
          <a:prstGeom prst="roundRect">
            <a:avLst>
              <a:gd name="adj" fmla="val 6393"/>
            </a:avLst>
          </a:prstGeom>
          <a:solidFill>
            <a:schemeClr val="tx2">
              <a:alpha val="92000"/>
            </a:schemeClr>
          </a:solidFill>
          <a:ln w="15875">
            <a:solidFill>
              <a:srgbClr val="34D399"/>
            </a:solidFill>
            <a:prstDash val="solid"/>
          </a:ln>
        </p:spPr>
      </p:sp>
      <p:sp>
        <p:nvSpPr>
          <p:cNvPr id="65" name="Text 62"/>
          <p:cNvSpPr txBox="1"/>
          <p:nvPr/>
        </p:nvSpPr>
        <p:spPr>
          <a:xfrm>
            <a:off x="9802368" y="1984248"/>
            <a:ext cx="1728216" cy="256032"/>
          </a:xfrm>
          <a:prstGeom prst="rect">
            <a:avLst/>
          </a:prstGeom>
          <a:noFill/>
          <a:ln/>
        </p:spPr>
        <p:txBody>
          <a:bodyPr wrap="square" lIns="0" tIns="0" rIns="0" bIns="0" rtlCol="0" anchor="ctr"/>
          <a:lstStyle/>
          <a:p>
            <a:pPr indent="0" marL="0">
              <a:buNone/>
            </a:pPr>
            <a:r>
              <a:rPr lang="en-US" sz="950" spc="200" kern="0" dirty="0">
                <a:solidFill>
                  <a:srgbClr val="34D399"/>
                </a:solidFill>
                <a:latin typeface="Consolas" pitchFamily="34" charset="0"/>
                <a:ea typeface="Consolas" pitchFamily="34" charset="-122"/>
                <a:cs typeface="Consolas" pitchFamily="34" charset="-120"/>
              </a:rPr>
              <a:t>SALIDA</a:t>
            </a:r>
            <a:endParaRPr lang="en-US" sz="950" dirty="0"/>
          </a:p>
        </p:txBody>
      </p:sp>
      <p:sp>
        <p:nvSpPr>
          <p:cNvPr id="66" name="Text 63"/>
          <p:cNvSpPr txBox="1"/>
          <p:nvPr/>
        </p:nvSpPr>
        <p:spPr>
          <a:xfrm>
            <a:off x="9802368" y="2240280"/>
            <a:ext cx="868680" cy="548640"/>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chemeClr val="bg1"/>
                </a:solidFill>
                <a:latin typeface="Consolas" pitchFamily="34" charset="0"/>
                <a:ea typeface="Consolas" pitchFamily="34" charset="-122"/>
                <a:cs typeface="Consolas" pitchFamily="34" charset="-120"/>
              </a:rPr>
              <a:t>1</a:t>
            </a:r>
            <a:endParaRPr lang="en-US" sz="3000" dirty="0"/>
          </a:p>
        </p:txBody>
      </p:sp>
      <p:sp>
        <p:nvSpPr>
          <p:cNvPr id="67" name="Text 64"/>
          <p:cNvSpPr txBox="1"/>
          <p:nvPr/>
        </p:nvSpPr>
        <p:spPr>
          <a:xfrm>
            <a:off x="10369296" y="2240280"/>
            <a:ext cx="1005840" cy="54864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a:t>
            </a:r>
            <a:endParaRPr lang="en-US" sz="1150" dirty="0"/>
          </a:p>
        </p:txBody>
      </p:sp>
      <p:sp>
        <p:nvSpPr>
          <p:cNvPr id="68" name="Text 65"/>
          <p:cNvSpPr txBox="1"/>
          <p:nvPr/>
        </p:nvSpPr>
        <p:spPr>
          <a:xfrm>
            <a:off x="9802368" y="2926080"/>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69" name="Text 66"/>
          <p:cNvSpPr txBox="1"/>
          <p:nvPr/>
        </p:nvSpPr>
        <p:spPr>
          <a:xfrm>
            <a:off x="10552176" y="2926080"/>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16 × 1 = 16</a:t>
            </a:r>
            <a:endParaRPr lang="en-US" sz="1050" dirty="0"/>
          </a:p>
        </p:txBody>
      </p:sp>
      <p:sp>
        <p:nvSpPr>
          <p:cNvPr id="70" name="Text 67"/>
          <p:cNvSpPr txBox="1"/>
          <p:nvPr/>
        </p:nvSpPr>
        <p:spPr>
          <a:xfrm>
            <a:off x="9802368" y="33101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71" name="Text 68"/>
          <p:cNvSpPr txBox="1"/>
          <p:nvPr/>
        </p:nvSpPr>
        <p:spPr>
          <a:xfrm>
            <a:off x="10552176" y="33101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a:t>
            </a:r>
            <a:endParaRPr lang="en-US" sz="1050" dirty="0"/>
          </a:p>
        </p:txBody>
      </p:sp>
      <p:sp>
        <p:nvSpPr>
          <p:cNvPr id="72" name="Text 69"/>
          <p:cNvSpPr txBox="1"/>
          <p:nvPr/>
        </p:nvSpPr>
        <p:spPr>
          <a:xfrm>
            <a:off x="9802368" y="36941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73" name="Shape 70"/>
          <p:cNvSpPr/>
          <p:nvPr/>
        </p:nvSpPr>
        <p:spPr>
          <a:xfrm>
            <a:off x="10552176" y="3675888"/>
            <a:ext cx="978408" cy="274320"/>
          </a:xfrm>
          <a:prstGeom prst="roundRect">
            <a:avLst>
              <a:gd name="adj" fmla="val 50000"/>
            </a:avLst>
          </a:prstGeom>
          <a:solidFill>
            <a:srgbClr val="34D399">
              <a:alpha val="85000"/>
            </a:srgbClr>
          </a:solidFill>
          <a:ln w="12700">
            <a:solidFill>
              <a:srgbClr val="34D399"/>
            </a:solidFill>
            <a:prstDash val="solid"/>
          </a:ln>
        </p:spPr>
      </p:sp>
      <p:sp>
        <p:nvSpPr>
          <p:cNvPr id="74" name="Text 71"/>
          <p:cNvSpPr txBox="1"/>
          <p:nvPr/>
        </p:nvSpPr>
        <p:spPr>
          <a:xfrm>
            <a:off x="10552176" y="3675888"/>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Sigmoide</a:t>
            </a:r>
            <a:endParaRPr lang="en-US" sz="1050" dirty="0"/>
          </a:p>
        </p:txBody>
      </p:sp>
      <p:sp>
        <p:nvSpPr>
          <p:cNvPr id="75" name="Text 72"/>
          <p:cNvSpPr txBox="1"/>
          <p:nvPr/>
        </p:nvSpPr>
        <p:spPr>
          <a:xfrm>
            <a:off x="9802368" y="40782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76" name="Text 73"/>
          <p:cNvSpPr txBox="1"/>
          <p:nvPr/>
        </p:nvSpPr>
        <p:spPr>
          <a:xfrm>
            <a:off x="10552176" y="4078224"/>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no</a:t>
            </a:r>
            <a:endParaRPr lang="en-US" sz="1050" dirty="0"/>
          </a:p>
        </p:txBody>
      </p:sp>
      <p:sp>
        <p:nvSpPr>
          <p:cNvPr id="77" name="Text 74"/>
          <p:cNvSpPr txBox="1"/>
          <p:nvPr/>
        </p:nvSpPr>
        <p:spPr>
          <a:xfrm>
            <a:off x="9802368" y="4526280"/>
            <a:ext cx="1709928" cy="54864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chemeClr val="accent2"/>
                </a:solidFill>
              </a:rPr>
              <a:t>Entrega la probabilidad de ser APTO (0 a 1).</a:t>
            </a:r>
            <a:endParaRPr lang="en-US" sz="1050" dirty="0"/>
          </a:p>
        </p:txBody>
      </p:sp>
      <p:sp>
        <p:nvSpPr>
          <p:cNvPr id="78" name="Shape 75"/>
          <p:cNvSpPr/>
          <p:nvPr/>
        </p:nvSpPr>
        <p:spPr>
          <a:xfrm>
            <a:off x="548640" y="5303520"/>
            <a:ext cx="5394960" cy="868680"/>
          </a:xfrm>
          <a:prstGeom prst="roundRect">
            <a:avLst>
              <a:gd name="adj" fmla="val 14737"/>
            </a:avLst>
          </a:prstGeom>
          <a:solidFill>
            <a:srgbClr val="1E3A8A">
              <a:alpha val="45000"/>
            </a:srgbClr>
          </a:solidFill>
          <a:ln w="12700">
            <a:solidFill>
              <a:srgbClr val="3B82F6"/>
            </a:solidFill>
            <a:prstDash val="solid"/>
          </a:ln>
        </p:spPr>
      </p:sp>
      <p:sp>
        <p:nvSpPr>
          <p:cNvPr id="79" name="Text 76"/>
          <p:cNvSpPr txBox="1"/>
          <p:nvPr/>
        </p:nvSpPr>
        <p:spPr>
          <a:xfrm>
            <a:off x="777240" y="5303520"/>
            <a:ext cx="4983480" cy="868680"/>
          </a:xfrm>
          <a:prstGeom prst="rect">
            <a:avLst/>
          </a:prstGeom>
          <a:noFill/>
          <a:ln/>
        </p:spPr>
        <p:txBody>
          <a:bodyPr wrap="square" lIns="0" tIns="0" rIns="0" bIns="0" rtlCol="0" anchor="ctr"/>
          <a:lstStyle/>
          <a:p>
            <a:pPr algn="l" indent="0" marL="0">
              <a:lnSpc>
                <a:spcPct val="110000"/>
              </a:lnSpc>
              <a:spcAft>
                <a:spcPts val="400"/>
              </a:spcAft>
              <a:buNone/>
            </a:pPr>
            <a:r>
              <a:rPr lang="en-US" sz="1200" b="1" dirty="0">
                <a:solidFill>
                  <a:schemeClr val="bg1"/>
                </a:solidFill>
              </a:rPr>
              <a:t>Total: </a:t>
            </a:r>
            <a:pPr algn="l" indent="0" marL="0">
              <a:lnSpc>
                <a:spcPct val="110000"/>
              </a:lnSpc>
              <a:spcAft>
                <a:spcPts val="400"/>
              </a:spcAft>
              <a:buNone/>
            </a:pPr>
            <a:r>
              <a:rPr lang="en-US" sz="1200" dirty="0">
                <a:solidFill>
                  <a:schemeClr val="bg2"/>
                </a:solidFill>
              </a:rPr>
              <a:t>5.392 pesos + 113 sesgos = 5.505 parámetros. Pesos iniciales con He (capas ReLU) y Glorot (salida); sesgos inician en 0.</a:t>
            </a:r>
            <a:endParaRPr lang="en-US" sz="1200" dirty="0"/>
          </a:p>
        </p:txBody>
      </p:sp>
      <p:sp>
        <p:nvSpPr>
          <p:cNvPr id="80" name="Shape 77"/>
          <p:cNvSpPr/>
          <p:nvPr/>
        </p:nvSpPr>
        <p:spPr>
          <a:xfrm>
            <a:off x="6172200" y="5303520"/>
            <a:ext cx="5468112" cy="868680"/>
          </a:xfrm>
          <a:prstGeom prst="roundRect">
            <a:avLst>
              <a:gd name="adj" fmla="val 14737"/>
            </a:avLst>
          </a:prstGeom>
          <a:solidFill>
            <a:schemeClr val="tx2">
              <a:alpha val="92000"/>
            </a:schemeClr>
          </a:solidFill>
          <a:ln w="12700">
            <a:solidFill>
              <a:srgbClr val="1E293B"/>
            </a:solidFill>
            <a:prstDash val="solid"/>
          </a:ln>
        </p:spPr>
      </p:sp>
      <p:sp>
        <p:nvSpPr>
          <p:cNvPr id="81" name="Text 78"/>
          <p:cNvSpPr txBox="1"/>
          <p:nvPr/>
        </p:nvSpPr>
        <p:spPr>
          <a:xfrm>
            <a:off x="6400800" y="5303520"/>
            <a:ext cx="5074920" cy="868680"/>
          </a:xfrm>
          <a:prstGeom prst="rect">
            <a:avLst/>
          </a:prstGeom>
          <a:noFill/>
          <a:ln/>
        </p:spPr>
        <p:txBody>
          <a:bodyPr wrap="square" lIns="0" tIns="0" rIns="0" bIns="0" rtlCol="0" anchor="ctr"/>
          <a:lstStyle/>
          <a:p>
            <a:pPr algn="l" indent="0" marL="0">
              <a:lnSpc>
                <a:spcPct val="110000"/>
              </a:lnSpc>
              <a:spcAft>
                <a:spcPts val="400"/>
              </a:spcAft>
              <a:buNone/>
            </a:pPr>
            <a:r>
              <a:rPr lang="en-US" sz="1200" b="1" dirty="0">
                <a:solidFill>
                  <a:schemeClr val="bg1"/>
                </a:solidFill>
              </a:rPr>
              <a:t>Valores aprendidos: </a:t>
            </a:r>
            <a:pPr algn="l" indent="0" marL="0">
              <a:lnSpc>
                <a:spcPct val="110000"/>
              </a:lnSpc>
              <a:spcAft>
                <a:spcPts val="400"/>
              </a:spcAft>
              <a:buNone/>
            </a:pPr>
            <a:r>
              <a:rPr lang="en-US" sz="1200" dirty="0">
                <a:solidFill>
                  <a:schemeClr val="bg2"/>
                </a:solidFill>
              </a:rPr>
              <a:t>tras entrenar, los sesgos de la capa 1 quedaron entre −0,21 y 0,15, los pesos entre −0,79 y 0,73, y el sesgo de salida en −0,063.</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Arquitectura de las Redes 2 y 3</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Las otras dos redes del ensamble siguen la misma lógica (pesos + sesgo + activación en cada neurona), pero cambian en tamaño, activación o regularización.</a:t>
            </a:r>
            <a:endParaRPr lang="en-US" sz="1500" dirty="0"/>
          </a:p>
        </p:txBody>
      </p:sp>
      <p:sp>
        <p:nvSpPr>
          <p:cNvPr id="5" name="Shape 2"/>
          <p:cNvSpPr/>
          <p:nvPr/>
        </p:nvSpPr>
        <p:spPr>
          <a:xfrm>
            <a:off x="548640" y="1874520"/>
            <a:ext cx="11091672" cy="2011680"/>
          </a:xfrm>
          <a:prstGeom prst="roundRect">
            <a:avLst>
              <a:gd name="adj" fmla="val 6364"/>
            </a:avLst>
          </a:prstGeom>
          <a:solidFill>
            <a:schemeClr val="tx2">
              <a:alpha val="92000"/>
            </a:schemeClr>
          </a:solidFill>
          <a:ln w="15875">
            <a:solidFill>
              <a:srgbClr val="38BDF8"/>
            </a:solidFill>
            <a:prstDash val="solid"/>
          </a:ln>
        </p:spPr>
      </p:sp>
      <p:sp>
        <p:nvSpPr>
          <p:cNvPr id="6" name="Text 3"/>
          <p:cNvSpPr txBox="1"/>
          <p:nvPr/>
        </p:nvSpPr>
        <p:spPr>
          <a:xfrm>
            <a:off x="777240" y="2011680"/>
            <a:ext cx="365760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Red 2 · LeakyReLU</a:t>
            </a:r>
            <a:endParaRPr lang="en-US" sz="1600" dirty="0"/>
          </a:p>
        </p:txBody>
      </p:sp>
      <p:sp>
        <p:nvSpPr>
          <p:cNvPr id="7" name="Text 4"/>
          <p:cNvSpPr txBox="1"/>
          <p:nvPr/>
        </p:nvSpPr>
        <p:spPr>
          <a:xfrm>
            <a:off x="4206240" y="2029968"/>
            <a:ext cx="4114800" cy="32004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38BDF8"/>
                </a:solidFill>
                <a:latin typeface="Consolas" pitchFamily="34" charset="0"/>
                <a:ea typeface="Consolas" pitchFamily="34" charset="-122"/>
                <a:cs typeface="Consolas" pitchFamily="34" charset="-120"/>
              </a:rPr>
              <a:t>1.936 pesos + 49 sesgos = 1.985 parámetros</a:t>
            </a:r>
            <a:endParaRPr lang="en-US" sz="1200" dirty="0"/>
          </a:p>
        </p:txBody>
      </p:sp>
      <p:sp>
        <p:nvSpPr>
          <p:cNvPr id="8" name="Shape 5"/>
          <p:cNvSpPr/>
          <p:nvPr/>
        </p:nvSpPr>
        <p:spPr>
          <a:xfrm>
            <a:off x="777240" y="2468880"/>
            <a:ext cx="1417320" cy="1234440"/>
          </a:xfrm>
          <a:prstGeom prst="roundRect">
            <a:avLst>
              <a:gd name="adj" fmla="val 10370"/>
            </a:avLst>
          </a:prstGeom>
          <a:solidFill>
            <a:srgbClr val="1E293B"/>
          </a:solidFill>
          <a:ln w="12700">
            <a:solidFill>
              <a:srgbClr val="334155"/>
            </a:solidFill>
            <a:prstDash val="solid"/>
          </a:ln>
        </p:spPr>
      </p:sp>
      <p:sp>
        <p:nvSpPr>
          <p:cNvPr id="9" name="Text 6"/>
          <p:cNvSpPr txBox="1"/>
          <p:nvPr/>
        </p:nvSpPr>
        <p:spPr>
          <a:xfrm>
            <a:off x="777240" y="2532888"/>
            <a:ext cx="1417320" cy="256032"/>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Entrada</a:t>
            </a:r>
            <a:endParaRPr lang="en-US" sz="1050" dirty="0"/>
          </a:p>
        </p:txBody>
      </p:sp>
      <p:sp>
        <p:nvSpPr>
          <p:cNvPr id="10" name="Text 7"/>
          <p:cNvSpPr txBox="1"/>
          <p:nvPr/>
        </p:nvSpPr>
        <p:spPr>
          <a:xfrm>
            <a:off x="777240" y="2770632"/>
            <a:ext cx="1417320" cy="41148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bg1"/>
                </a:solidFill>
                <a:latin typeface="Consolas" pitchFamily="34" charset="0"/>
                <a:ea typeface="Consolas" pitchFamily="34" charset="-122"/>
                <a:cs typeface="Consolas" pitchFamily="34" charset="-120"/>
              </a:rPr>
              <a:t>44</a:t>
            </a:r>
            <a:endParaRPr lang="en-US" sz="2200" dirty="0"/>
          </a:p>
        </p:txBody>
      </p:sp>
      <p:sp>
        <p:nvSpPr>
          <p:cNvPr id="11" name="Text 8"/>
          <p:cNvSpPr txBox="1"/>
          <p:nvPr/>
        </p:nvSpPr>
        <p:spPr>
          <a:xfrm>
            <a:off x="822960" y="3227832"/>
            <a:ext cx="1325880" cy="411480"/>
          </a:xfrm>
          <a:prstGeom prst="rect">
            <a:avLst/>
          </a:prstGeom>
          <a:noFill/>
          <a:ln/>
        </p:spPr>
        <p:txBody>
          <a:bodyPr wrap="square" lIns="0" tIns="0" rIns="0" bIns="0" rtlCol="0" anchor="t"/>
          <a:lstStyle/>
          <a:p>
            <a:pPr algn="ctr" indent="0" marL="0">
              <a:lnSpc>
                <a:spcPct val="110000"/>
              </a:lnSpc>
              <a:spcAft>
                <a:spcPts val="400"/>
              </a:spcAft>
              <a:buNone/>
            </a:pPr>
            <a:r>
              <a:rPr lang="en-US" sz="950" dirty="0">
                <a:solidFill>
                  <a:schemeClr val="bg2"/>
                </a:solidFill>
              </a:rPr>
              <a:t>—</a:t>
            </a:r>
            <a:endParaRPr lang="en-US" sz="950" dirty="0"/>
          </a:p>
        </p:txBody>
      </p:sp>
      <p:sp>
        <p:nvSpPr>
          <p:cNvPr id="12" name="Shape 9"/>
          <p:cNvSpPr/>
          <p:nvPr/>
        </p:nvSpPr>
        <p:spPr>
          <a:xfrm>
            <a:off x="2212848" y="3081528"/>
            <a:ext cx="192024" cy="0"/>
          </a:xfrm>
          <a:prstGeom prst="line">
            <a:avLst/>
          </a:prstGeom>
          <a:noFill/>
          <a:ln w="15875">
            <a:solidFill>
              <a:srgbClr val="475569"/>
            </a:solidFill>
            <a:prstDash val="solid"/>
            <a:tailEnd type="triangle"/>
          </a:ln>
        </p:spPr>
      </p:sp>
      <p:sp>
        <p:nvSpPr>
          <p:cNvPr id="13" name="Shape 10"/>
          <p:cNvSpPr/>
          <p:nvPr/>
        </p:nvSpPr>
        <p:spPr>
          <a:xfrm>
            <a:off x="2423160" y="2468880"/>
            <a:ext cx="1417320" cy="1234440"/>
          </a:xfrm>
          <a:prstGeom prst="roundRect">
            <a:avLst>
              <a:gd name="adj" fmla="val 10370"/>
            </a:avLst>
          </a:prstGeom>
          <a:solidFill>
            <a:srgbClr val="1E293B"/>
          </a:solidFill>
          <a:ln w="12700">
            <a:solidFill>
              <a:srgbClr val="38BDF8"/>
            </a:solidFill>
            <a:prstDash val="solid"/>
          </a:ln>
        </p:spPr>
      </p:sp>
      <p:sp>
        <p:nvSpPr>
          <p:cNvPr id="14" name="Text 11"/>
          <p:cNvSpPr txBox="1"/>
          <p:nvPr/>
        </p:nvSpPr>
        <p:spPr>
          <a:xfrm>
            <a:off x="2423160" y="2532888"/>
            <a:ext cx="1417320" cy="256032"/>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Oculta 1</a:t>
            </a:r>
            <a:endParaRPr lang="en-US" sz="1050" dirty="0"/>
          </a:p>
        </p:txBody>
      </p:sp>
      <p:sp>
        <p:nvSpPr>
          <p:cNvPr id="15" name="Text 12"/>
          <p:cNvSpPr txBox="1"/>
          <p:nvPr/>
        </p:nvSpPr>
        <p:spPr>
          <a:xfrm>
            <a:off x="2423160" y="2770632"/>
            <a:ext cx="1417320" cy="41148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bg1"/>
                </a:solidFill>
                <a:latin typeface="Consolas" pitchFamily="34" charset="0"/>
                <a:ea typeface="Consolas" pitchFamily="34" charset="-122"/>
                <a:cs typeface="Consolas" pitchFamily="34" charset="-120"/>
              </a:rPr>
              <a:t>32</a:t>
            </a:r>
            <a:endParaRPr lang="en-US" sz="2200" dirty="0"/>
          </a:p>
        </p:txBody>
      </p:sp>
      <p:sp>
        <p:nvSpPr>
          <p:cNvPr id="16" name="Text 13"/>
          <p:cNvSpPr txBox="1"/>
          <p:nvPr/>
        </p:nvSpPr>
        <p:spPr>
          <a:xfrm>
            <a:off x="2468880" y="3227832"/>
            <a:ext cx="1325880" cy="411480"/>
          </a:xfrm>
          <a:prstGeom prst="rect">
            <a:avLst/>
          </a:prstGeom>
          <a:noFill/>
          <a:ln/>
        </p:spPr>
        <p:txBody>
          <a:bodyPr wrap="square" lIns="0" tIns="0" rIns="0" bIns="0" rtlCol="0" anchor="t"/>
          <a:lstStyle/>
          <a:p>
            <a:pPr algn="ctr" indent="0" marL="0">
              <a:lnSpc>
                <a:spcPct val="110000"/>
              </a:lnSpc>
              <a:spcAft>
                <a:spcPts val="400"/>
              </a:spcAft>
              <a:buNone/>
            </a:pPr>
            <a:r>
              <a:rPr lang="en-US" sz="950" dirty="0">
                <a:solidFill>
                  <a:schemeClr val="bg2"/>
                </a:solidFill>
              </a:rPr>
              <a:t>LeakyReLU · drop 15 %</a:t>
            </a:r>
            <a:endParaRPr lang="en-US" sz="950" dirty="0"/>
          </a:p>
        </p:txBody>
      </p:sp>
      <p:sp>
        <p:nvSpPr>
          <p:cNvPr id="17" name="Shape 14"/>
          <p:cNvSpPr/>
          <p:nvPr/>
        </p:nvSpPr>
        <p:spPr>
          <a:xfrm>
            <a:off x="3858768" y="3081528"/>
            <a:ext cx="192024" cy="0"/>
          </a:xfrm>
          <a:prstGeom prst="line">
            <a:avLst/>
          </a:prstGeom>
          <a:noFill/>
          <a:ln w="15875">
            <a:solidFill>
              <a:srgbClr val="475569"/>
            </a:solidFill>
            <a:prstDash val="solid"/>
            <a:tailEnd type="triangle"/>
          </a:ln>
        </p:spPr>
      </p:sp>
      <p:sp>
        <p:nvSpPr>
          <p:cNvPr id="18" name="Shape 15"/>
          <p:cNvSpPr/>
          <p:nvPr/>
        </p:nvSpPr>
        <p:spPr>
          <a:xfrm>
            <a:off x="4069080" y="2468880"/>
            <a:ext cx="1417320" cy="1234440"/>
          </a:xfrm>
          <a:prstGeom prst="roundRect">
            <a:avLst>
              <a:gd name="adj" fmla="val 10370"/>
            </a:avLst>
          </a:prstGeom>
          <a:solidFill>
            <a:srgbClr val="1E293B"/>
          </a:solidFill>
          <a:ln w="12700">
            <a:solidFill>
              <a:srgbClr val="38BDF8"/>
            </a:solidFill>
            <a:prstDash val="solid"/>
          </a:ln>
        </p:spPr>
      </p:sp>
      <p:sp>
        <p:nvSpPr>
          <p:cNvPr id="19" name="Text 16"/>
          <p:cNvSpPr txBox="1"/>
          <p:nvPr/>
        </p:nvSpPr>
        <p:spPr>
          <a:xfrm>
            <a:off x="4069080" y="2532888"/>
            <a:ext cx="1417320" cy="256032"/>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Oculta 2</a:t>
            </a:r>
            <a:endParaRPr lang="en-US" sz="1050" dirty="0"/>
          </a:p>
        </p:txBody>
      </p:sp>
      <p:sp>
        <p:nvSpPr>
          <p:cNvPr id="20" name="Text 17"/>
          <p:cNvSpPr txBox="1"/>
          <p:nvPr/>
        </p:nvSpPr>
        <p:spPr>
          <a:xfrm>
            <a:off x="4069080" y="2770632"/>
            <a:ext cx="1417320" cy="41148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bg1"/>
                </a:solidFill>
                <a:latin typeface="Consolas" pitchFamily="34" charset="0"/>
                <a:ea typeface="Consolas" pitchFamily="34" charset="-122"/>
                <a:cs typeface="Consolas" pitchFamily="34" charset="-120"/>
              </a:rPr>
              <a:t>16</a:t>
            </a:r>
            <a:endParaRPr lang="en-US" sz="2200" dirty="0"/>
          </a:p>
        </p:txBody>
      </p:sp>
      <p:sp>
        <p:nvSpPr>
          <p:cNvPr id="21" name="Text 18"/>
          <p:cNvSpPr txBox="1"/>
          <p:nvPr/>
        </p:nvSpPr>
        <p:spPr>
          <a:xfrm>
            <a:off x="4114800" y="3227832"/>
            <a:ext cx="1325880" cy="411480"/>
          </a:xfrm>
          <a:prstGeom prst="rect">
            <a:avLst/>
          </a:prstGeom>
          <a:noFill/>
          <a:ln/>
        </p:spPr>
        <p:txBody>
          <a:bodyPr wrap="square" lIns="0" tIns="0" rIns="0" bIns="0" rtlCol="0" anchor="t"/>
          <a:lstStyle/>
          <a:p>
            <a:pPr algn="ctr" indent="0" marL="0">
              <a:lnSpc>
                <a:spcPct val="110000"/>
              </a:lnSpc>
              <a:spcAft>
                <a:spcPts val="400"/>
              </a:spcAft>
              <a:buNone/>
            </a:pPr>
            <a:r>
              <a:rPr lang="en-US" sz="950" dirty="0">
                <a:solidFill>
                  <a:schemeClr val="bg2"/>
                </a:solidFill>
              </a:rPr>
              <a:t>LeakyReLU</a:t>
            </a:r>
            <a:endParaRPr lang="en-US" sz="950" dirty="0"/>
          </a:p>
        </p:txBody>
      </p:sp>
      <p:sp>
        <p:nvSpPr>
          <p:cNvPr id="22" name="Shape 19"/>
          <p:cNvSpPr/>
          <p:nvPr/>
        </p:nvSpPr>
        <p:spPr>
          <a:xfrm>
            <a:off x="5504688" y="3081528"/>
            <a:ext cx="192024" cy="0"/>
          </a:xfrm>
          <a:prstGeom prst="line">
            <a:avLst/>
          </a:prstGeom>
          <a:noFill/>
          <a:ln w="15875">
            <a:solidFill>
              <a:srgbClr val="475569"/>
            </a:solidFill>
            <a:prstDash val="solid"/>
            <a:tailEnd type="triangle"/>
          </a:ln>
        </p:spPr>
      </p:sp>
      <p:sp>
        <p:nvSpPr>
          <p:cNvPr id="23" name="Shape 20"/>
          <p:cNvSpPr/>
          <p:nvPr/>
        </p:nvSpPr>
        <p:spPr>
          <a:xfrm>
            <a:off x="5715000" y="2468880"/>
            <a:ext cx="1417320" cy="1234440"/>
          </a:xfrm>
          <a:prstGeom prst="roundRect">
            <a:avLst>
              <a:gd name="adj" fmla="val 10370"/>
            </a:avLst>
          </a:prstGeom>
          <a:solidFill>
            <a:srgbClr val="1E293B"/>
          </a:solidFill>
          <a:ln w="12700">
            <a:solidFill>
              <a:srgbClr val="34D399"/>
            </a:solidFill>
            <a:prstDash val="solid"/>
          </a:ln>
        </p:spPr>
      </p:sp>
      <p:sp>
        <p:nvSpPr>
          <p:cNvPr id="24" name="Text 21"/>
          <p:cNvSpPr txBox="1"/>
          <p:nvPr/>
        </p:nvSpPr>
        <p:spPr>
          <a:xfrm>
            <a:off x="5715000" y="2532888"/>
            <a:ext cx="1417320" cy="256032"/>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Salida</a:t>
            </a:r>
            <a:endParaRPr lang="en-US" sz="1050" dirty="0"/>
          </a:p>
        </p:txBody>
      </p:sp>
      <p:sp>
        <p:nvSpPr>
          <p:cNvPr id="25" name="Text 22"/>
          <p:cNvSpPr txBox="1"/>
          <p:nvPr/>
        </p:nvSpPr>
        <p:spPr>
          <a:xfrm>
            <a:off x="5715000" y="2770632"/>
            <a:ext cx="1417320" cy="41148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bg1"/>
                </a:solidFill>
                <a:latin typeface="Consolas" pitchFamily="34" charset="0"/>
                <a:ea typeface="Consolas" pitchFamily="34" charset="-122"/>
                <a:cs typeface="Consolas" pitchFamily="34" charset="-120"/>
              </a:rPr>
              <a:t>1</a:t>
            </a:r>
            <a:endParaRPr lang="en-US" sz="2200" dirty="0"/>
          </a:p>
        </p:txBody>
      </p:sp>
      <p:sp>
        <p:nvSpPr>
          <p:cNvPr id="26" name="Text 23"/>
          <p:cNvSpPr txBox="1"/>
          <p:nvPr/>
        </p:nvSpPr>
        <p:spPr>
          <a:xfrm>
            <a:off x="5760720" y="3227832"/>
            <a:ext cx="1325880" cy="411480"/>
          </a:xfrm>
          <a:prstGeom prst="rect">
            <a:avLst/>
          </a:prstGeom>
          <a:noFill/>
          <a:ln/>
        </p:spPr>
        <p:txBody>
          <a:bodyPr wrap="square" lIns="0" tIns="0" rIns="0" bIns="0" rtlCol="0" anchor="t"/>
          <a:lstStyle/>
          <a:p>
            <a:pPr algn="ctr" indent="0" marL="0">
              <a:lnSpc>
                <a:spcPct val="110000"/>
              </a:lnSpc>
              <a:spcAft>
                <a:spcPts val="400"/>
              </a:spcAft>
              <a:buNone/>
            </a:pPr>
            <a:r>
              <a:rPr lang="en-US" sz="950" dirty="0">
                <a:solidFill>
                  <a:schemeClr val="bg2"/>
                </a:solidFill>
              </a:rPr>
              <a:t>Sigmoide</a:t>
            </a:r>
            <a:endParaRPr lang="en-US" sz="950" dirty="0"/>
          </a:p>
        </p:txBody>
      </p:sp>
      <p:sp>
        <p:nvSpPr>
          <p:cNvPr id="27" name="Text 24"/>
          <p:cNvSpPr txBox="1"/>
          <p:nvPr/>
        </p:nvSpPr>
        <p:spPr>
          <a:xfrm>
            <a:off x="9098280" y="2468880"/>
            <a:ext cx="2377440" cy="13258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Por qué LeakyReLU: deja pasar un 10 % de los valores negativos, así ninguna neurona queda «apagada» para siempre. Además hace que esta red piense distinto a las otras dos.</a:t>
            </a:r>
            <a:endParaRPr lang="en-US" sz="1150" dirty="0"/>
          </a:p>
        </p:txBody>
      </p:sp>
      <p:sp>
        <p:nvSpPr>
          <p:cNvPr id="28" name="Shape 25"/>
          <p:cNvSpPr/>
          <p:nvPr/>
        </p:nvSpPr>
        <p:spPr>
          <a:xfrm>
            <a:off x="548640" y="4069080"/>
            <a:ext cx="11091672" cy="2011680"/>
          </a:xfrm>
          <a:prstGeom prst="roundRect">
            <a:avLst>
              <a:gd name="adj" fmla="val 6364"/>
            </a:avLst>
          </a:prstGeom>
          <a:solidFill>
            <a:schemeClr val="tx2">
              <a:alpha val="92000"/>
            </a:schemeClr>
          </a:solidFill>
          <a:ln w="15875">
            <a:solidFill>
              <a:srgbClr val="818CF8"/>
            </a:solidFill>
            <a:prstDash val="solid"/>
          </a:ln>
        </p:spPr>
      </p:sp>
      <p:sp>
        <p:nvSpPr>
          <p:cNvPr id="29" name="Text 26"/>
          <p:cNvSpPr txBox="1"/>
          <p:nvPr/>
        </p:nvSpPr>
        <p:spPr>
          <a:xfrm>
            <a:off x="777240" y="4206240"/>
            <a:ext cx="365760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Red 3 · ReLU</a:t>
            </a:r>
            <a:endParaRPr lang="en-US" sz="1600" dirty="0"/>
          </a:p>
        </p:txBody>
      </p:sp>
      <p:sp>
        <p:nvSpPr>
          <p:cNvPr id="30" name="Text 27"/>
          <p:cNvSpPr txBox="1"/>
          <p:nvPr/>
        </p:nvSpPr>
        <p:spPr>
          <a:xfrm>
            <a:off x="4206240" y="4224528"/>
            <a:ext cx="4114800" cy="32004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818CF8"/>
                </a:solidFill>
                <a:latin typeface="Consolas" pitchFamily="34" charset="0"/>
                <a:ea typeface="Consolas" pitchFamily="34" charset="-122"/>
                <a:cs typeface="Consolas" pitchFamily="34" charset="-120"/>
              </a:rPr>
              <a:t>5.392 pesos + 113 sesgos = 5.505 parámetros</a:t>
            </a:r>
            <a:endParaRPr lang="en-US" sz="1200" dirty="0"/>
          </a:p>
        </p:txBody>
      </p:sp>
      <p:sp>
        <p:nvSpPr>
          <p:cNvPr id="31" name="Shape 28"/>
          <p:cNvSpPr/>
          <p:nvPr/>
        </p:nvSpPr>
        <p:spPr>
          <a:xfrm>
            <a:off x="777240" y="4663440"/>
            <a:ext cx="1417320" cy="1234440"/>
          </a:xfrm>
          <a:prstGeom prst="roundRect">
            <a:avLst>
              <a:gd name="adj" fmla="val 10370"/>
            </a:avLst>
          </a:prstGeom>
          <a:solidFill>
            <a:srgbClr val="1E293B"/>
          </a:solidFill>
          <a:ln w="12700">
            <a:solidFill>
              <a:srgbClr val="334155"/>
            </a:solidFill>
            <a:prstDash val="solid"/>
          </a:ln>
        </p:spPr>
      </p:sp>
      <p:sp>
        <p:nvSpPr>
          <p:cNvPr id="32" name="Text 29"/>
          <p:cNvSpPr txBox="1"/>
          <p:nvPr/>
        </p:nvSpPr>
        <p:spPr>
          <a:xfrm>
            <a:off x="777240" y="4727448"/>
            <a:ext cx="1417320" cy="256032"/>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Entrada</a:t>
            </a:r>
            <a:endParaRPr lang="en-US" sz="1050" dirty="0"/>
          </a:p>
        </p:txBody>
      </p:sp>
      <p:sp>
        <p:nvSpPr>
          <p:cNvPr id="33" name="Text 30"/>
          <p:cNvSpPr txBox="1"/>
          <p:nvPr/>
        </p:nvSpPr>
        <p:spPr>
          <a:xfrm>
            <a:off x="777240" y="4965192"/>
            <a:ext cx="1417320" cy="41148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bg1"/>
                </a:solidFill>
                <a:latin typeface="Consolas" pitchFamily="34" charset="0"/>
                <a:ea typeface="Consolas" pitchFamily="34" charset="-122"/>
                <a:cs typeface="Consolas" pitchFamily="34" charset="-120"/>
              </a:rPr>
              <a:t>44</a:t>
            </a:r>
            <a:endParaRPr lang="en-US" sz="2200" dirty="0"/>
          </a:p>
        </p:txBody>
      </p:sp>
      <p:sp>
        <p:nvSpPr>
          <p:cNvPr id="34" name="Text 31"/>
          <p:cNvSpPr txBox="1"/>
          <p:nvPr/>
        </p:nvSpPr>
        <p:spPr>
          <a:xfrm>
            <a:off x="822960" y="5422392"/>
            <a:ext cx="1325880" cy="411480"/>
          </a:xfrm>
          <a:prstGeom prst="rect">
            <a:avLst/>
          </a:prstGeom>
          <a:noFill/>
          <a:ln/>
        </p:spPr>
        <p:txBody>
          <a:bodyPr wrap="square" lIns="0" tIns="0" rIns="0" bIns="0" rtlCol="0" anchor="t"/>
          <a:lstStyle/>
          <a:p>
            <a:pPr algn="ctr" indent="0" marL="0">
              <a:lnSpc>
                <a:spcPct val="110000"/>
              </a:lnSpc>
              <a:spcAft>
                <a:spcPts val="400"/>
              </a:spcAft>
              <a:buNone/>
            </a:pPr>
            <a:r>
              <a:rPr lang="en-US" sz="950" dirty="0">
                <a:solidFill>
                  <a:schemeClr val="bg2"/>
                </a:solidFill>
              </a:rPr>
              <a:t>—</a:t>
            </a:r>
            <a:endParaRPr lang="en-US" sz="950" dirty="0"/>
          </a:p>
        </p:txBody>
      </p:sp>
      <p:sp>
        <p:nvSpPr>
          <p:cNvPr id="35" name="Shape 32"/>
          <p:cNvSpPr/>
          <p:nvPr/>
        </p:nvSpPr>
        <p:spPr>
          <a:xfrm>
            <a:off x="2212848" y="5276088"/>
            <a:ext cx="192024" cy="0"/>
          </a:xfrm>
          <a:prstGeom prst="line">
            <a:avLst/>
          </a:prstGeom>
          <a:noFill/>
          <a:ln w="15875">
            <a:solidFill>
              <a:srgbClr val="475569"/>
            </a:solidFill>
            <a:prstDash val="solid"/>
            <a:tailEnd type="triangle"/>
          </a:ln>
        </p:spPr>
      </p:sp>
      <p:sp>
        <p:nvSpPr>
          <p:cNvPr id="36" name="Shape 33"/>
          <p:cNvSpPr/>
          <p:nvPr/>
        </p:nvSpPr>
        <p:spPr>
          <a:xfrm>
            <a:off x="2423160" y="4663440"/>
            <a:ext cx="1417320" cy="1234440"/>
          </a:xfrm>
          <a:prstGeom prst="roundRect">
            <a:avLst>
              <a:gd name="adj" fmla="val 10370"/>
            </a:avLst>
          </a:prstGeom>
          <a:solidFill>
            <a:srgbClr val="1E293B"/>
          </a:solidFill>
          <a:ln w="12700">
            <a:solidFill>
              <a:srgbClr val="818CF8"/>
            </a:solidFill>
            <a:prstDash val="solid"/>
          </a:ln>
        </p:spPr>
      </p:sp>
      <p:sp>
        <p:nvSpPr>
          <p:cNvPr id="37" name="Text 34"/>
          <p:cNvSpPr txBox="1"/>
          <p:nvPr/>
        </p:nvSpPr>
        <p:spPr>
          <a:xfrm>
            <a:off x="2423160" y="4727448"/>
            <a:ext cx="1417320" cy="256032"/>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Oculta 1</a:t>
            </a:r>
            <a:endParaRPr lang="en-US" sz="1050" dirty="0"/>
          </a:p>
        </p:txBody>
      </p:sp>
      <p:sp>
        <p:nvSpPr>
          <p:cNvPr id="38" name="Text 35"/>
          <p:cNvSpPr txBox="1"/>
          <p:nvPr/>
        </p:nvSpPr>
        <p:spPr>
          <a:xfrm>
            <a:off x="2423160" y="4965192"/>
            <a:ext cx="1417320" cy="41148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bg1"/>
                </a:solidFill>
                <a:latin typeface="Consolas" pitchFamily="34" charset="0"/>
                <a:ea typeface="Consolas" pitchFamily="34" charset="-122"/>
                <a:cs typeface="Consolas" pitchFamily="34" charset="-120"/>
              </a:rPr>
              <a:t>64</a:t>
            </a:r>
            <a:endParaRPr lang="en-US" sz="2200" dirty="0"/>
          </a:p>
        </p:txBody>
      </p:sp>
      <p:sp>
        <p:nvSpPr>
          <p:cNvPr id="39" name="Text 36"/>
          <p:cNvSpPr txBox="1"/>
          <p:nvPr/>
        </p:nvSpPr>
        <p:spPr>
          <a:xfrm>
            <a:off x="2468880" y="5422392"/>
            <a:ext cx="1325880" cy="411480"/>
          </a:xfrm>
          <a:prstGeom prst="rect">
            <a:avLst/>
          </a:prstGeom>
          <a:noFill/>
          <a:ln/>
        </p:spPr>
        <p:txBody>
          <a:bodyPr wrap="square" lIns="0" tIns="0" rIns="0" bIns="0" rtlCol="0" anchor="t"/>
          <a:lstStyle/>
          <a:p>
            <a:pPr algn="ctr" indent="0" marL="0">
              <a:lnSpc>
                <a:spcPct val="110000"/>
              </a:lnSpc>
              <a:spcAft>
                <a:spcPts val="400"/>
              </a:spcAft>
              <a:buNone/>
            </a:pPr>
            <a:r>
              <a:rPr lang="en-US" sz="950" dirty="0">
                <a:solidFill>
                  <a:schemeClr val="bg2"/>
                </a:solidFill>
              </a:rPr>
              <a:t>ReLU · drop 20 %</a:t>
            </a:r>
            <a:endParaRPr lang="en-US" sz="950" dirty="0"/>
          </a:p>
        </p:txBody>
      </p:sp>
      <p:sp>
        <p:nvSpPr>
          <p:cNvPr id="40" name="Shape 37"/>
          <p:cNvSpPr/>
          <p:nvPr/>
        </p:nvSpPr>
        <p:spPr>
          <a:xfrm>
            <a:off x="3858768" y="5276088"/>
            <a:ext cx="192024" cy="0"/>
          </a:xfrm>
          <a:prstGeom prst="line">
            <a:avLst/>
          </a:prstGeom>
          <a:noFill/>
          <a:ln w="15875">
            <a:solidFill>
              <a:srgbClr val="475569"/>
            </a:solidFill>
            <a:prstDash val="solid"/>
            <a:tailEnd type="triangle"/>
          </a:ln>
        </p:spPr>
      </p:sp>
      <p:sp>
        <p:nvSpPr>
          <p:cNvPr id="41" name="Shape 38"/>
          <p:cNvSpPr/>
          <p:nvPr/>
        </p:nvSpPr>
        <p:spPr>
          <a:xfrm>
            <a:off x="4069080" y="4663440"/>
            <a:ext cx="1417320" cy="1234440"/>
          </a:xfrm>
          <a:prstGeom prst="roundRect">
            <a:avLst>
              <a:gd name="adj" fmla="val 10370"/>
            </a:avLst>
          </a:prstGeom>
          <a:solidFill>
            <a:srgbClr val="1E293B"/>
          </a:solidFill>
          <a:ln w="12700">
            <a:solidFill>
              <a:srgbClr val="818CF8"/>
            </a:solidFill>
            <a:prstDash val="solid"/>
          </a:ln>
        </p:spPr>
      </p:sp>
      <p:sp>
        <p:nvSpPr>
          <p:cNvPr id="42" name="Text 39"/>
          <p:cNvSpPr txBox="1"/>
          <p:nvPr/>
        </p:nvSpPr>
        <p:spPr>
          <a:xfrm>
            <a:off x="4069080" y="4727448"/>
            <a:ext cx="1417320" cy="256032"/>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Oculta 2</a:t>
            </a:r>
            <a:endParaRPr lang="en-US" sz="1050" dirty="0"/>
          </a:p>
        </p:txBody>
      </p:sp>
      <p:sp>
        <p:nvSpPr>
          <p:cNvPr id="43" name="Text 40"/>
          <p:cNvSpPr txBox="1"/>
          <p:nvPr/>
        </p:nvSpPr>
        <p:spPr>
          <a:xfrm>
            <a:off x="4069080" y="4965192"/>
            <a:ext cx="1417320" cy="41148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bg1"/>
                </a:solidFill>
                <a:latin typeface="Consolas" pitchFamily="34" charset="0"/>
                <a:ea typeface="Consolas" pitchFamily="34" charset="-122"/>
                <a:cs typeface="Consolas" pitchFamily="34" charset="-120"/>
              </a:rPr>
              <a:t>32</a:t>
            </a:r>
            <a:endParaRPr lang="en-US" sz="2200" dirty="0"/>
          </a:p>
        </p:txBody>
      </p:sp>
      <p:sp>
        <p:nvSpPr>
          <p:cNvPr id="44" name="Text 41"/>
          <p:cNvSpPr txBox="1"/>
          <p:nvPr/>
        </p:nvSpPr>
        <p:spPr>
          <a:xfrm>
            <a:off x="4114800" y="5422392"/>
            <a:ext cx="1325880" cy="411480"/>
          </a:xfrm>
          <a:prstGeom prst="rect">
            <a:avLst/>
          </a:prstGeom>
          <a:noFill/>
          <a:ln/>
        </p:spPr>
        <p:txBody>
          <a:bodyPr wrap="square" lIns="0" tIns="0" rIns="0" bIns="0" rtlCol="0" anchor="t"/>
          <a:lstStyle/>
          <a:p>
            <a:pPr algn="ctr" indent="0" marL="0">
              <a:lnSpc>
                <a:spcPct val="110000"/>
              </a:lnSpc>
              <a:spcAft>
                <a:spcPts val="400"/>
              </a:spcAft>
              <a:buNone/>
            </a:pPr>
            <a:r>
              <a:rPr lang="en-US" sz="950" dirty="0">
                <a:solidFill>
                  <a:schemeClr val="bg2"/>
                </a:solidFill>
              </a:rPr>
              <a:t>ReLU · drop 20 %</a:t>
            </a:r>
            <a:endParaRPr lang="en-US" sz="950" dirty="0"/>
          </a:p>
        </p:txBody>
      </p:sp>
      <p:sp>
        <p:nvSpPr>
          <p:cNvPr id="45" name="Shape 42"/>
          <p:cNvSpPr/>
          <p:nvPr/>
        </p:nvSpPr>
        <p:spPr>
          <a:xfrm>
            <a:off x="5504688" y="5276088"/>
            <a:ext cx="192024" cy="0"/>
          </a:xfrm>
          <a:prstGeom prst="line">
            <a:avLst/>
          </a:prstGeom>
          <a:noFill/>
          <a:ln w="15875">
            <a:solidFill>
              <a:srgbClr val="475569"/>
            </a:solidFill>
            <a:prstDash val="solid"/>
            <a:tailEnd type="triangle"/>
          </a:ln>
        </p:spPr>
      </p:sp>
      <p:sp>
        <p:nvSpPr>
          <p:cNvPr id="46" name="Shape 43"/>
          <p:cNvSpPr/>
          <p:nvPr/>
        </p:nvSpPr>
        <p:spPr>
          <a:xfrm>
            <a:off x="5715000" y="4663440"/>
            <a:ext cx="1417320" cy="1234440"/>
          </a:xfrm>
          <a:prstGeom prst="roundRect">
            <a:avLst>
              <a:gd name="adj" fmla="val 10370"/>
            </a:avLst>
          </a:prstGeom>
          <a:solidFill>
            <a:srgbClr val="1E293B"/>
          </a:solidFill>
          <a:ln w="12700">
            <a:solidFill>
              <a:srgbClr val="818CF8"/>
            </a:solidFill>
            <a:prstDash val="solid"/>
          </a:ln>
        </p:spPr>
      </p:sp>
      <p:sp>
        <p:nvSpPr>
          <p:cNvPr id="47" name="Text 44"/>
          <p:cNvSpPr txBox="1"/>
          <p:nvPr/>
        </p:nvSpPr>
        <p:spPr>
          <a:xfrm>
            <a:off x="5715000" y="4727448"/>
            <a:ext cx="1417320" cy="256032"/>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Oculta 3</a:t>
            </a:r>
            <a:endParaRPr lang="en-US" sz="1050" dirty="0"/>
          </a:p>
        </p:txBody>
      </p:sp>
      <p:sp>
        <p:nvSpPr>
          <p:cNvPr id="48" name="Text 45"/>
          <p:cNvSpPr txBox="1"/>
          <p:nvPr/>
        </p:nvSpPr>
        <p:spPr>
          <a:xfrm>
            <a:off x="5715000" y="4965192"/>
            <a:ext cx="1417320" cy="41148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bg1"/>
                </a:solidFill>
                <a:latin typeface="Consolas" pitchFamily="34" charset="0"/>
                <a:ea typeface="Consolas" pitchFamily="34" charset="-122"/>
                <a:cs typeface="Consolas" pitchFamily="34" charset="-120"/>
              </a:rPr>
              <a:t>16</a:t>
            </a:r>
            <a:endParaRPr lang="en-US" sz="2200" dirty="0"/>
          </a:p>
        </p:txBody>
      </p:sp>
      <p:sp>
        <p:nvSpPr>
          <p:cNvPr id="49" name="Text 46"/>
          <p:cNvSpPr txBox="1"/>
          <p:nvPr/>
        </p:nvSpPr>
        <p:spPr>
          <a:xfrm>
            <a:off x="5760720" y="5422392"/>
            <a:ext cx="1325880" cy="411480"/>
          </a:xfrm>
          <a:prstGeom prst="rect">
            <a:avLst/>
          </a:prstGeom>
          <a:noFill/>
          <a:ln/>
        </p:spPr>
        <p:txBody>
          <a:bodyPr wrap="square" lIns="0" tIns="0" rIns="0" bIns="0" rtlCol="0" anchor="t"/>
          <a:lstStyle/>
          <a:p>
            <a:pPr algn="ctr" indent="0" marL="0">
              <a:lnSpc>
                <a:spcPct val="110000"/>
              </a:lnSpc>
              <a:spcAft>
                <a:spcPts val="400"/>
              </a:spcAft>
              <a:buNone/>
            </a:pPr>
            <a:r>
              <a:rPr lang="en-US" sz="950" dirty="0">
                <a:solidFill>
                  <a:schemeClr val="bg2"/>
                </a:solidFill>
              </a:rPr>
              <a:t>ReLU</a:t>
            </a:r>
            <a:endParaRPr lang="en-US" sz="950" dirty="0"/>
          </a:p>
        </p:txBody>
      </p:sp>
      <p:sp>
        <p:nvSpPr>
          <p:cNvPr id="50" name="Shape 47"/>
          <p:cNvSpPr/>
          <p:nvPr/>
        </p:nvSpPr>
        <p:spPr>
          <a:xfrm>
            <a:off x="7150608" y="5276088"/>
            <a:ext cx="192024" cy="0"/>
          </a:xfrm>
          <a:prstGeom prst="line">
            <a:avLst/>
          </a:prstGeom>
          <a:noFill/>
          <a:ln w="15875">
            <a:solidFill>
              <a:srgbClr val="475569"/>
            </a:solidFill>
            <a:prstDash val="solid"/>
            <a:tailEnd type="triangle"/>
          </a:ln>
        </p:spPr>
      </p:sp>
      <p:sp>
        <p:nvSpPr>
          <p:cNvPr id="51" name="Shape 48"/>
          <p:cNvSpPr/>
          <p:nvPr/>
        </p:nvSpPr>
        <p:spPr>
          <a:xfrm>
            <a:off x="7360920" y="4663440"/>
            <a:ext cx="1417320" cy="1234440"/>
          </a:xfrm>
          <a:prstGeom prst="roundRect">
            <a:avLst>
              <a:gd name="adj" fmla="val 10370"/>
            </a:avLst>
          </a:prstGeom>
          <a:solidFill>
            <a:srgbClr val="1E293B"/>
          </a:solidFill>
          <a:ln w="12700">
            <a:solidFill>
              <a:srgbClr val="34D399"/>
            </a:solidFill>
            <a:prstDash val="solid"/>
          </a:ln>
        </p:spPr>
      </p:sp>
      <p:sp>
        <p:nvSpPr>
          <p:cNvPr id="52" name="Text 49"/>
          <p:cNvSpPr txBox="1"/>
          <p:nvPr/>
        </p:nvSpPr>
        <p:spPr>
          <a:xfrm>
            <a:off x="7360920" y="4727448"/>
            <a:ext cx="1417320" cy="256032"/>
          </a:xfrm>
          <a:prstGeom prst="rect">
            <a:avLst/>
          </a:prstGeom>
          <a:noFill/>
          <a:ln/>
        </p:spPr>
        <p:txBody>
          <a:bodyPr wrap="square" lIns="0" tIns="0" rIns="0" bIns="0" rtlCol="0" anchor="t"/>
          <a:lstStyle/>
          <a:p>
            <a:pPr algn="ctr" indent="0" marL="0">
              <a:lnSpc>
                <a:spcPct val="110000"/>
              </a:lnSpc>
              <a:spcAft>
                <a:spcPts val="400"/>
              </a:spcAft>
              <a:buNone/>
            </a:pPr>
            <a:r>
              <a:rPr lang="en-US" sz="1050" dirty="0">
                <a:solidFill>
                  <a:srgbClr val="94A3B8"/>
                </a:solidFill>
              </a:rPr>
              <a:t>Salida</a:t>
            </a:r>
            <a:endParaRPr lang="en-US" sz="1050" dirty="0"/>
          </a:p>
        </p:txBody>
      </p:sp>
      <p:sp>
        <p:nvSpPr>
          <p:cNvPr id="53" name="Text 50"/>
          <p:cNvSpPr txBox="1"/>
          <p:nvPr/>
        </p:nvSpPr>
        <p:spPr>
          <a:xfrm>
            <a:off x="7360920" y="4965192"/>
            <a:ext cx="1417320" cy="41148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bg1"/>
                </a:solidFill>
                <a:latin typeface="Consolas" pitchFamily="34" charset="0"/>
                <a:ea typeface="Consolas" pitchFamily="34" charset="-122"/>
                <a:cs typeface="Consolas" pitchFamily="34" charset="-120"/>
              </a:rPr>
              <a:t>1</a:t>
            </a:r>
            <a:endParaRPr lang="en-US" sz="2200" dirty="0"/>
          </a:p>
        </p:txBody>
      </p:sp>
      <p:sp>
        <p:nvSpPr>
          <p:cNvPr id="54" name="Text 51"/>
          <p:cNvSpPr txBox="1"/>
          <p:nvPr/>
        </p:nvSpPr>
        <p:spPr>
          <a:xfrm>
            <a:off x="7406640" y="5422392"/>
            <a:ext cx="1325880" cy="411480"/>
          </a:xfrm>
          <a:prstGeom prst="rect">
            <a:avLst/>
          </a:prstGeom>
          <a:noFill/>
          <a:ln/>
        </p:spPr>
        <p:txBody>
          <a:bodyPr wrap="square" lIns="0" tIns="0" rIns="0" bIns="0" rtlCol="0" anchor="t"/>
          <a:lstStyle/>
          <a:p>
            <a:pPr algn="ctr" indent="0" marL="0">
              <a:lnSpc>
                <a:spcPct val="110000"/>
              </a:lnSpc>
              <a:spcAft>
                <a:spcPts val="400"/>
              </a:spcAft>
              <a:buNone/>
            </a:pPr>
            <a:r>
              <a:rPr lang="en-US" sz="950" dirty="0">
                <a:solidFill>
                  <a:schemeClr val="bg2"/>
                </a:solidFill>
              </a:rPr>
              <a:t>Sigmoide</a:t>
            </a:r>
            <a:endParaRPr lang="en-US" sz="950" dirty="0"/>
          </a:p>
        </p:txBody>
      </p:sp>
      <p:sp>
        <p:nvSpPr>
          <p:cNvPr id="55" name="Text 52"/>
          <p:cNvSpPr txBox="1"/>
          <p:nvPr/>
        </p:nvSpPr>
        <p:spPr>
          <a:xfrm>
            <a:off x="9098280" y="4663440"/>
            <a:ext cx="2377440" cy="13258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Misma forma que la Red 1, pero con más dropout (20 %), paso de aprendizaje de 0,001 y semilla 2026. Sus sesgos de la capa 1 quedaron entre −0,38 y 0,08.</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Técnicas para evitar la memorización</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Con miles de pesos, una red puede terminar aprendiéndose de memoria los clientes de entrenamiento en lugar de reglas generales. Para evitarlo se usaron cuatro técnicas:</a:t>
            </a:r>
            <a:endParaRPr lang="en-US" sz="1500" dirty="0"/>
          </a:p>
        </p:txBody>
      </p:sp>
      <p:sp>
        <p:nvSpPr>
          <p:cNvPr id="5" name="Shape 2"/>
          <p:cNvSpPr/>
          <p:nvPr/>
        </p:nvSpPr>
        <p:spPr>
          <a:xfrm>
            <a:off x="548640" y="1920240"/>
            <a:ext cx="5449824" cy="1965960"/>
          </a:xfrm>
          <a:prstGeom prst="roundRect">
            <a:avLst>
              <a:gd name="adj" fmla="val 6512"/>
            </a:avLst>
          </a:prstGeom>
          <a:solidFill>
            <a:schemeClr val="tx2">
              <a:alpha val="92000"/>
            </a:schemeClr>
          </a:solidFill>
          <a:ln w="12700">
            <a:solidFill>
              <a:srgbClr val="1E293B"/>
            </a:solidFill>
            <a:prstDash val="solid"/>
          </a:ln>
        </p:spPr>
      </p:sp>
      <p:sp>
        <p:nvSpPr>
          <p:cNvPr id="6" name="Text 3"/>
          <p:cNvSpPr txBox="1"/>
          <p:nvPr/>
        </p:nvSpPr>
        <p:spPr>
          <a:xfrm>
            <a:off x="822960" y="2121408"/>
            <a:ext cx="4937760" cy="365760"/>
          </a:xfrm>
          <a:prstGeom prst="rect">
            <a:avLst/>
          </a:prstGeom>
          <a:noFill/>
          <a:ln/>
        </p:spPr>
        <p:txBody>
          <a:bodyPr wrap="square" lIns="0" tIns="0" rIns="0" bIns="0" rtlCol="0" anchor="t"/>
          <a:lstStyle/>
          <a:p>
            <a:pPr algn="l" indent="0" marL="0">
              <a:lnSpc>
                <a:spcPct val="110000"/>
              </a:lnSpc>
              <a:spcAft>
                <a:spcPts val="400"/>
              </a:spcAft>
              <a:buNone/>
            </a:pPr>
            <a:r>
              <a:rPr lang="en-US" sz="1800" b="1" dirty="0">
                <a:solidFill>
                  <a:schemeClr val="bg1"/>
                </a:solidFill>
              </a:rPr>
              <a:t>Dropout</a:t>
            </a:r>
            <a:endParaRPr lang="en-US" sz="1800" dirty="0"/>
          </a:p>
        </p:txBody>
      </p:sp>
      <p:sp>
        <p:nvSpPr>
          <p:cNvPr id="7" name="Text 4"/>
          <p:cNvSpPr txBox="1"/>
          <p:nvPr/>
        </p:nvSpPr>
        <p:spPr>
          <a:xfrm>
            <a:off x="822960" y="2542032"/>
            <a:ext cx="4937760" cy="59436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En cada paso de entrenamiento se apaga al azar el 15 % o 20 % de las neuronas.</a:t>
            </a:r>
            <a:endParaRPr lang="en-US" sz="1350" dirty="0"/>
          </a:p>
        </p:txBody>
      </p:sp>
      <p:sp>
        <p:nvSpPr>
          <p:cNvPr id="8" name="Text 5"/>
          <p:cNvSpPr txBox="1"/>
          <p:nvPr/>
        </p:nvSpPr>
        <p:spPr>
          <a:xfrm>
            <a:off x="822960" y="3154680"/>
            <a:ext cx="493776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accent2"/>
                </a:solidFill>
              </a:rPr>
              <a:t>Como estudiar en grupo donde cada día faltan compañeros distintos: todos deben entender el tema, nadie puede depender de otro.</a:t>
            </a:r>
            <a:endParaRPr lang="en-US" sz="1250" dirty="0"/>
          </a:p>
        </p:txBody>
      </p:sp>
      <p:sp>
        <p:nvSpPr>
          <p:cNvPr id="9" name="Shape 6"/>
          <p:cNvSpPr/>
          <p:nvPr/>
        </p:nvSpPr>
        <p:spPr>
          <a:xfrm>
            <a:off x="6190488" y="1920240"/>
            <a:ext cx="5449824" cy="1965960"/>
          </a:xfrm>
          <a:prstGeom prst="roundRect">
            <a:avLst>
              <a:gd name="adj" fmla="val 6512"/>
            </a:avLst>
          </a:prstGeom>
          <a:solidFill>
            <a:schemeClr val="tx2">
              <a:alpha val="92000"/>
            </a:schemeClr>
          </a:solidFill>
          <a:ln w="12700">
            <a:solidFill>
              <a:srgbClr val="1E293B"/>
            </a:solidFill>
            <a:prstDash val="solid"/>
          </a:ln>
        </p:spPr>
      </p:sp>
      <p:sp>
        <p:nvSpPr>
          <p:cNvPr id="10" name="Text 7"/>
          <p:cNvSpPr txBox="1"/>
          <p:nvPr/>
        </p:nvSpPr>
        <p:spPr>
          <a:xfrm>
            <a:off x="6464808" y="2121408"/>
            <a:ext cx="4937760" cy="365760"/>
          </a:xfrm>
          <a:prstGeom prst="rect">
            <a:avLst/>
          </a:prstGeom>
          <a:noFill/>
          <a:ln/>
        </p:spPr>
        <p:txBody>
          <a:bodyPr wrap="square" lIns="0" tIns="0" rIns="0" bIns="0" rtlCol="0" anchor="t"/>
          <a:lstStyle/>
          <a:p>
            <a:pPr algn="l" indent="0" marL="0">
              <a:lnSpc>
                <a:spcPct val="110000"/>
              </a:lnSpc>
              <a:spcAft>
                <a:spcPts val="400"/>
              </a:spcAft>
              <a:buNone/>
            </a:pPr>
            <a:r>
              <a:rPr lang="en-US" sz="1800" b="1" dirty="0">
                <a:solidFill>
                  <a:schemeClr val="bg1"/>
                </a:solidFill>
              </a:rPr>
              <a:t>Early Stopping (parada temprana)</a:t>
            </a:r>
            <a:endParaRPr lang="en-US" sz="1800" dirty="0"/>
          </a:p>
        </p:txBody>
      </p:sp>
      <p:sp>
        <p:nvSpPr>
          <p:cNvPr id="11" name="Text 8"/>
          <p:cNvSpPr txBox="1"/>
          <p:nvPr/>
        </p:nvSpPr>
        <p:spPr>
          <a:xfrm>
            <a:off x="6464808" y="2542032"/>
            <a:ext cx="4937760" cy="59436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Si en 12 épocas seguidas no mejora en validación, el entrenamiento se detiene y se recupera la mejor versión.</a:t>
            </a:r>
            <a:endParaRPr lang="en-US" sz="1350" dirty="0"/>
          </a:p>
        </p:txBody>
      </p:sp>
      <p:sp>
        <p:nvSpPr>
          <p:cNvPr id="12" name="Text 9"/>
          <p:cNvSpPr txBox="1"/>
          <p:nvPr/>
        </p:nvSpPr>
        <p:spPr>
          <a:xfrm>
            <a:off x="6464808" y="3154680"/>
            <a:ext cx="493776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accent2"/>
                </a:solidFill>
              </a:rPr>
              <a:t>Como dejar de estudiar cuando los simulacros ya no suben, en vez de repetir hasta aprenderse las respuestas.</a:t>
            </a:r>
            <a:endParaRPr lang="en-US" sz="1250" dirty="0"/>
          </a:p>
        </p:txBody>
      </p:sp>
      <p:sp>
        <p:nvSpPr>
          <p:cNvPr id="13" name="Shape 10"/>
          <p:cNvSpPr/>
          <p:nvPr/>
        </p:nvSpPr>
        <p:spPr>
          <a:xfrm>
            <a:off x="548640" y="4069080"/>
            <a:ext cx="5449824" cy="1965960"/>
          </a:xfrm>
          <a:prstGeom prst="roundRect">
            <a:avLst>
              <a:gd name="adj" fmla="val 6512"/>
            </a:avLst>
          </a:prstGeom>
          <a:solidFill>
            <a:schemeClr val="tx2">
              <a:alpha val="92000"/>
            </a:schemeClr>
          </a:solidFill>
          <a:ln w="12700">
            <a:solidFill>
              <a:srgbClr val="1E293B"/>
            </a:solidFill>
            <a:prstDash val="solid"/>
          </a:ln>
        </p:spPr>
      </p:sp>
      <p:sp>
        <p:nvSpPr>
          <p:cNvPr id="14" name="Text 11"/>
          <p:cNvSpPr txBox="1"/>
          <p:nvPr/>
        </p:nvSpPr>
        <p:spPr>
          <a:xfrm>
            <a:off x="822960" y="4270248"/>
            <a:ext cx="4937760" cy="365760"/>
          </a:xfrm>
          <a:prstGeom prst="rect">
            <a:avLst/>
          </a:prstGeom>
          <a:noFill/>
          <a:ln/>
        </p:spPr>
        <p:txBody>
          <a:bodyPr wrap="square" lIns="0" tIns="0" rIns="0" bIns="0" rtlCol="0" anchor="t"/>
          <a:lstStyle/>
          <a:p>
            <a:pPr algn="l" indent="0" marL="0">
              <a:lnSpc>
                <a:spcPct val="110000"/>
              </a:lnSpc>
              <a:spcAft>
                <a:spcPts val="400"/>
              </a:spcAft>
              <a:buNone/>
            </a:pPr>
            <a:r>
              <a:rPr lang="en-US" sz="1800" b="1" dirty="0">
                <a:solidFill>
                  <a:schemeClr val="bg1"/>
                </a:solidFill>
              </a:rPr>
              <a:t>Reducción del paso de aprendizaje</a:t>
            </a:r>
            <a:endParaRPr lang="en-US" sz="1800" dirty="0"/>
          </a:p>
        </p:txBody>
      </p:sp>
      <p:sp>
        <p:nvSpPr>
          <p:cNvPr id="15" name="Text 12"/>
          <p:cNvSpPr txBox="1"/>
          <p:nvPr/>
        </p:nvSpPr>
        <p:spPr>
          <a:xfrm>
            <a:off x="822960" y="4690872"/>
            <a:ext cx="4937760" cy="59436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Si la validación se estanca 5 épocas, el tamaño de cada corrección se reduce a la mitad.</a:t>
            </a:r>
            <a:endParaRPr lang="en-US" sz="1350" dirty="0"/>
          </a:p>
        </p:txBody>
      </p:sp>
      <p:sp>
        <p:nvSpPr>
          <p:cNvPr id="16" name="Text 13"/>
          <p:cNvSpPr txBox="1"/>
          <p:nvPr/>
        </p:nvSpPr>
        <p:spPr>
          <a:xfrm>
            <a:off x="822960" y="5303520"/>
            <a:ext cx="493776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accent2"/>
                </a:solidFill>
              </a:rPr>
              <a:t>Cuando se está cerca de la meta, se camina con pasos más cortos y cuidadosos.</a:t>
            </a:r>
            <a:endParaRPr lang="en-US" sz="1250" dirty="0"/>
          </a:p>
        </p:txBody>
      </p:sp>
      <p:sp>
        <p:nvSpPr>
          <p:cNvPr id="17" name="Shape 14"/>
          <p:cNvSpPr/>
          <p:nvPr/>
        </p:nvSpPr>
        <p:spPr>
          <a:xfrm>
            <a:off x="6190488" y="4069080"/>
            <a:ext cx="5449824" cy="1965960"/>
          </a:xfrm>
          <a:prstGeom prst="roundRect">
            <a:avLst>
              <a:gd name="adj" fmla="val 6512"/>
            </a:avLst>
          </a:prstGeom>
          <a:solidFill>
            <a:schemeClr val="tx2">
              <a:alpha val="92000"/>
            </a:schemeClr>
          </a:solidFill>
          <a:ln w="12700">
            <a:solidFill>
              <a:srgbClr val="1E293B"/>
            </a:solidFill>
            <a:prstDash val="solid"/>
          </a:ln>
        </p:spPr>
      </p:sp>
      <p:sp>
        <p:nvSpPr>
          <p:cNvPr id="18" name="Text 15"/>
          <p:cNvSpPr txBox="1"/>
          <p:nvPr/>
        </p:nvSpPr>
        <p:spPr>
          <a:xfrm>
            <a:off x="6464808" y="4270248"/>
            <a:ext cx="4937760" cy="365760"/>
          </a:xfrm>
          <a:prstGeom prst="rect">
            <a:avLst/>
          </a:prstGeom>
          <a:noFill/>
          <a:ln/>
        </p:spPr>
        <p:txBody>
          <a:bodyPr wrap="square" lIns="0" tIns="0" rIns="0" bIns="0" rtlCol="0" anchor="t"/>
          <a:lstStyle/>
          <a:p>
            <a:pPr algn="l" indent="0" marL="0">
              <a:lnSpc>
                <a:spcPct val="110000"/>
              </a:lnSpc>
              <a:spcAft>
                <a:spcPts val="400"/>
              </a:spcAft>
              <a:buNone/>
            </a:pPr>
            <a:r>
              <a:rPr lang="en-US" sz="1800" b="1" dirty="0">
                <a:solidFill>
                  <a:schemeClr val="bg1"/>
                </a:solidFill>
              </a:rPr>
              <a:t>Red compacta</a:t>
            </a:r>
            <a:endParaRPr lang="en-US" sz="1800" dirty="0"/>
          </a:p>
        </p:txBody>
      </p:sp>
      <p:sp>
        <p:nvSpPr>
          <p:cNvPr id="19" name="Text 16"/>
          <p:cNvSpPr txBox="1"/>
          <p:nvPr/>
        </p:nvSpPr>
        <p:spPr>
          <a:xfrm>
            <a:off x="6464808" y="4690872"/>
            <a:ext cx="4937760" cy="59436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Entre 1.985 y 5.505 pesos por red para 34.755 clientes (de 7 a 17 clientes por peso).</a:t>
            </a:r>
            <a:endParaRPr lang="en-US" sz="1350" dirty="0"/>
          </a:p>
        </p:txBody>
      </p:sp>
      <p:sp>
        <p:nvSpPr>
          <p:cNvPr id="20" name="Text 17"/>
          <p:cNvSpPr txBox="1"/>
          <p:nvPr/>
        </p:nvSpPr>
        <p:spPr>
          <a:xfrm>
            <a:off x="6464808" y="5303520"/>
            <a:ext cx="493776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accent2"/>
                </a:solidFill>
              </a:rPr>
              <a:t>Con poca «memoria» disponible, a la red le toca encontrar reglas generales.</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Ensamble de tres redes neuronales</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El modelo final no es una sola red. Son tres redes diferentes que evalúan al mismo cliente por separado; luego se promedian sus tres probabilidades y con ese promedio se toma la decisión. Funciona como un comité de tres evaluadores.</a:t>
            </a:r>
            <a:endParaRPr lang="en-US" sz="1500" dirty="0"/>
          </a:p>
        </p:txBody>
      </p:sp>
      <p:sp>
        <p:nvSpPr>
          <p:cNvPr id="5" name="Shape 2"/>
          <p:cNvSpPr/>
          <p:nvPr/>
        </p:nvSpPr>
        <p:spPr>
          <a:xfrm>
            <a:off x="548640" y="3291840"/>
            <a:ext cx="1737360" cy="1188720"/>
          </a:xfrm>
          <a:prstGeom prst="roundRect">
            <a:avLst>
              <a:gd name="adj" fmla="val 10769"/>
            </a:avLst>
          </a:prstGeom>
          <a:solidFill>
            <a:srgbClr val="1E293B"/>
          </a:solidFill>
          <a:ln w="12700">
            <a:solidFill>
              <a:srgbClr val="1E293B"/>
            </a:solidFill>
            <a:prstDash val="solid"/>
          </a:ln>
        </p:spPr>
      </p:sp>
      <p:sp>
        <p:nvSpPr>
          <p:cNvPr id="6" name="Text 3"/>
          <p:cNvSpPr txBox="1"/>
          <p:nvPr/>
        </p:nvSpPr>
        <p:spPr>
          <a:xfrm>
            <a:off x="548640" y="3291840"/>
            <a:ext cx="1737360" cy="118872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Cliente</a:t>
            </a:r>
            <a:endParaRPr lang="en-US" sz="1400" dirty="0"/>
          </a:p>
          <a:p>
            <a:pPr algn="ctr" indent="0" marL="0">
              <a:lnSpc>
                <a:spcPct val="110000"/>
              </a:lnSpc>
              <a:spcAft>
                <a:spcPts val="400"/>
              </a:spcAft>
              <a:buNone/>
            </a:pPr>
            <a:r>
              <a:rPr lang="en-US" sz="1400" b="1" dirty="0">
                <a:solidFill>
                  <a:schemeClr val="bg1"/>
                </a:solidFill>
              </a:rPr>
              <a:t>44 números</a:t>
            </a:r>
            <a:endParaRPr lang="en-US" sz="1400" dirty="0"/>
          </a:p>
        </p:txBody>
      </p:sp>
      <p:sp>
        <p:nvSpPr>
          <p:cNvPr id="7" name="Shape 4"/>
          <p:cNvSpPr/>
          <p:nvPr/>
        </p:nvSpPr>
        <p:spPr>
          <a:xfrm flipV="1">
            <a:off x="2286000" y="2606040"/>
            <a:ext cx="731520" cy="1280160"/>
          </a:xfrm>
          <a:prstGeom prst="line">
            <a:avLst/>
          </a:prstGeom>
          <a:noFill/>
          <a:ln w="15875">
            <a:solidFill>
              <a:srgbClr val="475569"/>
            </a:solidFill>
            <a:prstDash val="solid"/>
            <a:tailEnd type="triangle"/>
          </a:ln>
        </p:spPr>
      </p:sp>
      <p:sp>
        <p:nvSpPr>
          <p:cNvPr id="8" name="Shape 5"/>
          <p:cNvSpPr/>
          <p:nvPr/>
        </p:nvSpPr>
        <p:spPr>
          <a:xfrm>
            <a:off x="3017520" y="2057400"/>
            <a:ext cx="3840480" cy="1097280"/>
          </a:xfrm>
          <a:prstGeom prst="roundRect">
            <a:avLst>
              <a:gd name="adj" fmla="val 11667"/>
            </a:avLst>
          </a:prstGeom>
          <a:solidFill>
            <a:schemeClr val="tx2">
              <a:alpha val="92000"/>
            </a:schemeClr>
          </a:solidFill>
          <a:ln w="15875">
            <a:solidFill>
              <a:srgbClr val="3B82F6"/>
            </a:solidFill>
            <a:prstDash val="solid"/>
          </a:ln>
        </p:spPr>
      </p:sp>
      <p:sp>
        <p:nvSpPr>
          <p:cNvPr id="9" name="Text 6"/>
          <p:cNvSpPr txBox="1"/>
          <p:nvPr/>
        </p:nvSpPr>
        <p:spPr>
          <a:xfrm>
            <a:off x="3246120" y="2167128"/>
            <a:ext cx="274320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Red 1 · ReLU</a:t>
            </a:r>
            <a:endParaRPr lang="en-US" sz="1500" dirty="0"/>
          </a:p>
        </p:txBody>
      </p:sp>
      <p:sp>
        <p:nvSpPr>
          <p:cNvPr id="10" name="Text 7"/>
          <p:cNvSpPr txBox="1"/>
          <p:nvPr/>
        </p:nvSpPr>
        <p:spPr>
          <a:xfrm>
            <a:off x="6126480" y="2167128"/>
            <a:ext cx="548640" cy="320040"/>
          </a:xfrm>
          <a:prstGeom prst="rect">
            <a:avLst/>
          </a:prstGeom>
          <a:noFill/>
          <a:ln/>
        </p:spPr>
        <p:txBody>
          <a:bodyPr wrap="square" lIns="0" tIns="0" rIns="0" bIns="0" rtlCol="0" anchor="t"/>
          <a:lstStyle/>
          <a:p>
            <a:pPr algn="r" indent="0" marL="0">
              <a:lnSpc>
                <a:spcPct val="110000"/>
              </a:lnSpc>
              <a:spcAft>
                <a:spcPts val="400"/>
              </a:spcAft>
              <a:buNone/>
            </a:pPr>
            <a:r>
              <a:rPr lang="en-US" sz="1400" b="1" dirty="0">
                <a:solidFill>
                  <a:srgbClr val="3B82F6"/>
                </a:solidFill>
                <a:latin typeface="Consolas" pitchFamily="34" charset="0"/>
                <a:ea typeface="Consolas" pitchFamily="34" charset="-122"/>
                <a:cs typeface="Consolas" pitchFamily="34" charset="-120"/>
              </a:rPr>
              <a:t>p1</a:t>
            </a:r>
            <a:endParaRPr lang="en-US" sz="1400" dirty="0"/>
          </a:p>
        </p:txBody>
      </p:sp>
      <p:sp>
        <p:nvSpPr>
          <p:cNvPr id="11" name="Text 8"/>
          <p:cNvSpPr txBox="1"/>
          <p:nvPr/>
        </p:nvSpPr>
        <p:spPr>
          <a:xfrm>
            <a:off x="3246120" y="2496312"/>
            <a:ext cx="3474720" cy="2743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64 → 32 → 16 neuronas</a:t>
            </a:r>
            <a:endParaRPr lang="en-US" sz="1250" dirty="0"/>
          </a:p>
        </p:txBody>
      </p:sp>
      <p:sp>
        <p:nvSpPr>
          <p:cNvPr id="12" name="Text 9"/>
          <p:cNvSpPr txBox="1"/>
          <p:nvPr/>
        </p:nvSpPr>
        <p:spPr>
          <a:xfrm>
            <a:off x="3246120" y="2788920"/>
            <a:ext cx="347472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latin typeface="Consolas" pitchFamily="34" charset="0"/>
                <a:ea typeface="Consolas" pitchFamily="34" charset="-122"/>
                <a:cs typeface="Consolas" pitchFamily="34" charset="-120"/>
              </a:rPr>
              <a:t>Dropout 15 % · semilla 42</a:t>
            </a:r>
            <a:endParaRPr lang="en-US" sz="1100" dirty="0"/>
          </a:p>
        </p:txBody>
      </p:sp>
      <p:sp>
        <p:nvSpPr>
          <p:cNvPr id="13" name="Shape 10"/>
          <p:cNvSpPr/>
          <p:nvPr/>
        </p:nvSpPr>
        <p:spPr>
          <a:xfrm>
            <a:off x="6858000" y="2606040"/>
            <a:ext cx="685800" cy="1280160"/>
          </a:xfrm>
          <a:prstGeom prst="line">
            <a:avLst/>
          </a:prstGeom>
          <a:noFill/>
          <a:ln w="15875">
            <a:solidFill>
              <a:srgbClr val="475569"/>
            </a:solidFill>
            <a:prstDash val="solid"/>
            <a:tailEnd type="triangle"/>
          </a:ln>
        </p:spPr>
      </p:sp>
      <p:sp>
        <p:nvSpPr>
          <p:cNvPr id="14" name="Shape 11"/>
          <p:cNvSpPr/>
          <p:nvPr/>
        </p:nvSpPr>
        <p:spPr>
          <a:xfrm>
            <a:off x="2286000" y="3886200"/>
            <a:ext cx="731520" cy="91440"/>
          </a:xfrm>
          <a:prstGeom prst="line">
            <a:avLst/>
          </a:prstGeom>
          <a:noFill/>
          <a:ln w="15875">
            <a:solidFill>
              <a:srgbClr val="475569"/>
            </a:solidFill>
            <a:prstDash val="solid"/>
            <a:tailEnd type="triangle"/>
          </a:ln>
        </p:spPr>
      </p:sp>
      <p:sp>
        <p:nvSpPr>
          <p:cNvPr id="15" name="Shape 12"/>
          <p:cNvSpPr/>
          <p:nvPr/>
        </p:nvSpPr>
        <p:spPr>
          <a:xfrm>
            <a:off x="3017520" y="3429000"/>
            <a:ext cx="3840480" cy="1097280"/>
          </a:xfrm>
          <a:prstGeom prst="roundRect">
            <a:avLst>
              <a:gd name="adj" fmla="val 11667"/>
            </a:avLst>
          </a:prstGeom>
          <a:solidFill>
            <a:schemeClr val="tx2">
              <a:alpha val="92000"/>
            </a:schemeClr>
          </a:solidFill>
          <a:ln w="15875">
            <a:solidFill>
              <a:srgbClr val="38BDF8"/>
            </a:solidFill>
            <a:prstDash val="solid"/>
          </a:ln>
        </p:spPr>
      </p:sp>
      <p:sp>
        <p:nvSpPr>
          <p:cNvPr id="16" name="Text 13"/>
          <p:cNvSpPr txBox="1"/>
          <p:nvPr/>
        </p:nvSpPr>
        <p:spPr>
          <a:xfrm>
            <a:off x="3246120" y="3538728"/>
            <a:ext cx="274320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Red 2 · LeakyReLU</a:t>
            </a:r>
            <a:endParaRPr lang="en-US" sz="1500" dirty="0"/>
          </a:p>
        </p:txBody>
      </p:sp>
      <p:sp>
        <p:nvSpPr>
          <p:cNvPr id="17" name="Text 14"/>
          <p:cNvSpPr txBox="1"/>
          <p:nvPr/>
        </p:nvSpPr>
        <p:spPr>
          <a:xfrm>
            <a:off x="6126480" y="3538728"/>
            <a:ext cx="548640" cy="320040"/>
          </a:xfrm>
          <a:prstGeom prst="rect">
            <a:avLst/>
          </a:prstGeom>
          <a:noFill/>
          <a:ln/>
        </p:spPr>
        <p:txBody>
          <a:bodyPr wrap="square" lIns="0" tIns="0" rIns="0" bIns="0" rtlCol="0" anchor="t"/>
          <a:lstStyle/>
          <a:p>
            <a:pPr algn="r" indent="0" marL="0">
              <a:lnSpc>
                <a:spcPct val="110000"/>
              </a:lnSpc>
              <a:spcAft>
                <a:spcPts val="400"/>
              </a:spcAft>
              <a:buNone/>
            </a:pPr>
            <a:r>
              <a:rPr lang="en-US" sz="1400" b="1" dirty="0">
                <a:solidFill>
                  <a:srgbClr val="38BDF8"/>
                </a:solidFill>
                <a:latin typeface="Consolas" pitchFamily="34" charset="0"/>
                <a:ea typeface="Consolas" pitchFamily="34" charset="-122"/>
                <a:cs typeface="Consolas" pitchFamily="34" charset="-120"/>
              </a:rPr>
              <a:t>p2</a:t>
            </a:r>
            <a:endParaRPr lang="en-US" sz="1400" dirty="0"/>
          </a:p>
        </p:txBody>
      </p:sp>
      <p:sp>
        <p:nvSpPr>
          <p:cNvPr id="18" name="Text 15"/>
          <p:cNvSpPr txBox="1"/>
          <p:nvPr/>
        </p:nvSpPr>
        <p:spPr>
          <a:xfrm>
            <a:off x="3246120" y="3867912"/>
            <a:ext cx="3474720" cy="2743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32 → 16 neuronas (la más pequeña)</a:t>
            </a:r>
            <a:endParaRPr lang="en-US" sz="1250" dirty="0"/>
          </a:p>
        </p:txBody>
      </p:sp>
      <p:sp>
        <p:nvSpPr>
          <p:cNvPr id="19" name="Text 16"/>
          <p:cNvSpPr txBox="1"/>
          <p:nvPr/>
        </p:nvSpPr>
        <p:spPr>
          <a:xfrm>
            <a:off x="3246120" y="4160520"/>
            <a:ext cx="347472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latin typeface="Consolas" pitchFamily="34" charset="0"/>
                <a:ea typeface="Consolas" pitchFamily="34" charset="-122"/>
                <a:cs typeface="Consolas" pitchFamily="34" charset="-120"/>
              </a:rPr>
              <a:t>Dropout 15 % · semilla 42</a:t>
            </a:r>
            <a:endParaRPr lang="en-US" sz="1100" dirty="0"/>
          </a:p>
        </p:txBody>
      </p:sp>
      <p:sp>
        <p:nvSpPr>
          <p:cNvPr id="20" name="Shape 17"/>
          <p:cNvSpPr/>
          <p:nvPr/>
        </p:nvSpPr>
        <p:spPr>
          <a:xfrm flipV="1">
            <a:off x="6858000" y="3886200"/>
            <a:ext cx="685800" cy="91440"/>
          </a:xfrm>
          <a:prstGeom prst="line">
            <a:avLst/>
          </a:prstGeom>
          <a:noFill/>
          <a:ln w="15875">
            <a:solidFill>
              <a:srgbClr val="475569"/>
            </a:solidFill>
            <a:prstDash val="solid"/>
            <a:tailEnd type="triangle"/>
          </a:ln>
        </p:spPr>
      </p:sp>
      <p:sp>
        <p:nvSpPr>
          <p:cNvPr id="21" name="Shape 18"/>
          <p:cNvSpPr/>
          <p:nvPr/>
        </p:nvSpPr>
        <p:spPr>
          <a:xfrm>
            <a:off x="2286000" y="3886200"/>
            <a:ext cx="731520" cy="1463040"/>
          </a:xfrm>
          <a:prstGeom prst="line">
            <a:avLst/>
          </a:prstGeom>
          <a:noFill/>
          <a:ln w="15875">
            <a:solidFill>
              <a:srgbClr val="475569"/>
            </a:solidFill>
            <a:prstDash val="solid"/>
            <a:tailEnd type="triangle"/>
          </a:ln>
        </p:spPr>
      </p:sp>
      <p:sp>
        <p:nvSpPr>
          <p:cNvPr id="22" name="Shape 19"/>
          <p:cNvSpPr/>
          <p:nvPr/>
        </p:nvSpPr>
        <p:spPr>
          <a:xfrm>
            <a:off x="3017520" y="4800600"/>
            <a:ext cx="3840480" cy="1097280"/>
          </a:xfrm>
          <a:prstGeom prst="roundRect">
            <a:avLst>
              <a:gd name="adj" fmla="val 11667"/>
            </a:avLst>
          </a:prstGeom>
          <a:solidFill>
            <a:schemeClr val="tx2">
              <a:alpha val="92000"/>
            </a:schemeClr>
          </a:solidFill>
          <a:ln w="15875">
            <a:solidFill>
              <a:srgbClr val="818CF8"/>
            </a:solidFill>
            <a:prstDash val="solid"/>
          </a:ln>
        </p:spPr>
      </p:sp>
      <p:sp>
        <p:nvSpPr>
          <p:cNvPr id="23" name="Text 20"/>
          <p:cNvSpPr txBox="1"/>
          <p:nvPr/>
        </p:nvSpPr>
        <p:spPr>
          <a:xfrm>
            <a:off x="3246120" y="4910328"/>
            <a:ext cx="274320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Red 3 · ReLU</a:t>
            </a:r>
            <a:endParaRPr lang="en-US" sz="1500" dirty="0"/>
          </a:p>
        </p:txBody>
      </p:sp>
      <p:sp>
        <p:nvSpPr>
          <p:cNvPr id="24" name="Text 21"/>
          <p:cNvSpPr txBox="1"/>
          <p:nvPr/>
        </p:nvSpPr>
        <p:spPr>
          <a:xfrm>
            <a:off x="6126480" y="4910328"/>
            <a:ext cx="548640" cy="320040"/>
          </a:xfrm>
          <a:prstGeom prst="rect">
            <a:avLst/>
          </a:prstGeom>
          <a:noFill/>
          <a:ln/>
        </p:spPr>
        <p:txBody>
          <a:bodyPr wrap="square" lIns="0" tIns="0" rIns="0" bIns="0" rtlCol="0" anchor="t"/>
          <a:lstStyle/>
          <a:p>
            <a:pPr algn="r" indent="0" marL="0">
              <a:lnSpc>
                <a:spcPct val="110000"/>
              </a:lnSpc>
              <a:spcAft>
                <a:spcPts val="400"/>
              </a:spcAft>
              <a:buNone/>
            </a:pPr>
            <a:r>
              <a:rPr lang="en-US" sz="1400" b="1" dirty="0">
                <a:solidFill>
                  <a:srgbClr val="818CF8"/>
                </a:solidFill>
                <a:latin typeface="Consolas" pitchFamily="34" charset="0"/>
                <a:ea typeface="Consolas" pitchFamily="34" charset="-122"/>
                <a:cs typeface="Consolas" pitchFamily="34" charset="-120"/>
              </a:rPr>
              <a:t>p3</a:t>
            </a:r>
            <a:endParaRPr lang="en-US" sz="1400" dirty="0"/>
          </a:p>
        </p:txBody>
      </p:sp>
      <p:sp>
        <p:nvSpPr>
          <p:cNvPr id="25" name="Text 22"/>
          <p:cNvSpPr txBox="1"/>
          <p:nvPr/>
        </p:nvSpPr>
        <p:spPr>
          <a:xfrm>
            <a:off x="3246120" y="5239512"/>
            <a:ext cx="3474720" cy="2743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64 → 32 → 16 neuronas</a:t>
            </a:r>
            <a:endParaRPr lang="en-US" sz="1250" dirty="0"/>
          </a:p>
        </p:txBody>
      </p:sp>
      <p:sp>
        <p:nvSpPr>
          <p:cNvPr id="26" name="Text 23"/>
          <p:cNvSpPr txBox="1"/>
          <p:nvPr/>
        </p:nvSpPr>
        <p:spPr>
          <a:xfrm>
            <a:off x="3246120" y="5532120"/>
            <a:ext cx="347472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latin typeface="Consolas" pitchFamily="34" charset="0"/>
                <a:ea typeface="Consolas" pitchFamily="34" charset="-122"/>
                <a:cs typeface="Consolas" pitchFamily="34" charset="-120"/>
              </a:rPr>
              <a:t>Dropout 20 % · paso mayor · semilla 2026</a:t>
            </a:r>
            <a:endParaRPr lang="en-US" sz="1100" dirty="0"/>
          </a:p>
        </p:txBody>
      </p:sp>
      <p:sp>
        <p:nvSpPr>
          <p:cNvPr id="27" name="Shape 24"/>
          <p:cNvSpPr/>
          <p:nvPr/>
        </p:nvSpPr>
        <p:spPr>
          <a:xfrm flipV="1">
            <a:off x="6858000" y="3886200"/>
            <a:ext cx="685800" cy="1463040"/>
          </a:xfrm>
          <a:prstGeom prst="line">
            <a:avLst/>
          </a:prstGeom>
          <a:noFill/>
          <a:ln w="15875">
            <a:solidFill>
              <a:srgbClr val="475569"/>
            </a:solidFill>
            <a:prstDash val="solid"/>
            <a:tailEnd type="triangle"/>
          </a:ln>
        </p:spPr>
      </p:sp>
      <p:sp>
        <p:nvSpPr>
          <p:cNvPr id="28" name="Shape 25"/>
          <p:cNvSpPr/>
          <p:nvPr/>
        </p:nvSpPr>
        <p:spPr>
          <a:xfrm>
            <a:off x="7543800" y="3200400"/>
            <a:ext cx="1737360" cy="1371600"/>
          </a:xfrm>
          <a:prstGeom prst="roundRect">
            <a:avLst>
              <a:gd name="adj" fmla="val 9333"/>
            </a:avLst>
          </a:prstGeom>
          <a:solidFill>
            <a:srgbClr val="065F46">
              <a:alpha val="70000"/>
            </a:srgbClr>
          </a:solidFill>
          <a:ln w="12700">
            <a:solidFill>
              <a:srgbClr val="34D399"/>
            </a:solidFill>
            <a:prstDash val="solid"/>
          </a:ln>
        </p:spPr>
      </p:sp>
      <p:sp>
        <p:nvSpPr>
          <p:cNvPr id="29" name="Text 26"/>
          <p:cNvSpPr txBox="1"/>
          <p:nvPr/>
        </p:nvSpPr>
        <p:spPr>
          <a:xfrm>
            <a:off x="7543800" y="3200400"/>
            <a:ext cx="1737360" cy="1371600"/>
          </a:xfrm>
          <a:prstGeom prst="rect">
            <a:avLst/>
          </a:prstGeom>
          <a:noFill/>
          <a:ln/>
        </p:spPr>
        <p:txBody>
          <a:bodyPr wrap="square" lIns="0" tIns="0" rIns="0" bIns="0" rtlCol="0" anchor="ctr"/>
          <a:lstStyle/>
          <a:p>
            <a:pPr algn="ctr" indent="0" marL="0">
              <a:lnSpc>
                <a:spcPct val="110000"/>
              </a:lnSpc>
              <a:spcAft>
                <a:spcPts val="400"/>
              </a:spcAft>
              <a:buNone/>
            </a:pPr>
            <a:r>
              <a:rPr lang="en-US" sz="1350" b="1" dirty="0">
                <a:solidFill>
                  <a:schemeClr val="bg1"/>
                </a:solidFill>
              </a:rPr>
              <a:t>Promedio</a:t>
            </a:r>
            <a:endParaRPr lang="en-US" sz="1350" dirty="0"/>
          </a:p>
          <a:p>
            <a:pPr algn="ctr" indent="0" marL="0">
              <a:lnSpc>
                <a:spcPct val="110000"/>
              </a:lnSpc>
              <a:spcAft>
                <a:spcPts val="400"/>
              </a:spcAft>
              <a:buNone/>
            </a:pPr>
            <a:r>
              <a:rPr lang="en-US" sz="1350" b="1" dirty="0">
                <a:solidFill>
                  <a:schemeClr val="bg1"/>
                </a:solidFill>
              </a:rPr>
              <a:t>(p1 + p2 + p3) / 3</a:t>
            </a:r>
            <a:endParaRPr lang="en-US" sz="1350" dirty="0"/>
          </a:p>
        </p:txBody>
      </p:sp>
      <p:sp>
        <p:nvSpPr>
          <p:cNvPr id="30" name="Shape 27"/>
          <p:cNvSpPr/>
          <p:nvPr/>
        </p:nvSpPr>
        <p:spPr>
          <a:xfrm>
            <a:off x="9281160" y="3886200"/>
            <a:ext cx="411480" cy="0"/>
          </a:xfrm>
          <a:prstGeom prst="line">
            <a:avLst/>
          </a:prstGeom>
          <a:noFill/>
          <a:ln w="15875">
            <a:solidFill>
              <a:srgbClr val="475569"/>
            </a:solidFill>
            <a:prstDash val="solid"/>
            <a:tailEnd type="triangle"/>
          </a:ln>
        </p:spPr>
      </p:sp>
      <p:sp>
        <p:nvSpPr>
          <p:cNvPr id="31" name="Shape 28"/>
          <p:cNvSpPr/>
          <p:nvPr/>
        </p:nvSpPr>
        <p:spPr>
          <a:xfrm>
            <a:off x="9692640" y="3200400"/>
            <a:ext cx="1947672" cy="1371600"/>
          </a:xfrm>
          <a:prstGeom prst="roundRect">
            <a:avLst>
              <a:gd name="adj" fmla="val 9333"/>
            </a:avLst>
          </a:prstGeom>
          <a:solidFill>
            <a:srgbClr val="F8FAFC"/>
          </a:solidFill>
          <a:ln w="12700">
            <a:solidFill>
              <a:srgbClr val="F8FAFC"/>
            </a:solidFill>
            <a:prstDash val="solid"/>
          </a:ln>
        </p:spPr>
      </p:sp>
      <p:sp>
        <p:nvSpPr>
          <p:cNvPr id="32" name="Text 29"/>
          <p:cNvSpPr txBox="1"/>
          <p:nvPr/>
        </p:nvSpPr>
        <p:spPr>
          <a:xfrm>
            <a:off x="9692640" y="3200400"/>
            <a:ext cx="1947672" cy="13716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tx1"/>
                </a:solidFill>
              </a:rPr>
              <a:t>≥ 50 % → APTO</a:t>
            </a:r>
            <a:endParaRPr lang="en-US" sz="1300" dirty="0"/>
          </a:p>
          <a:p>
            <a:pPr algn="ctr" indent="0" marL="0">
              <a:lnSpc>
                <a:spcPct val="110000"/>
              </a:lnSpc>
              <a:spcAft>
                <a:spcPts val="400"/>
              </a:spcAft>
              <a:buNone/>
            </a:pPr>
            <a:r>
              <a:rPr lang="en-US" sz="1300" b="1" dirty="0">
                <a:solidFill>
                  <a:schemeClr val="tx1"/>
                </a:solidFill>
              </a:rPr>
              <a:t>&lt; 50 % → NO APTO</a:t>
            </a:r>
            <a:endParaRPr lang="en-US" sz="1300" dirty="0"/>
          </a:p>
        </p:txBody>
      </p:sp>
      <p:sp>
        <p:nvSpPr>
          <p:cNvPr id="33" name="Text 30"/>
          <p:cNvSpPr txBox="1"/>
          <p:nvPr/>
        </p:nvSpPr>
        <p:spPr>
          <a:xfrm>
            <a:off x="548640" y="5897880"/>
            <a:ext cx="10972800" cy="32004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rgbClr val="94A3B8"/>
                </a:solidFill>
              </a:rPr>
              <a:t>Cada red tiene el mismo voto (1/3). En total el ensamble suma 12.995 pesos.</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Diferencias entre las tres redes</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Las tres redes se eligieron a propósito para que fueran diferentes. Si fueran iguales, cometerían los mismos errores y promediarlas no serviría de nada.</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862072"/>
                <a:gridCol w="2743200"/>
                <a:gridCol w="2743200"/>
                <a:gridCol w="2743200"/>
              </a:tblGrid>
              <a:tr h="393192">
                <a:tc>
                  <a:txBody>
                    <a:bodyPr/>
                    <a:lstStyle/>
                    <a:p>
                      <a:pPr indent="0" marL="0">
                        <a:buNone/>
                      </a:pPr>
                      <a:r>
                        <a:rPr lang="en-US" sz="1300" b="1" dirty="0">
                          <a:solidFill>
                            <a:srgbClr val="F8FAFC"/>
                          </a:solidFill>
                          <a:latin typeface="Arial" pitchFamily="34" charset="0"/>
                          <a:ea typeface="Arial" pitchFamily="34" charset="-122"/>
                          <a:cs typeface="Arial" pitchFamily="34" charset="-120"/>
                        </a:rPr>
                        <a:t>Característica</a:t>
                      </a:r>
                      <a:endParaRPr lang="en-US" sz="130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1E3A8A"/>
                    </a:solidFill>
                  </a:tcPr>
                </a:tc>
                <a:tc>
                  <a:txBody>
                    <a:bodyPr/>
                    <a:lstStyle/>
                    <a:p>
                      <a:pPr indent="0" marL="0">
                        <a:buNone/>
                      </a:pPr>
                      <a:r>
                        <a:rPr lang="en-US" sz="1300" b="1" dirty="0">
                          <a:solidFill>
                            <a:srgbClr val="F8FAFC"/>
                          </a:solidFill>
                          <a:latin typeface="Arial" pitchFamily="34" charset="0"/>
                          <a:ea typeface="Arial" pitchFamily="34" charset="-122"/>
                          <a:cs typeface="Arial" pitchFamily="34" charset="-120"/>
                        </a:rPr>
                        <a:t>Red 1</a:t>
                      </a:r>
                      <a:endParaRPr lang="en-US" sz="130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1E3A8A"/>
                    </a:solidFill>
                  </a:tcPr>
                </a:tc>
                <a:tc>
                  <a:txBody>
                    <a:bodyPr/>
                    <a:lstStyle/>
                    <a:p>
                      <a:pPr indent="0" marL="0">
                        <a:buNone/>
                      </a:pPr>
                      <a:r>
                        <a:rPr lang="en-US" sz="1300" b="1" dirty="0">
                          <a:solidFill>
                            <a:srgbClr val="F8FAFC"/>
                          </a:solidFill>
                          <a:latin typeface="Arial" pitchFamily="34" charset="0"/>
                          <a:ea typeface="Arial" pitchFamily="34" charset="-122"/>
                          <a:cs typeface="Arial" pitchFamily="34" charset="-120"/>
                        </a:rPr>
                        <a:t>Red 2</a:t>
                      </a:r>
                      <a:endParaRPr lang="en-US" sz="130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1E3A8A"/>
                    </a:solidFill>
                  </a:tcPr>
                </a:tc>
                <a:tc>
                  <a:txBody>
                    <a:bodyPr/>
                    <a:lstStyle/>
                    <a:p>
                      <a:pPr indent="0" marL="0">
                        <a:buNone/>
                      </a:pPr>
                      <a:r>
                        <a:rPr lang="en-US" sz="1300" b="1" dirty="0">
                          <a:solidFill>
                            <a:srgbClr val="F8FAFC"/>
                          </a:solidFill>
                          <a:latin typeface="Arial" pitchFamily="34" charset="0"/>
                          <a:ea typeface="Arial" pitchFamily="34" charset="-122"/>
                          <a:cs typeface="Arial" pitchFamily="34" charset="-120"/>
                        </a:rPr>
                        <a:t>Red 3</a:t>
                      </a:r>
                      <a:endParaRPr lang="en-US" sz="130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1E3A8A"/>
                    </a:solidFill>
                  </a:tcPr>
                </a:tc>
              </a:tr>
              <a:tr h="393192">
                <a:tc>
                  <a:txBody>
                    <a:bodyPr/>
                    <a:lstStyle/>
                    <a:p>
                      <a:pPr indent="0" marL="0">
                        <a:buNone/>
                      </a:pPr>
                      <a:r>
                        <a:rPr lang="en-US" sz="1250" b="1" dirty="0">
                          <a:solidFill>
                            <a:srgbClr val="F8FAFC"/>
                          </a:solidFill>
                          <a:latin typeface="Arial" pitchFamily="34" charset="0"/>
                          <a:ea typeface="Arial" pitchFamily="34" charset="-122"/>
                          <a:cs typeface="Arial" pitchFamily="34" charset="-120"/>
                        </a:rPr>
                        <a:t>Neuronas por capa</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64 → 32 → 16</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32 → 16</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64 → 32 → 16</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r>
              <a:tr h="393192">
                <a:tc>
                  <a:txBody>
                    <a:bodyPr/>
                    <a:lstStyle/>
                    <a:p>
                      <a:pPr indent="0" marL="0">
                        <a:buNone/>
                      </a:pPr>
                      <a:r>
                        <a:rPr lang="en-US" sz="1250" b="1" dirty="0">
                          <a:solidFill>
                            <a:srgbClr val="F8FAFC"/>
                          </a:solidFill>
                          <a:latin typeface="Arial" pitchFamily="34" charset="0"/>
                          <a:ea typeface="Arial" pitchFamily="34" charset="-122"/>
                          <a:cs typeface="Arial" pitchFamily="34" charset="-120"/>
                        </a:rPr>
                        <a:t>Número de pesos</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5.505</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1.985</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5.505</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r>
              <a:tr h="393192">
                <a:tc>
                  <a:txBody>
                    <a:bodyPr/>
                    <a:lstStyle/>
                    <a:p>
                      <a:pPr indent="0" marL="0">
                        <a:buNone/>
                      </a:pPr>
                      <a:r>
                        <a:rPr lang="en-US" sz="1250" b="1" dirty="0">
                          <a:solidFill>
                            <a:srgbClr val="F8FAFC"/>
                          </a:solidFill>
                          <a:latin typeface="Arial" pitchFamily="34" charset="0"/>
                          <a:ea typeface="Arial" pitchFamily="34" charset="-122"/>
                          <a:cs typeface="Arial" pitchFamily="34" charset="-120"/>
                        </a:rPr>
                        <a:t>Función de activación</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ReLU</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LeakyReLU</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ReLU</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r>
              <a:tr h="393192">
                <a:tc>
                  <a:txBody>
                    <a:bodyPr/>
                    <a:lstStyle/>
                    <a:p>
                      <a:pPr indent="0" marL="0">
                        <a:buNone/>
                      </a:pPr>
                      <a:r>
                        <a:rPr lang="en-US" sz="1250" b="1" dirty="0">
                          <a:solidFill>
                            <a:srgbClr val="F8FAFC"/>
                          </a:solidFill>
                          <a:latin typeface="Arial" pitchFamily="34" charset="0"/>
                          <a:ea typeface="Arial" pitchFamily="34" charset="-122"/>
                          <a:cs typeface="Arial" pitchFamily="34" charset="-120"/>
                        </a:rPr>
                        <a:t>Dropout (neuronas apagadas)</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15 %</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15 %</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20 %</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r>
              <a:tr h="393192">
                <a:tc>
                  <a:txBody>
                    <a:bodyPr/>
                    <a:lstStyle/>
                    <a:p>
                      <a:pPr indent="0" marL="0">
                        <a:buNone/>
                      </a:pPr>
                      <a:r>
                        <a:rPr lang="en-US" sz="1250" b="1" dirty="0">
                          <a:solidFill>
                            <a:srgbClr val="F8FAFC"/>
                          </a:solidFill>
                          <a:latin typeface="Arial" pitchFamily="34" charset="0"/>
                          <a:ea typeface="Arial" pitchFamily="34" charset="-122"/>
                          <a:cs typeface="Arial" pitchFamily="34" charset="-120"/>
                        </a:rPr>
                        <a:t>Tamaño del paso (learning rate)</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0,0005</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0,0005</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0,001</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r>
              <a:tr h="393192">
                <a:tc>
                  <a:txBody>
                    <a:bodyPr/>
                    <a:lstStyle/>
                    <a:p>
                      <a:pPr indent="0" marL="0">
                        <a:buNone/>
                      </a:pPr>
                      <a:r>
                        <a:rPr lang="en-US" sz="1250" b="1" dirty="0">
                          <a:solidFill>
                            <a:srgbClr val="F8FAFC"/>
                          </a:solidFill>
                          <a:latin typeface="Arial" pitchFamily="34" charset="0"/>
                          <a:ea typeface="Arial" pitchFamily="34" charset="-122"/>
                          <a:cs typeface="Arial" pitchFamily="34" charset="-120"/>
                        </a:rPr>
                        <a:t>Semilla (punto de partida)</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42</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42</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2026</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r>
              <a:tr h="393192">
                <a:tc>
                  <a:txBody>
                    <a:bodyPr/>
                    <a:lstStyle/>
                    <a:p>
                      <a:pPr indent="0" marL="0">
                        <a:buNone/>
                      </a:pPr>
                      <a:r>
                        <a:rPr lang="en-US" sz="1250" b="1" dirty="0">
                          <a:solidFill>
                            <a:srgbClr val="F8FAFC"/>
                          </a:solidFill>
                          <a:latin typeface="Arial" pitchFamily="34" charset="0"/>
                          <a:ea typeface="Arial" pitchFamily="34" charset="-122"/>
                          <a:cs typeface="Arial" pitchFamily="34" charset="-120"/>
                        </a:rPr>
                        <a:t>AUC sola en validación</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0,7523</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0,7522</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0,7512</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r>
              <a:tr h="393192">
                <a:tc>
                  <a:txBody>
                    <a:bodyPr/>
                    <a:lstStyle/>
                    <a:p>
                      <a:pPr indent="0" marL="0">
                        <a:buNone/>
                      </a:pPr>
                      <a:r>
                        <a:rPr lang="en-US" sz="1250" b="1" dirty="0">
                          <a:solidFill>
                            <a:srgbClr val="F8FAFC"/>
                          </a:solidFill>
                          <a:latin typeface="Arial" pitchFamily="34" charset="0"/>
                          <a:ea typeface="Arial" pitchFamily="34" charset="-122"/>
                          <a:cs typeface="Arial" pitchFamily="34" charset="-120"/>
                        </a:rPr>
                        <a:t>Qué aporta al comité</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La base: tamaño medio y regularización suave</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Otra forma de pensar: más pequeña y otra activación</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50" dirty="0">
                          <a:solidFill>
                            <a:srgbClr val="CBD5E1"/>
                          </a:solidFill>
                          <a:latin typeface="Arial" pitchFamily="34" charset="0"/>
                          <a:ea typeface="Arial" pitchFamily="34" charset="-122"/>
                          <a:cs typeface="Arial" pitchFamily="34" charset="-120"/>
                        </a:rPr>
                        <a:t>Otro punto de partida y más dropout</a:t>
                      </a:r>
                      <a:endParaRPr lang="en-US" sz="1250" dirty="0">
                        <a:latin typeface="Arial" charset="0"/>
                        <a:ea typeface="Arial" charset="0"/>
                        <a:cs typeface="Arial" charset="0"/>
                      </a:endParaRPr>
                    </a:p>
                  </a:txBody>
                  <a:tcPr marL="109728" marR="109728" marT="64008" marB="64008" anchor="ctr">
                    <a:lnL w="9525" cap="flat" cmpd="sng" algn="ctr">
                      <a:solidFill>
                        <a:srgbClr val="1E293B"/>
                      </a:solidFill>
                      <a:prstDash val="solid"/>
                      <a:round/>
                      <a:headEnd type="none" w="med" len="med"/>
                      <a:tailEnd type="none" w="med" len="med"/>
                    </a:lnL>
                    <a:lnR w="9525" cap="flat" cmpd="sng" algn="ctr">
                      <a:solidFill>
                        <a:srgbClr val="1E293B"/>
                      </a:solidFill>
                      <a:prstDash val="solid"/>
                      <a:round/>
                      <a:headEnd type="none" w="med" len="med"/>
                      <a:tailEnd type="none" w="med" len="med"/>
                    </a:lnR>
                    <a:lnT w="9525" cap="flat" cmpd="sng" algn="ctr">
                      <a:solidFill>
                        <a:srgbClr val="1E293B"/>
                      </a:solidFill>
                      <a:prstDash val="solid"/>
                      <a:round/>
                      <a:headEnd type="none" w="med" len="med"/>
                      <a:tailEnd type="none" w="med" len="med"/>
                    </a:lnT>
                    <a:lnB w="9525" cap="flat" cmpd="sng" algn="ctr">
                      <a:solidFill>
                        <a:srgbClr val="1E293B"/>
                      </a:solidFill>
                      <a:prstDash val="solid"/>
                      <a:round/>
                      <a:headEnd type="none" w="med" len="med"/>
                      <a:tailEnd type="none" w="med" len="med"/>
                    </a:lnB>
                    <a:solidFill>
                      <a:srgbClr val="0F172A"/>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Cómo vota el ensamble</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Las tres redes coinciden en la mayoría de los clientes. La ventaja aparece en los casos dudosos: cuando una red se equivoca, las otras dos pueden corregirla.</a:t>
            </a:r>
            <a:endParaRPr lang="en-US" sz="1500" dirty="0"/>
          </a:p>
        </p:txBody>
      </p:sp>
      <p:sp>
        <p:nvSpPr>
          <p:cNvPr id="5" name="Text 2"/>
          <p:cNvSpPr txBox="1"/>
          <p:nvPr/>
        </p:nvSpPr>
        <p:spPr>
          <a:xfrm>
            <a:off x="548640" y="1874520"/>
            <a:ext cx="45720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EJEMPLO ILUSTRATIVO</a:t>
            </a:r>
            <a:endParaRPr lang="en-US" sz="1050" dirty="0"/>
          </a:p>
        </p:txBody>
      </p:sp>
      <p:sp>
        <p:nvSpPr>
          <p:cNvPr id="6" name="Shape 3"/>
          <p:cNvSpPr/>
          <p:nvPr/>
        </p:nvSpPr>
        <p:spPr>
          <a:xfrm>
            <a:off x="548640" y="2194560"/>
            <a:ext cx="5760720" cy="1828800"/>
          </a:xfrm>
          <a:prstGeom prst="roundRect">
            <a:avLst>
              <a:gd name="adj" fmla="val 7000"/>
            </a:avLst>
          </a:prstGeom>
          <a:solidFill>
            <a:schemeClr val="tx2">
              <a:alpha val="92000"/>
            </a:schemeClr>
          </a:solidFill>
          <a:ln w="12700">
            <a:solidFill>
              <a:srgbClr val="1E293B"/>
            </a:solidFill>
            <a:prstDash val="solid"/>
          </a:ln>
        </p:spPr>
      </p:sp>
      <p:sp>
        <p:nvSpPr>
          <p:cNvPr id="7" name="Text 4"/>
          <p:cNvSpPr txBox="1"/>
          <p:nvPr/>
        </p:nvSpPr>
        <p:spPr>
          <a:xfrm>
            <a:off x="777240" y="2331720"/>
            <a:ext cx="182880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Cliente A</a:t>
            </a:r>
            <a:endParaRPr lang="en-US" sz="1500" dirty="0"/>
          </a:p>
        </p:txBody>
      </p:sp>
      <p:sp>
        <p:nvSpPr>
          <p:cNvPr id="8" name="Text 5"/>
          <p:cNvSpPr txBox="1"/>
          <p:nvPr/>
        </p:nvSpPr>
        <p:spPr>
          <a:xfrm>
            <a:off x="777240" y="2697480"/>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1</a:t>
            </a:r>
            <a:endParaRPr lang="en-US" sz="1100" dirty="0"/>
          </a:p>
        </p:txBody>
      </p:sp>
      <p:sp>
        <p:nvSpPr>
          <p:cNvPr id="9" name="Text 6"/>
          <p:cNvSpPr txBox="1"/>
          <p:nvPr/>
        </p:nvSpPr>
        <p:spPr>
          <a:xfrm>
            <a:off x="777240" y="2944368"/>
            <a:ext cx="1097280" cy="411480"/>
          </a:xfrm>
          <a:prstGeom prst="rect">
            <a:avLst/>
          </a:prstGeom>
          <a:noFill/>
          <a:ln/>
        </p:spPr>
        <p:txBody>
          <a:bodyPr wrap="square" lIns="0" tIns="0" rIns="0" bIns="0" rtlCol="0" anchor="t"/>
          <a:lstStyle/>
          <a:p>
            <a:pPr algn="l" indent="0" marL="0">
              <a:lnSpc>
                <a:spcPct val="110000"/>
              </a:lnSpc>
              <a:spcAft>
                <a:spcPts val="400"/>
              </a:spcAft>
              <a:buNone/>
            </a:pPr>
            <a:r>
              <a:rPr lang="en-US" sz="2000" b="1" dirty="0">
                <a:solidFill>
                  <a:schemeClr val="accent4"/>
                </a:solidFill>
                <a:latin typeface="Consolas" pitchFamily="34" charset="0"/>
                <a:ea typeface="Consolas" pitchFamily="34" charset="-122"/>
                <a:cs typeface="Consolas" pitchFamily="34" charset="-120"/>
              </a:rPr>
              <a:t>0,62</a:t>
            </a:r>
            <a:endParaRPr lang="en-US" sz="2000" dirty="0"/>
          </a:p>
        </p:txBody>
      </p:sp>
      <p:sp>
        <p:nvSpPr>
          <p:cNvPr id="10" name="Text 7"/>
          <p:cNvSpPr txBox="1"/>
          <p:nvPr/>
        </p:nvSpPr>
        <p:spPr>
          <a:xfrm>
            <a:off x="2011680" y="2697480"/>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2</a:t>
            </a:r>
            <a:endParaRPr lang="en-US" sz="1100" dirty="0"/>
          </a:p>
        </p:txBody>
      </p:sp>
      <p:sp>
        <p:nvSpPr>
          <p:cNvPr id="11" name="Text 8"/>
          <p:cNvSpPr txBox="1"/>
          <p:nvPr/>
        </p:nvSpPr>
        <p:spPr>
          <a:xfrm>
            <a:off x="2011680" y="2944368"/>
            <a:ext cx="1097280" cy="411480"/>
          </a:xfrm>
          <a:prstGeom prst="rect">
            <a:avLst/>
          </a:prstGeom>
          <a:noFill/>
          <a:ln/>
        </p:spPr>
        <p:txBody>
          <a:bodyPr wrap="square" lIns="0" tIns="0" rIns="0" bIns="0" rtlCol="0" anchor="t"/>
          <a:lstStyle/>
          <a:p>
            <a:pPr algn="l" indent="0" marL="0">
              <a:lnSpc>
                <a:spcPct val="110000"/>
              </a:lnSpc>
              <a:spcAft>
                <a:spcPts val="400"/>
              </a:spcAft>
              <a:buNone/>
            </a:pPr>
            <a:r>
              <a:rPr lang="en-US" sz="2000" b="1" dirty="0">
                <a:solidFill>
                  <a:schemeClr val="accent5"/>
                </a:solidFill>
                <a:latin typeface="Consolas" pitchFamily="34" charset="0"/>
                <a:ea typeface="Consolas" pitchFamily="34" charset="-122"/>
                <a:cs typeface="Consolas" pitchFamily="34" charset="-120"/>
              </a:rPr>
              <a:t>0,48</a:t>
            </a:r>
            <a:endParaRPr lang="en-US" sz="2000" dirty="0"/>
          </a:p>
        </p:txBody>
      </p:sp>
      <p:sp>
        <p:nvSpPr>
          <p:cNvPr id="12" name="Text 9"/>
          <p:cNvSpPr txBox="1"/>
          <p:nvPr/>
        </p:nvSpPr>
        <p:spPr>
          <a:xfrm>
            <a:off x="3246120" y="2697480"/>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3</a:t>
            </a:r>
            <a:endParaRPr lang="en-US" sz="1100" dirty="0"/>
          </a:p>
        </p:txBody>
      </p:sp>
      <p:sp>
        <p:nvSpPr>
          <p:cNvPr id="13" name="Text 10"/>
          <p:cNvSpPr txBox="1"/>
          <p:nvPr/>
        </p:nvSpPr>
        <p:spPr>
          <a:xfrm>
            <a:off x="3246120" y="2944368"/>
            <a:ext cx="1097280" cy="411480"/>
          </a:xfrm>
          <a:prstGeom prst="rect">
            <a:avLst/>
          </a:prstGeom>
          <a:noFill/>
          <a:ln/>
        </p:spPr>
        <p:txBody>
          <a:bodyPr wrap="square" lIns="0" tIns="0" rIns="0" bIns="0" rtlCol="0" anchor="t"/>
          <a:lstStyle/>
          <a:p>
            <a:pPr algn="l" indent="0" marL="0">
              <a:lnSpc>
                <a:spcPct val="110000"/>
              </a:lnSpc>
              <a:spcAft>
                <a:spcPts val="400"/>
              </a:spcAft>
              <a:buNone/>
            </a:pPr>
            <a:r>
              <a:rPr lang="en-US" sz="2000" b="1" dirty="0">
                <a:solidFill>
                  <a:schemeClr val="accent4"/>
                </a:solidFill>
                <a:latin typeface="Consolas" pitchFamily="34" charset="0"/>
                <a:ea typeface="Consolas" pitchFamily="34" charset="-122"/>
                <a:cs typeface="Consolas" pitchFamily="34" charset="-120"/>
              </a:rPr>
              <a:t>0,57</a:t>
            </a:r>
            <a:endParaRPr lang="en-US" sz="2000" dirty="0"/>
          </a:p>
        </p:txBody>
      </p:sp>
      <p:sp>
        <p:nvSpPr>
          <p:cNvPr id="14" name="Text 11"/>
          <p:cNvSpPr txBox="1"/>
          <p:nvPr/>
        </p:nvSpPr>
        <p:spPr>
          <a:xfrm>
            <a:off x="4526280" y="2697480"/>
            <a:ext cx="164592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Promedio</a:t>
            </a:r>
            <a:endParaRPr lang="en-US" sz="1100" dirty="0"/>
          </a:p>
        </p:txBody>
      </p:sp>
      <p:sp>
        <p:nvSpPr>
          <p:cNvPr id="15" name="Text 12"/>
          <p:cNvSpPr txBox="1"/>
          <p:nvPr/>
        </p:nvSpPr>
        <p:spPr>
          <a:xfrm>
            <a:off x="4526280" y="2944368"/>
            <a:ext cx="1737360" cy="41148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accent4"/>
                </a:solidFill>
              </a:rPr>
              <a:t>0,557 → APTO</a:t>
            </a:r>
            <a:endParaRPr lang="en-US" sz="1500" dirty="0"/>
          </a:p>
        </p:txBody>
      </p:sp>
      <p:sp>
        <p:nvSpPr>
          <p:cNvPr id="16" name="Text 13"/>
          <p:cNvSpPr txBox="1"/>
          <p:nvPr/>
        </p:nvSpPr>
        <p:spPr>
          <a:xfrm>
            <a:off x="777240" y="3474720"/>
            <a:ext cx="5303520" cy="4114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La Red 2 sola lo habría rechazado; el comité la corrige.</a:t>
            </a:r>
            <a:endParaRPr lang="en-US" sz="1250" dirty="0"/>
          </a:p>
        </p:txBody>
      </p:sp>
      <p:sp>
        <p:nvSpPr>
          <p:cNvPr id="17" name="Shape 14"/>
          <p:cNvSpPr/>
          <p:nvPr/>
        </p:nvSpPr>
        <p:spPr>
          <a:xfrm>
            <a:off x="548640" y="4206240"/>
            <a:ext cx="5760720" cy="1828800"/>
          </a:xfrm>
          <a:prstGeom prst="roundRect">
            <a:avLst>
              <a:gd name="adj" fmla="val 7000"/>
            </a:avLst>
          </a:prstGeom>
          <a:solidFill>
            <a:schemeClr val="tx2">
              <a:alpha val="92000"/>
            </a:schemeClr>
          </a:solidFill>
          <a:ln w="12700">
            <a:solidFill>
              <a:srgbClr val="1E293B"/>
            </a:solidFill>
            <a:prstDash val="solid"/>
          </a:ln>
        </p:spPr>
      </p:sp>
      <p:sp>
        <p:nvSpPr>
          <p:cNvPr id="18" name="Text 15"/>
          <p:cNvSpPr txBox="1"/>
          <p:nvPr/>
        </p:nvSpPr>
        <p:spPr>
          <a:xfrm>
            <a:off x="777240" y="4343400"/>
            <a:ext cx="182880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Cliente B</a:t>
            </a:r>
            <a:endParaRPr lang="en-US" sz="1500" dirty="0"/>
          </a:p>
        </p:txBody>
      </p:sp>
      <p:sp>
        <p:nvSpPr>
          <p:cNvPr id="19" name="Text 16"/>
          <p:cNvSpPr txBox="1"/>
          <p:nvPr/>
        </p:nvSpPr>
        <p:spPr>
          <a:xfrm>
            <a:off x="777240" y="4709160"/>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1</a:t>
            </a:r>
            <a:endParaRPr lang="en-US" sz="1100" dirty="0"/>
          </a:p>
        </p:txBody>
      </p:sp>
      <p:sp>
        <p:nvSpPr>
          <p:cNvPr id="20" name="Text 17"/>
          <p:cNvSpPr txBox="1"/>
          <p:nvPr/>
        </p:nvSpPr>
        <p:spPr>
          <a:xfrm>
            <a:off x="777240" y="4956048"/>
            <a:ext cx="1097280" cy="411480"/>
          </a:xfrm>
          <a:prstGeom prst="rect">
            <a:avLst/>
          </a:prstGeom>
          <a:noFill/>
          <a:ln/>
        </p:spPr>
        <p:txBody>
          <a:bodyPr wrap="square" lIns="0" tIns="0" rIns="0" bIns="0" rtlCol="0" anchor="t"/>
          <a:lstStyle/>
          <a:p>
            <a:pPr algn="l" indent="0" marL="0">
              <a:lnSpc>
                <a:spcPct val="110000"/>
              </a:lnSpc>
              <a:spcAft>
                <a:spcPts val="400"/>
              </a:spcAft>
              <a:buNone/>
            </a:pPr>
            <a:r>
              <a:rPr lang="en-US" sz="2000" b="1" dirty="0">
                <a:solidFill>
                  <a:schemeClr val="accent5"/>
                </a:solidFill>
                <a:latin typeface="Consolas" pitchFamily="34" charset="0"/>
                <a:ea typeface="Consolas" pitchFamily="34" charset="-122"/>
                <a:cs typeface="Consolas" pitchFamily="34" charset="-120"/>
              </a:rPr>
              <a:t>0,41</a:t>
            </a:r>
            <a:endParaRPr lang="en-US" sz="2000" dirty="0"/>
          </a:p>
        </p:txBody>
      </p:sp>
      <p:sp>
        <p:nvSpPr>
          <p:cNvPr id="21" name="Text 18"/>
          <p:cNvSpPr txBox="1"/>
          <p:nvPr/>
        </p:nvSpPr>
        <p:spPr>
          <a:xfrm>
            <a:off x="2011680" y="4709160"/>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2</a:t>
            </a:r>
            <a:endParaRPr lang="en-US" sz="1100" dirty="0"/>
          </a:p>
        </p:txBody>
      </p:sp>
      <p:sp>
        <p:nvSpPr>
          <p:cNvPr id="22" name="Text 19"/>
          <p:cNvSpPr txBox="1"/>
          <p:nvPr/>
        </p:nvSpPr>
        <p:spPr>
          <a:xfrm>
            <a:off x="2011680" y="4956048"/>
            <a:ext cx="1097280" cy="411480"/>
          </a:xfrm>
          <a:prstGeom prst="rect">
            <a:avLst/>
          </a:prstGeom>
          <a:noFill/>
          <a:ln/>
        </p:spPr>
        <p:txBody>
          <a:bodyPr wrap="square" lIns="0" tIns="0" rIns="0" bIns="0" rtlCol="0" anchor="t"/>
          <a:lstStyle/>
          <a:p>
            <a:pPr algn="l" indent="0" marL="0">
              <a:lnSpc>
                <a:spcPct val="110000"/>
              </a:lnSpc>
              <a:spcAft>
                <a:spcPts val="400"/>
              </a:spcAft>
              <a:buNone/>
            </a:pPr>
            <a:r>
              <a:rPr lang="en-US" sz="2000" b="1" dirty="0">
                <a:solidFill>
                  <a:schemeClr val="accent5"/>
                </a:solidFill>
                <a:latin typeface="Consolas" pitchFamily="34" charset="0"/>
                <a:ea typeface="Consolas" pitchFamily="34" charset="-122"/>
                <a:cs typeface="Consolas" pitchFamily="34" charset="-120"/>
              </a:rPr>
              <a:t>0,46</a:t>
            </a:r>
            <a:endParaRPr lang="en-US" sz="2000" dirty="0"/>
          </a:p>
        </p:txBody>
      </p:sp>
      <p:sp>
        <p:nvSpPr>
          <p:cNvPr id="23" name="Text 20"/>
          <p:cNvSpPr txBox="1"/>
          <p:nvPr/>
        </p:nvSpPr>
        <p:spPr>
          <a:xfrm>
            <a:off x="3246120" y="4709160"/>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3</a:t>
            </a:r>
            <a:endParaRPr lang="en-US" sz="1100" dirty="0"/>
          </a:p>
        </p:txBody>
      </p:sp>
      <p:sp>
        <p:nvSpPr>
          <p:cNvPr id="24" name="Text 21"/>
          <p:cNvSpPr txBox="1"/>
          <p:nvPr/>
        </p:nvSpPr>
        <p:spPr>
          <a:xfrm>
            <a:off x="3246120" y="4956048"/>
            <a:ext cx="1097280" cy="411480"/>
          </a:xfrm>
          <a:prstGeom prst="rect">
            <a:avLst/>
          </a:prstGeom>
          <a:noFill/>
          <a:ln/>
        </p:spPr>
        <p:txBody>
          <a:bodyPr wrap="square" lIns="0" tIns="0" rIns="0" bIns="0" rtlCol="0" anchor="t"/>
          <a:lstStyle/>
          <a:p>
            <a:pPr algn="l" indent="0" marL="0">
              <a:lnSpc>
                <a:spcPct val="110000"/>
              </a:lnSpc>
              <a:spcAft>
                <a:spcPts val="400"/>
              </a:spcAft>
              <a:buNone/>
            </a:pPr>
            <a:r>
              <a:rPr lang="en-US" sz="2000" b="1" dirty="0">
                <a:solidFill>
                  <a:schemeClr val="accent5"/>
                </a:solidFill>
                <a:latin typeface="Consolas" pitchFamily="34" charset="0"/>
                <a:ea typeface="Consolas" pitchFamily="34" charset="-122"/>
                <a:cs typeface="Consolas" pitchFamily="34" charset="-120"/>
              </a:rPr>
              <a:t>0,39</a:t>
            </a:r>
            <a:endParaRPr lang="en-US" sz="2000" dirty="0"/>
          </a:p>
        </p:txBody>
      </p:sp>
      <p:sp>
        <p:nvSpPr>
          <p:cNvPr id="25" name="Text 22"/>
          <p:cNvSpPr txBox="1"/>
          <p:nvPr/>
        </p:nvSpPr>
        <p:spPr>
          <a:xfrm>
            <a:off x="4526280" y="4709160"/>
            <a:ext cx="164592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Promedio</a:t>
            </a:r>
            <a:endParaRPr lang="en-US" sz="1100" dirty="0"/>
          </a:p>
        </p:txBody>
      </p:sp>
      <p:sp>
        <p:nvSpPr>
          <p:cNvPr id="26" name="Text 23"/>
          <p:cNvSpPr txBox="1"/>
          <p:nvPr/>
        </p:nvSpPr>
        <p:spPr>
          <a:xfrm>
            <a:off x="4526280" y="4956048"/>
            <a:ext cx="1737360" cy="41148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accent5"/>
                </a:solidFill>
              </a:rPr>
              <a:t>0,420 → NO APTO</a:t>
            </a:r>
            <a:endParaRPr lang="en-US" sz="1500" dirty="0"/>
          </a:p>
        </p:txBody>
      </p:sp>
      <p:sp>
        <p:nvSpPr>
          <p:cNvPr id="27" name="Text 24"/>
          <p:cNvSpPr txBox="1"/>
          <p:nvPr/>
        </p:nvSpPr>
        <p:spPr>
          <a:xfrm>
            <a:off x="777240" y="5486400"/>
            <a:ext cx="5303520" cy="4114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Las tres coinciden: el promedio confirma la decisión.</a:t>
            </a:r>
            <a:endParaRPr lang="en-US" sz="1250" dirty="0"/>
          </a:p>
        </p:txBody>
      </p:sp>
      <p:graphicFrame>
        <p:nvGraphicFramePr>
          <p:cNvPr id="28" name="Chart 0" descr=""/>
          <p:cNvGraphicFramePr/>
          <p:nvPr/>
        </p:nvGraphicFramePr>
        <p:xfrm>
          <a:off x="6583680" y="1874520"/>
          <a:ext cx="5056632" cy="3017520"/>
        </p:xfrm>
        <a:graphic xmlns:a="http://schemas.openxmlformats.org/drawingml/2006/main">
          <a:graphicData uri="http://schemas.openxmlformats.org/drawingml/2006/chart">
            <c:chart xmlns:c="http://schemas.openxmlformats.org/drawingml/2006/chart" r:id="rId1"/>
          </a:graphicData>
        </a:graphic>
      </p:graphicFrame>
      <p:sp>
        <p:nvSpPr>
          <p:cNvPr id="29" name="Shape 25"/>
          <p:cNvSpPr/>
          <p:nvPr/>
        </p:nvSpPr>
        <p:spPr>
          <a:xfrm>
            <a:off x="6583680" y="5029200"/>
            <a:ext cx="5056632" cy="1143000"/>
          </a:xfrm>
          <a:prstGeom prst="roundRect">
            <a:avLst>
              <a:gd name="adj" fmla="val 11200"/>
            </a:avLst>
          </a:prstGeom>
          <a:solidFill>
            <a:schemeClr val="tx2">
              <a:alpha val="92000"/>
            </a:schemeClr>
          </a:solidFill>
          <a:ln w="12700">
            <a:solidFill>
              <a:srgbClr val="1E293B"/>
            </a:solidFill>
            <a:prstDash val="solid"/>
          </a:ln>
        </p:spPr>
      </p:sp>
      <p:sp>
        <p:nvSpPr>
          <p:cNvPr id="30" name="Text 26"/>
          <p:cNvSpPr txBox="1"/>
          <p:nvPr/>
        </p:nvSpPr>
        <p:spPr>
          <a:xfrm>
            <a:off x="6812280" y="5102352"/>
            <a:ext cx="4663440" cy="1005840"/>
          </a:xfrm>
          <a:prstGeom prst="rect">
            <a:avLst/>
          </a:prstGeom>
          <a:noFill/>
          <a:ln/>
        </p:spPr>
        <p:txBody>
          <a:bodyPr wrap="square" lIns="0" tIns="0" rIns="0" bIns="0" rtlCol="0" anchor="ctr"/>
          <a:lstStyle/>
          <a:p>
            <a:pPr algn="l" indent="0" marL="0">
              <a:lnSpc>
                <a:spcPct val="110000"/>
              </a:lnSpc>
              <a:spcAft>
                <a:spcPts val="400"/>
              </a:spcAft>
              <a:buNone/>
            </a:pPr>
            <a:r>
              <a:rPr lang="en-US" sz="1250" dirty="0">
                <a:solidFill>
                  <a:schemeClr val="bg2"/>
                </a:solidFill>
              </a:rPr>
              <a:t>Repetir la misma red con otras semillas casi no mejora. Combinar redes diferentes sí: sus predicciones coinciden en ~97 % (correlación 0,965–0,970) y en el resto se corrigen entre sí.</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6400800" cy="365760"/>
          </a:xfrm>
          <a:prstGeom prst="rect">
            <a:avLst/>
          </a:prstGeom>
          <a:noFill/>
          <a:ln/>
        </p:spPr>
        <p:txBody>
          <a:bodyPr wrap="square" lIns="0" tIns="0" rIns="0" bIns="0" rtlCol="0"/>
          <a:lstStyle/>
          <a:p>
            <a:pPr algn="l" indent="0" marL="0">
              <a:buNone/>
            </a:pPr>
            <a:r>
              <a:rPr lang="en-US" sz="1400" spc="400" kern="0" dirty="0">
                <a:solidFill>
                  <a:schemeClr val="accent2"/>
                </a:solidFill>
                <a:latin typeface="Consolas" pitchFamily="34" charset="0"/>
                <a:ea typeface="Consolas" pitchFamily="34" charset="-122"/>
                <a:cs typeface="Consolas" pitchFamily="34" charset="-120"/>
              </a:rPr>
              <a:t>03 · EXPERIMENTACIÓN</a:t>
            </a:r>
            <a:endParaRPr lang="en-US" sz="1400" dirty="0"/>
          </a:p>
        </p:txBody>
      </p:sp>
      <p:sp>
        <p:nvSpPr>
          <p:cNvPr id="3" name="Text 0"/>
          <p:cNvSpPr/>
          <p:nvPr>
            <p:ph idx="101" type="title" hasCustomPrompt="1"/>
          </p:nvPr>
        </p:nvSpPr>
        <p:spPr>
          <a:xfrm>
            <a:off x="731520" y="2560320"/>
            <a:ext cx="7863840" cy="1737360"/>
          </a:xfrm>
          <a:prstGeom prst="rect">
            <a:avLst/>
          </a:prstGeom>
          <a:noFill/>
          <a:ln/>
        </p:spPr>
        <p:txBody>
          <a:bodyPr wrap="square" lIns="0" tIns="0" rIns="0" bIns="0" rtlCol="0" anchor="t"/>
          <a:lstStyle/>
          <a:p>
            <a:pPr algn="l" indent="0" marL="0">
              <a:buNone/>
            </a:pPr>
            <a:r>
              <a:rPr lang="en-US" sz="4400" b="1" dirty="0">
                <a:solidFill>
                  <a:schemeClr val="bg1"/>
                </a:solidFill>
              </a:rPr>
              <a:t>Experimentos realizados</a:t>
            </a:r>
            <a:endParaRPr lang="en-US" sz="4400" dirty="0"/>
          </a:p>
        </p:txBody>
      </p:sp>
      <p:sp>
        <p:nvSpPr>
          <p:cNvPr id="4" name="Text 2"/>
          <p:cNvSpPr txBox="1"/>
          <p:nvPr/>
        </p:nvSpPr>
        <p:spPr>
          <a:xfrm>
            <a:off x="731520" y="4343400"/>
            <a:ext cx="5943600" cy="731520"/>
          </a:xfrm>
          <a:prstGeom prst="rect">
            <a:avLst/>
          </a:prstGeom>
          <a:noFill/>
          <a:ln/>
        </p:spPr>
        <p:txBody>
          <a:bodyPr wrap="square" lIns="0" tIns="0" rIns="0" bIns="0" rtlCol="0" anchor="t"/>
          <a:lstStyle/>
          <a:p>
            <a:pPr algn="l" indent="0" marL="0">
              <a:lnSpc>
                <a:spcPct val="110000"/>
              </a:lnSpc>
              <a:spcAft>
                <a:spcPts val="400"/>
              </a:spcAft>
              <a:buNone/>
            </a:pPr>
            <a:r>
              <a:rPr lang="en-US" sz="1600" dirty="0">
                <a:solidFill>
                  <a:schemeClr val="bg2"/>
                </a:solidFill>
              </a:rPr>
              <a:t>Cada decisión se tomó comparando varias pruebas, siempre con el grupo de validación.</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Cantidad de pruebas realizadas</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En total se entrenaron 164 redes neuronales y se evaluaron 19 combinaciones (ensambles). Cada configuración importante se repitió con 5 semillas distintas para comprobar que su resultado no dependía de la suerte.</a:t>
            </a:r>
            <a:endParaRPr lang="en-US" sz="1500" dirty="0"/>
          </a:p>
        </p:txBody>
      </p:sp>
      <p:graphicFrame>
        <p:nvGraphicFramePr>
          <p:cNvPr id="5" name="Chart 0" descr=""/>
          <p:cNvGraphicFramePr/>
          <p:nvPr/>
        </p:nvGraphicFramePr>
        <p:xfrm>
          <a:off x="548640" y="1920240"/>
          <a:ext cx="676656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635240" y="1920240"/>
            <a:ext cx="4005072" cy="941832"/>
          </a:xfrm>
          <a:prstGeom prst="roundRect">
            <a:avLst>
              <a:gd name="adj" fmla="val 13592"/>
            </a:avLst>
          </a:prstGeom>
          <a:solidFill>
            <a:schemeClr val="tx2">
              <a:alpha val="92000"/>
            </a:schemeClr>
          </a:solidFill>
          <a:ln w="12700">
            <a:solidFill>
              <a:srgbClr val="1E293B"/>
            </a:solidFill>
            <a:prstDash val="solid"/>
          </a:ln>
        </p:spPr>
      </p:sp>
      <p:sp>
        <p:nvSpPr>
          <p:cNvPr id="7" name="Text 3"/>
          <p:cNvSpPr txBox="1"/>
          <p:nvPr/>
        </p:nvSpPr>
        <p:spPr>
          <a:xfrm>
            <a:off x="7818120" y="1920240"/>
            <a:ext cx="1097280" cy="941832"/>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chemeClr val="accent2"/>
                </a:solidFill>
                <a:latin typeface="Consolas" pitchFamily="34" charset="0"/>
                <a:ea typeface="Consolas" pitchFamily="34" charset="-122"/>
                <a:cs typeface="Consolas" pitchFamily="34" charset="-120"/>
              </a:rPr>
              <a:t>164</a:t>
            </a:r>
            <a:endParaRPr lang="en-US" sz="3000" dirty="0"/>
          </a:p>
        </p:txBody>
      </p:sp>
      <p:sp>
        <p:nvSpPr>
          <p:cNvPr id="8" name="Text 4"/>
          <p:cNvSpPr txBox="1"/>
          <p:nvPr/>
        </p:nvSpPr>
        <p:spPr>
          <a:xfrm>
            <a:off x="8869680" y="1920240"/>
            <a:ext cx="2651760" cy="941832"/>
          </a:xfrm>
          <a:prstGeom prst="rect">
            <a:avLst/>
          </a:prstGeom>
          <a:noFill/>
          <a:ln/>
        </p:spPr>
        <p:txBody>
          <a:bodyPr wrap="square" lIns="0" tIns="0" rIns="0" bIns="0" rtlCol="0" anchor="ctr"/>
          <a:lstStyle/>
          <a:p>
            <a:pPr algn="l" indent="0" marL="0">
              <a:lnSpc>
                <a:spcPct val="110000"/>
              </a:lnSpc>
              <a:spcAft>
                <a:spcPts val="400"/>
              </a:spcAft>
              <a:buNone/>
            </a:pPr>
            <a:r>
              <a:rPr lang="en-US" sz="1300" dirty="0">
                <a:solidFill>
                  <a:schemeClr val="bg2"/>
                </a:solidFill>
              </a:rPr>
              <a:t>redes neuronales entrenadas</a:t>
            </a:r>
            <a:endParaRPr lang="en-US" sz="1300" dirty="0"/>
          </a:p>
        </p:txBody>
      </p:sp>
      <p:sp>
        <p:nvSpPr>
          <p:cNvPr id="9" name="Shape 5"/>
          <p:cNvSpPr/>
          <p:nvPr/>
        </p:nvSpPr>
        <p:spPr>
          <a:xfrm>
            <a:off x="7635240" y="2999232"/>
            <a:ext cx="4005072" cy="941832"/>
          </a:xfrm>
          <a:prstGeom prst="roundRect">
            <a:avLst>
              <a:gd name="adj" fmla="val 13592"/>
            </a:avLst>
          </a:prstGeom>
          <a:solidFill>
            <a:schemeClr val="tx2">
              <a:alpha val="92000"/>
            </a:schemeClr>
          </a:solidFill>
          <a:ln w="12700">
            <a:solidFill>
              <a:srgbClr val="1E293B"/>
            </a:solidFill>
            <a:prstDash val="solid"/>
          </a:ln>
        </p:spPr>
      </p:sp>
      <p:sp>
        <p:nvSpPr>
          <p:cNvPr id="10" name="Text 6"/>
          <p:cNvSpPr txBox="1"/>
          <p:nvPr/>
        </p:nvSpPr>
        <p:spPr>
          <a:xfrm>
            <a:off x="7818120" y="2999232"/>
            <a:ext cx="1097280" cy="941832"/>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chemeClr val="accent2"/>
                </a:solidFill>
                <a:latin typeface="Consolas" pitchFamily="34" charset="0"/>
                <a:ea typeface="Consolas" pitchFamily="34" charset="-122"/>
                <a:cs typeface="Consolas" pitchFamily="34" charset="-120"/>
              </a:rPr>
              <a:t>19</a:t>
            </a:r>
            <a:endParaRPr lang="en-US" sz="3000" dirty="0"/>
          </a:p>
        </p:txBody>
      </p:sp>
      <p:sp>
        <p:nvSpPr>
          <p:cNvPr id="11" name="Text 7"/>
          <p:cNvSpPr txBox="1"/>
          <p:nvPr/>
        </p:nvSpPr>
        <p:spPr>
          <a:xfrm>
            <a:off x="8869680" y="2999232"/>
            <a:ext cx="2651760" cy="941832"/>
          </a:xfrm>
          <a:prstGeom prst="rect">
            <a:avLst/>
          </a:prstGeom>
          <a:noFill/>
          <a:ln/>
        </p:spPr>
        <p:txBody>
          <a:bodyPr wrap="square" lIns="0" tIns="0" rIns="0" bIns="0" rtlCol="0" anchor="ctr"/>
          <a:lstStyle/>
          <a:p>
            <a:pPr algn="l" indent="0" marL="0">
              <a:lnSpc>
                <a:spcPct val="110000"/>
              </a:lnSpc>
              <a:spcAft>
                <a:spcPts val="400"/>
              </a:spcAft>
              <a:buNone/>
            </a:pPr>
            <a:r>
              <a:rPr lang="en-US" sz="1300" dirty="0">
                <a:solidFill>
                  <a:schemeClr val="bg2"/>
                </a:solidFill>
              </a:rPr>
              <a:t>combinaciones (ensambles) evaluadas</a:t>
            </a:r>
            <a:endParaRPr lang="en-US" sz="1300" dirty="0"/>
          </a:p>
        </p:txBody>
      </p:sp>
      <p:sp>
        <p:nvSpPr>
          <p:cNvPr id="12" name="Shape 8"/>
          <p:cNvSpPr/>
          <p:nvPr/>
        </p:nvSpPr>
        <p:spPr>
          <a:xfrm>
            <a:off x="7635240" y="4078224"/>
            <a:ext cx="4005072" cy="941832"/>
          </a:xfrm>
          <a:prstGeom prst="roundRect">
            <a:avLst>
              <a:gd name="adj" fmla="val 13592"/>
            </a:avLst>
          </a:prstGeom>
          <a:solidFill>
            <a:schemeClr val="tx2">
              <a:alpha val="92000"/>
            </a:schemeClr>
          </a:solidFill>
          <a:ln w="12700">
            <a:solidFill>
              <a:srgbClr val="1E293B"/>
            </a:solidFill>
            <a:prstDash val="solid"/>
          </a:ln>
        </p:spPr>
      </p:sp>
      <p:sp>
        <p:nvSpPr>
          <p:cNvPr id="13" name="Text 9"/>
          <p:cNvSpPr txBox="1"/>
          <p:nvPr/>
        </p:nvSpPr>
        <p:spPr>
          <a:xfrm>
            <a:off x="7818120" y="4078224"/>
            <a:ext cx="1097280" cy="941832"/>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chemeClr val="accent2"/>
                </a:solidFill>
                <a:latin typeface="Consolas" pitchFamily="34" charset="0"/>
                <a:ea typeface="Consolas" pitchFamily="34" charset="-122"/>
                <a:cs typeface="Consolas" pitchFamily="34" charset="-120"/>
              </a:rPr>
              <a:t>5</a:t>
            </a:r>
            <a:endParaRPr lang="en-US" sz="3000" dirty="0"/>
          </a:p>
        </p:txBody>
      </p:sp>
      <p:sp>
        <p:nvSpPr>
          <p:cNvPr id="14" name="Text 10"/>
          <p:cNvSpPr txBox="1"/>
          <p:nvPr/>
        </p:nvSpPr>
        <p:spPr>
          <a:xfrm>
            <a:off x="8869680" y="4078224"/>
            <a:ext cx="2651760" cy="941832"/>
          </a:xfrm>
          <a:prstGeom prst="rect">
            <a:avLst/>
          </a:prstGeom>
          <a:noFill/>
          <a:ln/>
        </p:spPr>
        <p:txBody>
          <a:bodyPr wrap="square" lIns="0" tIns="0" rIns="0" bIns="0" rtlCol="0" anchor="ctr"/>
          <a:lstStyle/>
          <a:p>
            <a:pPr algn="l" indent="0" marL="0">
              <a:lnSpc>
                <a:spcPct val="110000"/>
              </a:lnSpc>
              <a:spcAft>
                <a:spcPts val="400"/>
              </a:spcAft>
              <a:buNone/>
            </a:pPr>
            <a:r>
              <a:rPr lang="en-US" sz="1300" dirty="0">
                <a:solidFill>
                  <a:schemeClr val="bg2"/>
                </a:solidFill>
              </a:rPr>
              <a:t>semillas por configuración clave: 42, 1, 7, 21 y 2026</a:t>
            </a:r>
            <a:endParaRPr lang="en-US" sz="1300" dirty="0"/>
          </a:p>
        </p:txBody>
      </p:sp>
      <p:sp>
        <p:nvSpPr>
          <p:cNvPr id="15" name="Shape 11"/>
          <p:cNvSpPr/>
          <p:nvPr/>
        </p:nvSpPr>
        <p:spPr>
          <a:xfrm>
            <a:off x="7635240" y="5157216"/>
            <a:ext cx="4005072" cy="941832"/>
          </a:xfrm>
          <a:prstGeom prst="roundRect">
            <a:avLst>
              <a:gd name="adj" fmla="val 13592"/>
            </a:avLst>
          </a:prstGeom>
          <a:solidFill>
            <a:schemeClr val="tx2">
              <a:alpha val="92000"/>
            </a:schemeClr>
          </a:solidFill>
          <a:ln w="12700">
            <a:solidFill>
              <a:srgbClr val="1E293B"/>
            </a:solidFill>
            <a:prstDash val="solid"/>
          </a:ln>
        </p:spPr>
      </p:sp>
      <p:sp>
        <p:nvSpPr>
          <p:cNvPr id="16" name="Text 12"/>
          <p:cNvSpPr txBox="1"/>
          <p:nvPr/>
        </p:nvSpPr>
        <p:spPr>
          <a:xfrm>
            <a:off x="7818120" y="5157216"/>
            <a:ext cx="1097280" cy="941832"/>
          </a:xfrm>
          <a:prstGeom prst="rect">
            <a:avLst/>
          </a:prstGeom>
          <a:noFill/>
          <a:ln/>
        </p:spPr>
        <p:txBody>
          <a:bodyPr wrap="square" lIns="0" tIns="0" rIns="0" bIns="0" rtlCol="0" anchor="ctr"/>
          <a:lstStyle/>
          <a:p>
            <a:pPr algn="l" indent="0" marL="0">
              <a:lnSpc>
                <a:spcPct val="110000"/>
              </a:lnSpc>
              <a:spcAft>
                <a:spcPts val="400"/>
              </a:spcAft>
              <a:buNone/>
            </a:pPr>
            <a:r>
              <a:rPr lang="en-US" sz="3000" b="1" dirty="0">
                <a:solidFill>
                  <a:schemeClr val="accent2"/>
                </a:solidFill>
                <a:latin typeface="Consolas" pitchFamily="34" charset="0"/>
                <a:ea typeface="Consolas" pitchFamily="34" charset="-122"/>
                <a:cs typeface="Consolas" pitchFamily="34" charset="-120"/>
              </a:rPr>
              <a:t>1</a:t>
            </a:r>
            <a:endParaRPr lang="en-US" sz="3000" dirty="0"/>
          </a:p>
        </p:txBody>
      </p:sp>
      <p:sp>
        <p:nvSpPr>
          <p:cNvPr id="17" name="Text 13"/>
          <p:cNvSpPr txBox="1"/>
          <p:nvPr/>
        </p:nvSpPr>
        <p:spPr>
          <a:xfrm>
            <a:off x="8869680" y="5157216"/>
            <a:ext cx="2651760" cy="941832"/>
          </a:xfrm>
          <a:prstGeom prst="rect">
            <a:avLst/>
          </a:prstGeom>
          <a:noFill/>
          <a:ln/>
        </p:spPr>
        <p:txBody>
          <a:bodyPr wrap="square" lIns="0" tIns="0" rIns="0" bIns="0" rtlCol="0" anchor="ctr"/>
          <a:lstStyle/>
          <a:p>
            <a:pPr algn="l" indent="0" marL="0">
              <a:lnSpc>
                <a:spcPct val="110000"/>
              </a:lnSpc>
              <a:spcAft>
                <a:spcPts val="400"/>
              </a:spcAft>
              <a:buNone/>
            </a:pPr>
            <a:r>
              <a:rPr lang="en-US" sz="1300" dirty="0">
                <a:solidFill>
                  <a:schemeClr val="bg2"/>
                </a:solidFill>
              </a:rPr>
              <a:t>sola vez se usó el grupo de prueba</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Qué se buscó en cada etapa</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Cada etapa respondió una pregunta y partió de lo mejor de la anterior. La nota que se usó para comparar es el AUC en validación (0,5 = adivinar al azar; 1 = perfecto).</a:t>
            </a:r>
            <a:endParaRPr lang="en-US" sz="1500" dirty="0"/>
          </a:p>
        </p:txBody>
      </p:sp>
      <p:sp>
        <p:nvSpPr>
          <p:cNvPr id="5" name="Shape 2"/>
          <p:cNvSpPr/>
          <p:nvPr/>
        </p:nvSpPr>
        <p:spPr>
          <a:xfrm>
            <a:off x="822960" y="2103120"/>
            <a:ext cx="10515600" cy="0"/>
          </a:xfrm>
          <a:prstGeom prst="line">
            <a:avLst/>
          </a:prstGeom>
          <a:noFill/>
          <a:ln w="25400">
            <a:solidFill>
              <a:srgbClr val="334155"/>
            </a:solidFill>
            <a:prstDash val="solid"/>
          </a:ln>
        </p:spPr>
      </p:sp>
      <p:sp>
        <p:nvSpPr>
          <p:cNvPr id="6" name="Shape 3"/>
          <p:cNvSpPr/>
          <p:nvPr/>
        </p:nvSpPr>
        <p:spPr>
          <a:xfrm>
            <a:off x="731520" y="1984248"/>
            <a:ext cx="237744" cy="237744"/>
          </a:xfrm>
          <a:prstGeom prst="ellipse">
            <a:avLst/>
          </a:prstGeom>
          <a:solidFill>
            <a:srgbClr val="3B82F6"/>
          </a:solidFill>
          <a:ln w="25400">
            <a:solidFill>
              <a:srgbClr val="0B1220"/>
            </a:solidFill>
            <a:prstDash val="solid"/>
          </a:ln>
        </p:spPr>
      </p:sp>
      <p:sp>
        <p:nvSpPr>
          <p:cNvPr id="7" name="Shape 4"/>
          <p:cNvSpPr/>
          <p:nvPr/>
        </p:nvSpPr>
        <p:spPr>
          <a:xfrm>
            <a:off x="548640" y="2423160"/>
            <a:ext cx="2606040" cy="3749040"/>
          </a:xfrm>
          <a:prstGeom prst="roundRect">
            <a:avLst>
              <a:gd name="adj" fmla="val 4912"/>
            </a:avLst>
          </a:prstGeom>
          <a:solidFill>
            <a:schemeClr val="tx2">
              <a:alpha val="92000"/>
            </a:schemeClr>
          </a:solidFill>
          <a:ln w="12700">
            <a:solidFill>
              <a:srgbClr val="1E293B"/>
            </a:solidFill>
            <a:prstDash val="solid"/>
          </a:ln>
        </p:spPr>
      </p:sp>
      <p:sp>
        <p:nvSpPr>
          <p:cNvPr id="8" name="Text 5"/>
          <p:cNvSpPr txBox="1"/>
          <p:nvPr/>
        </p:nvSpPr>
        <p:spPr>
          <a:xfrm>
            <a:off x="749808" y="2578608"/>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Línea base</a:t>
            </a:r>
            <a:endParaRPr lang="en-US" sz="1500" dirty="0"/>
          </a:p>
        </p:txBody>
      </p:sp>
      <p:sp>
        <p:nvSpPr>
          <p:cNvPr id="9" name="Text 6"/>
          <p:cNvSpPr txBox="1"/>
          <p:nvPr/>
        </p:nvSpPr>
        <p:spPr>
          <a:xfrm>
            <a:off x="749808" y="2990088"/>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10" name="Text 7"/>
          <p:cNvSpPr txBox="1"/>
          <p:nvPr/>
        </p:nvSpPr>
        <p:spPr>
          <a:xfrm>
            <a:off x="749808" y="3264408"/>
            <a:ext cx="2240280" cy="9601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¿Cuánto logra una red razonable sin afinar?</a:t>
            </a:r>
            <a:endParaRPr lang="en-US" sz="1250" dirty="0"/>
          </a:p>
        </p:txBody>
      </p:sp>
      <p:sp>
        <p:nvSpPr>
          <p:cNvPr id="11" name="Text 8"/>
          <p:cNvSpPr txBox="1"/>
          <p:nvPr/>
        </p:nvSpPr>
        <p:spPr>
          <a:xfrm>
            <a:off x="749808" y="429768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12" name="Text 9"/>
          <p:cNvSpPr txBox="1"/>
          <p:nvPr/>
        </p:nvSpPr>
        <p:spPr>
          <a:xfrm>
            <a:off x="749808" y="4572000"/>
            <a:ext cx="2240280" cy="9601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Red 64 → 32 → 16 con ReLU. Sirve de punto de comparación.</a:t>
            </a:r>
            <a:endParaRPr lang="en-US" sz="1250" dirty="0"/>
          </a:p>
        </p:txBody>
      </p:sp>
      <p:sp>
        <p:nvSpPr>
          <p:cNvPr id="13" name="Text 10"/>
          <p:cNvSpPr txBox="1"/>
          <p:nvPr/>
        </p:nvSpPr>
        <p:spPr>
          <a:xfrm>
            <a:off x="749808" y="56692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2"/>
                </a:solidFill>
                <a:latin typeface="Consolas" pitchFamily="34" charset="0"/>
                <a:ea typeface="Consolas" pitchFamily="34" charset="-122"/>
                <a:cs typeface="Consolas" pitchFamily="34" charset="-120"/>
              </a:rPr>
              <a:t>AUC val. 0,7497</a:t>
            </a:r>
            <a:endParaRPr lang="en-US" sz="1250" dirty="0"/>
          </a:p>
        </p:txBody>
      </p:sp>
      <p:sp>
        <p:nvSpPr>
          <p:cNvPr id="14" name="Shape 11"/>
          <p:cNvSpPr/>
          <p:nvPr/>
        </p:nvSpPr>
        <p:spPr>
          <a:xfrm>
            <a:off x="3547872" y="1984248"/>
            <a:ext cx="237744" cy="237744"/>
          </a:xfrm>
          <a:prstGeom prst="ellipse">
            <a:avLst/>
          </a:prstGeom>
          <a:solidFill>
            <a:srgbClr val="3B82F6"/>
          </a:solidFill>
          <a:ln w="25400">
            <a:solidFill>
              <a:srgbClr val="0B1220"/>
            </a:solidFill>
            <a:prstDash val="solid"/>
          </a:ln>
        </p:spPr>
      </p:sp>
      <p:sp>
        <p:nvSpPr>
          <p:cNvPr id="15" name="Shape 12"/>
          <p:cNvSpPr/>
          <p:nvPr/>
        </p:nvSpPr>
        <p:spPr>
          <a:xfrm>
            <a:off x="3364992" y="2423160"/>
            <a:ext cx="2606040" cy="3749040"/>
          </a:xfrm>
          <a:prstGeom prst="roundRect">
            <a:avLst>
              <a:gd name="adj" fmla="val 4912"/>
            </a:avLst>
          </a:prstGeom>
          <a:solidFill>
            <a:schemeClr val="tx2">
              <a:alpha val="92000"/>
            </a:schemeClr>
          </a:solidFill>
          <a:ln w="12700">
            <a:solidFill>
              <a:srgbClr val="1E293B"/>
            </a:solidFill>
            <a:prstDash val="solid"/>
          </a:ln>
        </p:spPr>
      </p:sp>
      <p:sp>
        <p:nvSpPr>
          <p:cNvPr id="16" name="Text 13"/>
          <p:cNvSpPr txBox="1"/>
          <p:nvPr/>
        </p:nvSpPr>
        <p:spPr>
          <a:xfrm>
            <a:off x="3566160" y="2578608"/>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Fase 1 · 37 pruebas</a:t>
            </a:r>
            <a:endParaRPr lang="en-US" sz="1500" dirty="0"/>
          </a:p>
        </p:txBody>
      </p:sp>
      <p:sp>
        <p:nvSpPr>
          <p:cNvPr id="17" name="Text 14"/>
          <p:cNvSpPr txBox="1"/>
          <p:nvPr/>
        </p:nvSpPr>
        <p:spPr>
          <a:xfrm>
            <a:off x="3566160" y="2990088"/>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18" name="Text 15"/>
          <p:cNvSpPr txBox="1"/>
          <p:nvPr/>
        </p:nvSpPr>
        <p:spPr>
          <a:xfrm>
            <a:off x="3566160" y="3264408"/>
            <a:ext cx="2240280" cy="9601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¿Qué tamaño de red, paso de aprendizaje, tamaño de lote y dropout funcionan mejor?</a:t>
            </a:r>
            <a:endParaRPr lang="en-US" sz="1250" dirty="0"/>
          </a:p>
        </p:txBody>
      </p:sp>
      <p:sp>
        <p:nvSpPr>
          <p:cNvPr id="19" name="Text 16"/>
          <p:cNvSpPr txBox="1"/>
          <p:nvPr/>
        </p:nvSpPr>
        <p:spPr>
          <a:xfrm>
            <a:off x="3566160" y="429768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20" name="Text 17"/>
          <p:cNvSpPr txBox="1"/>
          <p:nvPr/>
        </p:nvSpPr>
        <p:spPr>
          <a:xfrm>
            <a:off x="3566160" y="4572000"/>
            <a:ext cx="2240280" cy="9601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Redes compactas, paso de 0,0005 y dropout de 15 %. Las grandes no mejoran.</a:t>
            </a:r>
            <a:endParaRPr lang="en-US" sz="1250" dirty="0"/>
          </a:p>
        </p:txBody>
      </p:sp>
      <p:sp>
        <p:nvSpPr>
          <p:cNvPr id="21" name="Text 18"/>
          <p:cNvSpPr txBox="1"/>
          <p:nvPr/>
        </p:nvSpPr>
        <p:spPr>
          <a:xfrm>
            <a:off x="3566160" y="56692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2"/>
                </a:solidFill>
                <a:latin typeface="Consolas" pitchFamily="34" charset="0"/>
                <a:ea typeface="Consolas" pitchFamily="34" charset="-122"/>
                <a:cs typeface="Consolas" pitchFamily="34" charset="-120"/>
              </a:rPr>
              <a:t>AUC val. 0,7523</a:t>
            </a:r>
            <a:endParaRPr lang="en-US" sz="1250" dirty="0"/>
          </a:p>
        </p:txBody>
      </p:sp>
      <p:sp>
        <p:nvSpPr>
          <p:cNvPr id="22" name="Shape 19"/>
          <p:cNvSpPr/>
          <p:nvPr/>
        </p:nvSpPr>
        <p:spPr>
          <a:xfrm>
            <a:off x="6364224" y="1984248"/>
            <a:ext cx="237744" cy="237744"/>
          </a:xfrm>
          <a:prstGeom prst="ellipse">
            <a:avLst/>
          </a:prstGeom>
          <a:solidFill>
            <a:srgbClr val="34D399"/>
          </a:solidFill>
          <a:ln w="25400">
            <a:solidFill>
              <a:srgbClr val="0B1220"/>
            </a:solidFill>
            <a:prstDash val="solid"/>
          </a:ln>
        </p:spPr>
      </p:sp>
      <p:sp>
        <p:nvSpPr>
          <p:cNvPr id="23" name="Shape 20"/>
          <p:cNvSpPr/>
          <p:nvPr/>
        </p:nvSpPr>
        <p:spPr>
          <a:xfrm>
            <a:off x="6181344" y="2423160"/>
            <a:ext cx="2606040" cy="3749040"/>
          </a:xfrm>
          <a:prstGeom prst="roundRect">
            <a:avLst>
              <a:gd name="adj" fmla="val 4912"/>
            </a:avLst>
          </a:prstGeom>
          <a:solidFill>
            <a:schemeClr val="tx2">
              <a:alpha val="92000"/>
            </a:schemeClr>
          </a:solidFill>
          <a:ln w="15875">
            <a:solidFill>
              <a:srgbClr val="34D399"/>
            </a:solidFill>
            <a:prstDash val="solid"/>
          </a:ln>
        </p:spPr>
      </p:sp>
      <p:sp>
        <p:nvSpPr>
          <p:cNvPr id="24" name="Text 21"/>
          <p:cNvSpPr txBox="1"/>
          <p:nvPr/>
        </p:nvSpPr>
        <p:spPr>
          <a:xfrm>
            <a:off x="6382512" y="2578608"/>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Fase 2 · 29 pruebas</a:t>
            </a:r>
            <a:endParaRPr lang="en-US" sz="1500" dirty="0"/>
          </a:p>
        </p:txBody>
      </p:sp>
      <p:sp>
        <p:nvSpPr>
          <p:cNvPr id="25" name="Text 22"/>
          <p:cNvSpPr txBox="1"/>
          <p:nvPr/>
        </p:nvSpPr>
        <p:spPr>
          <a:xfrm>
            <a:off x="6382512" y="2990088"/>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26" name="Text 23"/>
          <p:cNvSpPr txBox="1"/>
          <p:nvPr/>
        </p:nvSpPr>
        <p:spPr>
          <a:xfrm>
            <a:off x="6382512" y="3264408"/>
            <a:ext cx="2240280" cy="9601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¿Se puede afinar más? ¿Ayuda combinar redes?</a:t>
            </a:r>
            <a:endParaRPr lang="en-US" sz="1250" dirty="0"/>
          </a:p>
        </p:txBody>
      </p:sp>
      <p:sp>
        <p:nvSpPr>
          <p:cNvPr id="27" name="Text 24"/>
          <p:cNvSpPr txBox="1"/>
          <p:nvPr/>
        </p:nvSpPr>
        <p:spPr>
          <a:xfrm>
            <a:off x="6382512" y="429768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28" name="Text 25"/>
          <p:cNvSpPr txBox="1"/>
          <p:nvPr/>
        </p:nvSpPr>
        <p:spPr>
          <a:xfrm>
            <a:off x="6382512" y="4572000"/>
            <a:ext cx="2240280" cy="9601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Ajuste fino de L2, dropout y paciencia. El ensamble de 3 redes distintas es el mejor.</a:t>
            </a:r>
            <a:endParaRPr lang="en-US" sz="1250" dirty="0"/>
          </a:p>
        </p:txBody>
      </p:sp>
      <p:sp>
        <p:nvSpPr>
          <p:cNvPr id="29" name="Text 26"/>
          <p:cNvSpPr txBox="1"/>
          <p:nvPr/>
        </p:nvSpPr>
        <p:spPr>
          <a:xfrm>
            <a:off x="6382512" y="56692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4"/>
                </a:solidFill>
                <a:latin typeface="Consolas" pitchFamily="34" charset="0"/>
                <a:ea typeface="Consolas" pitchFamily="34" charset="-122"/>
                <a:cs typeface="Consolas" pitchFamily="34" charset="-120"/>
              </a:rPr>
              <a:t>AUC val. 0,7538</a:t>
            </a:r>
            <a:endParaRPr lang="en-US" sz="1250" dirty="0"/>
          </a:p>
        </p:txBody>
      </p:sp>
      <p:sp>
        <p:nvSpPr>
          <p:cNvPr id="30" name="Shape 27"/>
          <p:cNvSpPr/>
          <p:nvPr/>
        </p:nvSpPr>
        <p:spPr>
          <a:xfrm>
            <a:off x="9180576" y="1984248"/>
            <a:ext cx="237744" cy="237744"/>
          </a:xfrm>
          <a:prstGeom prst="ellipse">
            <a:avLst/>
          </a:prstGeom>
          <a:solidFill>
            <a:srgbClr val="3B82F6"/>
          </a:solidFill>
          <a:ln w="25400">
            <a:solidFill>
              <a:srgbClr val="0B1220"/>
            </a:solidFill>
            <a:prstDash val="solid"/>
          </a:ln>
        </p:spPr>
      </p:sp>
      <p:sp>
        <p:nvSpPr>
          <p:cNvPr id="31" name="Shape 28"/>
          <p:cNvSpPr/>
          <p:nvPr/>
        </p:nvSpPr>
        <p:spPr>
          <a:xfrm>
            <a:off x="8997696" y="2423160"/>
            <a:ext cx="2606040" cy="3749040"/>
          </a:xfrm>
          <a:prstGeom prst="roundRect">
            <a:avLst>
              <a:gd name="adj" fmla="val 4912"/>
            </a:avLst>
          </a:prstGeom>
          <a:solidFill>
            <a:schemeClr val="tx2">
              <a:alpha val="92000"/>
            </a:schemeClr>
          </a:solidFill>
          <a:ln w="12700">
            <a:solidFill>
              <a:srgbClr val="1E293B"/>
            </a:solidFill>
            <a:prstDash val="solid"/>
          </a:ln>
        </p:spPr>
      </p:sp>
      <p:sp>
        <p:nvSpPr>
          <p:cNvPr id="32" name="Text 29"/>
          <p:cNvSpPr txBox="1"/>
          <p:nvPr/>
        </p:nvSpPr>
        <p:spPr>
          <a:xfrm>
            <a:off x="9198864" y="2578608"/>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Fase 3 · 12 pruebas</a:t>
            </a:r>
            <a:endParaRPr lang="en-US" sz="1500" dirty="0"/>
          </a:p>
        </p:txBody>
      </p:sp>
      <p:sp>
        <p:nvSpPr>
          <p:cNvPr id="33" name="Text 30"/>
          <p:cNvSpPr txBox="1"/>
          <p:nvPr/>
        </p:nvSpPr>
        <p:spPr>
          <a:xfrm>
            <a:off x="9198864" y="2990088"/>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34" name="Text 31"/>
          <p:cNvSpPr txBox="1"/>
          <p:nvPr/>
        </p:nvSpPr>
        <p:spPr>
          <a:xfrm>
            <a:off x="9198864" y="3264408"/>
            <a:ext cx="2240280" cy="9601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¿Activaciones más modernas (ELU, GELU) o pesos distintos en el ensamble lo superan?</a:t>
            </a:r>
            <a:endParaRPr lang="en-US" sz="1250" dirty="0"/>
          </a:p>
        </p:txBody>
      </p:sp>
      <p:sp>
        <p:nvSpPr>
          <p:cNvPr id="35" name="Text 32"/>
          <p:cNvSpPr txBox="1"/>
          <p:nvPr/>
        </p:nvSpPr>
        <p:spPr>
          <a:xfrm>
            <a:off x="9198864" y="429768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36" name="Text 33"/>
          <p:cNvSpPr txBox="1"/>
          <p:nvPr/>
        </p:nvSpPr>
        <p:spPr>
          <a:xfrm>
            <a:off x="9198864" y="4572000"/>
            <a:ext cx="2240280" cy="9601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No lo superan: empatan. Se mantiene el ensamble de 3 redes.</a:t>
            </a:r>
            <a:endParaRPr lang="en-US" sz="1250" dirty="0"/>
          </a:p>
        </p:txBody>
      </p:sp>
      <p:sp>
        <p:nvSpPr>
          <p:cNvPr id="37" name="Text 34"/>
          <p:cNvSpPr txBox="1"/>
          <p:nvPr/>
        </p:nvSpPr>
        <p:spPr>
          <a:xfrm>
            <a:off x="9198864" y="56692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2"/>
                </a:solidFill>
                <a:latin typeface="Consolas" pitchFamily="34" charset="0"/>
                <a:ea typeface="Consolas" pitchFamily="34" charset="-122"/>
                <a:cs typeface="Consolas" pitchFamily="34" charset="-120"/>
              </a:rPr>
              <a:t>AUC val. 0,7536</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Resultados de la exploración inicial (fase 1)</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En la fase 1 se cambió un solo factor a la vez para saber qué efecto tenía cada uno. Dos resultados importantes: las redes grandes no mejoraron y quitar el dropout empeoró el resultado.</a:t>
            </a:r>
            <a:endParaRPr lang="en-US" sz="1500" dirty="0"/>
          </a:p>
        </p:txBody>
      </p:sp>
      <p:graphicFrame>
        <p:nvGraphicFramePr>
          <p:cNvPr id="5" name="Chart 0" descr=""/>
          <p:cNvGraphicFramePr/>
          <p:nvPr/>
        </p:nvGraphicFramePr>
        <p:xfrm>
          <a:off x="548640" y="1920240"/>
          <a:ext cx="6675120" cy="42519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7498080" y="1920240"/>
          <a:ext cx="4142232" cy="242316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7498080" y="4526280"/>
            <a:ext cx="4142232" cy="1645920"/>
          </a:xfrm>
          <a:prstGeom prst="roundRect">
            <a:avLst>
              <a:gd name="adj" fmla="val 7778"/>
            </a:avLst>
          </a:prstGeom>
          <a:solidFill>
            <a:schemeClr val="tx2">
              <a:alpha val="92000"/>
            </a:schemeClr>
          </a:solidFill>
          <a:ln w="12700">
            <a:solidFill>
              <a:srgbClr val="1E293B"/>
            </a:solidFill>
            <a:prstDash val="solid"/>
          </a:ln>
        </p:spPr>
      </p:sp>
      <p:sp>
        <p:nvSpPr>
          <p:cNvPr id="8" name="Text 3"/>
          <p:cNvSpPr txBox="1"/>
          <p:nvPr/>
        </p:nvSpPr>
        <p:spPr>
          <a:xfrm>
            <a:off x="7726680" y="4663440"/>
            <a:ext cx="3749040" cy="146304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chemeClr val="bg2"/>
                </a:solidFill>
              </a:rPr>
              <a:t>Más pesos no dan mejor resultado: solo más capacidad de memorizar</a:t>
            </a:r>
            <a:endParaRPr lang="en-US" sz="1250" dirty="0"/>
          </a:p>
          <a:p>
            <a:pPr marL="203200" indent="-203200">
              <a:spcAft>
                <a:spcPts val="800"/>
              </a:spcAft>
              <a:buSzPct val="100000"/>
              <a:buChar char="•"/>
            </a:pPr>
            <a:r>
              <a:rPr lang="en-US" sz="1250" dirty="0">
                <a:solidFill>
                  <a:schemeClr val="bg2"/>
                </a:solidFill>
              </a:rPr>
              <a:t>Sin dropout: el peor resultado (0,7447)</a:t>
            </a:r>
            <a:endParaRPr lang="en-US" sz="1250" dirty="0"/>
          </a:p>
          <a:p>
            <a:pPr marL="203200" indent="-203200">
              <a:spcAft>
                <a:spcPts val="800"/>
              </a:spcAft>
              <a:buSzPct val="100000"/>
              <a:buChar char="•"/>
            </a:pPr>
            <a:r>
              <a:rPr lang="en-US" sz="1250" dirty="0">
                <a:solidFill>
                  <a:schemeClr val="bg2"/>
                </a:solidFill>
              </a:rPr>
              <a:t>Batch Normalization empeoró; paso ideal: 0,0005</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Efecto de quitar o agregar variables (ablación)</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El estudio de ablación entrena la misma red con distintos grupos de variables para comprobar si todas son necesarias o si sobran algunas.</a:t>
            </a:r>
            <a:endParaRPr lang="en-US" sz="1500" dirty="0"/>
          </a:p>
        </p:txBody>
      </p:sp>
      <p:graphicFrame>
        <p:nvGraphicFramePr>
          <p:cNvPr id="5" name="Chart 0" descr=""/>
          <p:cNvGraphicFramePr/>
          <p:nvPr/>
        </p:nvGraphicFramePr>
        <p:xfrm>
          <a:off x="548640" y="1920240"/>
          <a:ext cx="731520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183880" y="1920240"/>
            <a:ext cx="3456432" cy="4251960"/>
          </a:xfrm>
          <a:prstGeom prst="roundRect">
            <a:avLst>
              <a:gd name="adj" fmla="val 3704"/>
            </a:avLst>
          </a:prstGeom>
          <a:solidFill>
            <a:schemeClr val="tx2">
              <a:alpha val="92000"/>
            </a:schemeClr>
          </a:solidFill>
          <a:ln w="12700">
            <a:solidFill>
              <a:srgbClr val="1E293B"/>
            </a:solidFill>
            <a:prstDash val="solid"/>
          </a:ln>
        </p:spPr>
      </p:sp>
      <p:sp>
        <p:nvSpPr>
          <p:cNvPr id="7" name="Text 3"/>
          <p:cNvSpPr txBox="1"/>
          <p:nvPr/>
        </p:nvSpPr>
        <p:spPr>
          <a:xfrm>
            <a:off x="8412480" y="2148840"/>
            <a:ext cx="301752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CONCLUSIÓN</a:t>
            </a:r>
            <a:endParaRPr lang="en-US" sz="1050" dirty="0"/>
          </a:p>
        </p:txBody>
      </p:sp>
      <p:sp>
        <p:nvSpPr>
          <p:cNvPr id="8" name="Text 4"/>
          <p:cNvSpPr txBox="1"/>
          <p:nvPr/>
        </p:nvSpPr>
        <p:spPr>
          <a:xfrm>
            <a:off x="8412480" y="2468880"/>
            <a:ext cx="3017520" cy="731520"/>
          </a:xfrm>
          <a:prstGeom prst="rect">
            <a:avLst/>
          </a:prstGeom>
          <a:noFill/>
          <a:ln/>
        </p:spPr>
        <p:txBody>
          <a:bodyPr wrap="square" lIns="0" tIns="0" rIns="0" bIns="0" rtlCol="0" anchor="t"/>
          <a:lstStyle/>
          <a:p>
            <a:pPr algn="l" indent="0" marL="0">
              <a:lnSpc>
                <a:spcPct val="110000"/>
              </a:lnSpc>
              <a:spcAft>
                <a:spcPts val="400"/>
              </a:spcAft>
              <a:buNone/>
            </a:pPr>
            <a:r>
              <a:rPr lang="en-US" sz="1700" b="1" dirty="0">
                <a:solidFill>
                  <a:schemeClr val="bg1"/>
                </a:solidFill>
              </a:rPr>
              <a:t>Las 44 variables dan el mejor resultado</a:t>
            </a:r>
            <a:endParaRPr lang="en-US" sz="1700" dirty="0"/>
          </a:p>
        </p:txBody>
      </p:sp>
      <p:sp>
        <p:nvSpPr>
          <p:cNvPr id="9" name="Text 5"/>
          <p:cNvSpPr txBox="1"/>
          <p:nvPr/>
        </p:nvSpPr>
        <p:spPr>
          <a:xfrm>
            <a:off x="8412480" y="3246120"/>
            <a:ext cx="3017520" cy="192024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Quitar información empeora mucho (con 9 variables cae a 0,628). Agregar 6 indicadores calculados a mano tampoco ayuda, porque la red ya aprende esas relaciones por sí sola.</a:t>
            </a:r>
            <a:endParaRPr lang="en-US" sz="1300" dirty="0"/>
          </a:p>
        </p:txBody>
      </p:sp>
      <p:sp>
        <p:nvSpPr>
          <p:cNvPr id="10" name="Text 6"/>
          <p:cNvSpPr txBox="1"/>
          <p:nvPr/>
        </p:nvSpPr>
        <p:spPr>
          <a:xfrm>
            <a:off x="8412480" y="5257800"/>
            <a:ext cx="3017520" cy="457200"/>
          </a:xfrm>
          <a:prstGeom prst="rect">
            <a:avLst/>
          </a:prstGeom>
          <a:noFill/>
          <a:ln/>
        </p:spPr>
        <p:txBody>
          <a:bodyPr wrap="square" lIns="0" tIns="0" rIns="0" bIns="0" rtlCol="0" anchor="t"/>
          <a:lstStyle/>
          <a:p>
            <a:pPr algn="l" indent="0" marL="0">
              <a:lnSpc>
                <a:spcPct val="110000"/>
              </a:lnSpc>
              <a:spcAft>
                <a:spcPts val="400"/>
              </a:spcAft>
              <a:buNone/>
            </a:pPr>
            <a:r>
              <a:rPr lang="en-US" sz="2200" b="1" dirty="0">
                <a:solidFill>
                  <a:schemeClr val="accent2"/>
                </a:solidFill>
                <a:latin typeface="Consolas" pitchFamily="34" charset="0"/>
                <a:ea typeface="Consolas" pitchFamily="34" charset="-122"/>
                <a:cs typeface="Consolas" pitchFamily="34" charset="-120"/>
              </a:rPr>
              <a:t>0,628 → 0,752</a:t>
            </a:r>
            <a:endParaRPr lang="en-US" sz="2200" dirty="0"/>
          </a:p>
        </p:txBody>
      </p:sp>
      <p:sp>
        <p:nvSpPr>
          <p:cNvPr id="11" name="Text 7"/>
          <p:cNvSpPr txBox="1"/>
          <p:nvPr/>
        </p:nvSpPr>
        <p:spPr>
          <a:xfrm>
            <a:off x="8412480" y="5715000"/>
            <a:ext cx="3017520" cy="32004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rPr>
              <a:t>de 9 a 44 variables</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Número de épocas de entrenamiento</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Una época es una vuelta completa a los 34.755 clientes de entrenamiento. No se fijó un número de épocas: se puso un máximo de 100 y la parada temprana decidió cuándo detenerse según la validación.</a:t>
            </a:r>
            <a:endParaRPr lang="en-US" sz="1500" dirty="0"/>
          </a:p>
        </p:txBody>
      </p:sp>
      <p:sp>
        <p:nvSpPr>
          <p:cNvPr id="5" name="Shape 2"/>
          <p:cNvSpPr/>
          <p:nvPr/>
        </p:nvSpPr>
        <p:spPr>
          <a:xfrm>
            <a:off x="548640" y="1920240"/>
            <a:ext cx="2606040" cy="1463040"/>
          </a:xfrm>
          <a:prstGeom prst="roundRect">
            <a:avLst>
              <a:gd name="adj" fmla="val 8750"/>
            </a:avLst>
          </a:prstGeom>
          <a:solidFill>
            <a:schemeClr val="tx2">
              <a:alpha val="92000"/>
            </a:schemeClr>
          </a:solidFill>
          <a:ln w="12700">
            <a:solidFill>
              <a:srgbClr val="1E293B"/>
            </a:solidFill>
            <a:prstDash val="solid"/>
          </a:ln>
        </p:spPr>
      </p:sp>
      <p:sp>
        <p:nvSpPr>
          <p:cNvPr id="6" name="Text 3"/>
          <p:cNvSpPr txBox="1"/>
          <p:nvPr/>
        </p:nvSpPr>
        <p:spPr>
          <a:xfrm>
            <a:off x="777240" y="2011680"/>
            <a:ext cx="2194560" cy="640080"/>
          </a:xfrm>
          <a:prstGeom prst="rect">
            <a:avLst/>
          </a:prstGeom>
          <a:noFill/>
          <a:ln/>
        </p:spPr>
        <p:txBody>
          <a:bodyPr wrap="square" lIns="0" tIns="0" rIns="0" bIns="0" rtlCol="0" anchor="b"/>
          <a:lstStyle/>
          <a:p>
            <a:pPr algn="l" indent="0" marL="0">
              <a:lnSpc>
                <a:spcPct val="110000"/>
              </a:lnSpc>
              <a:spcAft>
                <a:spcPts val="400"/>
              </a:spcAft>
              <a:buNone/>
            </a:pPr>
            <a:r>
              <a:rPr lang="en-US" sz="3000" b="1" dirty="0">
                <a:solidFill>
                  <a:schemeClr val="accent2"/>
                </a:solidFill>
                <a:latin typeface="Consolas" pitchFamily="34" charset="0"/>
                <a:ea typeface="Consolas" pitchFamily="34" charset="-122"/>
                <a:cs typeface="Consolas" pitchFamily="34" charset="-120"/>
              </a:rPr>
              <a:t>1 época</a:t>
            </a:r>
            <a:endParaRPr lang="en-US" sz="3000" dirty="0"/>
          </a:p>
        </p:txBody>
      </p:sp>
      <p:sp>
        <p:nvSpPr>
          <p:cNvPr id="7" name="Text 4"/>
          <p:cNvSpPr txBox="1"/>
          <p:nvPr/>
        </p:nvSpPr>
        <p:spPr>
          <a:xfrm>
            <a:off x="777240" y="2697480"/>
            <a:ext cx="224028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 una vuelta completa a los 34.755 clientes</a:t>
            </a:r>
            <a:endParaRPr lang="en-US" sz="1250" dirty="0"/>
          </a:p>
        </p:txBody>
      </p:sp>
      <p:sp>
        <p:nvSpPr>
          <p:cNvPr id="8" name="Shape 5"/>
          <p:cNvSpPr/>
          <p:nvPr/>
        </p:nvSpPr>
        <p:spPr>
          <a:xfrm>
            <a:off x="3364992" y="1920240"/>
            <a:ext cx="2606040" cy="1463040"/>
          </a:xfrm>
          <a:prstGeom prst="roundRect">
            <a:avLst>
              <a:gd name="adj" fmla="val 8750"/>
            </a:avLst>
          </a:prstGeom>
          <a:solidFill>
            <a:schemeClr val="tx2">
              <a:alpha val="92000"/>
            </a:schemeClr>
          </a:solidFill>
          <a:ln w="12700">
            <a:solidFill>
              <a:srgbClr val="1E293B"/>
            </a:solidFill>
            <a:prstDash val="solid"/>
          </a:ln>
        </p:spPr>
      </p:sp>
      <p:sp>
        <p:nvSpPr>
          <p:cNvPr id="9" name="Text 6"/>
          <p:cNvSpPr txBox="1"/>
          <p:nvPr/>
        </p:nvSpPr>
        <p:spPr>
          <a:xfrm>
            <a:off x="3593592" y="2011680"/>
            <a:ext cx="2194560" cy="640080"/>
          </a:xfrm>
          <a:prstGeom prst="rect">
            <a:avLst/>
          </a:prstGeom>
          <a:noFill/>
          <a:ln/>
        </p:spPr>
        <p:txBody>
          <a:bodyPr wrap="square" lIns="0" tIns="0" rIns="0" bIns="0" rtlCol="0" anchor="b"/>
          <a:lstStyle/>
          <a:p>
            <a:pPr algn="l" indent="0" marL="0">
              <a:lnSpc>
                <a:spcPct val="110000"/>
              </a:lnSpc>
              <a:spcAft>
                <a:spcPts val="400"/>
              </a:spcAft>
              <a:buNone/>
            </a:pPr>
            <a:r>
              <a:rPr lang="en-US" sz="3000" b="1" dirty="0">
                <a:solidFill>
                  <a:schemeClr val="accent2"/>
                </a:solidFill>
                <a:latin typeface="Consolas" pitchFamily="34" charset="0"/>
                <a:ea typeface="Consolas" pitchFamily="34" charset="-122"/>
                <a:cs typeface="Consolas" pitchFamily="34" charset="-120"/>
              </a:rPr>
              <a:t>272</a:t>
            </a:r>
            <a:endParaRPr lang="en-US" sz="3000" dirty="0"/>
          </a:p>
        </p:txBody>
      </p:sp>
      <p:sp>
        <p:nvSpPr>
          <p:cNvPr id="10" name="Text 7"/>
          <p:cNvSpPr txBox="1"/>
          <p:nvPr/>
        </p:nvSpPr>
        <p:spPr>
          <a:xfrm>
            <a:off x="3593592" y="2697480"/>
            <a:ext cx="224028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correcciones de pesos por época (lotes de 128 clientes)</a:t>
            </a:r>
            <a:endParaRPr lang="en-US" sz="1250" dirty="0"/>
          </a:p>
        </p:txBody>
      </p:sp>
      <p:sp>
        <p:nvSpPr>
          <p:cNvPr id="11" name="Shape 8"/>
          <p:cNvSpPr/>
          <p:nvPr/>
        </p:nvSpPr>
        <p:spPr>
          <a:xfrm>
            <a:off x="6181344" y="1920240"/>
            <a:ext cx="2606040" cy="1463040"/>
          </a:xfrm>
          <a:prstGeom prst="roundRect">
            <a:avLst>
              <a:gd name="adj" fmla="val 8750"/>
            </a:avLst>
          </a:prstGeom>
          <a:solidFill>
            <a:schemeClr val="tx2">
              <a:alpha val="92000"/>
            </a:schemeClr>
          </a:solidFill>
          <a:ln w="12700">
            <a:solidFill>
              <a:srgbClr val="1E293B"/>
            </a:solidFill>
            <a:prstDash val="solid"/>
          </a:ln>
        </p:spPr>
      </p:sp>
      <p:sp>
        <p:nvSpPr>
          <p:cNvPr id="12" name="Text 9"/>
          <p:cNvSpPr txBox="1"/>
          <p:nvPr/>
        </p:nvSpPr>
        <p:spPr>
          <a:xfrm>
            <a:off x="6409944" y="2011680"/>
            <a:ext cx="2194560" cy="640080"/>
          </a:xfrm>
          <a:prstGeom prst="rect">
            <a:avLst/>
          </a:prstGeom>
          <a:noFill/>
          <a:ln/>
        </p:spPr>
        <p:txBody>
          <a:bodyPr wrap="square" lIns="0" tIns="0" rIns="0" bIns="0" rtlCol="0" anchor="b"/>
          <a:lstStyle/>
          <a:p>
            <a:pPr algn="l" indent="0" marL="0">
              <a:lnSpc>
                <a:spcPct val="110000"/>
              </a:lnSpc>
              <a:spcAft>
                <a:spcPts val="400"/>
              </a:spcAft>
              <a:buNone/>
            </a:pPr>
            <a:r>
              <a:rPr lang="en-US" sz="3000" b="1" dirty="0">
                <a:solidFill>
                  <a:schemeClr val="accent2"/>
                </a:solidFill>
                <a:latin typeface="Consolas" pitchFamily="34" charset="0"/>
                <a:ea typeface="Consolas" pitchFamily="34" charset="-122"/>
                <a:cs typeface="Consolas" pitchFamily="34" charset="-120"/>
              </a:rPr>
              <a:t>100</a:t>
            </a:r>
            <a:endParaRPr lang="en-US" sz="3000" dirty="0"/>
          </a:p>
        </p:txBody>
      </p:sp>
      <p:sp>
        <p:nvSpPr>
          <p:cNvPr id="13" name="Text 10"/>
          <p:cNvSpPr txBox="1"/>
          <p:nvPr/>
        </p:nvSpPr>
        <p:spPr>
          <a:xfrm>
            <a:off x="6409944" y="2697480"/>
            <a:ext cx="224028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épocas como máximo permitido</a:t>
            </a:r>
            <a:endParaRPr lang="en-US" sz="1250" dirty="0"/>
          </a:p>
        </p:txBody>
      </p:sp>
      <p:sp>
        <p:nvSpPr>
          <p:cNvPr id="14" name="Shape 11"/>
          <p:cNvSpPr/>
          <p:nvPr/>
        </p:nvSpPr>
        <p:spPr>
          <a:xfrm>
            <a:off x="8997696" y="1920240"/>
            <a:ext cx="2606040" cy="1463040"/>
          </a:xfrm>
          <a:prstGeom prst="roundRect">
            <a:avLst>
              <a:gd name="adj" fmla="val 8750"/>
            </a:avLst>
          </a:prstGeom>
          <a:solidFill>
            <a:schemeClr val="tx2">
              <a:alpha val="92000"/>
            </a:schemeClr>
          </a:solidFill>
          <a:ln w="12700">
            <a:solidFill>
              <a:srgbClr val="1E293B"/>
            </a:solidFill>
            <a:prstDash val="solid"/>
          </a:ln>
        </p:spPr>
      </p:sp>
      <p:sp>
        <p:nvSpPr>
          <p:cNvPr id="15" name="Text 12"/>
          <p:cNvSpPr txBox="1"/>
          <p:nvPr/>
        </p:nvSpPr>
        <p:spPr>
          <a:xfrm>
            <a:off x="9226296" y="2011680"/>
            <a:ext cx="2194560" cy="640080"/>
          </a:xfrm>
          <a:prstGeom prst="rect">
            <a:avLst/>
          </a:prstGeom>
          <a:noFill/>
          <a:ln/>
        </p:spPr>
        <p:txBody>
          <a:bodyPr wrap="square" lIns="0" tIns="0" rIns="0" bIns="0" rtlCol="0" anchor="b"/>
          <a:lstStyle/>
          <a:p>
            <a:pPr algn="l" indent="0" marL="0">
              <a:lnSpc>
                <a:spcPct val="110000"/>
              </a:lnSpc>
              <a:spcAft>
                <a:spcPts val="400"/>
              </a:spcAft>
              <a:buNone/>
            </a:pPr>
            <a:r>
              <a:rPr lang="en-US" sz="3000" b="1" dirty="0">
                <a:solidFill>
                  <a:schemeClr val="accent2"/>
                </a:solidFill>
                <a:latin typeface="Consolas" pitchFamily="34" charset="0"/>
                <a:ea typeface="Consolas" pitchFamily="34" charset="-122"/>
                <a:cs typeface="Consolas" pitchFamily="34" charset="-120"/>
              </a:rPr>
              <a:t>41</a:t>
            </a:r>
            <a:endParaRPr lang="en-US" sz="3000" dirty="0"/>
          </a:p>
        </p:txBody>
      </p:sp>
      <p:sp>
        <p:nvSpPr>
          <p:cNvPr id="16" name="Text 13"/>
          <p:cNvSpPr txBox="1"/>
          <p:nvPr/>
        </p:nvSpPr>
        <p:spPr>
          <a:xfrm>
            <a:off x="9226296" y="2697480"/>
            <a:ext cx="224028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épocas en promedio (mediana de 78 pruebas de diseño)</a:t>
            </a:r>
            <a:endParaRPr lang="en-US" sz="1250" dirty="0"/>
          </a:p>
        </p:txBody>
      </p:sp>
      <p:sp>
        <p:nvSpPr>
          <p:cNvPr id="17" name="Shape 14"/>
          <p:cNvSpPr/>
          <p:nvPr/>
        </p:nvSpPr>
        <p:spPr>
          <a:xfrm>
            <a:off x="548640" y="3611880"/>
            <a:ext cx="11091672" cy="2560320"/>
          </a:xfrm>
          <a:prstGeom prst="roundRect">
            <a:avLst>
              <a:gd name="adj" fmla="val 5000"/>
            </a:avLst>
          </a:prstGeom>
          <a:solidFill>
            <a:schemeClr val="tx2">
              <a:alpha val="92000"/>
            </a:schemeClr>
          </a:solidFill>
          <a:ln w="12700">
            <a:solidFill>
              <a:srgbClr val="1E293B"/>
            </a:solidFill>
            <a:prstDash val="solid"/>
          </a:ln>
        </p:spPr>
      </p:sp>
      <p:sp>
        <p:nvSpPr>
          <p:cNvPr id="18" name="Text 15"/>
          <p:cNvSpPr txBox="1"/>
          <p:nvPr/>
        </p:nvSpPr>
        <p:spPr>
          <a:xfrm>
            <a:off x="777240" y="3767328"/>
            <a:ext cx="100584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REDES DEL MODELO FINAL: MEJOR ÉPOCA Y ÉPOCAS ENTRENADAS</a:t>
            </a:r>
            <a:endParaRPr lang="en-US" sz="1050" dirty="0"/>
          </a:p>
        </p:txBody>
      </p:sp>
      <p:sp>
        <p:nvSpPr>
          <p:cNvPr id="19" name="Text 16"/>
          <p:cNvSpPr txBox="1"/>
          <p:nvPr/>
        </p:nvSpPr>
        <p:spPr>
          <a:xfrm>
            <a:off x="777240" y="4160520"/>
            <a:ext cx="1005840" cy="365760"/>
          </a:xfrm>
          <a:prstGeom prst="rect">
            <a:avLst/>
          </a:prstGeom>
          <a:noFill/>
          <a:ln/>
        </p:spPr>
        <p:txBody>
          <a:bodyPr wrap="square" lIns="0" tIns="0" rIns="0" bIns="0" rtlCol="0" anchor="ctr"/>
          <a:lstStyle/>
          <a:p>
            <a:pPr algn="l" indent="0" marL="0">
              <a:lnSpc>
                <a:spcPct val="110000"/>
              </a:lnSpc>
              <a:spcAft>
                <a:spcPts val="400"/>
              </a:spcAft>
              <a:buNone/>
            </a:pPr>
            <a:r>
              <a:rPr lang="en-US" sz="1400" b="1" dirty="0">
                <a:solidFill>
                  <a:schemeClr val="bg1"/>
                </a:solidFill>
              </a:rPr>
              <a:t>Red 1</a:t>
            </a:r>
            <a:endParaRPr lang="en-US" sz="1400" dirty="0"/>
          </a:p>
        </p:txBody>
      </p:sp>
      <p:sp>
        <p:nvSpPr>
          <p:cNvPr id="20" name="Shape 17"/>
          <p:cNvSpPr/>
          <p:nvPr/>
        </p:nvSpPr>
        <p:spPr>
          <a:xfrm>
            <a:off x="1783080" y="4224528"/>
            <a:ext cx="2884279" cy="237744"/>
          </a:xfrm>
          <a:prstGeom prst="roundRect">
            <a:avLst>
              <a:gd name="adj" fmla="val 50000"/>
            </a:avLst>
          </a:prstGeom>
          <a:solidFill>
            <a:srgbClr val="3B82F6"/>
          </a:solidFill>
          <a:ln w="12700">
            <a:solidFill>
              <a:srgbClr val="3B82F6"/>
            </a:solidFill>
            <a:prstDash val="solid"/>
          </a:ln>
        </p:spPr>
      </p:sp>
      <p:sp>
        <p:nvSpPr>
          <p:cNvPr id="21" name="Shape 18"/>
          <p:cNvSpPr/>
          <p:nvPr/>
        </p:nvSpPr>
        <p:spPr>
          <a:xfrm>
            <a:off x="4694791" y="4224528"/>
            <a:ext cx="1081605" cy="237744"/>
          </a:xfrm>
          <a:prstGeom prst="roundRect">
            <a:avLst>
              <a:gd name="adj" fmla="val 50000"/>
            </a:avLst>
          </a:prstGeom>
          <a:solidFill>
            <a:srgbClr val="334155"/>
          </a:solidFill>
          <a:ln w="12700">
            <a:solidFill>
              <a:srgbClr val="334155"/>
            </a:solidFill>
            <a:prstDash val="solid"/>
          </a:ln>
        </p:spPr>
      </p:sp>
      <p:sp>
        <p:nvSpPr>
          <p:cNvPr id="22" name="Text 19"/>
          <p:cNvSpPr txBox="1"/>
          <p:nvPr/>
        </p:nvSpPr>
        <p:spPr>
          <a:xfrm>
            <a:off x="5931843" y="4160520"/>
            <a:ext cx="3291840" cy="36576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latin typeface="Consolas" pitchFamily="34" charset="0"/>
                <a:ea typeface="Consolas" pitchFamily="34" charset="-122"/>
                <a:cs typeface="Consolas" pitchFamily="34" charset="-120"/>
              </a:rPr>
              <a:t>mejor época 32 · se detuvo en la 44</a:t>
            </a:r>
            <a:endParaRPr lang="en-US" sz="1200" dirty="0"/>
          </a:p>
        </p:txBody>
      </p:sp>
      <p:sp>
        <p:nvSpPr>
          <p:cNvPr id="23" name="Text 20"/>
          <p:cNvSpPr txBox="1"/>
          <p:nvPr/>
        </p:nvSpPr>
        <p:spPr>
          <a:xfrm>
            <a:off x="777240" y="4663440"/>
            <a:ext cx="1005840" cy="365760"/>
          </a:xfrm>
          <a:prstGeom prst="rect">
            <a:avLst/>
          </a:prstGeom>
          <a:noFill/>
          <a:ln/>
        </p:spPr>
        <p:txBody>
          <a:bodyPr wrap="square" lIns="0" tIns="0" rIns="0" bIns="0" rtlCol="0" anchor="ctr"/>
          <a:lstStyle/>
          <a:p>
            <a:pPr algn="l" indent="0" marL="0">
              <a:lnSpc>
                <a:spcPct val="110000"/>
              </a:lnSpc>
              <a:spcAft>
                <a:spcPts val="400"/>
              </a:spcAft>
              <a:buNone/>
            </a:pPr>
            <a:r>
              <a:rPr lang="en-US" sz="1400" b="1" dirty="0">
                <a:solidFill>
                  <a:schemeClr val="bg1"/>
                </a:solidFill>
              </a:rPr>
              <a:t>Red 2</a:t>
            </a:r>
            <a:endParaRPr lang="en-US" sz="1400" dirty="0"/>
          </a:p>
        </p:txBody>
      </p:sp>
      <p:sp>
        <p:nvSpPr>
          <p:cNvPr id="24" name="Shape 21"/>
          <p:cNvSpPr/>
          <p:nvPr/>
        </p:nvSpPr>
        <p:spPr>
          <a:xfrm>
            <a:off x="1783080" y="4727448"/>
            <a:ext cx="4596819" cy="237744"/>
          </a:xfrm>
          <a:prstGeom prst="roundRect">
            <a:avLst>
              <a:gd name="adj" fmla="val 50000"/>
            </a:avLst>
          </a:prstGeom>
          <a:solidFill>
            <a:srgbClr val="3B82F6"/>
          </a:solidFill>
          <a:ln w="12700">
            <a:solidFill>
              <a:srgbClr val="3B82F6"/>
            </a:solidFill>
            <a:prstDash val="solid"/>
          </a:ln>
        </p:spPr>
      </p:sp>
      <p:sp>
        <p:nvSpPr>
          <p:cNvPr id="25" name="Shape 22"/>
          <p:cNvSpPr/>
          <p:nvPr/>
        </p:nvSpPr>
        <p:spPr>
          <a:xfrm>
            <a:off x="6407331" y="4727448"/>
            <a:ext cx="1081605" cy="237744"/>
          </a:xfrm>
          <a:prstGeom prst="roundRect">
            <a:avLst>
              <a:gd name="adj" fmla="val 50000"/>
            </a:avLst>
          </a:prstGeom>
          <a:solidFill>
            <a:srgbClr val="334155"/>
          </a:solidFill>
          <a:ln w="12700">
            <a:solidFill>
              <a:srgbClr val="334155"/>
            </a:solidFill>
            <a:prstDash val="solid"/>
          </a:ln>
        </p:spPr>
      </p:sp>
      <p:sp>
        <p:nvSpPr>
          <p:cNvPr id="26" name="Text 23"/>
          <p:cNvSpPr txBox="1"/>
          <p:nvPr/>
        </p:nvSpPr>
        <p:spPr>
          <a:xfrm>
            <a:off x="7644384" y="4663440"/>
            <a:ext cx="3291840" cy="36576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latin typeface="Consolas" pitchFamily="34" charset="0"/>
                <a:ea typeface="Consolas" pitchFamily="34" charset="-122"/>
                <a:cs typeface="Consolas" pitchFamily="34" charset="-120"/>
              </a:rPr>
              <a:t>mejor época 51 · se detuvo en la 63</a:t>
            </a:r>
            <a:endParaRPr lang="en-US" sz="1200" dirty="0"/>
          </a:p>
        </p:txBody>
      </p:sp>
      <p:sp>
        <p:nvSpPr>
          <p:cNvPr id="27" name="Text 24"/>
          <p:cNvSpPr txBox="1"/>
          <p:nvPr/>
        </p:nvSpPr>
        <p:spPr>
          <a:xfrm>
            <a:off x="777240" y="5166360"/>
            <a:ext cx="1005840" cy="365760"/>
          </a:xfrm>
          <a:prstGeom prst="rect">
            <a:avLst/>
          </a:prstGeom>
          <a:noFill/>
          <a:ln/>
        </p:spPr>
        <p:txBody>
          <a:bodyPr wrap="square" lIns="0" tIns="0" rIns="0" bIns="0" rtlCol="0" anchor="ctr"/>
          <a:lstStyle/>
          <a:p>
            <a:pPr algn="l" indent="0" marL="0">
              <a:lnSpc>
                <a:spcPct val="110000"/>
              </a:lnSpc>
              <a:spcAft>
                <a:spcPts val="400"/>
              </a:spcAft>
              <a:buNone/>
            </a:pPr>
            <a:r>
              <a:rPr lang="en-US" sz="1400" b="1" dirty="0">
                <a:solidFill>
                  <a:schemeClr val="bg1"/>
                </a:solidFill>
              </a:rPr>
              <a:t>Red 3</a:t>
            </a:r>
            <a:endParaRPr lang="en-US" sz="1400" dirty="0"/>
          </a:p>
        </p:txBody>
      </p:sp>
      <p:sp>
        <p:nvSpPr>
          <p:cNvPr id="28" name="Shape 25"/>
          <p:cNvSpPr/>
          <p:nvPr/>
        </p:nvSpPr>
        <p:spPr>
          <a:xfrm>
            <a:off x="1783080" y="5230368"/>
            <a:ext cx="3244814" cy="237744"/>
          </a:xfrm>
          <a:prstGeom prst="roundRect">
            <a:avLst>
              <a:gd name="adj" fmla="val 50000"/>
            </a:avLst>
          </a:prstGeom>
          <a:solidFill>
            <a:srgbClr val="3B82F6"/>
          </a:solidFill>
          <a:ln w="12700">
            <a:solidFill>
              <a:srgbClr val="3B82F6"/>
            </a:solidFill>
            <a:prstDash val="solid"/>
          </a:ln>
        </p:spPr>
      </p:sp>
      <p:sp>
        <p:nvSpPr>
          <p:cNvPr id="29" name="Shape 26"/>
          <p:cNvSpPr/>
          <p:nvPr/>
        </p:nvSpPr>
        <p:spPr>
          <a:xfrm>
            <a:off x="5055326" y="5230368"/>
            <a:ext cx="1081605" cy="237744"/>
          </a:xfrm>
          <a:prstGeom prst="roundRect">
            <a:avLst>
              <a:gd name="adj" fmla="val 50000"/>
            </a:avLst>
          </a:prstGeom>
          <a:solidFill>
            <a:srgbClr val="334155"/>
          </a:solidFill>
          <a:ln w="12700">
            <a:solidFill>
              <a:srgbClr val="334155"/>
            </a:solidFill>
            <a:prstDash val="solid"/>
          </a:ln>
        </p:spPr>
      </p:sp>
      <p:sp>
        <p:nvSpPr>
          <p:cNvPr id="30" name="Text 27"/>
          <p:cNvSpPr txBox="1"/>
          <p:nvPr/>
        </p:nvSpPr>
        <p:spPr>
          <a:xfrm>
            <a:off x="6292378" y="5166360"/>
            <a:ext cx="3291840" cy="36576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latin typeface="Consolas" pitchFamily="34" charset="0"/>
                <a:ea typeface="Consolas" pitchFamily="34" charset="-122"/>
                <a:cs typeface="Consolas" pitchFamily="34" charset="-120"/>
              </a:rPr>
              <a:t>mejor época 36 · se detuvo en la 48</a:t>
            </a:r>
            <a:endParaRPr lang="en-US" sz="1200" dirty="0"/>
          </a:p>
        </p:txBody>
      </p:sp>
      <p:sp>
        <p:nvSpPr>
          <p:cNvPr id="31" name="Shape 28"/>
          <p:cNvSpPr/>
          <p:nvPr/>
        </p:nvSpPr>
        <p:spPr>
          <a:xfrm>
            <a:off x="777240" y="5760720"/>
            <a:ext cx="274320" cy="128016"/>
          </a:xfrm>
          <a:prstGeom prst="roundRect">
            <a:avLst>
              <a:gd name="adj" fmla="val 50000"/>
            </a:avLst>
          </a:prstGeom>
          <a:solidFill>
            <a:srgbClr val="3B82F6"/>
          </a:solidFill>
          <a:ln w="12700">
            <a:solidFill>
              <a:srgbClr val="3B82F6"/>
            </a:solidFill>
            <a:prstDash val="solid"/>
          </a:ln>
        </p:spPr>
      </p:sp>
      <p:sp>
        <p:nvSpPr>
          <p:cNvPr id="32" name="Text 29"/>
          <p:cNvSpPr txBox="1"/>
          <p:nvPr/>
        </p:nvSpPr>
        <p:spPr>
          <a:xfrm>
            <a:off x="1115568" y="5705856"/>
            <a:ext cx="1828800" cy="237744"/>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épocas en que mejoró</a:t>
            </a:r>
            <a:endParaRPr lang="en-US" sz="1100" dirty="0"/>
          </a:p>
        </p:txBody>
      </p:sp>
      <p:sp>
        <p:nvSpPr>
          <p:cNvPr id="33" name="Shape 30"/>
          <p:cNvSpPr/>
          <p:nvPr/>
        </p:nvSpPr>
        <p:spPr>
          <a:xfrm>
            <a:off x="3017520" y="5760720"/>
            <a:ext cx="274320" cy="128016"/>
          </a:xfrm>
          <a:prstGeom prst="roundRect">
            <a:avLst>
              <a:gd name="adj" fmla="val 50000"/>
            </a:avLst>
          </a:prstGeom>
          <a:solidFill>
            <a:srgbClr val="334155"/>
          </a:solidFill>
          <a:ln w="12700">
            <a:solidFill>
              <a:srgbClr val="334155"/>
            </a:solidFill>
            <a:prstDash val="solid"/>
          </a:ln>
        </p:spPr>
      </p:sp>
      <p:sp>
        <p:nvSpPr>
          <p:cNvPr id="34" name="Text 31"/>
          <p:cNvSpPr txBox="1"/>
          <p:nvPr/>
        </p:nvSpPr>
        <p:spPr>
          <a:xfrm>
            <a:off x="3355848" y="5705856"/>
            <a:ext cx="7772400" cy="237744"/>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12 épocas de espera sin mejora: se descartan y se recuperan los pesos de la mejor época</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6400800" cy="365760"/>
          </a:xfrm>
          <a:prstGeom prst="rect">
            <a:avLst/>
          </a:prstGeom>
          <a:noFill/>
          <a:ln/>
        </p:spPr>
        <p:txBody>
          <a:bodyPr wrap="square" lIns="0" tIns="0" rIns="0" bIns="0" rtlCol="0"/>
          <a:lstStyle/>
          <a:p>
            <a:pPr algn="l" indent="0" marL="0">
              <a:buNone/>
            </a:pPr>
            <a:r>
              <a:rPr lang="en-US" sz="1400" spc="400" kern="0" dirty="0">
                <a:solidFill>
                  <a:schemeClr val="accent2"/>
                </a:solidFill>
                <a:latin typeface="Consolas" pitchFamily="34" charset="0"/>
                <a:ea typeface="Consolas" pitchFamily="34" charset="-122"/>
                <a:cs typeface="Consolas" pitchFamily="34" charset="-120"/>
              </a:rPr>
              <a:t>04 · APRENDIZAJE</a:t>
            </a:r>
            <a:endParaRPr lang="en-US" sz="1400" dirty="0"/>
          </a:p>
        </p:txBody>
      </p:sp>
      <p:sp>
        <p:nvSpPr>
          <p:cNvPr id="3" name="Text 0"/>
          <p:cNvSpPr/>
          <p:nvPr>
            <p:ph idx="101" type="title" hasCustomPrompt="1"/>
          </p:nvPr>
        </p:nvSpPr>
        <p:spPr>
          <a:xfrm>
            <a:off x="731520" y="2560320"/>
            <a:ext cx="7863840" cy="1737360"/>
          </a:xfrm>
          <a:prstGeom prst="rect">
            <a:avLst/>
          </a:prstGeom>
          <a:noFill/>
          <a:ln/>
        </p:spPr>
        <p:txBody>
          <a:bodyPr wrap="square" lIns="0" tIns="0" rIns="0" bIns="0" rtlCol="0" anchor="t"/>
          <a:lstStyle/>
          <a:p>
            <a:pPr algn="l" indent="0" marL="0">
              <a:buNone/>
            </a:pPr>
            <a:r>
              <a:rPr lang="en-US" sz="4400" b="1" dirty="0">
                <a:solidFill>
                  <a:schemeClr val="bg1"/>
                </a:solidFill>
              </a:rPr>
              <a:t>Aprendizaje o memorización</a:t>
            </a:r>
            <a:endParaRPr lang="en-US" sz="4400" dirty="0"/>
          </a:p>
        </p:txBody>
      </p:sp>
      <p:sp>
        <p:nvSpPr>
          <p:cNvPr id="4" name="Text 2"/>
          <p:cNvSpPr txBox="1"/>
          <p:nvPr/>
        </p:nvSpPr>
        <p:spPr>
          <a:xfrm>
            <a:off x="731520" y="4343400"/>
            <a:ext cx="6217920" cy="731520"/>
          </a:xfrm>
          <a:prstGeom prst="rect">
            <a:avLst/>
          </a:prstGeom>
          <a:noFill/>
          <a:ln/>
        </p:spPr>
        <p:txBody>
          <a:bodyPr wrap="square" lIns="0" tIns="0" rIns="0" bIns="0" rtlCol="0" anchor="t"/>
          <a:lstStyle/>
          <a:p>
            <a:pPr algn="l" indent="0" marL="0">
              <a:lnSpc>
                <a:spcPct val="110000"/>
              </a:lnSpc>
              <a:spcAft>
                <a:spcPts val="400"/>
              </a:spcAft>
              <a:buNone/>
            </a:pPr>
            <a:r>
              <a:rPr lang="en-US" sz="1600" dirty="0">
                <a:solidFill>
                  <a:schemeClr val="bg2"/>
                </a:solidFill>
              </a:rPr>
              <a:t>Cinco pruebas para comprobar si el modelo aprendió patrones generales o solo memorizó los ejemplos.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Cómo leer una curva de aprendizaje</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Una curva de aprendizaje muestra el error en cada época. La línea azul es el error con los clientes de entrenamiento (lo que la red estudia) y la naranja con los de validación (clientes que no estudia). Más bajo es mejor.</a:t>
            </a:r>
            <a:endParaRPr lang="en-US" sz="1500" dirty="0"/>
          </a:p>
        </p:txBody>
      </p:sp>
      <p:sp>
        <p:nvSpPr>
          <p:cNvPr id="5" name="Shape 2"/>
          <p:cNvSpPr/>
          <p:nvPr/>
        </p:nvSpPr>
        <p:spPr>
          <a:xfrm>
            <a:off x="548640" y="1965960"/>
            <a:ext cx="5449824" cy="4206240"/>
          </a:xfrm>
          <a:prstGeom prst="roundRect">
            <a:avLst>
              <a:gd name="adj" fmla="val 3043"/>
            </a:avLst>
          </a:prstGeom>
          <a:solidFill>
            <a:schemeClr val="tx2">
              <a:alpha val="92000"/>
            </a:schemeClr>
          </a:solidFill>
          <a:ln w="15875">
            <a:solidFill>
              <a:srgbClr val="34D399"/>
            </a:solidFill>
            <a:prstDash val="solid"/>
          </a:ln>
        </p:spPr>
      </p:sp>
      <p:sp>
        <p:nvSpPr>
          <p:cNvPr id="6" name="Text 3"/>
          <p:cNvSpPr txBox="1"/>
          <p:nvPr/>
        </p:nvSpPr>
        <p:spPr>
          <a:xfrm>
            <a:off x="822960" y="2148840"/>
            <a:ext cx="4937760" cy="365760"/>
          </a:xfrm>
          <a:prstGeom prst="rect">
            <a:avLst/>
          </a:prstGeom>
          <a:noFill/>
          <a:ln/>
        </p:spPr>
        <p:txBody>
          <a:bodyPr wrap="square" lIns="0" tIns="0" rIns="0" bIns="0" rtlCol="0" anchor="t"/>
          <a:lstStyle/>
          <a:p>
            <a:pPr algn="l" indent="0" marL="0">
              <a:lnSpc>
                <a:spcPct val="110000"/>
              </a:lnSpc>
              <a:spcAft>
                <a:spcPts val="400"/>
              </a:spcAft>
              <a:buNone/>
            </a:pPr>
            <a:r>
              <a:rPr lang="en-US" sz="1800" b="1" dirty="0">
                <a:solidFill>
                  <a:schemeClr val="accent4"/>
                </a:solidFill>
              </a:rPr>
              <a:t>Un modelo que aprende</a:t>
            </a:r>
            <a:endParaRPr lang="en-US" sz="1800" dirty="0"/>
          </a:p>
        </p:txBody>
      </p:sp>
      <p:sp>
        <p:nvSpPr>
          <p:cNvPr id="7" name="Text 4"/>
          <p:cNvSpPr txBox="1"/>
          <p:nvPr/>
        </p:nvSpPr>
        <p:spPr>
          <a:xfrm>
            <a:off x="822960" y="2560320"/>
            <a:ext cx="4937760" cy="64008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Las dos curvas bajan juntas y quedan cerca: lo aprendido sirve también para clientes nuevos.</a:t>
            </a:r>
            <a:endParaRPr lang="en-US" sz="1300" dirty="0"/>
          </a:p>
        </p:txBody>
      </p:sp>
      <p:graphicFrame>
        <p:nvGraphicFramePr>
          <p:cNvPr id="8" name="Chart 0" descr=""/>
          <p:cNvGraphicFramePr/>
          <p:nvPr/>
        </p:nvGraphicFramePr>
        <p:xfrm>
          <a:off x="731520" y="3200400"/>
          <a:ext cx="5084064" cy="28803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190488" y="1965960"/>
            <a:ext cx="5449824" cy="4206240"/>
          </a:xfrm>
          <a:prstGeom prst="roundRect">
            <a:avLst>
              <a:gd name="adj" fmla="val 3043"/>
            </a:avLst>
          </a:prstGeom>
          <a:solidFill>
            <a:schemeClr val="tx2">
              <a:alpha val="92000"/>
            </a:schemeClr>
          </a:solidFill>
          <a:ln w="15875">
            <a:solidFill>
              <a:srgbClr val="F87171"/>
            </a:solidFill>
            <a:prstDash val="solid"/>
          </a:ln>
        </p:spPr>
      </p:sp>
      <p:sp>
        <p:nvSpPr>
          <p:cNvPr id="10" name="Text 6"/>
          <p:cNvSpPr txBox="1"/>
          <p:nvPr/>
        </p:nvSpPr>
        <p:spPr>
          <a:xfrm>
            <a:off x="6464808" y="2148840"/>
            <a:ext cx="4937760" cy="365760"/>
          </a:xfrm>
          <a:prstGeom prst="rect">
            <a:avLst/>
          </a:prstGeom>
          <a:noFill/>
          <a:ln/>
        </p:spPr>
        <p:txBody>
          <a:bodyPr wrap="square" lIns="0" tIns="0" rIns="0" bIns="0" rtlCol="0" anchor="t"/>
          <a:lstStyle/>
          <a:p>
            <a:pPr algn="l" indent="0" marL="0">
              <a:lnSpc>
                <a:spcPct val="110000"/>
              </a:lnSpc>
              <a:spcAft>
                <a:spcPts val="400"/>
              </a:spcAft>
              <a:buNone/>
            </a:pPr>
            <a:r>
              <a:rPr lang="en-US" sz="1800" b="1" dirty="0">
                <a:solidFill>
                  <a:schemeClr val="accent5"/>
                </a:solidFill>
              </a:rPr>
              <a:t>Un modelo que memoriza</a:t>
            </a:r>
            <a:endParaRPr lang="en-US" sz="1800" dirty="0"/>
          </a:p>
        </p:txBody>
      </p:sp>
      <p:sp>
        <p:nvSpPr>
          <p:cNvPr id="11" name="Text 7"/>
          <p:cNvSpPr txBox="1"/>
          <p:nvPr/>
        </p:nvSpPr>
        <p:spPr>
          <a:xfrm>
            <a:off x="6464808" y="2560320"/>
            <a:ext cx="4937760" cy="64008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El error en entrenamiento baja casi a cero, pero en validación sube: se aprendió los ejemplos, no las reglas.</a:t>
            </a:r>
            <a:endParaRPr lang="en-US" sz="1300" dirty="0"/>
          </a:p>
        </p:txBody>
      </p:sp>
      <p:graphicFrame>
        <p:nvGraphicFramePr>
          <p:cNvPr id="12" name="Chart 1" descr=""/>
          <p:cNvGraphicFramePr/>
          <p:nvPr/>
        </p:nvGraphicFramePr>
        <p:xfrm>
          <a:off x="6373368" y="3200400"/>
          <a:ext cx="5084064" cy="2880360"/>
        </p:xfrm>
        <a:graphic xmlns:a="http://schemas.openxmlformats.org/drawingml/2006/main">
          <a:graphicData uri="http://schemas.openxmlformats.org/drawingml/2006/chart">
            <c:chart xmlns:c="http://schemas.openxmlformats.org/drawingml/2006/chart" r:id="rId2"/>
          </a:graphicData>
        </a:graphic>
      </p:graphicFrame>
      <p:sp>
        <p:nvSpPr>
          <p:cNvPr id="13" name="Text 8"/>
          <p:cNvSpPr txBox="1"/>
          <p:nvPr/>
        </p:nvSpPr>
        <p:spPr>
          <a:xfrm>
            <a:off x="548640" y="6199632"/>
            <a:ext cx="5486400" cy="182880"/>
          </a:xfrm>
          <a:prstGeom prst="rect">
            <a:avLst/>
          </a:prstGeom>
          <a:noFill/>
          <a:ln/>
        </p:spPr>
        <p:txBody>
          <a:bodyPr wrap="square" lIns="0" tIns="0" rIns="0" bIns="0" rtlCol="0" anchor="t"/>
          <a:lstStyle/>
          <a:p>
            <a:pPr algn="l" indent="0" marL="0">
              <a:lnSpc>
                <a:spcPct val="110000"/>
              </a:lnSpc>
              <a:spcAft>
                <a:spcPts val="400"/>
              </a:spcAft>
              <a:buNone/>
            </a:pPr>
            <a:r>
              <a:rPr lang="en-US" sz="950" dirty="0">
                <a:solidFill>
                  <a:srgbClr val="64748B"/>
                </a:solidFill>
              </a:rPr>
              <a:t>Ilustración conceptual (no son datos del proyecto).</a:t>
            </a:r>
            <a:endParaRPr lang="en-US" sz="9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 1: curvas de las tres redes del modelo final</a:t>
            </a:r>
            <a:endParaRPr lang="en-US" sz="2200" dirty="0"/>
          </a:p>
        </p:txBody>
      </p:sp>
      <p:sp>
        <p:nvSpPr>
          <p:cNvPr id="4" name="Shape 1"/>
          <p:cNvSpPr/>
          <p:nvPr/>
        </p:nvSpPr>
        <p:spPr>
          <a:xfrm>
            <a:off x="548640" y="1188720"/>
            <a:ext cx="3520440" cy="2880360"/>
          </a:xfrm>
          <a:prstGeom prst="roundRect">
            <a:avLst>
              <a:gd name="adj" fmla="val 4444"/>
            </a:avLst>
          </a:prstGeom>
          <a:solidFill>
            <a:schemeClr val="tx2">
              <a:alpha val="92000"/>
            </a:schemeClr>
          </a:solidFill>
          <a:ln w="12700">
            <a:solidFill>
              <a:srgbClr val="1E293B"/>
            </a:solidFill>
            <a:prstDash val="solid"/>
          </a:ln>
        </p:spPr>
      </p:sp>
      <p:graphicFrame>
        <p:nvGraphicFramePr>
          <p:cNvPr id="5" name="Chart 0" descr=""/>
          <p:cNvGraphicFramePr/>
          <p:nvPr/>
        </p:nvGraphicFramePr>
        <p:xfrm>
          <a:off x="640080" y="1261872"/>
          <a:ext cx="3337560" cy="27432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4297680" y="1188720"/>
            <a:ext cx="3520440" cy="2880360"/>
          </a:xfrm>
          <a:prstGeom prst="roundRect">
            <a:avLst>
              <a:gd name="adj" fmla="val 4444"/>
            </a:avLst>
          </a:prstGeom>
          <a:solidFill>
            <a:schemeClr val="tx2">
              <a:alpha val="92000"/>
            </a:schemeClr>
          </a:solidFill>
          <a:ln w="12700">
            <a:solidFill>
              <a:srgbClr val="1E293B"/>
            </a:solidFill>
            <a:prstDash val="solid"/>
          </a:ln>
        </p:spPr>
      </p:sp>
      <p:graphicFrame>
        <p:nvGraphicFramePr>
          <p:cNvPr id="7" name="Chart 1" descr=""/>
          <p:cNvGraphicFramePr/>
          <p:nvPr/>
        </p:nvGraphicFramePr>
        <p:xfrm>
          <a:off x="4389120" y="1261872"/>
          <a:ext cx="3337560" cy="2743200"/>
        </p:xfrm>
        <a:graphic xmlns:a="http://schemas.openxmlformats.org/drawingml/2006/main">
          <a:graphicData uri="http://schemas.openxmlformats.org/drawingml/2006/chart">
            <c:chart xmlns:c="http://schemas.openxmlformats.org/drawingml/2006/chart" r:id="rId2"/>
          </a:graphicData>
        </a:graphic>
      </p:graphicFrame>
      <p:sp>
        <p:nvSpPr>
          <p:cNvPr id="8" name="Shape 3"/>
          <p:cNvSpPr/>
          <p:nvPr/>
        </p:nvSpPr>
        <p:spPr>
          <a:xfrm>
            <a:off x="8046720" y="1188720"/>
            <a:ext cx="3520440" cy="2880360"/>
          </a:xfrm>
          <a:prstGeom prst="roundRect">
            <a:avLst>
              <a:gd name="adj" fmla="val 4444"/>
            </a:avLst>
          </a:prstGeom>
          <a:solidFill>
            <a:schemeClr val="tx2">
              <a:alpha val="92000"/>
            </a:schemeClr>
          </a:solidFill>
          <a:ln w="12700">
            <a:solidFill>
              <a:srgbClr val="1E293B"/>
            </a:solidFill>
            <a:prstDash val="solid"/>
          </a:ln>
        </p:spPr>
      </p:sp>
      <p:graphicFrame>
        <p:nvGraphicFramePr>
          <p:cNvPr id="9" name="Chart 2" descr=""/>
          <p:cNvGraphicFramePr/>
          <p:nvPr/>
        </p:nvGraphicFramePr>
        <p:xfrm>
          <a:off x="8138160" y="1261872"/>
          <a:ext cx="3337560" cy="2743200"/>
        </p:xfrm>
        <a:graphic xmlns:a="http://schemas.openxmlformats.org/drawingml/2006/main">
          <a:graphicData uri="http://schemas.openxmlformats.org/drawingml/2006/chart">
            <c:chart xmlns:c="http://schemas.openxmlformats.org/drawingml/2006/chart" r:id="rId3"/>
          </a:graphicData>
        </a:graphic>
      </p:graphicFrame>
      <p:sp>
        <p:nvSpPr>
          <p:cNvPr id="10" name="Shape 4"/>
          <p:cNvSpPr/>
          <p:nvPr/>
        </p:nvSpPr>
        <p:spPr>
          <a:xfrm>
            <a:off x="548640" y="4206240"/>
            <a:ext cx="3575304" cy="1965960"/>
          </a:xfrm>
          <a:prstGeom prst="roundRect">
            <a:avLst>
              <a:gd name="adj" fmla="val 6512"/>
            </a:avLst>
          </a:prstGeom>
          <a:solidFill>
            <a:schemeClr val="tx2">
              <a:alpha val="92000"/>
            </a:schemeClr>
          </a:solidFill>
          <a:ln w="12700">
            <a:solidFill>
              <a:srgbClr val="1E293B"/>
            </a:solidFill>
            <a:prstDash val="solid"/>
          </a:ln>
        </p:spPr>
      </p:sp>
      <p:sp>
        <p:nvSpPr>
          <p:cNvPr id="11" name="Text 5"/>
          <p:cNvSpPr txBox="1"/>
          <p:nvPr/>
        </p:nvSpPr>
        <p:spPr>
          <a:xfrm>
            <a:off x="777240" y="4370832"/>
            <a:ext cx="3118104"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QUÉ HICIMOS</a:t>
            </a:r>
            <a:endParaRPr lang="en-US" sz="1050" dirty="0"/>
          </a:p>
        </p:txBody>
      </p:sp>
      <p:sp>
        <p:nvSpPr>
          <p:cNvPr id="12" name="Text 6"/>
          <p:cNvSpPr txBox="1"/>
          <p:nvPr/>
        </p:nvSpPr>
        <p:spPr>
          <a:xfrm>
            <a:off x="777240" y="4681728"/>
            <a:ext cx="3118104" cy="137160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Se volvieron a entrenar las 3 redes del modelo final con su misma configuración y se anotó el error en cada época, tanto con los clientes de entrenamiento como con los de validación.</a:t>
            </a:r>
            <a:endParaRPr lang="en-US" sz="1300" dirty="0"/>
          </a:p>
        </p:txBody>
      </p:sp>
      <p:sp>
        <p:nvSpPr>
          <p:cNvPr id="13" name="Shape 7"/>
          <p:cNvSpPr/>
          <p:nvPr/>
        </p:nvSpPr>
        <p:spPr>
          <a:xfrm>
            <a:off x="4306824" y="4206240"/>
            <a:ext cx="3575304" cy="1965960"/>
          </a:xfrm>
          <a:prstGeom prst="roundRect">
            <a:avLst>
              <a:gd name="adj" fmla="val 6512"/>
            </a:avLst>
          </a:prstGeom>
          <a:solidFill>
            <a:schemeClr val="tx2">
              <a:alpha val="92000"/>
            </a:schemeClr>
          </a:solidFill>
          <a:ln w="12700">
            <a:solidFill>
              <a:srgbClr val="1E293B"/>
            </a:solidFill>
            <a:prstDash val="solid"/>
          </a:ln>
        </p:spPr>
      </p:sp>
      <p:sp>
        <p:nvSpPr>
          <p:cNvPr id="14" name="Text 8"/>
          <p:cNvSpPr txBox="1"/>
          <p:nvPr/>
        </p:nvSpPr>
        <p:spPr>
          <a:xfrm>
            <a:off x="4535424" y="4370832"/>
            <a:ext cx="3118104" cy="256032"/>
          </a:xfrm>
          <a:prstGeom prst="rect">
            <a:avLst/>
          </a:prstGeom>
          <a:noFill/>
          <a:ln/>
        </p:spPr>
        <p:txBody>
          <a:bodyPr wrap="square" lIns="0" tIns="0" rIns="0" bIns="0" rtlCol="0" anchor="ctr"/>
          <a:lstStyle/>
          <a:p>
            <a:pPr indent="0" marL="0">
              <a:buNone/>
            </a:pPr>
            <a:r>
              <a:rPr lang="en-US" sz="1050" spc="200" kern="0" dirty="0">
                <a:solidFill>
                  <a:schemeClr val="accent3"/>
                </a:solidFill>
                <a:latin typeface="Consolas" pitchFamily="34" charset="0"/>
                <a:ea typeface="Consolas" pitchFamily="34" charset="-122"/>
                <a:cs typeface="Consolas" pitchFamily="34" charset="-120"/>
              </a:rPr>
              <a:t>QUÉ BUSCÁBAMOS</a:t>
            </a:r>
            <a:endParaRPr lang="en-US" sz="1050" dirty="0"/>
          </a:p>
        </p:txBody>
      </p:sp>
      <p:sp>
        <p:nvSpPr>
          <p:cNvPr id="15" name="Text 9"/>
          <p:cNvSpPr txBox="1"/>
          <p:nvPr/>
        </p:nvSpPr>
        <p:spPr>
          <a:xfrm>
            <a:off x="4535424" y="4681728"/>
            <a:ext cx="3118104" cy="137160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Si la red memorizara, la línea azul seguiría bajando y la naranja empezaría a subir: las curvas se abrirían como una tijera.</a:t>
            </a:r>
            <a:endParaRPr lang="en-US" sz="1300" dirty="0"/>
          </a:p>
        </p:txBody>
      </p:sp>
      <p:sp>
        <p:nvSpPr>
          <p:cNvPr id="16" name="Shape 10"/>
          <p:cNvSpPr/>
          <p:nvPr/>
        </p:nvSpPr>
        <p:spPr>
          <a:xfrm>
            <a:off x="8065008" y="4206240"/>
            <a:ext cx="3575304" cy="1965960"/>
          </a:xfrm>
          <a:prstGeom prst="roundRect">
            <a:avLst>
              <a:gd name="adj" fmla="val 6512"/>
            </a:avLst>
          </a:prstGeom>
          <a:solidFill>
            <a:schemeClr val="tx2">
              <a:alpha val="92000"/>
            </a:schemeClr>
          </a:solidFill>
          <a:ln w="12700">
            <a:solidFill>
              <a:srgbClr val="1E293B"/>
            </a:solidFill>
            <a:prstDash val="solid"/>
          </a:ln>
        </p:spPr>
      </p:sp>
      <p:sp>
        <p:nvSpPr>
          <p:cNvPr id="17" name="Text 11"/>
          <p:cNvSpPr txBox="1"/>
          <p:nvPr/>
        </p:nvSpPr>
        <p:spPr>
          <a:xfrm>
            <a:off x="8293608" y="4370832"/>
            <a:ext cx="3118104" cy="256032"/>
          </a:xfrm>
          <a:prstGeom prst="rect">
            <a:avLst/>
          </a:prstGeom>
          <a:noFill/>
          <a:ln/>
        </p:spPr>
        <p:txBody>
          <a:bodyPr wrap="square" lIns="0" tIns="0" rIns="0" bIns="0" rtlCol="0" anchor="ctr"/>
          <a:lstStyle/>
          <a:p>
            <a:pPr indent="0" marL="0">
              <a:buNone/>
            </a:pPr>
            <a:r>
              <a:rPr lang="en-US" sz="1050" spc="200" kern="0" dirty="0">
                <a:solidFill>
                  <a:schemeClr val="accent4"/>
                </a:solidFill>
                <a:latin typeface="Consolas" pitchFamily="34" charset="0"/>
                <a:ea typeface="Consolas" pitchFamily="34" charset="-122"/>
                <a:cs typeface="Consolas" pitchFamily="34" charset="-120"/>
              </a:rPr>
              <a:t>QUÉ ENCONTRAMOS</a:t>
            </a:r>
            <a:endParaRPr lang="en-US" sz="1050" dirty="0"/>
          </a:p>
        </p:txBody>
      </p:sp>
      <p:sp>
        <p:nvSpPr>
          <p:cNvPr id="18" name="Text 12"/>
          <p:cNvSpPr txBox="1"/>
          <p:nvPr/>
        </p:nvSpPr>
        <p:spPr>
          <a:xfrm>
            <a:off x="8293608" y="4681728"/>
            <a:ext cx="3118104" cy="137160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Las dos curvas bajan juntas y se mantienen cerca. En la mejor época la diferencia de error es de solo 0,008 a 0,015.</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 2: entrenamiento sin parada temprana</a:t>
            </a:r>
            <a:endParaRPr lang="en-US" sz="2200" dirty="0"/>
          </a:p>
        </p:txBody>
      </p:sp>
      <p:graphicFrame>
        <p:nvGraphicFramePr>
          <p:cNvPr id="4" name="Chart 0" descr=""/>
          <p:cNvGraphicFramePr/>
          <p:nvPr/>
        </p:nvGraphicFramePr>
        <p:xfrm>
          <a:off x="548640" y="1188720"/>
          <a:ext cx="6949440" cy="498348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726680" y="1188720"/>
            <a:ext cx="3913632" cy="4983480"/>
          </a:xfrm>
          <a:prstGeom prst="roundRect">
            <a:avLst>
              <a:gd name="adj" fmla="val 3271"/>
            </a:avLst>
          </a:prstGeom>
          <a:solidFill>
            <a:schemeClr val="tx2">
              <a:alpha val="92000"/>
            </a:schemeClr>
          </a:solidFill>
          <a:ln w="12700">
            <a:solidFill>
              <a:srgbClr val="1E293B"/>
            </a:solidFill>
            <a:prstDash val="solid"/>
          </a:ln>
        </p:spPr>
      </p:sp>
      <p:sp>
        <p:nvSpPr>
          <p:cNvPr id="6" name="Text 2"/>
          <p:cNvSpPr txBox="1"/>
          <p:nvPr/>
        </p:nvSpPr>
        <p:spPr>
          <a:xfrm>
            <a:off x="7955280" y="1353312"/>
            <a:ext cx="3456432"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QUÉ HICIMOS</a:t>
            </a:r>
            <a:endParaRPr lang="en-US" sz="1050" dirty="0"/>
          </a:p>
        </p:txBody>
      </p:sp>
      <p:sp>
        <p:nvSpPr>
          <p:cNvPr id="7" name="Text 3"/>
          <p:cNvSpPr txBox="1"/>
          <p:nvPr/>
        </p:nvSpPr>
        <p:spPr>
          <a:xfrm>
            <a:off x="7955280" y="1645920"/>
            <a:ext cx="3456432" cy="1222248"/>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Se tomó la Red 1 y se dejó entrenar 150 épocas seguidas, sin parada temprana y sin reducir el paso de aprendizaje.</a:t>
            </a:r>
            <a:endParaRPr lang="en-US" sz="1250" dirty="0"/>
          </a:p>
        </p:txBody>
      </p:sp>
      <p:sp>
        <p:nvSpPr>
          <p:cNvPr id="8" name="Text 4"/>
          <p:cNvSpPr txBox="1"/>
          <p:nvPr/>
        </p:nvSpPr>
        <p:spPr>
          <a:xfrm>
            <a:off x="7955280" y="2923032"/>
            <a:ext cx="3456432" cy="256032"/>
          </a:xfrm>
          <a:prstGeom prst="rect">
            <a:avLst/>
          </a:prstGeom>
          <a:noFill/>
          <a:ln/>
        </p:spPr>
        <p:txBody>
          <a:bodyPr wrap="square" lIns="0" tIns="0" rIns="0" bIns="0" rtlCol="0" anchor="ctr"/>
          <a:lstStyle/>
          <a:p>
            <a:pPr indent="0" marL="0">
              <a:buNone/>
            </a:pPr>
            <a:r>
              <a:rPr lang="en-US" sz="1050" spc="200" kern="0" dirty="0">
                <a:solidFill>
                  <a:schemeClr val="accent3"/>
                </a:solidFill>
                <a:latin typeface="Consolas" pitchFamily="34" charset="0"/>
                <a:ea typeface="Consolas" pitchFamily="34" charset="-122"/>
                <a:cs typeface="Consolas" pitchFamily="34" charset="-120"/>
              </a:rPr>
              <a:t>QUÉ BUSCÁBAMOS</a:t>
            </a:r>
            <a:endParaRPr lang="en-US" sz="1050" dirty="0"/>
          </a:p>
        </p:txBody>
      </p:sp>
      <p:sp>
        <p:nvSpPr>
          <p:cNvPr id="9" name="Text 5"/>
          <p:cNvSpPr txBox="1"/>
          <p:nvPr/>
        </p:nvSpPr>
        <p:spPr>
          <a:xfrm>
            <a:off x="7955280" y="3215640"/>
            <a:ext cx="3456432" cy="1222248"/>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Ver qué pasa si no se frena a tiempo: si la red empieza a memorizar al seguir entrenando.</a:t>
            </a:r>
            <a:endParaRPr lang="en-US" sz="1250" dirty="0"/>
          </a:p>
        </p:txBody>
      </p:sp>
      <p:sp>
        <p:nvSpPr>
          <p:cNvPr id="10" name="Text 6"/>
          <p:cNvSpPr txBox="1"/>
          <p:nvPr/>
        </p:nvSpPr>
        <p:spPr>
          <a:xfrm>
            <a:off x="7955280" y="4492752"/>
            <a:ext cx="3456432" cy="256032"/>
          </a:xfrm>
          <a:prstGeom prst="rect">
            <a:avLst/>
          </a:prstGeom>
          <a:noFill/>
          <a:ln/>
        </p:spPr>
        <p:txBody>
          <a:bodyPr wrap="square" lIns="0" tIns="0" rIns="0" bIns="0" rtlCol="0" anchor="ctr"/>
          <a:lstStyle/>
          <a:p>
            <a:pPr indent="0" marL="0">
              <a:buNone/>
            </a:pPr>
            <a:r>
              <a:rPr lang="en-US" sz="1050" spc="200" kern="0" dirty="0">
                <a:solidFill>
                  <a:schemeClr val="accent4"/>
                </a:solidFill>
                <a:latin typeface="Consolas" pitchFamily="34" charset="0"/>
                <a:ea typeface="Consolas" pitchFamily="34" charset="-122"/>
                <a:cs typeface="Consolas" pitchFamily="34" charset="-120"/>
              </a:rPr>
              <a:t>QUÉ ENCONTRAMOS</a:t>
            </a:r>
            <a:endParaRPr lang="en-US" sz="1050" dirty="0"/>
          </a:p>
        </p:txBody>
      </p:sp>
      <p:sp>
        <p:nvSpPr>
          <p:cNvPr id="11" name="Text 7"/>
          <p:cNvSpPr txBox="1"/>
          <p:nvPr/>
        </p:nvSpPr>
        <p:spPr>
          <a:xfrm>
            <a:off x="7955280" y="4785360"/>
            <a:ext cx="3456432" cy="1222248"/>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Después de la época 44 (donde la parada temprana la detuvo), la validación empeora. Sin freno, la brecha sube a 0,027–0,059 y el AUC baja a 0,738–0,745; con freno es ≈ 0,752.</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 3: comparación con una red que memoriza</a:t>
            </a:r>
            <a:endParaRPr lang="en-US" sz="2200" dirty="0"/>
          </a:p>
        </p:txBody>
      </p:sp>
      <p:graphicFrame>
        <p:nvGraphicFramePr>
          <p:cNvPr id="4" name="Chart 0" descr=""/>
          <p:cNvGraphicFramePr/>
          <p:nvPr/>
        </p:nvGraphicFramePr>
        <p:xfrm>
          <a:off x="548640" y="1188720"/>
          <a:ext cx="6949440" cy="356616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48640" y="4892040"/>
            <a:ext cx="3383280" cy="1280160"/>
          </a:xfrm>
          <a:prstGeom prst="roundRect">
            <a:avLst>
              <a:gd name="adj" fmla="val 10000"/>
            </a:avLst>
          </a:prstGeom>
          <a:solidFill>
            <a:schemeClr val="tx2">
              <a:alpha val="92000"/>
            </a:schemeClr>
          </a:solidFill>
          <a:ln w="15875">
            <a:solidFill>
              <a:srgbClr val="F87171"/>
            </a:solidFill>
            <a:prstDash val="solid"/>
          </a:ln>
        </p:spPr>
      </p:sp>
      <p:sp>
        <p:nvSpPr>
          <p:cNvPr id="6" name="Text 2"/>
          <p:cNvSpPr txBox="1"/>
          <p:nvPr/>
        </p:nvSpPr>
        <p:spPr>
          <a:xfrm>
            <a:off x="731520" y="4965192"/>
            <a:ext cx="3017520" cy="274320"/>
          </a:xfrm>
          <a:prstGeom prst="rect">
            <a:avLst/>
          </a:prstGeom>
          <a:noFill/>
          <a:ln/>
        </p:spPr>
        <p:txBody>
          <a:bodyPr wrap="square" lIns="0" tIns="0" rIns="0" bIns="0" rtlCol="0" anchor="t"/>
          <a:lstStyle/>
          <a:p>
            <a:pPr algn="l" indent="0" marL="0">
              <a:lnSpc>
                <a:spcPct val="110000"/>
              </a:lnSpc>
              <a:spcAft>
                <a:spcPts val="400"/>
              </a:spcAft>
              <a:buNone/>
            </a:pPr>
            <a:r>
              <a:rPr lang="en-US" sz="1350" b="1" dirty="0">
                <a:solidFill>
                  <a:schemeClr val="bg1"/>
                </a:solidFill>
              </a:rPr>
              <a:t>Red gigante</a:t>
            </a:r>
            <a:endParaRPr lang="en-US" sz="1350" dirty="0"/>
          </a:p>
        </p:txBody>
      </p:sp>
      <p:sp>
        <p:nvSpPr>
          <p:cNvPr id="7" name="Text 3"/>
          <p:cNvSpPr txBox="1"/>
          <p:nvPr/>
        </p:nvSpPr>
        <p:spPr>
          <a:xfrm>
            <a:off x="731520" y="5230368"/>
            <a:ext cx="3017520" cy="228600"/>
          </a:xfrm>
          <a:prstGeom prst="rect">
            <a:avLst/>
          </a:prstGeom>
          <a:noFill/>
          <a:ln/>
        </p:spPr>
        <p:txBody>
          <a:bodyPr wrap="square" lIns="0" tIns="0" rIns="0" bIns="0" rtlCol="0" anchor="t"/>
          <a:lstStyle/>
          <a:p>
            <a:pPr algn="l" indent="0" marL="0">
              <a:lnSpc>
                <a:spcPct val="110000"/>
              </a:lnSpc>
              <a:spcAft>
                <a:spcPts val="400"/>
              </a:spcAft>
              <a:buNone/>
            </a:pPr>
            <a:r>
              <a:rPr lang="en-US" sz="1000" dirty="0">
                <a:solidFill>
                  <a:srgbClr val="94A3B8"/>
                </a:solidFill>
                <a:latin typeface="Consolas" pitchFamily="34" charset="0"/>
                <a:ea typeface="Consolas" pitchFamily="34" charset="-122"/>
                <a:cs typeface="Consolas" pitchFamily="34" charset="-120"/>
              </a:rPr>
              <a:t>187.393 pesos · sin técnicas</a:t>
            </a:r>
            <a:endParaRPr lang="en-US" sz="1000" dirty="0"/>
          </a:p>
        </p:txBody>
      </p:sp>
      <p:sp>
        <p:nvSpPr>
          <p:cNvPr id="8" name="Text 4"/>
          <p:cNvSpPr txBox="1"/>
          <p:nvPr/>
        </p:nvSpPr>
        <p:spPr>
          <a:xfrm>
            <a:off x="731520" y="5486400"/>
            <a:ext cx="1463040" cy="365760"/>
          </a:xfrm>
          <a:prstGeom prst="rect">
            <a:avLst/>
          </a:prstGeom>
          <a:noFill/>
          <a:ln/>
        </p:spPr>
        <p:txBody>
          <a:bodyPr wrap="square" lIns="0" tIns="0" rIns="0" bIns="0" rtlCol="0" anchor="t"/>
          <a:lstStyle/>
          <a:p>
            <a:pPr algn="l" indent="0" marL="0">
              <a:lnSpc>
                <a:spcPct val="110000"/>
              </a:lnSpc>
              <a:spcAft>
                <a:spcPts val="400"/>
              </a:spcAft>
              <a:buNone/>
            </a:pPr>
            <a:r>
              <a:rPr lang="en-US" sz="1900" b="1" dirty="0">
                <a:solidFill>
                  <a:srgbClr val="3B82F6"/>
                </a:solidFill>
                <a:latin typeface="Consolas" pitchFamily="34" charset="0"/>
                <a:ea typeface="Consolas" pitchFamily="34" charset="-122"/>
                <a:cs typeface="Consolas" pitchFamily="34" charset="-120"/>
              </a:rPr>
              <a:t>99,2 %</a:t>
            </a:r>
            <a:endParaRPr lang="en-US" sz="1900" dirty="0"/>
          </a:p>
        </p:txBody>
      </p:sp>
      <p:sp>
        <p:nvSpPr>
          <p:cNvPr id="9" name="Text 5"/>
          <p:cNvSpPr txBox="1"/>
          <p:nvPr/>
        </p:nvSpPr>
        <p:spPr>
          <a:xfrm>
            <a:off x="731520" y="5852160"/>
            <a:ext cx="1463040" cy="228600"/>
          </a:xfrm>
          <a:prstGeom prst="rect">
            <a:avLst/>
          </a:prstGeom>
          <a:noFill/>
          <a:ln/>
        </p:spPr>
        <p:txBody>
          <a:bodyPr wrap="square" lIns="0" tIns="0" rIns="0" bIns="0" rtlCol="0" anchor="t"/>
          <a:lstStyle/>
          <a:p>
            <a:pPr algn="l" indent="0" marL="0">
              <a:lnSpc>
                <a:spcPct val="110000"/>
              </a:lnSpc>
              <a:spcAft>
                <a:spcPts val="400"/>
              </a:spcAft>
              <a:buNone/>
            </a:pPr>
            <a:r>
              <a:rPr lang="en-US" sz="1000" dirty="0">
                <a:solidFill>
                  <a:srgbClr val="94A3B8"/>
                </a:solidFill>
              </a:rPr>
              <a:t>entrenamiento</a:t>
            </a:r>
            <a:endParaRPr lang="en-US" sz="1000" dirty="0"/>
          </a:p>
        </p:txBody>
      </p:sp>
      <p:sp>
        <p:nvSpPr>
          <p:cNvPr id="10" name="Text 6"/>
          <p:cNvSpPr txBox="1"/>
          <p:nvPr/>
        </p:nvSpPr>
        <p:spPr>
          <a:xfrm>
            <a:off x="2286000" y="5486400"/>
            <a:ext cx="1463040" cy="365760"/>
          </a:xfrm>
          <a:prstGeom prst="rect">
            <a:avLst/>
          </a:prstGeom>
          <a:noFill/>
          <a:ln/>
        </p:spPr>
        <p:txBody>
          <a:bodyPr wrap="square" lIns="0" tIns="0" rIns="0" bIns="0" rtlCol="0" anchor="t"/>
          <a:lstStyle/>
          <a:p>
            <a:pPr algn="l" indent="0" marL="0">
              <a:lnSpc>
                <a:spcPct val="110000"/>
              </a:lnSpc>
              <a:spcAft>
                <a:spcPts val="400"/>
              </a:spcAft>
              <a:buNone/>
            </a:pPr>
            <a:r>
              <a:rPr lang="en-US" sz="1900" b="1" dirty="0">
                <a:solidFill>
                  <a:srgbClr val="F59E0B"/>
                </a:solidFill>
                <a:latin typeface="Consolas" pitchFamily="34" charset="0"/>
                <a:ea typeface="Consolas" pitchFamily="34" charset="-122"/>
                <a:cs typeface="Consolas" pitchFamily="34" charset="-120"/>
              </a:rPr>
              <a:t>60,6 %</a:t>
            </a:r>
            <a:endParaRPr lang="en-US" sz="1900" dirty="0"/>
          </a:p>
        </p:txBody>
      </p:sp>
      <p:sp>
        <p:nvSpPr>
          <p:cNvPr id="11" name="Text 7"/>
          <p:cNvSpPr txBox="1"/>
          <p:nvPr/>
        </p:nvSpPr>
        <p:spPr>
          <a:xfrm>
            <a:off x="2286000" y="5852160"/>
            <a:ext cx="1463040" cy="228600"/>
          </a:xfrm>
          <a:prstGeom prst="rect">
            <a:avLst/>
          </a:prstGeom>
          <a:noFill/>
          <a:ln/>
        </p:spPr>
        <p:txBody>
          <a:bodyPr wrap="square" lIns="0" tIns="0" rIns="0" bIns="0" rtlCol="0" anchor="t"/>
          <a:lstStyle/>
          <a:p>
            <a:pPr algn="l" indent="0" marL="0">
              <a:lnSpc>
                <a:spcPct val="110000"/>
              </a:lnSpc>
              <a:spcAft>
                <a:spcPts val="400"/>
              </a:spcAft>
              <a:buNone/>
            </a:pPr>
            <a:r>
              <a:rPr lang="en-US" sz="1000" dirty="0">
                <a:solidFill>
                  <a:srgbClr val="94A3B8"/>
                </a:solidFill>
              </a:rPr>
              <a:t>validación</a:t>
            </a:r>
            <a:endParaRPr lang="en-US" sz="1000" dirty="0"/>
          </a:p>
        </p:txBody>
      </p:sp>
      <p:sp>
        <p:nvSpPr>
          <p:cNvPr id="12" name="Shape 8"/>
          <p:cNvSpPr/>
          <p:nvPr/>
        </p:nvSpPr>
        <p:spPr>
          <a:xfrm>
            <a:off x="4114800" y="4892040"/>
            <a:ext cx="3383280" cy="1280160"/>
          </a:xfrm>
          <a:prstGeom prst="roundRect">
            <a:avLst>
              <a:gd name="adj" fmla="val 10000"/>
            </a:avLst>
          </a:prstGeom>
          <a:solidFill>
            <a:schemeClr val="tx2">
              <a:alpha val="92000"/>
            </a:schemeClr>
          </a:solidFill>
          <a:ln w="15875">
            <a:solidFill>
              <a:srgbClr val="34D399"/>
            </a:solidFill>
            <a:prstDash val="solid"/>
          </a:ln>
        </p:spPr>
      </p:sp>
      <p:sp>
        <p:nvSpPr>
          <p:cNvPr id="13" name="Text 9"/>
          <p:cNvSpPr txBox="1"/>
          <p:nvPr/>
        </p:nvSpPr>
        <p:spPr>
          <a:xfrm>
            <a:off x="4297680" y="4965192"/>
            <a:ext cx="3017520" cy="274320"/>
          </a:xfrm>
          <a:prstGeom prst="rect">
            <a:avLst/>
          </a:prstGeom>
          <a:noFill/>
          <a:ln/>
        </p:spPr>
        <p:txBody>
          <a:bodyPr wrap="square" lIns="0" tIns="0" rIns="0" bIns="0" rtlCol="0" anchor="t"/>
          <a:lstStyle/>
          <a:p>
            <a:pPr algn="l" indent="0" marL="0">
              <a:lnSpc>
                <a:spcPct val="110000"/>
              </a:lnSpc>
              <a:spcAft>
                <a:spcPts val="400"/>
              </a:spcAft>
              <a:buNone/>
            </a:pPr>
            <a:r>
              <a:rPr lang="en-US" sz="1350" b="1" dirty="0">
                <a:solidFill>
                  <a:schemeClr val="bg1"/>
                </a:solidFill>
              </a:rPr>
              <a:t>Nuestra Red 1</a:t>
            </a:r>
            <a:endParaRPr lang="en-US" sz="1350" dirty="0"/>
          </a:p>
        </p:txBody>
      </p:sp>
      <p:sp>
        <p:nvSpPr>
          <p:cNvPr id="14" name="Text 10"/>
          <p:cNvSpPr txBox="1"/>
          <p:nvPr/>
        </p:nvSpPr>
        <p:spPr>
          <a:xfrm>
            <a:off x="4297680" y="5230368"/>
            <a:ext cx="3017520" cy="228600"/>
          </a:xfrm>
          <a:prstGeom prst="rect">
            <a:avLst/>
          </a:prstGeom>
          <a:noFill/>
          <a:ln/>
        </p:spPr>
        <p:txBody>
          <a:bodyPr wrap="square" lIns="0" tIns="0" rIns="0" bIns="0" rtlCol="0" anchor="t"/>
          <a:lstStyle/>
          <a:p>
            <a:pPr algn="l" indent="0" marL="0">
              <a:lnSpc>
                <a:spcPct val="110000"/>
              </a:lnSpc>
              <a:spcAft>
                <a:spcPts val="400"/>
              </a:spcAft>
              <a:buNone/>
            </a:pPr>
            <a:r>
              <a:rPr lang="en-US" sz="1000" dirty="0">
                <a:solidFill>
                  <a:srgbClr val="94A3B8"/>
                </a:solidFill>
                <a:latin typeface="Consolas" pitchFamily="34" charset="0"/>
                <a:ea typeface="Consolas" pitchFamily="34" charset="-122"/>
                <a:cs typeface="Consolas" pitchFamily="34" charset="-120"/>
              </a:rPr>
              <a:t>5.505 pesos · con técnicas</a:t>
            </a:r>
            <a:endParaRPr lang="en-US" sz="1000" dirty="0"/>
          </a:p>
        </p:txBody>
      </p:sp>
      <p:sp>
        <p:nvSpPr>
          <p:cNvPr id="15" name="Text 11"/>
          <p:cNvSpPr txBox="1"/>
          <p:nvPr/>
        </p:nvSpPr>
        <p:spPr>
          <a:xfrm>
            <a:off x="4297680" y="5486400"/>
            <a:ext cx="1463040" cy="365760"/>
          </a:xfrm>
          <a:prstGeom prst="rect">
            <a:avLst/>
          </a:prstGeom>
          <a:noFill/>
          <a:ln/>
        </p:spPr>
        <p:txBody>
          <a:bodyPr wrap="square" lIns="0" tIns="0" rIns="0" bIns="0" rtlCol="0" anchor="t"/>
          <a:lstStyle/>
          <a:p>
            <a:pPr algn="l" indent="0" marL="0">
              <a:lnSpc>
                <a:spcPct val="110000"/>
              </a:lnSpc>
              <a:spcAft>
                <a:spcPts val="400"/>
              </a:spcAft>
              <a:buNone/>
            </a:pPr>
            <a:r>
              <a:rPr lang="en-US" sz="1900" b="1" dirty="0">
                <a:solidFill>
                  <a:srgbClr val="3B82F6"/>
                </a:solidFill>
                <a:latin typeface="Consolas" pitchFamily="34" charset="0"/>
                <a:ea typeface="Consolas" pitchFamily="34" charset="-122"/>
                <a:cs typeface="Consolas" pitchFamily="34" charset="-120"/>
              </a:rPr>
              <a:t>69,8 %</a:t>
            </a:r>
            <a:endParaRPr lang="en-US" sz="1900" dirty="0"/>
          </a:p>
        </p:txBody>
      </p:sp>
      <p:sp>
        <p:nvSpPr>
          <p:cNvPr id="16" name="Text 12"/>
          <p:cNvSpPr txBox="1"/>
          <p:nvPr/>
        </p:nvSpPr>
        <p:spPr>
          <a:xfrm>
            <a:off x="4297680" y="5852160"/>
            <a:ext cx="1463040" cy="228600"/>
          </a:xfrm>
          <a:prstGeom prst="rect">
            <a:avLst/>
          </a:prstGeom>
          <a:noFill/>
          <a:ln/>
        </p:spPr>
        <p:txBody>
          <a:bodyPr wrap="square" lIns="0" tIns="0" rIns="0" bIns="0" rtlCol="0" anchor="t"/>
          <a:lstStyle/>
          <a:p>
            <a:pPr algn="l" indent="0" marL="0">
              <a:lnSpc>
                <a:spcPct val="110000"/>
              </a:lnSpc>
              <a:spcAft>
                <a:spcPts val="400"/>
              </a:spcAft>
              <a:buNone/>
            </a:pPr>
            <a:r>
              <a:rPr lang="en-US" sz="1000" dirty="0">
                <a:solidFill>
                  <a:srgbClr val="94A3B8"/>
                </a:solidFill>
              </a:rPr>
              <a:t>entrenamiento</a:t>
            </a:r>
            <a:endParaRPr lang="en-US" sz="1000" dirty="0"/>
          </a:p>
        </p:txBody>
      </p:sp>
      <p:sp>
        <p:nvSpPr>
          <p:cNvPr id="17" name="Text 13"/>
          <p:cNvSpPr txBox="1"/>
          <p:nvPr/>
        </p:nvSpPr>
        <p:spPr>
          <a:xfrm>
            <a:off x="5852160" y="5486400"/>
            <a:ext cx="1463040" cy="365760"/>
          </a:xfrm>
          <a:prstGeom prst="rect">
            <a:avLst/>
          </a:prstGeom>
          <a:noFill/>
          <a:ln/>
        </p:spPr>
        <p:txBody>
          <a:bodyPr wrap="square" lIns="0" tIns="0" rIns="0" bIns="0" rtlCol="0" anchor="t"/>
          <a:lstStyle/>
          <a:p>
            <a:pPr algn="l" indent="0" marL="0">
              <a:lnSpc>
                <a:spcPct val="110000"/>
              </a:lnSpc>
              <a:spcAft>
                <a:spcPts val="400"/>
              </a:spcAft>
              <a:buNone/>
            </a:pPr>
            <a:r>
              <a:rPr lang="en-US" sz="1900" b="1" dirty="0">
                <a:solidFill>
                  <a:srgbClr val="F59E0B"/>
                </a:solidFill>
                <a:latin typeface="Consolas" pitchFamily="34" charset="0"/>
                <a:ea typeface="Consolas" pitchFamily="34" charset="-122"/>
                <a:cs typeface="Consolas" pitchFamily="34" charset="-120"/>
              </a:rPr>
              <a:t>68,8 %</a:t>
            </a:r>
            <a:endParaRPr lang="en-US" sz="1900" dirty="0"/>
          </a:p>
        </p:txBody>
      </p:sp>
      <p:sp>
        <p:nvSpPr>
          <p:cNvPr id="18" name="Text 14"/>
          <p:cNvSpPr txBox="1"/>
          <p:nvPr/>
        </p:nvSpPr>
        <p:spPr>
          <a:xfrm>
            <a:off x="5852160" y="5852160"/>
            <a:ext cx="1463040" cy="228600"/>
          </a:xfrm>
          <a:prstGeom prst="rect">
            <a:avLst/>
          </a:prstGeom>
          <a:noFill/>
          <a:ln/>
        </p:spPr>
        <p:txBody>
          <a:bodyPr wrap="square" lIns="0" tIns="0" rIns="0" bIns="0" rtlCol="0" anchor="t"/>
          <a:lstStyle/>
          <a:p>
            <a:pPr algn="l" indent="0" marL="0">
              <a:lnSpc>
                <a:spcPct val="110000"/>
              </a:lnSpc>
              <a:spcAft>
                <a:spcPts val="400"/>
              </a:spcAft>
              <a:buNone/>
            </a:pPr>
            <a:r>
              <a:rPr lang="en-US" sz="1000" dirty="0">
                <a:solidFill>
                  <a:srgbClr val="94A3B8"/>
                </a:solidFill>
              </a:rPr>
              <a:t>validación</a:t>
            </a:r>
            <a:endParaRPr lang="en-US" sz="1000" dirty="0"/>
          </a:p>
        </p:txBody>
      </p:sp>
      <p:sp>
        <p:nvSpPr>
          <p:cNvPr id="19" name="Shape 15"/>
          <p:cNvSpPr/>
          <p:nvPr/>
        </p:nvSpPr>
        <p:spPr>
          <a:xfrm>
            <a:off x="7726680" y="1188720"/>
            <a:ext cx="3913632" cy="4983480"/>
          </a:xfrm>
          <a:prstGeom prst="roundRect">
            <a:avLst>
              <a:gd name="adj" fmla="val 3271"/>
            </a:avLst>
          </a:prstGeom>
          <a:solidFill>
            <a:schemeClr val="tx2">
              <a:alpha val="92000"/>
            </a:schemeClr>
          </a:solidFill>
          <a:ln w="12700">
            <a:solidFill>
              <a:srgbClr val="1E293B"/>
            </a:solidFill>
            <a:prstDash val="solid"/>
          </a:ln>
        </p:spPr>
      </p:sp>
      <p:sp>
        <p:nvSpPr>
          <p:cNvPr id="20" name="Text 16"/>
          <p:cNvSpPr txBox="1"/>
          <p:nvPr/>
        </p:nvSpPr>
        <p:spPr>
          <a:xfrm>
            <a:off x="7955280" y="1353312"/>
            <a:ext cx="3456432"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QUÉ HICIMOS</a:t>
            </a:r>
            <a:endParaRPr lang="en-US" sz="1050" dirty="0"/>
          </a:p>
        </p:txBody>
      </p:sp>
      <p:sp>
        <p:nvSpPr>
          <p:cNvPr id="21" name="Text 17"/>
          <p:cNvSpPr txBox="1"/>
          <p:nvPr/>
        </p:nvSpPr>
        <p:spPr>
          <a:xfrm>
            <a:off x="7955280" y="1645920"/>
            <a:ext cx="3456432" cy="1222248"/>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Se entrenó a propósito una red gigante [512, 256, 128] con 187.393 pesos (34 veces más que la nuestra), sin dropout, sin parada temprana y durante 200 épocas.</a:t>
            </a:r>
            <a:endParaRPr lang="en-US" sz="1250" dirty="0"/>
          </a:p>
        </p:txBody>
      </p:sp>
      <p:sp>
        <p:nvSpPr>
          <p:cNvPr id="22" name="Text 18"/>
          <p:cNvSpPr txBox="1"/>
          <p:nvPr/>
        </p:nvSpPr>
        <p:spPr>
          <a:xfrm>
            <a:off x="7955280" y="2923032"/>
            <a:ext cx="3456432" cy="256032"/>
          </a:xfrm>
          <a:prstGeom prst="rect">
            <a:avLst/>
          </a:prstGeom>
          <a:noFill/>
          <a:ln/>
        </p:spPr>
        <p:txBody>
          <a:bodyPr wrap="square" lIns="0" tIns="0" rIns="0" bIns="0" rtlCol="0" anchor="ctr"/>
          <a:lstStyle/>
          <a:p>
            <a:pPr indent="0" marL="0">
              <a:buNone/>
            </a:pPr>
            <a:r>
              <a:rPr lang="en-US" sz="1050" spc="200" kern="0" dirty="0">
                <a:solidFill>
                  <a:schemeClr val="accent3"/>
                </a:solidFill>
                <a:latin typeface="Consolas" pitchFamily="34" charset="0"/>
                <a:ea typeface="Consolas" pitchFamily="34" charset="-122"/>
                <a:cs typeface="Consolas" pitchFamily="34" charset="-120"/>
              </a:rPr>
              <a:t>QUÉ BUSCÁBAMOS</a:t>
            </a:r>
            <a:endParaRPr lang="en-US" sz="1050" dirty="0"/>
          </a:p>
        </p:txBody>
      </p:sp>
      <p:sp>
        <p:nvSpPr>
          <p:cNvPr id="23" name="Text 19"/>
          <p:cNvSpPr txBox="1"/>
          <p:nvPr/>
        </p:nvSpPr>
        <p:spPr>
          <a:xfrm>
            <a:off x="7955280" y="3215640"/>
            <a:ext cx="3456432" cy="1222248"/>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Tener un ejemplo real de memorización para compararlo con nuestro modelo.</a:t>
            </a:r>
            <a:endParaRPr lang="en-US" sz="1250" dirty="0"/>
          </a:p>
        </p:txBody>
      </p:sp>
      <p:sp>
        <p:nvSpPr>
          <p:cNvPr id="24" name="Text 20"/>
          <p:cNvSpPr txBox="1"/>
          <p:nvPr/>
        </p:nvSpPr>
        <p:spPr>
          <a:xfrm>
            <a:off x="7955280" y="4492752"/>
            <a:ext cx="3456432" cy="256032"/>
          </a:xfrm>
          <a:prstGeom prst="rect">
            <a:avLst/>
          </a:prstGeom>
          <a:noFill/>
          <a:ln/>
        </p:spPr>
        <p:txBody>
          <a:bodyPr wrap="square" lIns="0" tIns="0" rIns="0" bIns="0" rtlCol="0" anchor="ctr"/>
          <a:lstStyle/>
          <a:p>
            <a:pPr indent="0" marL="0">
              <a:buNone/>
            </a:pPr>
            <a:r>
              <a:rPr lang="en-US" sz="1050" spc="200" kern="0" dirty="0">
                <a:solidFill>
                  <a:schemeClr val="accent4"/>
                </a:solidFill>
                <a:latin typeface="Consolas" pitchFamily="34" charset="0"/>
                <a:ea typeface="Consolas" pitchFamily="34" charset="-122"/>
                <a:cs typeface="Consolas" pitchFamily="34" charset="-120"/>
              </a:rPr>
              <a:t>QUÉ ENCONTRAMOS</a:t>
            </a:r>
            <a:endParaRPr lang="en-US" sz="1050" dirty="0"/>
          </a:p>
        </p:txBody>
      </p:sp>
      <p:sp>
        <p:nvSpPr>
          <p:cNvPr id="25" name="Text 21"/>
          <p:cNvSpPr txBox="1"/>
          <p:nvPr/>
        </p:nvSpPr>
        <p:spPr>
          <a:xfrm>
            <a:off x="7955280" y="4785360"/>
            <a:ext cx="3456432" cy="1222248"/>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La gigante llega a 99,2 % de aciertos en entrenamiento pero solo 60,6 % en validación: memorizó. Nuestra Red 1 tiene 69,8 % y 68,8 %, casi iguales.</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 4: entrenamiento con respuestas al azar</a:t>
            </a:r>
            <a:endParaRPr lang="en-US" sz="2200" dirty="0"/>
          </a:p>
        </p:txBody>
      </p:sp>
      <p:graphicFrame>
        <p:nvGraphicFramePr>
          <p:cNvPr id="4" name="Chart 0" descr=""/>
          <p:cNvGraphicFramePr/>
          <p:nvPr/>
        </p:nvGraphicFramePr>
        <p:xfrm>
          <a:off x="548640" y="1188720"/>
          <a:ext cx="5440680" cy="2880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99632" y="1188720"/>
          <a:ext cx="5440680" cy="2880360"/>
        </p:xfrm>
        <a:graphic xmlns:a="http://schemas.openxmlformats.org/drawingml/2006/main">
          <a:graphicData uri="http://schemas.openxmlformats.org/drawingml/2006/chart">
            <c:chart xmlns:c="http://schemas.openxmlformats.org/drawingml/2006/chart" r:id="rId2"/>
          </a:graphicData>
        </a:graphic>
      </p:graphicFrame>
      <p:sp>
        <p:nvSpPr>
          <p:cNvPr id="6" name="Shape 1"/>
          <p:cNvSpPr/>
          <p:nvPr/>
        </p:nvSpPr>
        <p:spPr>
          <a:xfrm>
            <a:off x="548640" y="4206240"/>
            <a:ext cx="3575304" cy="1965960"/>
          </a:xfrm>
          <a:prstGeom prst="roundRect">
            <a:avLst>
              <a:gd name="adj" fmla="val 6512"/>
            </a:avLst>
          </a:prstGeom>
          <a:solidFill>
            <a:schemeClr val="tx2">
              <a:alpha val="92000"/>
            </a:schemeClr>
          </a:solidFill>
          <a:ln w="12700">
            <a:solidFill>
              <a:srgbClr val="1E293B"/>
            </a:solidFill>
            <a:prstDash val="solid"/>
          </a:ln>
        </p:spPr>
      </p:sp>
      <p:sp>
        <p:nvSpPr>
          <p:cNvPr id="7" name="Text 2"/>
          <p:cNvSpPr txBox="1"/>
          <p:nvPr/>
        </p:nvSpPr>
        <p:spPr>
          <a:xfrm>
            <a:off x="777240" y="4370832"/>
            <a:ext cx="3118104"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QUÉ HICIMOS</a:t>
            </a:r>
            <a:endParaRPr lang="en-US" sz="1050" dirty="0"/>
          </a:p>
        </p:txBody>
      </p:sp>
      <p:sp>
        <p:nvSpPr>
          <p:cNvPr id="8" name="Text 3"/>
          <p:cNvSpPr txBox="1"/>
          <p:nvPr/>
        </p:nvSpPr>
        <p:spPr>
          <a:xfrm>
            <a:off x="777240" y="4681728"/>
            <a:ext cx="3118104" cy="137160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Se barajaron al azar las respuestas (APTO / NO APTO) de los clientes de entrenamiento. Así no queda ningún patrón real que aprender.</a:t>
            </a:r>
            <a:endParaRPr lang="en-US" sz="1300" dirty="0"/>
          </a:p>
        </p:txBody>
      </p:sp>
      <p:sp>
        <p:nvSpPr>
          <p:cNvPr id="9" name="Shape 4"/>
          <p:cNvSpPr/>
          <p:nvPr/>
        </p:nvSpPr>
        <p:spPr>
          <a:xfrm>
            <a:off x="4306824" y="4206240"/>
            <a:ext cx="3575304" cy="1965960"/>
          </a:xfrm>
          <a:prstGeom prst="roundRect">
            <a:avLst>
              <a:gd name="adj" fmla="val 6512"/>
            </a:avLst>
          </a:prstGeom>
          <a:solidFill>
            <a:schemeClr val="tx2">
              <a:alpha val="92000"/>
            </a:schemeClr>
          </a:solidFill>
          <a:ln w="12700">
            <a:solidFill>
              <a:srgbClr val="1E293B"/>
            </a:solidFill>
            <a:prstDash val="solid"/>
          </a:ln>
        </p:spPr>
      </p:sp>
      <p:sp>
        <p:nvSpPr>
          <p:cNvPr id="10" name="Text 5"/>
          <p:cNvSpPr txBox="1"/>
          <p:nvPr/>
        </p:nvSpPr>
        <p:spPr>
          <a:xfrm>
            <a:off x="4535424" y="4370832"/>
            <a:ext cx="3118104" cy="256032"/>
          </a:xfrm>
          <a:prstGeom prst="rect">
            <a:avLst/>
          </a:prstGeom>
          <a:noFill/>
          <a:ln/>
        </p:spPr>
        <p:txBody>
          <a:bodyPr wrap="square" lIns="0" tIns="0" rIns="0" bIns="0" rtlCol="0" anchor="ctr"/>
          <a:lstStyle/>
          <a:p>
            <a:pPr indent="0" marL="0">
              <a:buNone/>
            </a:pPr>
            <a:r>
              <a:rPr lang="en-US" sz="1050" spc="200" kern="0" dirty="0">
                <a:solidFill>
                  <a:schemeClr val="accent3"/>
                </a:solidFill>
                <a:latin typeface="Consolas" pitchFamily="34" charset="0"/>
                <a:ea typeface="Consolas" pitchFamily="34" charset="-122"/>
                <a:cs typeface="Consolas" pitchFamily="34" charset="-120"/>
              </a:rPr>
              <a:t>QUÉ BUSCÁBAMOS</a:t>
            </a:r>
            <a:endParaRPr lang="en-US" sz="1050" dirty="0"/>
          </a:p>
        </p:txBody>
      </p:sp>
      <p:sp>
        <p:nvSpPr>
          <p:cNvPr id="11" name="Text 6"/>
          <p:cNvSpPr txBox="1"/>
          <p:nvPr/>
        </p:nvSpPr>
        <p:spPr>
          <a:xfrm>
            <a:off x="4535424" y="4681728"/>
            <a:ext cx="3118104" cy="137160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Una red que memoriza también se aprendería esas respuestas falsas; una que busca patrones reales no debería lograr nada.</a:t>
            </a:r>
            <a:endParaRPr lang="en-US" sz="1300" dirty="0"/>
          </a:p>
        </p:txBody>
      </p:sp>
      <p:sp>
        <p:nvSpPr>
          <p:cNvPr id="12" name="Shape 7"/>
          <p:cNvSpPr/>
          <p:nvPr/>
        </p:nvSpPr>
        <p:spPr>
          <a:xfrm>
            <a:off x="8065008" y="4206240"/>
            <a:ext cx="3575304" cy="1965960"/>
          </a:xfrm>
          <a:prstGeom prst="roundRect">
            <a:avLst>
              <a:gd name="adj" fmla="val 6512"/>
            </a:avLst>
          </a:prstGeom>
          <a:solidFill>
            <a:schemeClr val="tx2">
              <a:alpha val="92000"/>
            </a:schemeClr>
          </a:solidFill>
          <a:ln w="12700">
            <a:solidFill>
              <a:srgbClr val="1E293B"/>
            </a:solidFill>
            <a:prstDash val="solid"/>
          </a:ln>
        </p:spPr>
      </p:sp>
      <p:sp>
        <p:nvSpPr>
          <p:cNvPr id="13" name="Text 8"/>
          <p:cNvSpPr txBox="1"/>
          <p:nvPr/>
        </p:nvSpPr>
        <p:spPr>
          <a:xfrm>
            <a:off x="8293608" y="4370832"/>
            <a:ext cx="3118104" cy="256032"/>
          </a:xfrm>
          <a:prstGeom prst="rect">
            <a:avLst/>
          </a:prstGeom>
          <a:noFill/>
          <a:ln/>
        </p:spPr>
        <p:txBody>
          <a:bodyPr wrap="square" lIns="0" tIns="0" rIns="0" bIns="0" rtlCol="0" anchor="ctr"/>
          <a:lstStyle/>
          <a:p>
            <a:pPr indent="0" marL="0">
              <a:buNone/>
            </a:pPr>
            <a:r>
              <a:rPr lang="en-US" sz="1050" spc="200" kern="0" dirty="0">
                <a:solidFill>
                  <a:schemeClr val="accent4"/>
                </a:solidFill>
                <a:latin typeface="Consolas" pitchFamily="34" charset="0"/>
                <a:ea typeface="Consolas" pitchFamily="34" charset="-122"/>
                <a:cs typeface="Consolas" pitchFamily="34" charset="-120"/>
              </a:rPr>
              <a:t>QUÉ ENCONTRAMOS</a:t>
            </a:r>
            <a:endParaRPr lang="en-US" sz="1050" dirty="0"/>
          </a:p>
        </p:txBody>
      </p:sp>
      <p:sp>
        <p:nvSpPr>
          <p:cNvPr id="14" name="Text 9"/>
          <p:cNvSpPr txBox="1"/>
          <p:nvPr/>
        </p:nvSpPr>
        <p:spPr>
          <a:xfrm>
            <a:off x="8293608" y="4681728"/>
            <a:ext cx="3118104" cy="137160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Nuestra red se queda en 0,50–0,54 (igual que adivinar) y se detiene sola. La gigante llega a 1,00 en entrenamiento y 0,50 en validación. Con las respuestas reales, la nuestra llega a 0,754.</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 5: curva de aprendizaje según la cantidad de datos</a:t>
            </a:r>
            <a:endParaRPr lang="en-US" sz="2200" dirty="0"/>
          </a:p>
        </p:txBody>
      </p:sp>
      <p:graphicFrame>
        <p:nvGraphicFramePr>
          <p:cNvPr id="4" name="Chart 0" descr=""/>
          <p:cNvGraphicFramePr/>
          <p:nvPr/>
        </p:nvGraphicFramePr>
        <p:xfrm>
          <a:off x="548640" y="1188720"/>
          <a:ext cx="6949440" cy="498348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726680" y="1188720"/>
            <a:ext cx="3913632" cy="4983480"/>
          </a:xfrm>
          <a:prstGeom prst="roundRect">
            <a:avLst>
              <a:gd name="adj" fmla="val 3271"/>
            </a:avLst>
          </a:prstGeom>
          <a:solidFill>
            <a:schemeClr val="tx2">
              <a:alpha val="92000"/>
            </a:schemeClr>
          </a:solidFill>
          <a:ln w="12700">
            <a:solidFill>
              <a:srgbClr val="1E293B"/>
            </a:solidFill>
            <a:prstDash val="solid"/>
          </a:ln>
        </p:spPr>
      </p:sp>
      <p:sp>
        <p:nvSpPr>
          <p:cNvPr id="6" name="Text 2"/>
          <p:cNvSpPr txBox="1"/>
          <p:nvPr/>
        </p:nvSpPr>
        <p:spPr>
          <a:xfrm>
            <a:off x="7955280" y="1353312"/>
            <a:ext cx="3456432"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QUÉ HICIMOS</a:t>
            </a:r>
            <a:endParaRPr lang="en-US" sz="1050" dirty="0"/>
          </a:p>
        </p:txBody>
      </p:sp>
      <p:sp>
        <p:nvSpPr>
          <p:cNvPr id="7" name="Text 3"/>
          <p:cNvSpPr txBox="1"/>
          <p:nvPr/>
        </p:nvSpPr>
        <p:spPr>
          <a:xfrm>
            <a:off x="7955280" y="1645920"/>
            <a:ext cx="3456432" cy="1222248"/>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Se entrenó la misma red usando el 2 %, 5 %, 10 %, 20 %, 35 %, 50 %, 75 % y 100 % de los clientes de entrenamiento.</a:t>
            </a:r>
            <a:endParaRPr lang="en-US" sz="1250" dirty="0"/>
          </a:p>
        </p:txBody>
      </p:sp>
      <p:sp>
        <p:nvSpPr>
          <p:cNvPr id="8" name="Text 4"/>
          <p:cNvSpPr txBox="1"/>
          <p:nvPr/>
        </p:nvSpPr>
        <p:spPr>
          <a:xfrm>
            <a:off x="7955280" y="2923032"/>
            <a:ext cx="3456432" cy="256032"/>
          </a:xfrm>
          <a:prstGeom prst="rect">
            <a:avLst/>
          </a:prstGeom>
          <a:noFill/>
          <a:ln/>
        </p:spPr>
        <p:txBody>
          <a:bodyPr wrap="square" lIns="0" tIns="0" rIns="0" bIns="0" rtlCol="0" anchor="ctr"/>
          <a:lstStyle/>
          <a:p>
            <a:pPr indent="0" marL="0">
              <a:buNone/>
            </a:pPr>
            <a:r>
              <a:rPr lang="en-US" sz="1050" spc="200" kern="0" dirty="0">
                <a:solidFill>
                  <a:schemeClr val="accent3"/>
                </a:solidFill>
                <a:latin typeface="Consolas" pitchFamily="34" charset="0"/>
                <a:ea typeface="Consolas" pitchFamily="34" charset="-122"/>
                <a:cs typeface="Consolas" pitchFamily="34" charset="-120"/>
              </a:rPr>
              <a:t>QUÉ BUSCÁBAMOS</a:t>
            </a:r>
            <a:endParaRPr lang="en-US" sz="1050" dirty="0"/>
          </a:p>
        </p:txBody>
      </p:sp>
      <p:sp>
        <p:nvSpPr>
          <p:cNvPr id="9" name="Text 5"/>
          <p:cNvSpPr txBox="1"/>
          <p:nvPr/>
        </p:nvSpPr>
        <p:spPr>
          <a:xfrm>
            <a:off x="7955280" y="3215640"/>
            <a:ext cx="3456432" cy="1222248"/>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Comprobar si la diferencia entre lo estudiado y lo nuevo se reduce cuando hay más datos, como ocurre en un modelo que generaliza.</a:t>
            </a:r>
            <a:endParaRPr lang="en-US" sz="1250" dirty="0"/>
          </a:p>
        </p:txBody>
      </p:sp>
      <p:sp>
        <p:nvSpPr>
          <p:cNvPr id="10" name="Text 6"/>
          <p:cNvSpPr txBox="1"/>
          <p:nvPr/>
        </p:nvSpPr>
        <p:spPr>
          <a:xfrm>
            <a:off x="7955280" y="4492752"/>
            <a:ext cx="3456432" cy="256032"/>
          </a:xfrm>
          <a:prstGeom prst="rect">
            <a:avLst/>
          </a:prstGeom>
          <a:noFill/>
          <a:ln/>
        </p:spPr>
        <p:txBody>
          <a:bodyPr wrap="square" lIns="0" tIns="0" rIns="0" bIns="0" rtlCol="0" anchor="ctr"/>
          <a:lstStyle/>
          <a:p>
            <a:pPr indent="0" marL="0">
              <a:buNone/>
            </a:pPr>
            <a:r>
              <a:rPr lang="en-US" sz="1050" spc="200" kern="0" dirty="0">
                <a:solidFill>
                  <a:schemeClr val="accent4"/>
                </a:solidFill>
                <a:latin typeface="Consolas" pitchFamily="34" charset="0"/>
                <a:ea typeface="Consolas" pitchFamily="34" charset="-122"/>
                <a:cs typeface="Consolas" pitchFamily="34" charset="-120"/>
              </a:rPr>
              <a:t>QUÉ ENCONTRAMOS</a:t>
            </a:r>
            <a:endParaRPr lang="en-US" sz="1050" dirty="0"/>
          </a:p>
        </p:txBody>
      </p:sp>
      <p:sp>
        <p:nvSpPr>
          <p:cNvPr id="11" name="Text 7"/>
          <p:cNvSpPr txBox="1"/>
          <p:nvPr/>
        </p:nvSpPr>
        <p:spPr>
          <a:xfrm>
            <a:off x="7955280" y="4785360"/>
            <a:ext cx="3456432" cy="1222248"/>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Con 695 clientes la brecha es de 0,177 (memoriza). Con los 34.755 baja a 0,012 y el AUC en clientes nuevos sube de 0,707 a 0,752.</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Resumen de la evidencia</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Las cinco pruebas, más la evaluación final en el grupo de prueba, apuntan a la misma conclusión: el modelo aprendió patrones generales y no memorizó los ejemplos.</a:t>
            </a:r>
            <a:endParaRPr lang="en-US" sz="1500" dirty="0"/>
          </a:p>
        </p:txBody>
      </p:sp>
      <p:sp>
        <p:nvSpPr>
          <p:cNvPr id="5" name="Shape 2"/>
          <p:cNvSpPr/>
          <p:nvPr/>
        </p:nvSpPr>
        <p:spPr>
          <a:xfrm>
            <a:off x="548640" y="1920240"/>
            <a:ext cx="3520440" cy="1298448"/>
          </a:xfrm>
          <a:prstGeom prst="roundRect">
            <a:avLst>
              <a:gd name="adj" fmla="val 9859"/>
            </a:avLst>
          </a:prstGeom>
          <a:solidFill>
            <a:schemeClr val="tx2">
              <a:alpha val="92000"/>
            </a:schemeClr>
          </a:solidFill>
          <a:ln w="12700">
            <a:solidFill>
              <a:srgbClr val="1E293B"/>
            </a:solidFill>
            <a:prstDash val="solid"/>
          </a:ln>
        </p:spPr>
      </p:sp>
      <p:sp>
        <p:nvSpPr>
          <p:cNvPr id="6" name="Shape 3"/>
          <p:cNvSpPr/>
          <p:nvPr/>
        </p:nvSpPr>
        <p:spPr>
          <a:xfrm>
            <a:off x="777240" y="2304288"/>
            <a:ext cx="502920" cy="502920"/>
          </a:xfrm>
          <a:prstGeom prst="ellipse">
            <a:avLst/>
          </a:prstGeom>
          <a:solidFill>
            <a:srgbClr val="065F46"/>
          </a:solidFill>
          <a:ln w="15875">
            <a:solidFill>
              <a:srgbClr val="34D399"/>
            </a:solidFill>
            <a:prstDash val="solid"/>
          </a:ln>
        </p:spPr>
      </p:sp>
      <p:sp>
        <p:nvSpPr>
          <p:cNvPr id="7" name="Text 4"/>
          <p:cNvSpPr txBox="1"/>
          <p:nvPr/>
        </p:nvSpPr>
        <p:spPr>
          <a:xfrm>
            <a:off x="777240" y="2304288"/>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8" name="Text 5"/>
          <p:cNvSpPr txBox="1"/>
          <p:nvPr/>
        </p:nvSpPr>
        <p:spPr>
          <a:xfrm>
            <a:off x="1444752" y="21031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Curvas juntas</a:t>
            </a:r>
            <a:endParaRPr lang="en-US" sz="1450" dirty="0"/>
          </a:p>
        </p:txBody>
      </p:sp>
      <p:sp>
        <p:nvSpPr>
          <p:cNvPr id="9" name="Text 6"/>
          <p:cNvSpPr txBox="1"/>
          <p:nvPr/>
        </p:nvSpPr>
        <p:spPr>
          <a:xfrm>
            <a:off x="1444752" y="2487168"/>
            <a:ext cx="251460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Diferencia de error de 0,008 a 0,015 en la mejor época</a:t>
            </a:r>
            <a:endParaRPr lang="en-US" sz="1250" dirty="0"/>
          </a:p>
        </p:txBody>
      </p:sp>
      <p:sp>
        <p:nvSpPr>
          <p:cNvPr id="10" name="Shape 7"/>
          <p:cNvSpPr/>
          <p:nvPr/>
        </p:nvSpPr>
        <p:spPr>
          <a:xfrm>
            <a:off x="4297680" y="1920240"/>
            <a:ext cx="3520440" cy="1298448"/>
          </a:xfrm>
          <a:prstGeom prst="roundRect">
            <a:avLst>
              <a:gd name="adj" fmla="val 9859"/>
            </a:avLst>
          </a:prstGeom>
          <a:solidFill>
            <a:schemeClr val="tx2">
              <a:alpha val="92000"/>
            </a:schemeClr>
          </a:solidFill>
          <a:ln w="12700">
            <a:solidFill>
              <a:srgbClr val="1E293B"/>
            </a:solidFill>
            <a:prstDash val="solid"/>
          </a:ln>
        </p:spPr>
      </p:sp>
      <p:sp>
        <p:nvSpPr>
          <p:cNvPr id="11" name="Shape 8"/>
          <p:cNvSpPr/>
          <p:nvPr/>
        </p:nvSpPr>
        <p:spPr>
          <a:xfrm>
            <a:off x="4526280" y="2304288"/>
            <a:ext cx="502920" cy="502920"/>
          </a:xfrm>
          <a:prstGeom prst="ellipse">
            <a:avLst/>
          </a:prstGeom>
          <a:solidFill>
            <a:srgbClr val="065F46"/>
          </a:solidFill>
          <a:ln w="15875">
            <a:solidFill>
              <a:srgbClr val="34D399"/>
            </a:solidFill>
            <a:prstDash val="solid"/>
          </a:ln>
        </p:spPr>
      </p:sp>
      <p:sp>
        <p:nvSpPr>
          <p:cNvPr id="12" name="Text 9"/>
          <p:cNvSpPr txBox="1"/>
          <p:nvPr/>
        </p:nvSpPr>
        <p:spPr>
          <a:xfrm>
            <a:off x="4526280" y="2304288"/>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13" name="Text 10"/>
          <p:cNvSpPr txBox="1"/>
          <p:nvPr/>
        </p:nvSpPr>
        <p:spPr>
          <a:xfrm>
            <a:off x="5193792" y="21031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Parada a tiempo</a:t>
            </a:r>
            <a:endParaRPr lang="en-US" sz="1450" dirty="0"/>
          </a:p>
        </p:txBody>
      </p:sp>
      <p:sp>
        <p:nvSpPr>
          <p:cNvPr id="14" name="Text 11"/>
          <p:cNvSpPr txBox="1"/>
          <p:nvPr/>
        </p:nvSpPr>
        <p:spPr>
          <a:xfrm>
            <a:off x="5193792" y="2487168"/>
            <a:ext cx="251460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Se detuvo en las épocas 44 a 63, antes de que las curvas se separaran</a:t>
            </a:r>
            <a:endParaRPr lang="en-US" sz="1250" dirty="0"/>
          </a:p>
        </p:txBody>
      </p:sp>
      <p:sp>
        <p:nvSpPr>
          <p:cNvPr id="15" name="Shape 12"/>
          <p:cNvSpPr/>
          <p:nvPr/>
        </p:nvSpPr>
        <p:spPr>
          <a:xfrm>
            <a:off x="8046720" y="1920240"/>
            <a:ext cx="3520440" cy="1298448"/>
          </a:xfrm>
          <a:prstGeom prst="roundRect">
            <a:avLst>
              <a:gd name="adj" fmla="val 9859"/>
            </a:avLst>
          </a:prstGeom>
          <a:solidFill>
            <a:schemeClr val="tx2">
              <a:alpha val="92000"/>
            </a:schemeClr>
          </a:solidFill>
          <a:ln w="12700">
            <a:solidFill>
              <a:srgbClr val="1E293B"/>
            </a:solidFill>
            <a:prstDash val="solid"/>
          </a:ln>
        </p:spPr>
      </p:sp>
      <p:sp>
        <p:nvSpPr>
          <p:cNvPr id="16" name="Shape 13"/>
          <p:cNvSpPr/>
          <p:nvPr/>
        </p:nvSpPr>
        <p:spPr>
          <a:xfrm>
            <a:off x="8275320" y="2304288"/>
            <a:ext cx="502920" cy="502920"/>
          </a:xfrm>
          <a:prstGeom prst="ellipse">
            <a:avLst/>
          </a:prstGeom>
          <a:solidFill>
            <a:srgbClr val="065F46"/>
          </a:solidFill>
          <a:ln w="15875">
            <a:solidFill>
              <a:srgbClr val="34D399"/>
            </a:solidFill>
            <a:prstDash val="solid"/>
          </a:ln>
        </p:spPr>
      </p:sp>
      <p:sp>
        <p:nvSpPr>
          <p:cNvPr id="17" name="Text 14"/>
          <p:cNvSpPr txBox="1"/>
          <p:nvPr/>
        </p:nvSpPr>
        <p:spPr>
          <a:xfrm>
            <a:off x="8275320" y="2304288"/>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18" name="Text 15"/>
          <p:cNvSpPr txBox="1"/>
          <p:nvPr/>
        </p:nvSpPr>
        <p:spPr>
          <a:xfrm>
            <a:off x="8942832" y="21031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Distinto a la red gigante</a:t>
            </a:r>
            <a:endParaRPr lang="en-US" sz="1450" dirty="0"/>
          </a:p>
        </p:txBody>
      </p:sp>
      <p:sp>
        <p:nvSpPr>
          <p:cNvPr id="19" name="Text 16"/>
          <p:cNvSpPr txBox="1"/>
          <p:nvPr/>
        </p:nvSpPr>
        <p:spPr>
          <a:xfrm>
            <a:off x="8942832" y="2487168"/>
            <a:ext cx="251460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69,8 % vs 68,8 % de aciertos (la gigante: 99 % vs 61 %)</a:t>
            </a:r>
            <a:endParaRPr lang="en-US" sz="1250" dirty="0"/>
          </a:p>
        </p:txBody>
      </p:sp>
      <p:sp>
        <p:nvSpPr>
          <p:cNvPr id="20" name="Shape 17"/>
          <p:cNvSpPr/>
          <p:nvPr/>
        </p:nvSpPr>
        <p:spPr>
          <a:xfrm>
            <a:off x="548640" y="3383280"/>
            <a:ext cx="3520440" cy="1298448"/>
          </a:xfrm>
          <a:prstGeom prst="roundRect">
            <a:avLst>
              <a:gd name="adj" fmla="val 9859"/>
            </a:avLst>
          </a:prstGeom>
          <a:solidFill>
            <a:schemeClr val="tx2">
              <a:alpha val="92000"/>
            </a:schemeClr>
          </a:solidFill>
          <a:ln w="12700">
            <a:solidFill>
              <a:srgbClr val="1E293B"/>
            </a:solidFill>
            <a:prstDash val="solid"/>
          </a:ln>
        </p:spPr>
      </p:sp>
      <p:sp>
        <p:nvSpPr>
          <p:cNvPr id="21" name="Shape 18"/>
          <p:cNvSpPr/>
          <p:nvPr/>
        </p:nvSpPr>
        <p:spPr>
          <a:xfrm>
            <a:off x="777240" y="3767328"/>
            <a:ext cx="502920" cy="502920"/>
          </a:xfrm>
          <a:prstGeom prst="ellipse">
            <a:avLst/>
          </a:prstGeom>
          <a:solidFill>
            <a:srgbClr val="065F46"/>
          </a:solidFill>
          <a:ln w="15875">
            <a:solidFill>
              <a:srgbClr val="34D399"/>
            </a:solidFill>
            <a:prstDash val="solid"/>
          </a:ln>
        </p:spPr>
      </p:sp>
      <p:sp>
        <p:nvSpPr>
          <p:cNvPr id="22" name="Text 19"/>
          <p:cNvSpPr txBox="1"/>
          <p:nvPr/>
        </p:nvSpPr>
        <p:spPr>
          <a:xfrm>
            <a:off x="777240" y="3767328"/>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23" name="Text 20"/>
          <p:cNvSpPr txBox="1"/>
          <p:nvPr/>
        </p:nvSpPr>
        <p:spPr>
          <a:xfrm>
            <a:off x="1444752" y="356616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No aprende ruido</a:t>
            </a:r>
            <a:endParaRPr lang="en-US" sz="1450" dirty="0"/>
          </a:p>
        </p:txBody>
      </p:sp>
      <p:sp>
        <p:nvSpPr>
          <p:cNvPr id="24" name="Text 21"/>
          <p:cNvSpPr txBox="1"/>
          <p:nvPr/>
        </p:nvSpPr>
        <p:spPr>
          <a:xfrm>
            <a:off x="1444752" y="3950208"/>
            <a:ext cx="251460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Con respuestas al azar se queda en 0,50</a:t>
            </a:r>
            <a:endParaRPr lang="en-US" sz="1250" dirty="0"/>
          </a:p>
        </p:txBody>
      </p:sp>
      <p:sp>
        <p:nvSpPr>
          <p:cNvPr id="25" name="Shape 22"/>
          <p:cNvSpPr/>
          <p:nvPr/>
        </p:nvSpPr>
        <p:spPr>
          <a:xfrm>
            <a:off x="4297680" y="3383280"/>
            <a:ext cx="3520440" cy="1298448"/>
          </a:xfrm>
          <a:prstGeom prst="roundRect">
            <a:avLst>
              <a:gd name="adj" fmla="val 9859"/>
            </a:avLst>
          </a:prstGeom>
          <a:solidFill>
            <a:schemeClr val="tx2">
              <a:alpha val="92000"/>
            </a:schemeClr>
          </a:solidFill>
          <a:ln w="12700">
            <a:solidFill>
              <a:srgbClr val="1E293B"/>
            </a:solidFill>
            <a:prstDash val="solid"/>
          </a:ln>
        </p:spPr>
      </p:sp>
      <p:sp>
        <p:nvSpPr>
          <p:cNvPr id="26" name="Shape 23"/>
          <p:cNvSpPr/>
          <p:nvPr/>
        </p:nvSpPr>
        <p:spPr>
          <a:xfrm>
            <a:off x="4526280" y="3767328"/>
            <a:ext cx="502920" cy="502920"/>
          </a:xfrm>
          <a:prstGeom prst="ellipse">
            <a:avLst/>
          </a:prstGeom>
          <a:solidFill>
            <a:srgbClr val="065F46"/>
          </a:solidFill>
          <a:ln w="15875">
            <a:solidFill>
              <a:srgbClr val="34D399"/>
            </a:solidFill>
            <a:prstDash val="solid"/>
          </a:ln>
        </p:spPr>
      </p:sp>
      <p:sp>
        <p:nvSpPr>
          <p:cNvPr id="27" name="Text 24"/>
          <p:cNvSpPr txBox="1"/>
          <p:nvPr/>
        </p:nvSpPr>
        <p:spPr>
          <a:xfrm>
            <a:off x="4526280" y="3767328"/>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28" name="Text 25"/>
          <p:cNvSpPr txBox="1"/>
          <p:nvPr/>
        </p:nvSpPr>
        <p:spPr>
          <a:xfrm>
            <a:off x="5193792" y="356616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Más datos, menos brecha</a:t>
            </a:r>
            <a:endParaRPr lang="en-US" sz="1450" dirty="0"/>
          </a:p>
        </p:txBody>
      </p:sp>
      <p:sp>
        <p:nvSpPr>
          <p:cNvPr id="29" name="Text 26"/>
          <p:cNvSpPr txBox="1"/>
          <p:nvPr/>
        </p:nvSpPr>
        <p:spPr>
          <a:xfrm>
            <a:off x="5193792" y="3950208"/>
            <a:ext cx="251460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La diferencia baja de 0,177 a 0,012</a:t>
            </a:r>
            <a:endParaRPr lang="en-US" sz="1250" dirty="0"/>
          </a:p>
        </p:txBody>
      </p:sp>
      <p:sp>
        <p:nvSpPr>
          <p:cNvPr id="30" name="Shape 27"/>
          <p:cNvSpPr/>
          <p:nvPr/>
        </p:nvSpPr>
        <p:spPr>
          <a:xfrm>
            <a:off x="8046720" y="3383280"/>
            <a:ext cx="3520440" cy="1298448"/>
          </a:xfrm>
          <a:prstGeom prst="roundRect">
            <a:avLst>
              <a:gd name="adj" fmla="val 9859"/>
            </a:avLst>
          </a:prstGeom>
          <a:solidFill>
            <a:schemeClr val="tx2">
              <a:alpha val="92000"/>
            </a:schemeClr>
          </a:solidFill>
          <a:ln w="12700">
            <a:solidFill>
              <a:srgbClr val="1E293B"/>
            </a:solidFill>
            <a:prstDash val="solid"/>
          </a:ln>
        </p:spPr>
      </p:sp>
      <p:sp>
        <p:nvSpPr>
          <p:cNvPr id="31" name="Shape 28"/>
          <p:cNvSpPr/>
          <p:nvPr/>
        </p:nvSpPr>
        <p:spPr>
          <a:xfrm>
            <a:off x="8275320" y="3767328"/>
            <a:ext cx="502920" cy="502920"/>
          </a:xfrm>
          <a:prstGeom prst="ellipse">
            <a:avLst/>
          </a:prstGeom>
          <a:solidFill>
            <a:srgbClr val="065F46"/>
          </a:solidFill>
          <a:ln w="15875">
            <a:solidFill>
              <a:srgbClr val="34D399"/>
            </a:solidFill>
            <a:prstDash val="solid"/>
          </a:ln>
        </p:spPr>
      </p:sp>
      <p:sp>
        <p:nvSpPr>
          <p:cNvPr id="32" name="Text 29"/>
          <p:cNvSpPr txBox="1"/>
          <p:nvPr/>
        </p:nvSpPr>
        <p:spPr>
          <a:xfrm>
            <a:off x="8275320" y="3767328"/>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33" name="Text 30"/>
          <p:cNvSpPr txBox="1"/>
          <p:nvPr/>
        </p:nvSpPr>
        <p:spPr>
          <a:xfrm>
            <a:off x="8942832" y="356616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Clientes nunca vistos</a:t>
            </a:r>
            <a:endParaRPr lang="en-US" sz="1450" dirty="0"/>
          </a:p>
        </p:txBody>
      </p:sp>
      <p:sp>
        <p:nvSpPr>
          <p:cNvPr id="34" name="Text 31"/>
          <p:cNvSpPr txBox="1"/>
          <p:nvPr/>
        </p:nvSpPr>
        <p:spPr>
          <a:xfrm>
            <a:off x="8942832" y="3950208"/>
            <a:ext cx="2514600" cy="6400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AUC de 0,754 en validación a 0,745 en prueba (−1,2 %)</a:t>
            </a:r>
            <a:endParaRPr lang="en-US" sz="1250" dirty="0"/>
          </a:p>
        </p:txBody>
      </p:sp>
      <p:sp>
        <p:nvSpPr>
          <p:cNvPr id="35" name="Shape 32"/>
          <p:cNvSpPr/>
          <p:nvPr/>
        </p:nvSpPr>
        <p:spPr>
          <a:xfrm>
            <a:off x="548640" y="4983480"/>
            <a:ext cx="11091672" cy="1188720"/>
          </a:xfrm>
          <a:prstGeom prst="roundRect">
            <a:avLst>
              <a:gd name="adj" fmla="val 10769"/>
            </a:avLst>
          </a:prstGeom>
          <a:solidFill>
            <a:srgbClr val="1E3A8A">
              <a:alpha val="45000"/>
            </a:srgbClr>
          </a:solidFill>
          <a:ln w="12700">
            <a:solidFill>
              <a:srgbClr val="3B82F6"/>
            </a:solidFill>
            <a:prstDash val="solid"/>
          </a:ln>
        </p:spPr>
      </p:sp>
      <p:sp>
        <p:nvSpPr>
          <p:cNvPr id="36" name="Text 33"/>
          <p:cNvSpPr txBox="1"/>
          <p:nvPr/>
        </p:nvSpPr>
        <p:spPr>
          <a:xfrm>
            <a:off x="822960" y="4983480"/>
            <a:ext cx="10607040" cy="1188720"/>
          </a:xfrm>
          <a:prstGeom prst="rect">
            <a:avLst/>
          </a:prstGeom>
          <a:noFill/>
          <a:ln/>
        </p:spPr>
        <p:txBody>
          <a:bodyPr wrap="square" lIns="0" tIns="0" rIns="0" bIns="0" rtlCol="0" anchor="ctr"/>
          <a:lstStyle/>
          <a:p>
            <a:pPr algn="l" indent="0" marL="0">
              <a:lnSpc>
                <a:spcPct val="110000"/>
              </a:lnSpc>
              <a:spcAft>
                <a:spcPts val="400"/>
              </a:spcAft>
              <a:buNone/>
            </a:pPr>
            <a:r>
              <a:rPr lang="en-US" sz="1400" b="1" dirty="0">
                <a:solidFill>
                  <a:schemeClr val="bg1"/>
                </a:solidFill>
              </a:rPr>
              <a:t>Aclaración: </a:t>
            </a:r>
            <a:pPr algn="l" indent="0" marL="0">
              <a:lnSpc>
                <a:spcPct val="110000"/>
              </a:lnSpc>
              <a:spcAft>
                <a:spcPts val="400"/>
              </a:spcAft>
              <a:buNone/>
            </a:pPr>
            <a:r>
              <a:rPr lang="en-US" sz="1400" dirty="0">
                <a:solidFill>
                  <a:schemeClr val="bg2"/>
                </a:solidFill>
              </a:rPr>
              <a:t>sí existe una diferencia pequeña entre los clientes de entrenamiento (AUC ≈ 0,768) y los nuevos (≈ 0,745). Es normal en cualquier modelo. La memorización se vería como en la red gigante, con diferencias enormes (99 % frente a 61 %).</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6400800" cy="365760"/>
          </a:xfrm>
          <a:prstGeom prst="rect">
            <a:avLst/>
          </a:prstGeom>
          <a:noFill/>
          <a:ln/>
        </p:spPr>
        <p:txBody>
          <a:bodyPr wrap="square" lIns="0" tIns="0" rIns="0" bIns="0" rtlCol="0"/>
          <a:lstStyle/>
          <a:p>
            <a:pPr algn="l" indent="0" marL="0">
              <a:buNone/>
            </a:pPr>
            <a:r>
              <a:rPr lang="en-US" sz="1400" spc="400" kern="0" dirty="0">
                <a:solidFill>
                  <a:schemeClr val="accent2"/>
                </a:solidFill>
                <a:latin typeface="Consolas" pitchFamily="34" charset="0"/>
                <a:ea typeface="Consolas" pitchFamily="34" charset="-122"/>
                <a:cs typeface="Consolas" pitchFamily="34" charset="-120"/>
              </a:rPr>
              <a:t>05 · RESULTADOS</a:t>
            </a:r>
            <a:endParaRPr lang="en-US" sz="1400" dirty="0"/>
          </a:p>
        </p:txBody>
      </p:sp>
      <p:sp>
        <p:nvSpPr>
          <p:cNvPr id="3" name="Text 0"/>
          <p:cNvSpPr/>
          <p:nvPr>
            <p:ph idx="101" type="title" hasCustomPrompt="1"/>
          </p:nvPr>
        </p:nvSpPr>
        <p:spPr>
          <a:xfrm>
            <a:off x="731520" y="2560320"/>
            <a:ext cx="7863840" cy="1737360"/>
          </a:xfrm>
          <a:prstGeom prst="rect">
            <a:avLst/>
          </a:prstGeom>
          <a:noFill/>
          <a:ln/>
        </p:spPr>
        <p:txBody>
          <a:bodyPr wrap="square" lIns="0" tIns="0" rIns="0" bIns="0" rtlCol="0" anchor="t"/>
          <a:lstStyle/>
          <a:p>
            <a:pPr algn="l" indent="0" marL="0">
              <a:buNone/>
            </a:pPr>
            <a:r>
              <a:rPr lang="en-US" sz="4400" b="1" dirty="0">
                <a:solidFill>
                  <a:schemeClr val="bg1"/>
                </a:solidFill>
              </a:rPr>
              <a:t>Resultados y medición del error</a:t>
            </a:r>
            <a:endParaRPr lang="en-US" sz="4400" dirty="0"/>
          </a:p>
        </p:txBody>
      </p:sp>
      <p:sp>
        <p:nvSpPr>
          <p:cNvPr id="4" name="Text 2"/>
          <p:cNvSpPr txBox="1"/>
          <p:nvPr/>
        </p:nvSpPr>
        <p:spPr>
          <a:xfrm>
            <a:off x="731520" y="4343400"/>
            <a:ext cx="5943600" cy="731520"/>
          </a:xfrm>
          <a:prstGeom prst="rect">
            <a:avLst/>
          </a:prstGeom>
          <a:noFill/>
          <a:ln/>
        </p:spPr>
        <p:txBody>
          <a:bodyPr wrap="square" lIns="0" tIns="0" rIns="0" bIns="0" rtlCol="0" anchor="t"/>
          <a:lstStyle/>
          <a:p>
            <a:pPr algn="l" indent="0" marL="0">
              <a:lnSpc>
                <a:spcPct val="110000"/>
              </a:lnSpc>
              <a:spcAft>
                <a:spcPts val="400"/>
              </a:spcAft>
              <a:buNone/>
            </a:pPr>
            <a:r>
              <a:rPr lang="en-US" sz="1600" dirty="0">
                <a:solidFill>
                  <a:schemeClr val="bg2"/>
                </a:solidFill>
              </a:rPr>
              <a:t>Evaluación final con 7.448 clientes que el modelo nunca vio, hecha una sola vez.</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Cómo se mide el error (1): error en la decisión</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La primera forma de medir el error es contar. Se toma la probabilidad de cada cliente, se decide APTO o NO APTO con el umbral de 50 % y se compara con lo que realmente pasó. Valores en el grupo de prueba (7.448 clientes):</a:t>
            </a:r>
            <a:endParaRPr lang="en-US" sz="1500" dirty="0"/>
          </a:p>
        </p:txBody>
      </p:sp>
      <p:sp>
        <p:nvSpPr>
          <p:cNvPr id="5" name="Shape 2"/>
          <p:cNvSpPr/>
          <p:nvPr/>
        </p:nvSpPr>
        <p:spPr>
          <a:xfrm>
            <a:off x="548640" y="1965960"/>
            <a:ext cx="5449824" cy="1965960"/>
          </a:xfrm>
          <a:prstGeom prst="roundRect">
            <a:avLst>
              <a:gd name="adj" fmla="val 6512"/>
            </a:avLst>
          </a:prstGeom>
          <a:solidFill>
            <a:schemeClr val="tx2">
              <a:alpha val="92000"/>
            </a:schemeClr>
          </a:solidFill>
          <a:ln w="12700">
            <a:solidFill>
              <a:srgbClr val="1E293B"/>
            </a:solidFill>
            <a:prstDash val="solid"/>
          </a:ln>
        </p:spPr>
      </p:sp>
      <p:sp>
        <p:nvSpPr>
          <p:cNvPr id="6" name="Text 3"/>
          <p:cNvSpPr txBox="1"/>
          <p:nvPr/>
        </p:nvSpPr>
        <p:spPr>
          <a:xfrm>
            <a:off x="822960" y="213055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Error de clasificación</a:t>
            </a:r>
            <a:endParaRPr lang="en-US" sz="1600" dirty="0"/>
          </a:p>
        </p:txBody>
      </p:sp>
      <p:sp>
        <p:nvSpPr>
          <p:cNvPr id="7" name="Text 4"/>
          <p:cNvSpPr txBox="1"/>
          <p:nvPr/>
        </p:nvSpPr>
        <p:spPr>
          <a:xfrm>
            <a:off x="4114800" y="207568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F87171"/>
                </a:solidFill>
                <a:latin typeface="Consolas" pitchFamily="34" charset="0"/>
                <a:ea typeface="Consolas" pitchFamily="34" charset="-122"/>
                <a:cs typeface="Consolas" pitchFamily="34" charset="-120"/>
              </a:rPr>
              <a:t>32,5 %</a:t>
            </a:r>
            <a:endParaRPr lang="en-US" sz="2400" dirty="0"/>
          </a:p>
        </p:txBody>
      </p:sp>
      <p:sp>
        <p:nvSpPr>
          <p:cNvPr id="8" name="Text 5"/>
          <p:cNvSpPr txBox="1"/>
          <p:nvPr/>
        </p:nvSpPr>
        <p:spPr>
          <a:xfrm>
            <a:off x="822960" y="2532888"/>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fallos ÷ total</a:t>
            </a:r>
            <a:endParaRPr lang="en-US" sz="1200" dirty="0"/>
          </a:p>
        </p:txBody>
      </p:sp>
      <p:sp>
        <p:nvSpPr>
          <p:cNvPr id="9" name="Text 6"/>
          <p:cNvSpPr txBox="1"/>
          <p:nvPr/>
        </p:nvSpPr>
        <p:spPr>
          <a:xfrm>
            <a:off x="822960" y="2807208"/>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2.422 ÷ 7.448</a:t>
            </a:r>
            <a:endParaRPr lang="en-US" sz="1200" dirty="0"/>
          </a:p>
        </p:txBody>
      </p:sp>
      <p:sp>
        <p:nvSpPr>
          <p:cNvPr id="10" name="Text 7"/>
          <p:cNvSpPr txBox="1"/>
          <p:nvPr/>
        </p:nvSpPr>
        <p:spPr>
          <a:xfrm>
            <a:off x="822960" y="3154680"/>
            <a:ext cx="4937760" cy="7315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 cada 100 clientes, el modelo se equivoca con 32. Su complemento es la exactitud: 67,5 % de aciertos.</a:t>
            </a:r>
            <a:endParaRPr lang="en-US" sz="1250" dirty="0"/>
          </a:p>
        </p:txBody>
      </p:sp>
      <p:sp>
        <p:nvSpPr>
          <p:cNvPr id="11" name="Shape 8"/>
          <p:cNvSpPr/>
          <p:nvPr/>
        </p:nvSpPr>
        <p:spPr>
          <a:xfrm>
            <a:off x="6190488" y="1965960"/>
            <a:ext cx="5449824" cy="1965960"/>
          </a:xfrm>
          <a:prstGeom prst="roundRect">
            <a:avLst>
              <a:gd name="adj" fmla="val 6512"/>
            </a:avLst>
          </a:prstGeom>
          <a:solidFill>
            <a:schemeClr val="tx2">
              <a:alpha val="92000"/>
            </a:schemeClr>
          </a:solidFill>
          <a:ln w="12700">
            <a:solidFill>
              <a:srgbClr val="1E293B"/>
            </a:solidFill>
            <a:prstDash val="solid"/>
          </a:ln>
        </p:spPr>
      </p:sp>
      <p:sp>
        <p:nvSpPr>
          <p:cNvPr id="12" name="Text 9"/>
          <p:cNvSpPr txBox="1"/>
          <p:nvPr/>
        </p:nvSpPr>
        <p:spPr>
          <a:xfrm>
            <a:off x="6464808" y="213055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Precisión</a:t>
            </a:r>
            <a:endParaRPr lang="en-US" sz="1600" dirty="0"/>
          </a:p>
        </p:txBody>
      </p:sp>
      <p:sp>
        <p:nvSpPr>
          <p:cNvPr id="13" name="Text 10"/>
          <p:cNvSpPr txBox="1"/>
          <p:nvPr/>
        </p:nvSpPr>
        <p:spPr>
          <a:xfrm>
            <a:off x="9756648" y="207568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38BDF8"/>
                </a:solidFill>
                <a:latin typeface="Consolas" pitchFamily="34" charset="0"/>
                <a:ea typeface="Consolas" pitchFamily="34" charset="-122"/>
                <a:cs typeface="Consolas" pitchFamily="34" charset="-120"/>
              </a:rPr>
              <a:t>67,8 %</a:t>
            </a:r>
            <a:endParaRPr lang="en-US" sz="2400" dirty="0"/>
          </a:p>
        </p:txBody>
      </p:sp>
      <p:sp>
        <p:nvSpPr>
          <p:cNvPr id="14" name="Text 11"/>
          <p:cNvSpPr txBox="1"/>
          <p:nvPr/>
        </p:nvSpPr>
        <p:spPr>
          <a:xfrm>
            <a:off x="6464808" y="2532888"/>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aprobados correctos ÷ total de aprobados</a:t>
            </a:r>
            <a:endParaRPr lang="en-US" sz="1200" dirty="0"/>
          </a:p>
        </p:txBody>
      </p:sp>
      <p:sp>
        <p:nvSpPr>
          <p:cNvPr id="15" name="Text 12"/>
          <p:cNvSpPr txBox="1"/>
          <p:nvPr/>
        </p:nvSpPr>
        <p:spPr>
          <a:xfrm>
            <a:off x="6464808" y="2807208"/>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2.476 ÷ 3.650</a:t>
            </a:r>
            <a:endParaRPr lang="en-US" sz="1200" dirty="0"/>
          </a:p>
        </p:txBody>
      </p:sp>
      <p:sp>
        <p:nvSpPr>
          <p:cNvPr id="16" name="Text 13"/>
          <p:cNvSpPr txBox="1"/>
          <p:nvPr/>
        </p:nvSpPr>
        <p:spPr>
          <a:xfrm>
            <a:off x="6464808" y="3154680"/>
            <a:ext cx="4937760" cy="7315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 cada 100 clientes que el modelo aprueba, 68 eran realmente buenos pagadores.</a:t>
            </a:r>
            <a:endParaRPr lang="en-US" sz="1250" dirty="0"/>
          </a:p>
        </p:txBody>
      </p:sp>
      <p:sp>
        <p:nvSpPr>
          <p:cNvPr id="17" name="Shape 14"/>
          <p:cNvSpPr/>
          <p:nvPr/>
        </p:nvSpPr>
        <p:spPr>
          <a:xfrm>
            <a:off x="548640" y="4114800"/>
            <a:ext cx="5449824" cy="1965960"/>
          </a:xfrm>
          <a:prstGeom prst="roundRect">
            <a:avLst>
              <a:gd name="adj" fmla="val 6512"/>
            </a:avLst>
          </a:prstGeom>
          <a:solidFill>
            <a:schemeClr val="tx2">
              <a:alpha val="92000"/>
            </a:schemeClr>
          </a:solidFill>
          <a:ln w="12700">
            <a:solidFill>
              <a:srgbClr val="1E293B"/>
            </a:solidFill>
            <a:prstDash val="solid"/>
          </a:ln>
        </p:spPr>
      </p:sp>
      <p:sp>
        <p:nvSpPr>
          <p:cNvPr id="18" name="Text 15"/>
          <p:cNvSpPr txBox="1"/>
          <p:nvPr/>
        </p:nvSpPr>
        <p:spPr>
          <a:xfrm>
            <a:off x="822960" y="427939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Sensibilidad (recall)</a:t>
            </a:r>
            <a:endParaRPr lang="en-US" sz="1600" dirty="0"/>
          </a:p>
        </p:txBody>
      </p:sp>
      <p:sp>
        <p:nvSpPr>
          <p:cNvPr id="19" name="Text 16"/>
          <p:cNvSpPr txBox="1"/>
          <p:nvPr/>
        </p:nvSpPr>
        <p:spPr>
          <a:xfrm>
            <a:off x="4114800" y="422452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38BDF8"/>
                </a:solidFill>
                <a:latin typeface="Consolas" pitchFamily="34" charset="0"/>
                <a:ea typeface="Consolas" pitchFamily="34" charset="-122"/>
                <a:cs typeface="Consolas" pitchFamily="34" charset="-120"/>
              </a:rPr>
              <a:t>66,5 %</a:t>
            </a:r>
            <a:endParaRPr lang="en-US" sz="2400" dirty="0"/>
          </a:p>
        </p:txBody>
      </p:sp>
      <p:sp>
        <p:nvSpPr>
          <p:cNvPr id="20" name="Text 17"/>
          <p:cNvSpPr txBox="1"/>
          <p:nvPr/>
        </p:nvSpPr>
        <p:spPr>
          <a:xfrm>
            <a:off x="822960" y="4681728"/>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buenos encontrados ÷ total de buenos</a:t>
            </a:r>
            <a:endParaRPr lang="en-US" sz="1200" dirty="0"/>
          </a:p>
        </p:txBody>
      </p:sp>
      <p:sp>
        <p:nvSpPr>
          <p:cNvPr id="21" name="Text 18"/>
          <p:cNvSpPr txBox="1"/>
          <p:nvPr/>
        </p:nvSpPr>
        <p:spPr>
          <a:xfrm>
            <a:off x="822960" y="4956048"/>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2.476 ÷ 3.724</a:t>
            </a:r>
            <a:endParaRPr lang="en-US" sz="1200" dirty="0"/>
          </a:p>
        </p:txBody>
      </p:sp>
      <p:sp>
        <p:nvSpPr>
          <p:cNvPr id="22" name="Text 19"/>
          <p:cNvSpPr txBox="1"/>
          <p:nvPr/>
        </p:nvSpPr>
        <p:spPr>
          <a:xfrm>
            <a:off x="822960" y="5303520"/>
            <a:ext cx="4937760" cy="7315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 cada 100 clientes buenos, el modelo encuentra y aprueba a 66.</a:t>
            </a:r>
            <a:endParaRPr lang="en-US" sz="1250" dirty="0"/>
          </a:p>
        </p:txBody>
      </p:sp>
      <p:sp>
        <p:nvSpPr>
          <p:cNvPr id="23" name="Shape 20"/>
          <p:cNvSpPr/>
          <p:nvPr/>
        </p:nvSpPr>
        <p:spPr>
          <a:xfrm>
            <a:off x="6190488" y="4114800"/>
            <a:ext cx="5449824" cy="1965960"/>
          </a:xfrm>
          <a:prstGeom prst="roundRect">
            <a:avLst>
              <a:gd name="adj" fmla="val 6512"/>
            </a:avLst>
          </a:prstGeom>
          <a:solidFill>
            <a:schemeClr val="tx2">
              <a:alpha val="92000"/>
            </a:schemeClr>
          </a:solidFill>
          <a:ln w="12700">
            <a:solidFill>
              <a:srgbClr val="1E293B"/>
            </a:solidFill>
            <a:prstDash val="solid"/>
          </a:ln>
        </p:spPr>
      </p:sp>
      <p:sp>
        <p:nvSpPr>
          <p:cNvPr id="24" name="Text 21"/>
          <p:cNvSpPr txBox="1"/>
          <p:nvPr/>
        </p:nvSpPr>
        <p:spPr>
          <a:xfrm>
            <a:off x="6464808" y="427939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F1</a:t>
            </a:r>
            <a:endParaRPr lang="en-US" sz="1600" dirty="0"/>
          </a:p>
        </p:txBody>
      </p:sp>
      <p:sp>
        <p:nvSpPr>
          <p:cNvPr id="25" name="Text 22"/>
          <p:cNvSpPr txBox="1"/>
          <p:nvPr/>
        </p:nvSpPr>
        <p:spPr>
          <a:xfrm>
            <a:off x="9756648" y="422452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34D399"/>
                </a:solidFill>
                <a:latin typeface="Consolas" pitchFamily="34" charset="0"/>
                <a:ea typeface="Consolas" pitchFamily="34" charset="-122"/>
                <a:cs typeface="Consolas" pitchFamily="34" charset="-120"/>
              </a:rPr>
              <a:t>0,672</a:t>
            </a:r>
            <a:endParaRPr lang="en-US" sz="2400" dirty="0"/>
          </a:p>
        </p:txBody>
      </p:sp>
      <p:sp>
        <p:nvSpPr>
          <p:cNvPr id="26" name="Text 23"/>
          <p:cNvSpPr txBox="1"/>
          <p:nvPr/>
        </p:nvSpPr>
        <p:spPr>
          <a:xfrm>
            <a:off x="6464808" y="4681728"/>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equilibrio entre precisión y sensibilidad</a:t>
            </a:r>
            <a:endParaRPr lang="en-US" sz="1200" dirty="0"/>
          </a:p>
        </p:txBody>
      </p:sp>
      <p:sp>
        <p:nvSpPr>
          <p:cNvPr id="27" name="Text 24"/>
          <p:cNvSpPr txBox="1"/>
          <p:nvPr/>
        </p:nvSpPr>
        <p:spPr>
          <a:xfrm>
            <a:off x="6464808" y="4956048"/>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promedio armónico</a:t>
            </a:r>
            <a:endParaRPr lang="en-US" sz="1200" dirty="0"/>
          </a:p>
        </p:txBody>
      </p:sp>
      <p:sp>
        <p:nvSpPr>
          <p:cNvPr id="28" name="Text 25"/>
          <p:cNvSpPr txBox="1"/>
          <p:nvPr/>
        </p:nvSpPr>
        <p:spPr>
          <a:xfrm>
            <a:off x="6464808" y="5303520"/>
            <a:ext cx="4937760" cy="7315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Resume en un solo número qué tan bien acierta con los clientes buenos, sin favorecer una medida sobre otra.</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Cómo se mide el error (2): error en la probabilidad</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La segunda forma mide qué tan buena es la probabilidad, antes de decidir. Una red que dice «90 % seguro» y se equivoca debe recibir más castigo que una que dice «55 %» y se equivoca.</a:t>
            </a:r>
            <a:endParaRPr lang="en-US" sz="1500" dirty="0"/>
          </a:p>
        </p:txBody>
      </p:sp>
      <p:graphicFrame>
        <p:nvGraphicFramePr>
          <p:cNvPr id="5" name="Chart 0" descr=""/>
          <p:cNvGraphicFramePr/>
          <p:nvPr/>
        </p:nvGraphicFramePr>
        <p:xfrm>
          <a:off x="548640" y="1920240"/>
          <a:ext cx="5394960" cy="27432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4800600"/>
            <a:ext cx="5394960" cy="1371600"/>
          </a:xfrm>
          <a:prstGeom prst="roundRect">
            <a:avLst>
              <a:gd name="adj" fmla="val 9333"/>
            </a:avLst>
          </a:prstGeom>
          <a:solidFill>
            <a:schemeClr val="tx2">
              <a:alpha val="92000"/>
            </a:schemeClr>
          </a:solidFill>
          <a:ln w="12700">
            <a:solidFill>
              <a:srgbClr val="1E293B"/>
            </a:solidFill>
            <a:prstDash val="solid"/>
          </a:ln>
        </p:spPr>
      </p:sp>
      <p:sp>
        <p:nvSpPr>
          <p:cNvPr id="7" name="Text 3"/>
          <p:cNvSpPr txBox="1"/>
          <p:nvPr/>
        </p:nvSpPr>
        <p:spPr>
          <a:xfrm>
            <a:off x="777240" y="4919472"/>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90 % y acierta</a:t>
            </a:r>
            <a:endParaRPr lang="en-US" sz="1250" dirty="0"/>
          </a:p>
        </p:txBody>
      </p:sp>
      <p:sp>
        <p:nvSpPr>
          <p:cNvPr id="8" name="Text 4"/>
          <p:cNvSpPr txBox="1"/>
          <p:nvPr/>
        </p:nvSpPr>
        <p:spPr>
          <a:xfrm>
            <a:off x="4206240" y="4919472"/>
            <a:ext cx="1554480" cy="32004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accent5"/>
                </a:solidFill>
                <a:latin typeface="Consolas" pitchFamily="34" charset="0"/>
                <a:ea typeface="Consolas" pitchFamily="34" charset="-122"/>
                <a:cs typeface="Consolas" pitchFamily="34" charset="-120"/>
              </a:rPr>
              <a:t>castigo 0,11</a:t>
            </a:r>
            <a:endParaRPr lang="en-US" sz="1250" dirty="0"/>
          </a:p>
        </p:txBody>
      </p:sp>
      <p:sp>
        <p:nvSpPr>
          <p:cNvPr id="9" name="Text 5"/>
          <p:cNvSpPr txBox="1"/>
          <p:nvPr/>
        </p:nvSpPr>
        <p:spPr>
          <a:xfrm>
            <a:off x="777240" y="5303520"/>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55 % y acierta</a:t>
            </a:r>
            <a:endParaRPr lang="en-US" sz="1250" dirty="0"/>
          </a:p>
        </p:txBody>
      </p:sp>
      <p:sp>
        <p:nvSpPr>
          <p:cNvPr id="10" name="Text 6"/>
          <p:cNvSpPr txBox="1"/>
          <p:nvPr/>
        </p:nvSpPr>
        <p:spPr>
          <a:xfrm>
            <a:off x="4206240" y="5303520"/>
            <a:ext cx="1554480" cy="32004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accent5"/>
                </a:solidFill>
                <a:latin typeface="Consolas" pitchFamily="34" charset="0"/>
                <a:ea typeface="Consolas" pitchFamily="34" charset="-122"/>
                <a:cs typeface="Consolas" pitchFamily="34" charset="-120"/>
              </a:rPr>
              <a:t>castigo 0,60</a:t>
            </a:r>
            <a:endParaRPr lang="en-US" sz="1250" dirty="0"/>
          </a:p>
        </p:txBody>
      </p:sp>
      <p:sp>
        <p:nvSpPr>
          <p:cNvPr id="11" name="Text 7"/>
          <p:cNvSpPr txBox="1"/>
          <p:nvPr/>
        </p:nvSpPr>
        <p:spPr>
          <a:xfrm>
            <a:off x="777240" y="5687568"/>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10 % (muy seguro y se equivoca)</a:t>
            </a:r>
            <a:endParaRPr lang="en-US" sz="1250" dirty="0"/>
          </a:p>
        </p:txBody>
      </p:sp>
      <p:sp>
        <p:nvSpPr>
          <p:cNvPr id="12" name="Text 8"/>
          <p:cNvSpPr txBox="1"/>
          <p:nvPr/>
        </p:nvSpPr>
        <p:spPr>
          <a:xfrm>
            <a:off x="4206240" y="5687568"/>
            <a:ext cx="1554480" cy="32004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accent5"/>
                </a:solidFill>
                <a:latin typeface="Consolas" pitchFamily="34" charset="0"/>
                <a:ea typeface="Consolas" pitchFamily="34" charset="-122"/>
                <a:cs typeface="Consolas" pitchFamily="34" charset="-120"/>
              </a:rPr>
              <a:t>castigo 2,30</a:t>
            </a:r>
            <a:endParaRPr lang="en-US" sz="1250" dirty="0"/>
          </a:p>
        </p:txBody>
      </p:sp>
      <p:sp>
        <p:nvSpPr>
          <p:cNvPr id="13" name="Shape 9"/>
          <p:cNvSpPr/>
          <p:nvPr/>
        </p:nvSpPr>
        <p:spPr>
          <a:xfrm>
            <a:off x="6217920" y="1920240"/>
            <a:ext cx="5422392" cy="1298448"/>
          </a:xfrm>
          <a:prstGeom prst="roundRect">
            <a:avLst>
              <a:gd name="adj" fmla="val 9859"/>
            </a:avLst>
          </a:prstGeom>
          <a:solidFill>
            <a:schemeClr val="tx2">
              <a:alpha val="92000"/>
            </a:schemeClr>
          </a:solidFill>
          <a:ln w="12700">
            <a:solidFill>
              <a:srgbClr val="1E293B"/>
            </a:solidFill>
            <a:prstDash val="solid"/>
          </a:ln>
        </p:spPr>
      </p:sp>
      <p:sp>
        <p:nvSpPr>
          <p:cNvPr id="14" name="Text 10"/>
          <p:cNvSpPr txBox="1"/>
          <p:nvPr/>
        </p:nvSpPr>
        <p:spPr>
          <a:xfrm>
            <a:off x="6446520" y="2057400"/>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Log loss (entropía cruzada)</a:t>
            </a:r>
            <a:endParaRPr lang="en-US" sz="1500" dirty="0"/>
          </a:p>
        </p:txBody>
      </p:sp>
      <p:sp>
        <p:nvSpPr>
          <p:cNvPr id="15" name="Text 11"/>
          <p:cNvSpPr txBox="1"/>
          <p:nvPr/>
        </p:nvSpPr>
        <p:spPr>
          <a:xfrm>
            <a:off x="9921240" y="2011680"/>
            <a:ext cx="1508760" cy="411480"/>
          </a:xfrm>
          <a:prstGeom prst="rect">
            <a:avLst/>
          </a:prstGeom>
          <a:noFill/>
          <a:ln/>
        </p:spPr>
        <p:txBody>
          <a:bodyPr wrap="square" lIns="0" tIns="0" rIns="0" bIns="0" rtlCol="0" anchor="t"/>
          <a:lstStyle/>
          <a:p>
            <a:pPr algn="r" indent="0" marL="0">
              <a:lnSpc>
                <a:spcPct val="110000"/>
              </a:lnSpc>
              <a:spcAft>
                <a:spcPts val="400"/>
              </a:spcAft>
              <a:buNone/>
            </a:pPr>
            <a:r>
              <a:rPr lang="en-US" sz="2200" b="1" dirty="0">
                <a:solidFill>
                  <a:srgbClr val="F87171"/>
                </a:solidFill>
                <a:latin typeface="Consolas" pitchFamily="34" charset="0"/>
                <a:ea typeface="Consolas" pitchFamily="34" charset="-122"/>
                <a:cs typeface="Consolas" pitchFamily="34" charset="-120"/>
              </a:rPr>
              <a:t>0,596</a:t>
            </a:r>
            <a:endParaRPr lang="en-US" sz="2200" dirty="0"/>
          </a:p>
        </p:txBody>
      </p:sp>
      <p:sp>
        <p:nvSpPr>
          <p:cNvPr id="16" name="Text 12"/>
          <p:cNvSpPr txBox="1"/>
          <p:nvPr/>
        </p:nvSpPr>
        <p:spPr>
          <a:xfrm>
            <a:off x="6446520" y="2450592"/>
            <a:ext cx="4983480" cy="7315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Es el error que la red minimiza al entrenar: el promedio de los castigos. Si no supiera nada y dijera siempre 50 %, daría 0,693.</a:t>
            </a:r>
            <a:endParaRPr lang="en-US" sz="1200" dirty="0"/>
          </a:p>
        </p:txBody>
      </p:sp>
      <p:sp>
        <p:nvSpPr>
          <p:cNvPr id="17" name="Shape 13"/>
          <p:cNvSpPr/>
          <p:nvPr/>
        </p:nvSpPr>
        <p:spPr>
          <a:xfrm>
            <a:off x="6217920" y="3364992"/>
            <a:ext cx="5422392" cy="1298448"/>
          </a:xfrm>
          <a:prstGeom prst="roundRect">
            <a:avLst>
              <a:gd name="adj" fmla="val 9859"/>
            </a:avLst>
          </a:prstGeom>
          <a:solidFill>
            <a:schemeClr val="tx2">
              <a:alpha val="92000"/>
            </a:schemeClr>
          </a:solidFill>
          <a:ln w="12700">
            <a:solidFill>
              <a:srgbClr val="1E293B"/>
            </a:solidFill>
            <a:prstDash val="solid"/>
          </a:ln>
        </p:spPr>
      </p:sp>
      <p:sp>
        <p:nvSpPr>
          <p:cNvPr id="18" name="Text 14"/>
          <p:cNvSpPr txBox="1"/>
          <p:nvPr/>
        </p:nvSpPr>
        <p:spPr>
          <a:xfrm>
            <a:off x="6446520" y="3502152"/>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Brier</a:t>
            </a:r>
            <a:endParaRPr lang="en-US" sz="1500" dirty="0"/>
          </a:p>
        </p:txBody>
      </p:sp>
      <p:sp>
        <p:nvSpPr>
          <p:cNvPr id="19" name="Text 15"/>
          <p:cNvSpPr txBox="1"/>
          <p:nvPr/>
        </p:nvSpPr>
        <p:spPr>
          <a:xfrm>
            <a:off x="9921240" y="3456432"/>
            <a:ext cx="1508760" cy="411480"/>
          </a:xfrm>
          <a:prstGeom prst="rect">
            <a:avLst/>
          </a:prstGeom>
          <a:noFill/>
          <a:ln/>
        </p:spPr>
        <p:txBody>
          <a:bodyPr wrap="square" lIns="0" tIns="0" rIns="0" bIns="0" rtlCol="0" anchor="t"/>
          <a:lstStyle/>
          <a:p>
            <a:pPr algn="r" indent="0" marL="0">
              <a:lnSpc>
                <a:spcPct val="110000"/>
              </a:lnSpc>
              <a:spcAft>
                <a:spcPts val="400"/>
              </a:spcAft>
              <a:buNone/>
            </a:pPr>
            <a:r>
              <a:rPr lang="en-US" sz="2200" b="1" dirty="0">
                <a:solidFill>
                  <a:srgbClr val="F59E0B"/>
                </a:solidFill>
                <a:latin typeface="Consolas" pitchFamily="34" charset="0"/>
                <a:ea typeface="Consolas" pitchFamily="34" charset="-122"/>
                <a:cs typeface="Consolas" pitchFamily="34" charset="-120"/>
              </a:rPr>
              <a:t>0,205</a:t>
            </a:r>
            <a:endParaRPr lang="en-US" sz="2200" dirty="0"/>
          </a:p>
        </p:txBody>
      </p:sp>
      <p:sp>
        <p:nvSpPr>
          <p:cNvPr id="20" name="Text 16"/>
          <p:cNvSpPr txBox="1"/>
          <p:nvPr/>
        </p:nvSpPr>
        <p:spPr>
          <a:xfrm>
            <a:off x="6446520" y="3895344"/>
            <a:ext cx="4983480" cy="7315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Promedio de (probabilidad − realidad)². Va de 0 (perfecto) a 0,25 (decir siempre 50 %).</a:t>
            </a:r>
            <a:endParaRPr lang="en-US" sz="1200" dirty="0"/>
          </a:p>
        </p:txBody>
      </p:sp>
      <p:sp>
        <p:nvSpPr>
          <p:cNvPr id="21" name="Shape 17"/>
          <p:cNvSpPr/>
          <p:nvPr/>
        </p:nvSpPr>
        <p:spPr>
          <a:xfrm>
            <a:off x="6217920" y="4809744"/>
            <a:ext cx="5422392" cy="1298448"/>
          </a:xfrm>
          <a:prstGeom prst="roundRect">
            <a:avLst>
              <a:gd name="adj" fmla="val 9859"/>
            </a:avLst>
          </a:prstGeom>
          <a:solidFill>
            <a:schemeClr val="tx2">
              <a:alpha val="92000"/>
            </a:schemeClr>
          </a:solidFill>
          <a:ln w="12700">
            <a:solidFill>
              <a:srgbClr val="1E293B"/>
            </a:solidFill>
            <a:prstDash val="solid"/>
          </a:ln>
        </p:spPr>
      </p:sp>
      <p:sp>
        <p:nvSpPr>
          <p:cNvPr id="22" name="Text 18"/>
          <p:cNvSpPr txBox="1"/>
          <p:nvPr/>
        </p:nvSpPr>
        <p:spPr>
          <a:xfrm>
            <a:off x="6446520" y="4946904"/>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AUC</a:t>
            </a:r>
            <a:endParaRPr lang="en-US" sz="1500" dirty="0"/>
          </a:p>
        </p:txBody>
      </p:sp>
      <p:sp>
        <p:nvSpPr>
          <p:cNvPr id="23" name="Text 19"/>
          <p:cNvSpPr txBox="1"/>
          <p:nvPr/>
        </p:nvSpPr>
        <p:spPr>
          <a:xfrm>
            <a:off x="9921240" y="4901184"/>
            <a:ext cx="1508760" cy="411480"/>
          </a:xfrm>
          <a:prstGeom prst="rect">
            <a:avLst/>
          </a:prstGeom>
          <a:noFill/>
          <a:ln/>
        </p:spPr>
        <p:txBody>
          <a:bodyPr wrap="square" lIns="0" tIns="0" rIns="0" bIns="0" rtlCol="0" anchor="t"/>
          <a:lstStyle/>
          <a:p>
            <a:pPr algn="r" indent="0" marL="0">
              <a:lnSpc>
                <a:spcPct val="110000"/>
              </a:lnSpc>
              <a:spcAft>
                <a:spcPts val="400"/>
              </a:spcAft>
              <a:buNone/>
            </a:pPr>
            <a:r>
              <a:rPr lang="en-US" sz="2200" b="1" dirty="0">
                <a:solidFill>
                  <a:srgbClr val="38BDF8"/>
                </a:solidFill>
                <a:latin typeface="Consolas" pitchFamily="34" charset="0"/>
                <a:ea typeface="Consolas" pitchFamily="34" charset="-122"/>
                <a:cs typeface="Consolas" pitchFamily="34" charset="-120"/>
              </a:rPr>
              <a:t>0,745</a:t>
            </a:r>
            <a:endParaRPr lang="en-US" sz="2200" dirty="0"/>
          </a:p>
        </p:txBody>
      </p:sp>
      <p:sp>
        <p:nvSpPr>
          <p:cNvPr id="24" name="Text 20"/>
          <p:cNvSpPr txBox="1"/>
          <p:nvPr/>
        </p:nvSpPr>
        <p:spPr>
          <a:xfrm>
            <a:off x="6446520" y="5340096"/>
            <a:ext cx="4983480" cy="7315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Si se toma un cliente bueno y uno malo al azar, en 3 de cada 4 casos el modelo le da más probabilidad al bueno. No depende del umbral.</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Resultados en el grupo de prueba</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Resultados del modelo final en los 7.448 clientes del grupo de prueba, comparados con los de validación. La caída entre ambos es pequeña, lo que indica que el modelo generaliza.</a:t>
            </a:r>
            <a:endParaRPr lang="en-US" sz="1500" dirty="0"/>
          </a:p>
        </p:txBody>
      </p:sp>
      <p:sp>
        <p:nvSpPr>
          <p:cNvPr id="5" name="Shape 2"/>
          <p:cNvSpPr/>
          <p:nvPr/>
        </p:nvSpPr>
        <p:spPr>
          <a:xfrm>
            <a:off x="548640" y="1965960"/>
            <a:ext cx="4023360" cy="1280160"/>
          </a:xfrm>
          <a:prstGeom prst="roundRect">
            <a:avLst>
              <a:gd name="adj" fmla="val 10000"/>
            </a:avLst>
          </a:prstGeom>
          <a:solidFill>
            <a:schemeClr val="tx2">
              <a:alpha val="92000"/>
            </a:schemeClr>
          </a:solidFill>
          <a:ln w="12700">
            <a:solidFill>
              <a:srgbClr val="1E293B"/>
            </a:solidFill>
            <a:prstDash val="solid"/>
          </a:ln>
        </p:spPr>
      </p:sp>
      <p:sp>
        <p:nvSpPr>
          <p:cNvPr id="6" name="Text 3"/>
          <p:cNvSpPr txBox="1"/>
          <p:nvPr/>
        </p:nvSpPr>
        <p:spPr>
          <a:xfrm>
            <a:off x="777240" y="2011680"/>
            <a:ext cx="3566160" cy="685800"/>
          </a:xfrm>
          <a:prstGeom prst="rect">
            <a:avLst/>
          </a:prstGeom>
          <a:noFill/>
          <a:ln/>
        </p:spPr>
        <p:txBody>
          <a:bodyPr wrap="square" lIns="0" tIns="0" rIns="0" bIns="0" rtlCol="0" anchor="b"/>
          <a:lstStyle/>
          <a:p>
            <a:pPr algn="l" indent="0" marL="0">
              <a:lnSpc>
                <a:spcPct val="110000"/>
              </a:lnSpc>
              <a:spcAft>
                <a:spcPts val="400"/>
              </a:spcAft>
              <a:buNone/>
            </a:pPr>
            <a:r>
              <a:rPr lang="en-US" sz="3400" b="1" dirty="0">
                <a:solidFill>
                  <a:schemeClr val="accent2"/>
                </a:solidFill>
                <a:latin typeface="Consolas" pitchFamily="34" charset="0"/>
                <a:ea typeface="Consolas" pitchFamily="34" charset="-122"/>
                <a:cs typeface="Consolas" pitchFamily="34" charset="-120"/>
              </a:rPr>
              <a:t>0,745</a:t>
            </a:r>
            <a:endParaRPr lang="en-US" sz="3400" dirty="0"/>
          </a:p>
        </p:txBody>
      </p:sp>
      <p:sp>
        <p:nvSpPr>
          <p:cNvPr id="7" name="Text 4"/>
          <p:cNvSpPr txBox="1"/>
          <p:nvPr/>
        </p:nvSpPr>
        <p:spPr>
          <a:xfrm>
            <a:off x="777240" y="2724912"/>
            <a:ext cx="3611880" cy="4114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AUC: ordena bien 3 de cada 4 parejas bueno/malo</a:t>
            </a:r>
            <a:endParaRPr lang="en-US" sz="1250" dirty="0"/>
          </a:p>
        </p:txBody>
      </p:sp>
      <p:sp>
        <p:nvSpPr>
          <p:cNvPr id="8" name="Shape 5"/>
          <p:cNvSpPr/>
          <p:nvPr/>
        </p:nvSpPr>
        <p:spPr>
          <a:xfrm>
            <a:off x="548640" y="3383280"/>
            <a:ext cx="4023360" cy="1280160"/>
          </a:xfrm>
          <a:prstGeom prst="roundRect">
            <a:avLst>
              <a:gd name="adj" fmla="val 10000"/>
            </a:avLst>
          </a:prstGeom>
          <a:solidFill>
            <a:schemeClr val="tx2">
              <a:alpha val="92000"/>
            </a:schemeClr>
          </a:solidFill>
          <a:ln w="12700">
            <a:solidFill>
              <a:srgbClr val="1E293B"/>
            </a:solidFill>
            <a:prstDash val="solid"/>
          </a:ln>
        </p:spPr>
      </p:sp>
      <p:sp>
        <p:nvSpPr>
          <p:cNvPr id="9" name="Text 6"/>
          <p:cNvSpPr txBox="1"/>
          <p:nvPr/>
        </p:nvSpPr>
        <p:spPr>
          <a:xfrm>
            <a:off x="777240" y="3429000"/>
            <a:ext cx="3566160" cy="685800"/>
          </a:xfrm>
          <a:prstGeom prst="rect">
            <a:avLst/>
          </a:prstGeom>
          <a:noFill/>
          <a:ln/>
        </p:spPr>
        <p:txBody>
          <a:bodyPr wrap="square" lIns="0" tIns="0" rIns="0" bIns="0" rtlCol="0" anchor="b"/>
          <a:lstStyle/>
          <a:p>
            <a:pPr algn="l" indent="0" marL="0">
              <a:lnSpc>
                <a:spcPct val="110000"/>
              </a:lnSpc>
              <a:spcAft>
                <a:spcPts val="400"/>
              </a:spcAft>
              <a:buNone/>
            </a:pPr>
            <a:r>
              <a:rPr lang="en-US" sz="3400" b="1" dirty="0">
                <a:solidFill>
                  <a:schemeClr val="bg1"/>
                </a:solidFill>
                <a:latin typeface="Consolas" pitchFamily="34" charset="0"/>
                <a:ea typeface="Consolas" pitchFamily="34" charset="-122"/>
                <a:cs typeface="Consolas" pitchFamily="34" charset="-120"/>
              </a:rPr>
              <a:t>67,5 %</a:t>
            </a:r>
            <a:endParaRPr lang="en-US" sz="3400" dirty="0"/>
          </a:p>
        </p:txBody>
      </p:sp>
      <p:sp>
        <p:nvSpPr>
          <p:cNvPr id="10" name="Text 7"/>
          <p:cNvSpPr txBox="1"/>
          <p:nvPr/>
        </p:nvSpPr>
        <p:spPr>
          <a:xfrm>
            <a:off x="777240" y="4142232"/>
            <a:ext cx="3611880" cy="4114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 aciertos (5.026 de 7.448 clientes)</a:t>
            </a:r>
            <a:endParaRPr lang="en-US" sz="1250" dirty="0"/>
          </a:p>
        </p:txBody>
      </p:sp>
      <p:sp>
        <p:nvSpPr>
          <p:cNvPr id="11" name="Shape 8"/>
          <p:cNvSpPr/>
          <p:nvPr/>
        </p:nvSpPr>
        <p:spPr>
          <a:xfrm>
            <a:off x="548640" y="4800600"/>
            <a:ext cx="4023360" cy="1280160"/>
          </a:xfrm>
          <a:prstGeom prst="roundRect">
            <a:avLst>
              <a:gd name="adj" fmla="val 10000"/>
            </a:avLst>
          </a:prstGeom>
          <a:solidFill>
            <a:schemeClr val="tx2">
              <a:alpha val="92000"/>
            </a:schemeClr>
          </a:solidFill>
          <a:ln w="12700">
            <a:solidFill>
              <a:srgbClr val="1E293B"/>
            </a:solidFill>
            <a:prstDash val="solid"/>
          </a:ln>
        </p:spPr>
      </p:sp>
      <p:sp>
        <p:nvSpPr>
          <p:cNvPr id="12" name="Text 9"/>
          <p:cNvSpPr txBox="1"/>
          <p:nvPr/>
        </p:nvSpPr>
        <p:spPr>
          <a:xfrm>
            <a:off x="777240" y="4846320"/>
            <a:ext cx="3566160" cy="685800"/>
          </a:xfrm>
          <a:prstGeom prst="rect">
            <a:avLst/>
          </a:prstGeom>
          <a:noFill/>
          <a:ln/>
        </p:spPr>
        <p:txBody>
          <a:bodyPr wrap="square" lIns="0" tIns="0" rIns="0" bIns="0" rtlCol="0" anchor="b"/>
          <a:lstStyle/>
          <a:p>
            <a:pPr algn="l" indent="0" marL="0">
              <a:lnSpc>
                <a:spcPct val="110000"/>
              </a:lnSpc>
              <a:spcAft>
                <a:spcPts val="400"/>
              </a:spcAft>
              <a:buNone/>
            </a:pPr>
            <a:r>
              <a:rPr lang="en-US" sz="3400" b="1" dirty="0">
                <a:solidFill>
                  <a:schemeClr val="accent4"/>
                </a:solidFill>
                <a:latin typeface="Consolas" pitchFamily="34" charset="0"/>
                <a:ea typeface="Consolas" pitchFamily="34" charset="-122"/>
                <a:cs typeface="Consolas" pitchFamily="34" charset="-120"/>
              </a:rPr>
              <a:t>−1,2 %</a:t>
            </a:r>
            <a:endParaRPr lang="en-US" sz="3400" dirty="0"/>
          </a:p>
        </p:txBody>
      </p:sp>
      <p:sp>
        <p:nvSpPr>
          <p:cNvPr id="13" name="Text 10"/>
          <p:cNvSpPr txBox="1"/>
          <p:nvPr/>
        </p:nvSpPr>
        <p:spPr>
          <a:xfrm>
            <a:off x="777240" y="5559552"/>
            <a:ext cx="3611880" cy="4114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 caída del AUC frente a validación</a:t>
            </a:r>
            <a:endParaRPr lang="en-US" sz="1250" dirty="0"/>
          </a:p>
        </p:txBody>
      </p:sp>
      <p:graphicFrame>
        <p:nvGraphicFramePr>
          <p:cNvPr id="14" name="Chart 0" descr=""/>
          <p:cNvGraphicFramePr/>
          <p:nvPr/>
        </p:nvGraphicFramePr>
        <p:xfrm>
          <a:off x="4846320" y="1920240"/>
          <a:ext cx="6793992" cy="42519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Evolución del AUC por etapa</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Así cambió el AUC desde la línea base hasta el modelo final. La mejora es pequeña, pero aparece tanto en validación como en prueba.</a:t>
            </a:r>
            <a:endParaRPr lang="en-US" sz="1500" dirty="0"/>
          </a:p>
        </p:txBody>
      </p:sp>
      <p:graphicFrame>
        <p:nvGraphicFramePr>
          <p:cNvPr id="5" name="Chart 0" descr=""/>
          <p:cNvGraphicFramePr/>
          <p:nvPr/>
        </p:nvGraphicFramePr>
        <p:xfrm>
          <a:off x="548640" y="1920240"/>
          <a:ext cx="768096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503920" y="1920240"/>
            <a:ext cx="3136392" cy="4251960"/>
          </a:xfrm>
          <a:prstGeom prst="roundRect">
            <a:avLst>
              <a:gd name="adj" fmla="val 4082"/>
            </a:avLst>
          </a:prstGeom>
          <a:solidFill>
            <a:schemeClr val="tx2">
              <a:alpha val="92000"/>
            </a:schemeClr>
          </a:solidFill>
          <a:ln w="12700">
            <a:solidFill>
              <a:srgbClr val="1E293B"/>
            </a:solidFill>
            <a:prstDash val="solid"/>
          </a:ln>
        </p:spPr>
      </p:sp>
      <p:sp>
        <p:nvSpPr>
          <p:cNvPr id="7" name="Text 3"/>
          <p:cNvSpPr txBox="1"/>
          <p:nvPr/>
        </p:nvSpPr>
        <p:spPr>
          <a:xfrm>
            <a:off x="8732520" y="2148840"/>
            <a:ext cx="27432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MEJORA EN PRUEBA</a:t>
            </a:r>
            <a:endParaRPr lang="en-US" sz="1050" dirty="0"/>
          </a:p>
        </p:txBody>
      </p:sp>
      <p:sp>
        <p:nvSpPr>
          <p:cNvPr id="8" name="Text 4"/>
          <p:cNvSpPr txBox="1"/>
          <p:nvPr/>
        </p:nvSpPr>
        <p:spPr>
          <a:xfrm>
            <a:off x="8732520" y="2514600"/>
            <a:ext cx="2743200" cy="640080"/>
          </a:xfrm>
          <a:prstGeom prst="rect">
            <a:avLst/>
          </a:prstGeom>
          <a:noFill/>
          <a:ln/>
        </p:spPr>
        <p:txBody>
          <a:bodyPr wrap="square" lIns="0" tIns="0" rIns="0" bIns="0" rtlCol="0" anchor="t"/>
          <a:lstStyle/>
          <a:p>
            <a:pPr algn="l" indent="0" marL="0">
              <a:lnSpc>
                <a:spcPct val="110000"/>
              </a:lnSpc>
              <a:spcAft>
                <a:spcPts val="400"/>
              </a:spcAft>
              <a:buNone/>
            </a:pPr>
            <a:r>
              <a:rPr lang="en-US" sz="3200" b="1" dirty="0">
                <a:solidFill>
                  <a:schemeClr val="accent4"/>
                </a:solidFill>
                <a:latin typeface="Consolas" pitchFamily="34" charset="0"/>
                <a:ea typeface="Consolas" pitchFamily="34" charset="-122"/>
                <a:cs typeface="Consolas" pitchFamily="34" charset="-120"/>
              </a:rPr>
              <a:t>+0,0024</a:t>
            </a:r>
            <a:endParaRPr lang="en-US" sz="3200" dirty="0"/>
          </a:p>
        </p:txBody>
      </p:sp>
      <p:sp>
        <p:nvSpPr>
          <p:cNvPr id="9" name="Text 5"/>
          <p:cNvSpPr txBox="1"/>
          <p:nvPr/>
        </p:nvSpPr>
        <p:spPr>
          <a:xfrm>
            <a:off x="8732520" y="3200400"/>
            <a:ext cx="2697480" cy="73152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de AUC frente a la línea base (0,7424 → 0,7448).</a:t>
            </a:r>
            <a:endParaRPr lang="en-US" sz="1350" dirty="0"/>
          </a:p>
        </p:txBody>
      </p:sp>
      <p:sp>
        <p:nvSpPr>
          <p:cNvPr id="10" name="Text 6"/>
          <p:cNvSpPr txBox="1"/>
          <p:nvPr/>
        </p:nvSpPr>
        <p:spPr>
          <a:xfrm>
            <a:off x="8732520" y="4114800"/>
            <a:ext cx="2697480" cy="182880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accent2"/>
                </a:solidFill>
              </a:rPr>
              <a:t>Es una mejora modesta. El aporte principal del proyecto es el método: sin fuga de datos, con pruebas para cada decisión y reproducible.</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Aciertos y errores en el grupo de prueba</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La matriz de confusión cruza lo que el modelo decidió con lo que realmente pasó. Las casillas verdes son aciertos y las rojas, errores.</a:t>
            </a:r>
            <a:endParaRPr lang="en-US" sz="1500" dirty="0"/>
          </a:p>
        </p:txBody>
      </p:sp>
      <p:sp>
        <p:nvSpPr>
          <p:cNvPr id="5" name="Text 2"/>
          <p:cNvSpPr txBox="1"/>
          <p:nvPr/>
        </p:nvSpPr>
        <p:spPr>
          <a:xfrm>
            <a:off x="2377440" y="1920240"/>
            <a:ext cx="2834640" cy="320040"/>
          </a:xfrm>
          <a:prstGeom prst="rect">
            <a:avLst/>
          </a:prstGeom>
          <a:noFill/>
          <a:ln/>
        </p:spPr>
        <p:txBody>
          <a:bodyPr wrap="square" lIns="0" tIns="0" rIns="0" bIns="0" rtlCol="0" anchor="t"/>
          <a:lstStyle/>
          <a:p>
            <a:pPr algn="ctr" indent="0" marL="0">
              <a:lnSpc>
                <a:spcPct val="110000"/>
              </a:lnSpc>
              <a:spcAft>
                <a:spcPts val="400"/>
              </a:spcAft>
              <a:buNone/>
            </a:pPr>
            <a:r>
              <a:rPr lang="en-US" sz="1250" dirty="0">
                <a:solidFill>
                  <a:srgbClr val="94A3B8"/>
                </a:solidFill>
              </a:rPr>
              <a:t>Predicho: NO APTO</a:t>
            </a:r>
            <a:endParaRPr lang="en-US" sz="1250" dirty="0"/>
          </a:p>
        </p:txBody>
      </p:sp>
      <p:sp>
        <p:nvSpPr>
          <p:cNvPr id="6" name="Text 3"/>
          <p:cNvSpPr txBox="1"/>
          <p:nvPr/>
        </p:nvSpPr>
        <p:spPr>
          <a:xfrm>
            <a:off x="5321808" y="1920240"/>
            <a:ext cx="2834640" cy="320040"/>
          </a:xfrm>
          <a:prstGeom prst="rect">
            <a:avLst/>
          </a:prstGeom>
          <a:noFill/>
          <a:ln/>
        </p:spPr>
        <p:txBody>
          <a:bodyPr wrap="square" lIns="0" tIns="0" rIns="0" bIns="0" rtlCol="0" anchor="t"/>
          <a:lstStyle/>
          <a:p>
            <a:pPr algn="ctr" indent="0" marL="0">
              <a:lnSpc>
                <a:spcPct val="110000"/>
              </a:lnSpc>
              <a:spcAft>
                <a:spcPts val="400"/>
              </a:spcAft>
              <a:buNone/>
            </a:pPr>
            <a:r>
              <a:rPr lang="en-US" sz="1250" dirty="0">
                <a:solidFill>
                  <a:srgbClr val="94A3B8"/>
                </a:solidFill>
              </a:rPr>
              <a:t>Predicho: APTO</a:t>
            </a:r>
            <a:endParaRPr lang="en-US" sz="1250" dirty="0"/>
          </a:p>
        </p:txBody>
      </p:sp>
      <p:sp>
        <p:nvSpPr>
          <p:cNvPr id="7" name="Text 4"/>
          <p:cNvSpPr txBox="1"/>
          <p:nvPr/>
        </p:nvSpPr>
        <p:spPr>
          <a:xfrm>
            <a:off x="548640" y="2286000"/>
            <a:ext cx="1691640" cy="1828800"/>
          </a:xfrm>
          <a:prstGeom prst="rect">
            <a:avLst/>
          </a:prstGeom>
          <a:noFill/>
          <a:ln/>
        </p:spPr>
        <p:txBody>
          <a:bodyPr wrap="square" lIns="0" tIns="0" rIns="0" bIns="0" rtlCol="0" anchor="ctr"/>
          <a:lstStyle/>
          <a:p>
            <a:pPr algn="r" indent="0" marL="0">
              <a:lnSpc>
                <a:spcPct val="110000"/>
              </a:lnSpc>
              <a:spcAft>
                <a:spcPts val="400"/>
              </a:spcAft>
              <a:buNone/>
            </a:pPr>
            <a:r>
              <a:rPr lang="en-US" sz="1250" dirty="0">
                <a:solidFill>
                  <a:srgbClr val="94A3B8"/>
                </a:solidFill>
              </a:rPr>
              <a:t>Real:</a:t>
            </a:r>
            <a:endParaRPr lang="en-US" sz="1250" dirty="0"/>
          </a:p>
          <a:p>
            <a:pPr algn="r" indent="0" marL="0">
              <a:lnSpc>
                <a:spcPct val="110000"/>
              </a:lnSpc>
              <a:spcAft>
                <a:spcPts val="400"/>
              </a:spcAft>
              <a:buNone/>
            </a:pPr>
            <a:r>
              <a:rPr lang="en-US" sz="1250" dirty="0">
                <a:solidFill>
                  <a:srgbClr val="94A3B8"/>
                </a:solidFill>
              </a:rPr>
              <a:t>NO APTO</a:t>
            </a:r>
            <a:endParaRPr lang="en-US" sz="1250" dirty="0"/>
          </a:p>
        </p:txBody>
      </p:sp>
      <p:sp>
        <p:nvSpPr>
          <p:cNvPr id="8" name="Text 5"/>
          <p:cNvSpPr txBox="1"/>
          <p:nvPr/>
        </p:nvSpPr>
        <p:spPr>
          <a:xfrm>
            <a:off x="548640" y="4224528"/>
            <a:ext cx="1691640" cy="1828800"/>
          </a:xfrm>
          <a:prstGeom prst="rect">
            <a:avLst/>
          </a:prstGeom>
          <a:noFill/>
          <a:ln/>
        </p:spPr>
        <p:txBody>
          <a:bodyPr wrap="square" lIns="0" tIns="0" rIns="0" bIns="0" rtlCol="0" anchor="ctr"/>
          <a:lstStyle/>
          <a:p>
            <a:pPr algn="r" indent="0" marL="0">
              <a:lnSpc>
                <a:spcPct val="110000"/>
              </a:lnSpc>
              <a:spcAft>
                <a:spcPts val="400"/>
              </a:spcAft>
              <a:buNone/>
            </a:pPr>
            <a:r>
              <a:rPr lang="en-US" sz="1250" dirty="0">
                <a:solidFill>
                  <a:srgbClr val="94A3B8"/>
                </a:solidFill>
              </a:rPr>
              <a:t>Real:</a:t>
            </a:r>
            <a:endParaRPr lang="en-US" sz="1250" dirty="0"/>
          </a:p>
          <a:p>
            <a:pPr algn="r" indent="0" marL="0">
              <a:lnSpc>
                <a:spcPct val="110000"/>
              </a:lnSpc>
              <a:spcAft>
                <a:spcPts val="400"/>
              </a:spcAft>
              <a:buNone/>
            </a:pPr>
            <a:r>
              <a:rPr lang="en-US" sz="1250" dirty="0">
                <a:solidFill>
                  <a:srgbClr val="94A3B8"/>
                </a:solidFill>
              </a:rPr>
              <a:t>APTO</a:t>
            </a:r>
            <a:endParaRPr lang="en-US" sz="1250" dirty="0"/>
          </a:p>
        </p:txBody>
      </p:sp>
      <p:sp>
        <p:nvSpPr>
          <p:cNvPr id="9" name="Shape 6"/>
          <p:cNvSpPr/>
          <p:nvPr/>
        </p:nvSpPr>
        <p:spPr>
          <a:xfrm>
            <a:off x="2377440" y="2286000"/>
            <a:ext cx="2834640" cy="1828800"/>
          </a:xfrm>
          <a:prstGeom prst="roundRect">
            <a:avLst>
              <a:gd name="adj" fmla="val 7000"/>
            </a:avLst>
          </a:prstGeom>
          <a:solidFill>
            <a:srgbClr val="064E3B">
              <a:alpha val="65000"/>
            </a:srgbClr>
          </a:solidFill>
          <a:ln w="15875">
            <a:solidFill>
              <a:srgbClr val="34D399"/>
            </a:solidFill>
            <a:prstDash val="solid"/>
          </a:ln>
        </p:spPr>
      </p:sp>
      <p:sp>
        <p:nvSpPr>
          <p:cNvPr id="10" name="Text 7"/>
          <p:cNvSpPr txBox="1"/>
          <p:nvPr/>
        </p:nvSpPr>
        <p:spPr>
          <a:xfrm>
            <a:off x="2377440" y="2468880"/>
            <a:ext cx="2834640" cy="640080"/>
          </a:xfrm>
          <a:prstGeom prst="rect">
            <a:avLst/>
          </a:prstGeom>
          <a:noFill/>
          <a:ln/>
        </p:spPr>
        <p:txBody>
          <a:bodyPr wrap="square" lIns="0" tIns="0" rIns="0" bIns="0" rtlCol="0" anchor="t"/>
          <a:lstStyle/>
          <a:p>
            <a:pPr algn="ctr" indent="0" marL="0">
              <a:lnSpc>
                <a:spcPct val="110000"/>
              </a:lnSpc>
              <a:spcAft>
                <a:spcPts val="400"/>
              </a:spcAft>
              <a:buNone/>
            </a:pPr>
            <a:r>
              <a:rPr lang="en-US" sz="3400" b="1" dirty="0">
                <a:solidFill>
                  <a:schemeClr val="bg1"/>
                </a:solidFill>
                <a:latin typeface="Consolas" pitchFamily="34" charset="0"/>
                <a:ea typeface="Consolas" pitchFamily="34" charset="-122"/>
                <a:cs typeface="Consolas" pitchFamily="34" charset="-120"/>
              </a:rPr>
              <a:t>2.550</a:t>
            </a:r>
            <a:endParaRPr lang="en-US" sz="3400" dirty="0"/>
          </a:p>
        </p:txBody>
      </p:sp>
      <p:sp>
        <p:nvSpPr>
          <p:cNvPr id="11" name="Text 8"/>
          <p:cNvSpPr txBox="1"/>
          <p:nvPr/>
        </p:nvSpPr>
        <p:spPr>
          <a:xfrm>
            <a:off x="2377440" y="3108960"/>
            <a:ext cx="2834640" cy="274320"/>
          </a:xfrm>
          <a:prstGeom prst="rect">
            <a:avLst/>
          </a:prstGeom>
          <a:noFill/>
          <a:ln/>
        </p:spPr>
        <p:txBody>
          <a:bodyPr wrap="square" lIns="0" tIns="0" rIns="0" bIns="0" rtlCol="0" anchor="t"/>
          <a:lstStyle/>
          <a:p>
            <a:pPr algn="ctr" indent="0" marL="0">
              <a:lnSpc>
                <a:spcPct val="110000"/>
              </a:lnSpc>
              <a:spcAft>
                <a:spcPts val="400"/>
              </a:spcAft>
              <a:buNone/>
            </a:pPr>
            <a:r>
              <a:rPr lang="en-US" sz="1300" b="1" dirty="0">
                <a:solidFill>
                  <a:schemeClr val="accent4"/>
                </a:solidFill>
              </a:rPr>
              <a:t>34,2 %</a:t>
            </a:r>
            <a:endParaRPr lang="en-US" sz="1300" dirty="0"/>
          </a:p>
        </p:txBody>
      </p:sp>
      <p:sp>
        <p:nvSpPr>
          <p:cNvPr id="12" name="Text 9"/>
          <p:cNvSpPr txBox="1"/>
          <p:nvPr/>
        </p:nvSpPr>
        <p:spPr>
          <a:xfrm>
            <a:off x="2560320" y="3401568"/>
            <a:ext cx="2468880" cy="64008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chemeClr val="bg2"/>
                </a:solidFill>
              </a:rPr>
              <a:t>Verdaderos negativos: riesgosos bien rechazados</a:t>
            </a:r>
            <a:endParaRPr lang="en-US" sz="1150" dirty="0"/>
          </a:p>
        </p:txBody>
      </p:sp>
      <p:sp>
        <p:nvSpPr>
          <p:cNvPr id="13" name="Shape 10"/>
          <p:cNvSpPr/>
          <p:nvPr/>
        </p:nvSpPr>
        <p:spPr>
          <a:xfrm>
            <a:off x="5321808" y="2286000"/>
            <a:ext cx="2834640" cy="1828800"/>
          </a:xfrm>
          <a:prstGeom prst="roundRect">
            <a:avLst>
              <a:gd name="adj" fmla="val 7000"/>
            </a:avLst>
          </a:prstGeom>
          <a:solidFill>
            <a:srgbClr val="7F1D1D">
              <a:alpha val="65000"/>
            </a:srgbClr>
          </a:solidFill>
          <a:ln w="15875">
            <a:solidFill>
              <a:srgbClr val="F87171"/>
            </a:solidFill>
            <a:prstDash val="solid"/>
          </a:ln>
        </p:spPr>
      </p:sp>
      <p:sp>
        <p:nvSpPr>
          <p:cNvPr id="14" name="Text 11"/>
          <p:cNvSpPr txBox="1"/>
          <p:nvPr/>
        </p:nvSpPr>
        <p:spPr>
          <a:xfrm>
            <a:off x="5321808" y="2468880"/>
            <a:ext cx="2834640" cy="640080"/>
          </a:xfrm>
          <a:prstGeom prst="rect">
            <a:avLst/>
          </a:prstGeom>
          <a:noFill/>
          <a:ln/>
        </p:spPr>
        <p:txBody>
          <a:bodyPr wrap="square" lIns="0" tIns="0" rIns="0" bIns="0" rtlCol="0" anchor="t"/>
          <a:lstStyle/>
          <a:p>
            <a:pPr algn="ctr" indent="0" marL="0">
              <a:lnSpc>
                <a:spcPct val="110000"/>
              </a:lnSpc>
              <a:spcAft>
                <a:spcPts val="400"/>
              </a:spcAft>
              <a:buNone/>
            </a:pPr>
            <a:r>
              <a:rPr lang="en-US" sz="3400" b="1" dirty="0">
                <a:solidFill>
                  <a:schemeClr val="bg1"/>
                </a:solidFill>
                <a:latin typeface="Consolas" pitchFamily="34" charset="0"/>
                <a:ea typeface="Consolas" pitchFamily="34" charset="-122"/>
                <a:cs typeface="Consolas" pitchFamily="34" charset="-120"/>
              </a:rPr>
              <a:t>1.174</a:t>
            </a:r>
            <a:endParaRPr lang="en-US" sz="3400" dirty="0"/>
          </a:p>
        </p:txBody>
      </p:sp>
      <p:sp>
        <p:nvSpPr>
          <p:cNvPr id="15" name="Text 12"/>
          <p:cNvSpPr txBox="1"/>
          <p:nvPr/>
        </p:nvSpPr>
        <p:spPr>
          <a:xfrm>
            <a:off x="5321808" y="3108960"/>
            <a:ext cx="2834640" cy="274320"/>
          </a:xfrm>
          <a:prstGeom prst="rect">
            <a:avLst/>
          </a:prstGeom>
          <a:noFill/>
          <a:ln/>
        </p:spPr>
        <p:txBody>
          <a:bodyPr wrap="square" lIns="0" tIns="0" rIns="0" bIns="0" rtlCol="0" anchor="t"/>
          <a:lstStyle/>
          <a:p>
            <a:pPr algn="ctr" indent="0" marL="0">
              <a:lnSpc>
                <a:spcPct val="110000"/>
              </a:lnSpc>
              <a:spcAft>
                <a:spcPts val="400"/>
              </a:spcAft>
              <a:buNone/>
            </a:pPr>
            <a:r>
              <a:rPr lang="en-US" sz="1300" b="1" dirty="0">
                <a:solidFill>
                  <a:schemeClr val="accent5"/>
                </a:solidFill>
              </a:rPr>
              <a:t>15,8 %</a:t>
            </a:r>
            <a:endParaRPr lang="en-US" sz="1300" dirty="0"/>
          </a:p>
        </p:txBody>
      </p:sp>
      <p:sp>
        <p:nvSpPr>
          <p:cNvPr id="16" name="Text 13"/>
          <p:cNvSpPr txBox="1"/>
          <p:nvPr/>
        </p:nvSpPr>
        <p:spPr>
          <a:xfrm>
            <a:off x="5504688" y="3401568"/>
            <a:ext cx="2468880" cy="64008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chemeClr val="bg2"/>
                </a:solidFill>
              </a:rPr>
              <a:t>Falsos positivos: riesgosos aprobados por error (el error más costoso)</a:t>
            </a:r>
            <a:endParaRPr lang="en-US" sz="1150" dirty="0"/>
          </a:p>
        </p:txBody>
      </p:sp>
      <p:sp>
        <p:nvSpPr>
          <p:cNvPr id="17" name="Shape 14"/>
          <p:cNvSpPr/>
          <p:nvPr/>
        </p:nvSpPr>
        <p:spPr>
          <a:xfrm>
            <a:off x="2377440" y="4224528"/>
            <a:ext cx="2834640" cy="1828800"/>
          </a:xfrm>
          <a:prstGeom prst="roundRect">
            <a:avLst>
              <a:gd name="adj" fmla="val 7000"/>
            </a:avLst>
          </a:prstGeom>
          <a:solidFill>
            <a:srgbClr val="7F1D1D">
              <a:alpha val="65000"/>
            </a:srgbClr>
          </a:solidFill>
          <a:ln w="15875">
            <a:solidFill>
              <a:srgbClr val="F87171"/>
            </a:solidFill>
            <a:prstDash val="solid"/>
          </a:ln>
        </p:spPr>
      </p:sp>
      <p:sp>
        <p:nvSpPr>
          <p:cNvPr id="18" name="Text 15"/>
          <p:cNvSpPr txBox="1"/>
          <p:nvPr/>
        </p:nvSpPr>
        <p:spPr>
          <a:xfrm>
            <a:off x="2377440" y="4407408"/>
            <a:ext cx="2834640" cy="640080"/>
          </a:xfrm>
          <a:prstGeom prst="rect">
            <a:avLst/>
          </a:prstGeom>
          <a:noFill/>
          <a:ln/>
        </p:spPr>
        <p:txBody>
          <a:bodyPr wrap="square" lIns="0" tIns="0" rIns="0" bIns="0" rtlCol="0" anchor="t"/>
          <a:lstStyle/>
          <a:p>
            <a:pPr algn="ctr" indent="0" marL="0">
              <a:lnSpc>
                <a:spcPct val="110000"/>
              </a:lnSpc>
              <a:spcAft>
                <a:spcPts val="400"/>
              </a:spcAft>
              <a:buNone/>
            </a:pPr>
            <a:r>
              <a:rPr lang="en-US" sz="3400" b="1" dirty="0">
                <a:solidFill>
                  <a:schemeClr val="bg1"/>
                </a:solidFill>
                <a:latin typeface="Consolas" pitchFamily="34" charset="0"/>
                <a:ea typeface="Consolas" pitchFamily="34" charset="-122"/>
                <a:cs typeface="Consolas" pitchFamily="34" charset="-120"/>
              </a:rPr>
              <a:t>1.248</a:t>
            </a:r>
            <a:endParaRPr lang="en-US" sz="3400" dirty="0"/>
          </a:p>
        </p:txBody>
      </p:sp>
      <p:sp>
        <p:nvSpPr>
          <p:cNvPr id="19" name="Text 16"/>
          <p:cNvSpPr txBox="1"/>
          <p:nvPr/>
        </p:nvSpPr>
        <p:spPr>
          <a:xfrm>
            <a:off x="2377440" y="5047488"/>
            <a:ext cx="2834640" cy="274320"/>
          </a:xfrm>
          <a:prstGeom prst="rect">
            <a:avLst/>
          </a:prstGeom>
          <a:noFill/>
          <a:ln/>
        </p:spPr>
        <p:txBody>
          <a:bodyPr wrap="square" lIns="0" tIns="0" rIns="0" bIns="0" rtlCol="0" anchor="t"/>
          <a:lstStyle/>
          <a:p>
            <a:pPr algn="ctr" indent="0" marL="0">
              <a:lnSpc>
                <a:spcPct val="110000"/>
              </a:lnSpc>
              <a:spcAft>
                <a:spcPts val="400"/>
              </a:spcAft>
              <a:buNone/>
            </a:pPr>
            <a:r>
              <a:rPr lang="en-US" sz="1300" b="1" dirty="0">
                <a:solidFill>
                  <a:schemeClr val="accent5"/>
                </a:solidFill>
              </a:rPr>
              <a:t>16,8 %</a:t>
            </a:r>
            <a:endParaRPr lang="en-US" sz="1300" dirty="0"/>
          </a:p>
        </p:txBody>
      </p:sp>
      <p:sp>
        <p:nvSpPr>
          <p:cNvPr id="20" name="Text 17"/>
          <p:cNvSpPr txBox="1"/>
          <p:nvPr/>
        </p:nvSpPr>
        <p:spPr>
          <a:xfrm>
            <a:off x="2560320" y="5340096"/>
            <a:ext cx="2468880" cy="64008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chemeClr val="bg2"/>
                </a:solidFill>
              </a:rPr>
              <a:t>Falsos negativos: buenos rechazados por error (negocio perdido)</a:t>
            </a:r>
            <a:endParaRPr lang="en-US" sz="1150" dirty="0"/>
          </a:p>
        </p:txBody>
      </p:sp>
      <p:sp>
        <p:nvSpPr>
          <p:cNvPr id="21" name="Shape 18"/>
          <p:cNvSpPr/>
          <p:nvPr/>
        </p:nvSpPr>
        <p:spPr>
          <a:xfrm>
            <a:off x="5321808" y="4224528"/>
            <a:ext cx="2834640" cy="1828800"/>
          </a:xfrm>
          <a:prstGeom prst="roundRect">
            <a:avLst>
              <a:gd name="adj" fmla="val 7000"/>
            </a:avLst>
          </a:prstGeom>
          <a:solidFill>
            <a:srgbClr val="064E3B">
              <a:alpha val="65000"/>
            </a:srgbClr>
          </a:solidFill>
          <a:ln w="15875">
            <a:solidFill>
              <a:srgbClr val="34D399"/>
            </a:solidFill>
            <a:prstDash val="solid"/>
          </a:ln>
        </p:spPr>
      </p:sp>
      <p:sp>
        <p:nvSpPr>
          <p:cNvPr id="22" name="Text 19"/>
          <p:cNvSpPr txBox="1"/>
          <p:nvPr/>
        </p:nvSpPr>
        <p:spPr>
          <a:xfrm>
            <a:off x="5321808" y="4407408"/>
            <a:ext cx="2834640" cy="640080"/>
          </a:xfrm>
          <a:prstGeom prst="rect">
            <a:avLst/>
          </a:prstGeom>
          <a:noFill/>
          <a:ln/>
        </p:spPr>
        <p:txBody>
          <a:bodyPr wrap="square" lIns="0" tIns="0" rIns="0" bIns="0" rtlCol="0" anchor="t"/>
          <a:lstStyle/>
          <a:p>
            <a:pPr algn="ctr" indent="0" marL="0">
              <a:lnSpc>
                <a:spcPct val="110000"/>
              </a:lnSpc>
              <a:spcAft>
                <a:spcPts val="400"/>
              </a:spcAft>
              <a:buNone/>
            </a:pPr>
            <a:r>
              <a:rPr lang="en-US" sz="3400" b="1" dirty="0">
                <a:solidFill>
                  <a:schemeClr val="bg1"/>
                </a:solidFill>
                <a:latin typeface="Consolas" pitchFamily="34" charset="0"/>
                <a:ea typeface="Consolas" pitchFamily="34" charset="-122"/>
                <a:cs typeface="Consolas" pitchFamily="34" charset="-120"/>
              </a:rPr>
              <a:t>2.476</a:t>
            </a:r>
            <a:endParaRPr lang="en-US" sz="3400" dirty="0"/>
          </a:p>
        </p:txBody>
      </p:sp>
      <p:sp>
        <p:nvSpPr>
          <p:cNvPr id="23" name="Text 20"/>
          <p:cNvSpPr txBox="1"/>
          <p:nvPr/>
        </p:nvSpPr>
        <p:spPr>
          <a:xfrm>
            <a:off x="5321808" y="5047488"/>
            <a:ext cx="2834640" cy="274320"/>
          </a:xfrm>
          <a:prstGeom prst="rect">
            <a:avLst/>
          </a:prstGeom>
          <a:noFill/>
          <a:ln/>
        </p:spPr>
        <p:txBody>
          <a:bodyPr wrap="square" lIns="0" tIns="0" rIns="0" bIns="0" rtlCol="0" anchor="t"/>
          <a:lstStyle/>
          <a:p>
            <a:pPr algn="ctr" indent="0" marL="0">
              <a:lnSpc>
                <a:spcPct val="110000"/>
              </a:lnSpc>
              <a:spcAft>
                <a:spcPts val="400"/>
              </a:spcAft>
              <a:buNone/>
            </a:pPr>
            <a:r>
              <a:rPr lang="en-US" sz="1300" b="1" dirty="0">
                <a:solidFill>
                  <a:schemeClr val="accent4"/>
                </a:solidFill>
              </a:rPr>
              <a:t>33,2 %</a:t>
            </a:r>
            <a:endParaRPr lang="en-US" sz="1300" dirty="0"/>
          </a:p>
        </p:txBody>
      </p:sp>
      <p:sp>
        <p:nvSpPr>
          <p:cNvPr id="24" name="Text 21"/>
          <p:cNvSpPr txBox="1"/>
          <p:nvPr/>
        </p:nvSpPr>
        <p:spPr>
          <a:xfrm>
            <a:off x="5504688" y="5340096"/>
            <a:ext cx="2468880" cy="64008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chemeClr val="bg2"/>
                </a:solidFill>
              </a:rPr>
              <a:t>Verdaderos positivos: buenos bien aprobados</a:t>
            </a:r>
            <a:endParaRPr lang="en-US" sz="1150" dirty="0"/>
          </a:p>
        </p:txBody>
      </p:sp>
      <p:sp>
        <p:nvSpPr>
          <p:cNvPr id="25" name="Shape 22"/>
          <p:cNvSpPr/>
          <p:nvPr/>
        </p:nvSpPr>
        <p:spPr>
          <a:xfrm>
            <a:off x="8412480" y="1920240"/>
            <a:ext cx="3227832" cy="4251960"/>
          </a:xfrm>
          <a:prstGeom prst="roundRect">
            <a:avLst>
              <a:gd name="adj" fmla="val 3966"/>
            </a:avLst>
          </a:prstGeom>
          <a:solidFill>
            <a:schemeClr val="tx2">
              <a:alpha val="92000"/>
            </a:schemeClr>
          </a:solidFill>
          <a:ln w="12700">
            <a:solidFill>
              <a:srgbClr val="1E293B"/>
            </a:solidFill>
            <a:prstDash val="solid"/>
          </a:ln>
        </p:spPr>
      </p:sp>
      <p:sp>
        <p:nvSpPr>
          <p:cNvPr id="26" name="Text 23"/>
          <p:cNvSpPr txBox="1"/>
          <p:nvPr/>
        </p:nvSpPr>
        <p:spPr>
          <a:xfrm>
            <a:off x="8641080" y="2148840"/>
            <a:ext cx="27432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RESUMEN</a:t>
            </a:r>
            <a:endParaRPr lang="en-US" sz="1050" dirty="0"/>
          </a:p>
        </p:txBody>
      </p:sp>
      <p:sp>
        <p:nvSpPr>
          <p:cNvPr id="27" name="Text 24"/>
          <p:cNvSpPr txBox="1"/>
          <p:nvPr/>
        </p:nvSpPr>
        <p:spPr>
          <a:xfrm>
            <a:off x="8641080" y="2468880"/>
            <a:ext cx="2788920" cy="731520"/>
          </a:xfrm>
          <a:prstGeom prst="rect">
            <a:avLst/>
          </a:prstGeom>
          <a:noFill/>
          <a:ln/>
        </p:spPr>
        <p:txBody>
          <a:bodyPr wrap="square" lIns="0" tIns="0" rIns="0" bIns="0" rtlCol="0" anchor="t"/>
          <a:lstStyle/>
          <a:p>
            <a:pPr algn="l" indent="0" marL="0">
              <a:lnSpc>
                <a:spcPct val="110000"/>
              </a:lnSpc>
              <a:spcAft>
                <a:spcPts val="400"/>
              </a:spcAft>
              <a:buNone/>
            </a:pPr>
            <a:r>
              <a:rPr lang="en-US" sz="1800" b="1" dirty="0">
                <a:solidFill>
                  <a:schemeClr val="bg1"/>
                </a:solidFill>
              </a:rPr>
              <a:t>5.026 aciertos y 2.422 errores</a:t>
            </a:r>
            <a:endParaRPr lang="en-US" sz="1800" dirty="0"/>
          </a:p>
        </p:txBody>
      </p:sp>
      <p:sp>
        <p:nvSpPr>
          <p:cNvPr id="28" name="Text 25"/>
          <p:cNvSpPr txBox="1"/>
          <p:nvPr/>
        </p:nvSpPr>
        <p:spPr>
          <a:xfrm>
            <a:off x="8641080" y="3291840"/>
            <a:ext cx="2788920" cy="265176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Los errores se reparten casi por igual entre los dos tipos. En un banco real, aprobar a quien no paga cuesta más que rechazar a un buen cliente; por eso el umbral de decisión se puede ajustar.</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Por qué el modelo no acierta siempre</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La gráfica muestra cuántos clientes reciben cada probabilidad, separados por lo que realmente pasó. Los errores ocurren en la zona central, donde clientes buenos y malos reciben probabilidades parecidas.</a:t>
            </a:r>
            <a:endParaRPr lang="en-US" sz="1500" dirty="0"/>
          </a:p>
        </p:txBody>
      </p:sp>
      <p:graphicFrame>
        <p:nvGraphicFramePr>
          <p:cNvPr id="5" name="Chart 0" descr=""/>
          <p:cNvGraphicFramePr/>
          <p:nvPr/>
        </p:nvGraphicFramePr>
        <p:xfrm>
          <a:off x="548640" y="1920240"/>
          <a:ext cx="69494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772400" y="1920240"/>
            <a:ext cx="3867912" cy="4251960"/>
          </a:xfrm>
          <a:prstGeom prst="roundRect">
            <a:avLst>
              <a:gd name="adj" fmla="val 3310"/>
            </a:avLst>
          </a:prstGeom>
          <a:solidFill>
            <a:schemeClr val="tx2">
              <a:alpha val="92000"/>
            </a:schemeClr>
          </a:solidFill>
          <a:ln w="12700">
            <a:solidFill>
              <a:srgbClr val="1E293B"/>
            </a:solidFill>
            <a:prstDash val="solid"/>
          </a:ln>
        </p:spPr>
      </p:sp>
      <p:sp>
        <p:nvSpPr>
          <p:cNvPr id="7" name="Text 3"/>
          <p:cNvSpPr txBox="1"/>
          <p:nvPr/>
        </p:nvSpPr>
        <p:spPr>
          <a:xfrm>
            <a:off x="8001000" y="2148840"/>
            <a:ext cx="347472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EXPLICACIÓN</a:t>
            </a:r>
            <a:endParaRPr lang="en-US" sz="1050" dirty="0"/>
          </a:p>
        </p:txBody>
      </p:sp>
      <p:sp>
        <p:nvSpPr>
          <p:cNvPr id="8" name="Text 4"/>
          <p:cNvSpPr txBox="1"/>
          <p:nvPr/>
        </p:nvSpPr>
        <p:spPr>
          <a:xfrm>
            <a:off x="8001000" y="2468880"/>
            <a:ext cx="3474720" cy="173736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Hay muchas personas con datos casi idénticos: unas pagan y otras no, por causas que no aparecen en la base de datos (un despido, una enfermedad, una decisión personal).</a:t>
            </a:r>
            <a:endParaRPr lang="en-US" sz="1300" dirty="0"/>
          </a:p>
        </p:txBody>
      </p:sp>
      <p:sp>
        <p:nvSpPr>
          <p:cNvPr id="9" name="Text 5"/>
          <p:cNvSpPr txBox="1"/>
          <p:nvPr/>
        </p:nvSpPr>
        <p:spPr>
          <a:xfrm>
            <a:off x="8001000" y="4206240"/>
            <a:ext cx="3474720" cy="118872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Ningún modelo puede separar lo que los datos no distinguen. Más de 160 redes distintas llegaron al mismo límite de AUC (≈ 0,75).</a:t>
            </a:r>
            <a:endParaRPr lang="en-US" sz="1300" dirty="0"/>
          </a:p>
        </p:txBody>
      </p:sp>
      <p:sp>
        <p:nvSpPr>
          <p:cNvPr id="10" name="Text 6"/>
          <p:cNvSpPr txBox="1"/>
          <p:nvPr/>
        </p:nvSpPr>
        <p:spPr>
          <a:xfrm>
            <a:off x="8001000" y="5394960"/>
            <a:ext cx="347472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accent3"/>
                </a:solidFill>
              </a:rPr>
              <a:t>Un 95 % de aciertos aquí sería señal de memorización o de fuga de datos.</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Efecto del umbral de decisión</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El umbral de 50 % es neutral. Un banco puede ser más exigente y aprobar solo si la probabilidad supera 60 % o 70 %. Simulación con la proporción real de mora del mercado (8 %):</a:t>
            </a:r>
            <a:endParaRPr lang="en-US" sz="1500" dirty="0"/>
          </a:p>
        </p:txBody>
      </p:sp>
      <p:graphicFrame>
        <p:nvGraphicFramePr>
          <p:cNvPr id="5" name="Chart 0" descr=""/>
          <p:cNvGraphicFramePr/>
          <p:nvPr/>
        </p:nvGraphicFramePr>
        <p:xfrm>
          <a:off x="548640" y="1920240"/>
          <a:ext cx="74066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229600" y="1920240"/>
            <a:ext cx="3410712" cy="4251960"/>
          </a:xfrm>
          <a:prstGeom prst="roundRect">
            <a:avLst>
              <a:gd name="adj" fmla="val 3753"/>
            </a:avLst>
          </a:prstGeom>
          <a:solidFill>
            <a:schemeClr val="tx2">
              <a:alpha val="92000"/>
            </a:schemeClr>
          </a:solidFill>
          <a:ln w="12700">
            <a:solidFill>
              <a:srgbClr val="1E293B"/>
            </a:solidFill>
            <a:prstDash val="solid"/>
          </a:ln>
        </p:spPr>
      </p:sp>
      <p:sp>
        <p:nvSpPr>
          <p:cNvPr id="7" name="Text 3"/>
          <p:cNvSpPr txBox="1"/>
          <p:nvPr/>
        </p:nvSpPr>
        <p:spPr>
          <a:xfrm>
            <a:off x="8458200" y="2148840"/>
            <a:ext cx="292608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LECTURA</a:t>
            </a:r>
            <a:endParaRPr lang="en-US" sz="1050" dirty="0"/>
          </a:p>
        </p:txBody>
      </p:sp>
      <p:sp>
        <p:nvSpPr>
          <p:cNvPr id="8" name="Text 4"/>
          <p:cNvSpPr txBox="1"/>
          <p:nvPr/>
        </p:nvSpPr>
        <p:spPr>
          <a:xfrm>
            <a:off x="8458200" y="2514600"/>
            <a:ext cx="2971800" cy="356616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chemeClr val="bg2"/>
                </a:solidFill>
              </a:rPr>
              <a:t>Umbral 50 %: aprueba al 64 % de los clientes, con 4,0 % de mora</a:t>
            </a:r>
            <a:endParaRPr lang="en-US" sz="1300" dirty="0"/>
          </a:p>
          <a:p>
            <a:pPr marL="203200" indent="-203200">
              <a:spcAft>
                <a:spcPts val="800"/>
              </a:spcAft>
              <a:buSzPct val="100000"/>
              <a:buChar char="•"/>
            </a:pPr>
            <a:r>
              <a:rPr lang="en-US" sz="1300" dirty="0">
                <a:solidFill>
                  <a:schemeClr val="bg2"/>
                </a:solidFill>
              </a:rPr>
              <a:t>Umbral 70 %: aprueba al 29 %, con 2,1 % de mora</a:t>
            </a:r>
            <a:endParaRPr lang="en-US" sz="1300" dirty="0"/>
          </a:p>
          <a:p>
            <a:pPr marL="203200" indent="-203200">
              <a:spcAft>
                <a:spcPts val="800"/>
              </a:spcAft>
              <a:buSzPct val="100000"/>
              <a:buChar char="•"/>
            </a:pPr>
            <a:r>
              <a:rPr lang="en-US" sz="1300" dirty="0">
                <a:solidFill>
                  <a:schemeClr val="bg2"/>
                </a:solidFill>
              </a:rPr>
              <a:t>Más exigencia significa menos riesgo, pero también menos créditos otorgados</a:t>
            </a:r>
            <a:endParaRPr lang="en-US" sz="1300" dirty="0"/>
          </a:p>
          <a:p>
            <a:pPr marL="203200" indent="-203200">
              <a:spcAft>
                <a:spcPts val="800"/>
              </a:spcAft>
              <a:buSzPct val="100000"/>
              <a:buChar char="•"/>
            </a:pPr>
            <a:r>
              <a:rPr lang="en-US" sz="1300" dirty="0">
                <a:solidFill>
                  <a:schemeClr val="bg2"/>
                </a:solidFill>
              </a:rPr>
              <a:t>La elección del umbral es una decisión del banco, no del modelo</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Variables con más peso en la decisión</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Para saber en qué se fija el modelo, se «revuelven» los valores de cada variable y se mide cuánto empeora el AUC. Mientras más empeora, más depende el modelo de esa variable.</a:t>
            </a:r>
            <a:endParaRPr lang="en-US" sz="1500" dirty="0"/>
          </a:p>
        </p:txBody>
      </p:sp>
      <p:graphicFrame>
        <p:nvGraphicFramePr>
          <p:cNvPr id="5" name="Chart 0" descr=""/>
          <p:cNvGraphicFramePr/>
          <p:nvPr/>
        </p:nvGraphicFramePr>
        <p:xfrm>
          <a:off x="548640" y="1920240"/>
          <a:ext cx="74066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229600" y="1920240"/>
            <a:ext cx="3410712" cy="4251960"/>
          </a:xfrm>
          <a:prstGeom prst="roundRect">
            <a:avLst>
              <a:gd name="adj" fmla="val 3753"/>
            </a:avLst>
          </a:prstGeom>
          <a:solidFill>
            <a:schemeClr val="tx2">
              <a:alpha val="92000"/>
            </a:schemeClr>
          </a:solidFill>
          <a:ln w="12700">
            <a:solidFill>
              <a:srgbClr val="1E293B"/>
            </a:solidFill>
            <a:prstDash val="solid"/>
          </a:ln>
        </p:spPr>
      </p:sp>
      <p:sp>
        <p:nvSpPr>
          <p:cNvPr id="7" name="Text 3"/>
          <p:cNvSpPr txBox="1"/>
          <p:nvPr/>
        </p:nvSpPr>
        <p:spPr>
          <a:xfrm>
            <a:off x="8458200" y="2148840"/>
            <a:ext cx="2926080" cy="822960"/>
          </a:xfrm>
          <a:prstGeom prst="rect">
            <a:avLst/>
          </a:prstGeom>
          <a:noFill/>
          <a:ln/>
        </p:spPr>
        <p:txBody>
          <a:bodyPr wrap="square" lIns="0" tIns="0" rIns="0" bIns="0" rtlCol="0" anchor="t"/>
          <a:lstStyle/>
          <a:p>
            <a:pPr algn="l" indent="0" marL="0">
              <a:lnSpc>
                <a:spcPct val="110000"/>
              </a:lnSpc>
              <a:spcAft>
                <a:spcPts val="400"/>
              </a:spcAft>
              <a:buNone/>
            </a:pPr>
            <a:r>
              <a:rPr lang="en-US" sz="4600" b="1" dirty="0">
                <a:solidFill>
                  <a:schemeClr val="accent2"/>
                </a:solidFill>
                <a:latin typeface="Consolas" pitchFamily="34" charset="0"/>
                <a:ea typeface="Consolas" pitchFamily="34" charset="-122"/>
                <a:cs typeface="Consolas" pitchFamily="34" charset="-120"/>
              </a:rPr>
              <a:t>68 %</a:t>
            </a:r>
            <a:endParaRPr lang="en-US" sz="4600" dirty="0"/>
          </a:p>
        </p:txBody>
      </p:sp>
      <p:sp>
        <p:nvSpPr>
          <p:cNvPr id="8" name="Text 4"/>
          <p:cNvSpPr txBox="1"/>
          <p:nvPr/>
        </p:nvSpPr>
        <p:spPr>
          <a:xfrm>
            <a:off x="8458200" y="2971800"/>
            <a:ext cx="2971800" cy="5486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del peso lo tiene el score crediticio</a:t>
            </a:r>
            <a:endParaRPr lang="en-US" sz="1500" dirty="0"/>
          </a:p>
        </p:txBody>
      </p:sp>
      <p:sp>
        <p:nvSpPr>
          <p:cNvPr id="9" name="Text 5"/>
          <p:cNvSpPr txBox="1"/>
          <p:nvPr/>
        </p:nvSpPr>
        <p:spPr>
          <a:xfrm>
            <a:off x="8458200" y="3657600"/>
            <a:ext cx="2971800" cy="237744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Tiene sentido: la forma en que una persona ha pagado antes es la mejor pista de cómo pagará después. Variables como tipo de vivienda o personas a cargo casi no influyen. Esto muestra asociación, no causa.</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Limitaciones del estudio</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Estas son las limitaciones del trabajo. Es importante tenerlas en cuenta al interpretar los resultados.</a:t>
            </a:r>
            <a:endParaRPr lang="en-US" sz="1500" dirty="0"/>
          </a:p>
        </p:txBody>
      </p:sp>
      <p:sp>
        <p:nvSpPr>
          <p:cNvPr id="5" name="Shape 2"/>
          <p:cNvSpPr/>
          <p:nvPr/>
        </p:nvSpPr>
        <p:spPr>
          <a:xfrm>
            <a:off x="548640" y="1920240"/>
            <a:ext cx="3520440" cy="2011680"/>
          </a:xfrm>
          <a:prstGeom prst="roundRect">
            <a:avLst>
              <a:gd name="adj" fmla="val 6364"/>
            </a:avLst>
          </a:prstGeom>
          <a:solidFill>
            <a:schemeClr val="tx2">
              <a:alpha val="92000"/>
            </a:schemeClr>
          </a:solidFill>
          <a:ln w="12700">
            <a:solidFill>
              <a:srgbClr val="1E293B"/>
            </a:solidFill>
            <a:prstDash val="solid"/>
          </a:ln>
        </p:spPr>
      </p:sp>
      <p:sp>
        <p:nvSpPr>
          <p:cNvPr id="6" name="Text 3"/>
          <p:cNvSpPr txBox="1"/>
          <p:nvPr/>
        </p:nvSpPr>
        <p:spPr>
          <a:xfrm>
            <a:off x="822960" y="214884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accent3"/>
                </a:solidFill>
              </a:rPr>
              <a:t>Mejora modesta</a:t>
            </a:r>
            <a:endParaRPr lang="en-US" sz="1600" dirty="0"/>
          </a:p>
        </p:txBody>
      </p:sp>
      <p:sp>
        <p:nvSpPr>
          <p:cNvPr id="7" name="Text 4"/>
          <p:cNvSpPr txBox="1"/>
          <p:nvPr/>
        </p:nvSpPr>
        <p:spPr>
          <a:xfrm>
            <a:off x="822960" y="2606040"/>
            <a:ext cx="3017520" cy="123444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+0,0024 de AUC frente a la línea base, sin una prueba estadística formal que confirme que es significativa.</a:t>
            </a:r>
            <a:endParaRPr lang="en-US" sz="1350" dirty="0"/>
          </a:p>
        </p:txBody>
      </p:sp>
      <p:sp>
        <p:nvSpPr>
          <p:cNvPr id="8" name="Shape 5"/>
          <p:cNvSpPr/>
          <p:nvPr/>
        </p:nvSpPr>
        <p:spPr>
          <a:xfrm>
            <a:off x="4297680" y="1920240"/>
            <a:ext cx="3520440" cy="2011680"/>
          </a:xfrm>
          <a:prstGeom prst="roundRect">
            <a:avLst>
              <a:gd name="adj" fmla="val 6364"/>
            </a:avLst>
          </a:prstGeom>
          <a:solidFill>
            <a:schemeClr val="tx2">
              <a:alpha val="92000"/>
            </a:schemeClr>
          </a:solidFill>
          <a:ln w="12700">
            <a:solidFill>
              <a:srgbClr val="1E293B"/>
            </a:solidFill>
            <a:prstDash val="solid"/>
          </a:ln>
        </p:spPr>
      </p:sp>
      <p:sp>
        <p:nvSpPr>
          <p:cNvPr id="9" name="Text 6"/>
          <p:cNvSpPr txBox="1"/>
          <p:nvPr/>
        </p:nvSpPr>
        <p:spPr>
          <a:xfrm>
            <a:off x="4572000" y="214884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accent3"/>
                </a:solidFill>
              </a:rPr>
              <a:t>Una sola partición</a:t>
            </a:r>
            <a:endParaRPr lang="en-US" sz="1600" dirty="0"/>
          </a:p>
        </p:txBody>
      </p:sp>
      <p:sp>
        <p:nvSpPr>
          <p:cNvPr id="10" name="Text 7"/>
          <p:cNvSpPr txBox="1"/>
          <p:nvPr/>
        </p:nvSpPr>
        <p:spPr>
          <a:xfrm>
            <a:off x="4572000" y="2606040"/>
            <a:ext cx="3017520" cy="123444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Los resultados dependen de la división 70/15/15 con semilla 42; no se usó validación cruzada.</a:t>
            </a:r>
            <a:endParaRPr lang="en-US" sz="1350" dirty="0"/>
          </a:p>
        </p:txBody>
      </p:sp>
      <p:sp>
        <p:nvSpPr>
          <p:cNvPr id="11" name="Shape 8"/>
          <p:cNvSpPr/>
          <p:nvPr/>
        </p:nvSpPr>
        <p:spPr>
          <a:xfrm>
            <a:off x="8046720" y="1920240"/>
            <a:ext cx="3520440" cy="2011680"/>
          </a:xfrm>
          <a:prstGeom prst="roundRect">
            <a:avLst>
              <a:gd name="adj" fmla="val 6364"/>
            </a:avLst>
          </a:prstGeom>
          <a:solidFill>
            <a:schemeClr val="tx2">
              <a:alpha val="92000"/>
            </a:schemeClr>
          </a:solidFill>
          <a:ln w="12700">
            <a:solidFill>
              <a:srgbClr val="1E293B"/>
            </a:solidFill>
            <a:prstDash val="solid"/>
          </a:ln>
        </p:spPr>
      </p:sp>
      <p:sp>
        <p:nvSpPr>
          <p:cNvPr id="12" name="Text 9"/>
          <p:cNvSpPr txBox="1"/>
          <p:nvPr/>
        </p:nvSpPr>
        <p:spPr>
          <a:xfrm>
            <a:off x="8321040" y="214884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accent3"/>
                </a:solidFill>
              </a:rPr>
              <a:t>Solo redes MLP</a:t>
            </a:r>
            <a:endParaRPr lang="en-US" sz="1600" dirty="0"/>
          </a:p>
        </p:txBody>
      </p:sp>
      <p:sp>
        <p:nvSpPr>
          <p:cNvPr id="13" name="Text 10"/>
          <p:cNvSpPr txBox="1"/>
          <p:nvPr/>
        </p:nvSpPr>
        <p:spPr>
          <a:xfrm>
            <a:off x="8321040" y="2606040"/>
            <a:ext cx="3017520" cy="123444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No se compararon otros métodos como árboles de decisión o regresión logística.</a:t>
            </a:r>
            <a:endParaRPr lang="en-US" sz="1350" dirty="0"/>
          </a:p>
        </p:txBody>
      </p:sp>
      <p:sp>
        <p:nvSpPr>
          <p:cNvPr id="14" name="Shape 11"/>
          <p:cNvSpPr/>
          <p:nvPr/>
        </p:nvSpPr>
        <p:spPr>
          <a:xfrm>
            <a:off x="548640" y="4114800"/>
            <a:ext cx="3520440" cy="2011680"/>
          </a:xfrm>
          <a:prstGeom prst="roundRect">
            <a:avLst>
              <a:gd name="adj" fmla="val 6364"/>
            </a:avLst>
          </a:prstGeom>
          <a:solidFill>
            <a:schemeClr val="tx2">
              <a:alpha val="92000"/>
            </a:schemeClr>
          </a:solidFill>
          <a:ln w="12700">
            <a:solidFill>
              <a:srgbClr val="1E293B"/>
            </a:solidFill>
            <a:prstDash val="solid"/>
          </a:ln>
        </p:spPr>
      </p:sp>
      <p:sp>
        <p:nvSpPr>
          <p:cNvPr id="15" name="Text 12"/>
          <p:cNvSpPr txBox="1"/>
          <p:nvPr/>
        </p:nvSpPr>
        <p:spPr>
          <a:xfrm>
            <a:off x="822960" y="434340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accent3"/>
                </a:solidFill>
              </a:rPr>
              <a:t>Umbral neutral</a:t>
            </a:r>
            <a:endParaRPr lang="en-US" sz="1600" dirty="0"/>
          </a:p>
        </p:txBody>
      </p:sp>
      <p:sp>
        <p:nvSpPr>
          <p:cNvPr id="16" name="Text 13"/>
          <p:cNvSpPr txBox="1"/>
          <p:nvPr/>
        </p:nvSpPr>
        <p:spPr>
          <a:xfrm>
            <a:off x="822960" y="4800600"/>
            <a:ext cx="3017520" cy="123444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El 50 % no refleja que un impago le cuesta al banco más que rechazar a un buen cliente.</a:t>
            </a:r>
            <a:endParaRPr lang="en-US" sz="1350" dirty="0"/>
          </a:p>
        </p:txBody>
      </p:sp>
      <p:sp>
        <p:nvSpPr>
          <p:cNvPr id="17" name="Shape 14"/>
          <p:cNvSpPr/>
          <p:nvPr/>
        </p:nvSpPr>
        <p:spPr>
          <a:xfrm>
            <a:off x="4297680" y="4114800"/>
            <a:ext cx="3520440" cy="2011680"/>
          </a:xfrm>
          <a:prstGeom prst="roundRect">
            <a:avLst>
              <a:gd name="adj" fmla="val 6364"/>
            </a:avLst>
          </a:prstGeom>
          <a:solidFill>
            <a:schemeClr val="tx2">
              <a:alpha val="92000"/>
            </a:schemeClr>
          </a:solidFill>
          <a:ln w="12700">
            <a:solidFill>
              <a:srgbClr val="1E293B"/>
            </a:solidFill>
            <a:prstDash val="solid"/>
          </a:ln>
        </p:spPr>
      </p:sp>
      <p:sp>
        <p:nvSpPr>
          <p:cNvPr id="18" name="Text 15"/>
          <p:cNvSpPr txBox="1"/>
          <p:nvPr/>
        </p:nvSpPr>
        <p:spPr>
          <a:xfrm>
            <a:off x="4572000" y="434340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accent3"/>
                </a:solidFill>
              </a:rPr>
              <a:t>Asociación, no causa</a:t>
            </a:r>
            <a:endParaRPr lang="en-US" sz="1600" dirty="0"/>
          </a:p>
        </p:txBody>
      </p:sp>
      <p:sp>
        <p:nvSpPr>
          <p:cNvPr id="19" name="Text 16"/>
          <p:cNvSpPr txBox="1"/>
          <p:nvPr/>
        </p:nvSpPr>
        <p:spPr>
          <a:xfrm>
            <a:off x="4572000" y="4800600"/>
            <a:ext cx="3017520" cy="123444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El modelo detecta relaciones en los datos, pero no explica por qué una persona deja de pagar.</a:t>
            </a:r>
            <a:endParaRPr lang="en-US" sz="1350" dirty="0"/>
          </a:p>
        </p:txBody>
      </p:sp>
      <p:sp>
        <p:nvSpPr>
          <p:cNvPr id="20" name="Shape 17"/>
          <p:cNvSpPr/>
          <p:nvPr/>
        </p:nvSpPr>
        <p:spPr>
          <a:xfrm>
            <a:off x="8046720" y="4114800"/>
            <a:ext cx="3520440" cy="2011680"/>
          </a:xfrm>
          <a:prstGeom prst="roundRect">
            <a:avLst>
              <a:gd name="adj" fmla="val 6364"/>
            </a:avLst>
          </a:prstGeom>
          <a:solidFill>
            <a:schemeClr val="tx2">
              <a:alpha val="92000"/>
            </a:schemeClr>
          </a:solidFill>
          <a:ln w="12700">
            <a:solidFill>
              <a:srgbClr val="1E293B"/>
            </a:solidFill>
            <a:prstDash val="solid"/>
          </a:ln>
        </p:spPr>
      </p:sp>
      <p:sp>
        <p:nvSpPr>
          <p:cNvPr id="21" name="Text 18"/>
          <p:cNvSpPr txBox="1"/>
          <p:nvPr/>
        </p:nvSpPr>
        <p:spPr>
          <a:xfrm>
            <a:off x="8321040" y="4343400"/>
            <a:ext cx="3017520" cy="36576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accent3"/>
                </a:solidFill>
              </a:rPr>
              <a:t>Límite de los datos</a:t>
            </a:r>
            <a:endParaRPr lang="en-US" sz="1600" dirty="0"/>
          </a:p>
        </p:txBody>
      </p:sp>
      <p:sp>
        <p:nvSpPr>
          <p:cNvPr id="22" name="Text 19"/>
          <p:cNvSpPr txBox="1"/>
          <p:nvPr/>
        </p:nvSpPr>
        <p:spPr>
          <a:xfrm>
            <a:off x="8321040" y="4800600"/>
            <a:ext cx="3017520" cy="123444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Faltan causas reales del impago (despidos, salud) que no están en la base de datos.</a:t>
            </a:r>
            <a:endParaRPr lang="en-US" sz="13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Conclusiones</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El modelo final es un ensamble de tres redes neuronales que alcanza un AUC de 0,745 en clientes que nunca vio.</a:t>
            </a:r>
            <a:endParaRPr lang="en-US" sz="1500" dirty="0"/>
          </a:p>
        </p:txBody>
      </p:sp>
      <p:sp>
        <p:nvSpPr>
          <p:cNvPr id="5" name="Shape 2"/>
          <p:cNvSpPr/>
          <p:nvPr/>
        </p:nvSpPr>
        <p:spPr>
          <a:xfrm>
            <a:off x="548640" y="1920240"/>
            <a:ext cx="7406640" cy="960120"/>
          </a:xfrm>
          <a:prstGeom prst="roundRect">
            <a:avLst>
              <a:gd name="adj" fmla="val 13333"/>
            </a:avLst>
          </a:prstGeom>
          <a:solidFill>
            <a:schemeClr val="tx2">
              <a:alpha val="92000"/>
            </a:schemeClr>
          </a:solidFill>
          <a:ln w="12700">
            <a:solidFill>
              <a:srgbClr val="1E293B"/>
            </a:solidFill>
            <a:prstDash val="solid"/>
          </a:ln>
        </p:spPr>
      </p:sp>
      <p:sp>
        <p:nvSpPr>
          <p:cNvPr id="6" name="Shape 3"/>
          <p:cNvSpPr/>
          <p:nvPr/>
        </p:nvSpPr>
        <p:spPr>
          <a:xfrm>
            <a:off x="777240" y="2167128"/>
            <a:ext cx="457200" cy="457200"/>
          </a:xfrm>
          <a:prstGeom prst="ellipse">
            <a:avLst/>
          </a:prstGeom>
          <a:solidFill>
            <a:srgbClr val="1E3A8A"/>
          </a:solidFill>
          <a:ln w="12700">
            <a:solidFill>
              <a:srgbClr val="3B82F6"/>
            </a:solidFill>
            <a:prstDash val="solid"/>
          </a:ln>
        </p:spPr>
      </p:sp>
      <p:sp>
        <p:nvSpPr>
          <p:cNvPr id="7" name="Text 4"/>
          <p:cNvSpPr txBox="1"/>
          <p:nvPr/>
        </p:nvSpPr>
        <p:spPr>
          <a:xfrm>
            <a:off x="777240" y="2167128"/>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1</a:t>
            </a:r>
            <a:endParaRPr lang="en-US" sz="1400" dirty="0"/>
          </a:p>
        </p:txBody>
      </p:sp>
      <p:sp>
        <p:nvSpPr>
          <p:cNvPr id="8" name="Text 5"/>
          <p:cNvSpPr txBox="1"/>
          <p:nvPr/>
        </p:nvSpPr>
        <p:spPr>
          <a:xfrm>
            <a:off x="1463040" y="2011680"/>
            <a:ext cx="6309360" cy="347472"/>
          </a:xfrm>
          <a:prstGeom prst="rect">
            <a:avLst/>
          </a:prstGeom>
          <a:noFill/>
          <a:ln/>
        </p:spPr>
        <p:txBody>
          <a:bodyPr wrap="square" lIns="0" tIns="0" rIns="0" bIns="0" rtlCol="0" anchor="t"/>
          <a:lstStyle/>
          <a:p>
            <a:pPr algn="l" indent="0" marL="0">
              <a:lnSpc>
                <a:spcPct val="110000"/>
              </a:lnSpc>
              <a:spcAft>
                <a:spcPts val="400"/>
              </a:spcAft>
              <a:buNone/>
            </a:pPr>
            <a:r>
              <a:rPr lang="en-US" sz="1550" b="1" dirty="0">
                <a:solidFill>
                  <a:schemeClr val="bg1"/>
                </a:solidFill>
              </a:rPr>
              <a:t>Aprendió, no memorizó</a:t>
            </a:r>
            <a:endParaRPr lang="en-US" sz="1550" dirty="0"/>
          </a:p>
        </p:txBody>
      </p:sp>
      <p:sp>
        <p:nvSpPr>
          <p:cNvPr id="9" name="Text 6"/>
          <p:cNvSpPr txBox="1"/>
          <p:nvPr/>
        </p:nvSpPr>
        <p:spPr>
          <a:xfrm>
            <a:off x="1463040" y="2377440"/>
            <a:ext cx="6309360" cy="4572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Cinco pruebas lo confirman: curvas juntas, parada a tiempo, no aprende ruido y la brecha se cierra con más datos.</a:t>
            </a:r>
            <a:endParaRPr lang="en-US" sz="1250" dirty="0"/>
          </a:p>
        </p:txBody>
      </p:sp>
      <p:sp>
        <p:nvSpPr>
          <p:cNvPr id="10" name="Shape 7"/>
          <p:cNvSpPr/>
          <p:nvPr/>
        </p:nvSpPr>
        <p:spPr>
          <a:xfrm>
            <a:off x="548640" y="2999232"/>
            <a:ext cx="7406640" cy="960120"/>
          </a:xfrm>
          <a:prstGeom prst="roundRect">
            <a:avLst>
              <a:gd name="adj" fmla="val 13333"/>
            </a:avLst>
          </a:prstGeom>
          <a:solidFill>
            <a:schemeClr val="tx2">
              <a:alpha val="92000"/>
            </a:schemeClr>
          </a:solidFill>
          <a:ln w="12700">
            <a:solidFill>
              <a:srgbClr val="1E293B"/>
            </a:solidFill>
            <a:prstDash val="solid"/>
          </a:ln>
        </p:spPr>
      </p:sp>
      <p:sp>
        <p:nvSpPr>
          <p:cNvPr id="11" name="Shape 8"/>
          <p:cNvSpPr/>
          <p:nvPr/>
        </p:nvSpPr>
        <p:spPr>
          <a:xfrm>
            <a:off x="777240" y="3246120"/>
            <a:ext cx="457200" cy="457200"/>
          </a:xfrm>
          <a:prstGeom prst="ellipse">
            <a:avLst/>
          </a:prstGeom>
          <a:solidFill>
            <a:srgbClr val="1E3A8A"/>
          </a:solidFill>
          <a:ln w="12700">
            <a:solidFill>
              <a:srgbClr val="3B82F6"/>
            </a:solidFill>
            <a:prstDash val="solid"/>
          </a:ln>
        </p:spPr>
      </p:sp>
      <p:sp>
        <p:nvSpPr>
          <p:cNvPr id="12" name="Text 9"/>
          <p:cNvSpPr txBox="1"/>
          <p:nvPr/>
        </p:nvSpPr>
        <p:spPr>
          <a:xfrm>
            <a:off x="777240" y="3246120"/>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2</a:t>
            </a:r>
            <a:endParaRPr lang="en-US" sz="1400" dirty="0"/>
          </a:p>
        </p:txBody>
      </p:sp>
      <p:sp>
        <p:nvSpPr>
          <p:cNvPr id="13" name="Text 10"/>
          <p:cNvSpPr txBox="1"/>
          <p:nvPr/>
        </p:nvSpPr>
        <p:spPr>
          <a:xfrm>
            <a:off x="1463040" y="3090672"/>
            <a:ext cx="6309360" cy="347472"/>
          </a:xfrm>
          <a:prstGeom prst="rect">
            <a:avLst/>
          </a:prstGeom>
          <a:noFill/>
          <a:ln/>
        </p:spPr>
        <p:txBody>
          <a:bodyPr wrap="square" lIns="0" tIns="0" rIns="0" bIns="0" rtlCol="0" anchor="t"/>
          <a:lstStyle/>
          <a:p>
            <a:pPr algn="l" indent="0" marL="0">
              <a:lnSpc>
                <a:spcPct val="110000"/>
              </a:lnSpc>
              <a:spcAft>
                <a:spcPts val="400"/>
              </a:spcAft>
              <a:buNone/>
            </a:pPr>
            <a:r>
              <a:rPr lang="en-US" sz="1550" b="1" dirty="0">
                <a:solidFill>
                  <a:schemeClr val="bg1"/>
                </a:solidFill>
              </a:rPr>
              <a:t>Decisiones con evidencia</a:t>
            </a:r>
            <a:endParaRPr lang="en-US" sz="1550" dirty="0"/>
          </a:p>
        </p:txBody>
      </p:sp>
      <p:sp>
        <p:nvSpPr>
          <p:cNvPr id="14" name="Text 11"/>
          <p:cNvSpPr txBox="1"/>
          <p:nvPr/>
        </p:nvSpPr>
        <p:spPr>
          <a:xfrm>
            <a:off x="1463040" y="3456432"/>
            <a:ext cx="6309360" cy="4572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164 redes y 19 combinaciones; cada cambio se comparó en validación y se repitió con 5 semillas.</a:t>
            </a:r>
            <a:endParaRPr lang="en-US" sz="1250" dirty="0"/>
          </a:p>
        </p:txBody>
      </p:sp>
      <p:sp>
        <p:nvSpPr>
          <p:cNvPr id="15" name="Shape 12"/>
          <p:cNvSpPr/>
          <p:nvPr/>
        </p:nvSpPr>
        <p:spPr>
          <a:xfrm>
            <a:off x="548640" y="4078224"/>
            <a:ext cx="7406640" cy="960120"/>
          </a:xfrm>
          <a:prstGeom prst="roundRect">
            <a:avLst>
              <a:gd name="adj" fmla="val 13333"/>
            </a:avLst>
          </a:prstGeom>
          <a:solidFill>
            <a:schemeClr val="tx2">
              <a:alpha val="92000"/>
            </a:schemeClr>
          </a:solidFill>
          <a:ln w="12700">
            <a:solidFill>
              <a:srgbClr val="1E293B"/>
            </a:solidFill>
            <a:prstDash val="solid"/>
          </a:ln>
        </p:spPr>
      </p:sp>
      <p:sp>
        <p:nvSpPr>
          <p:cNvPr id="16" name="Shape 13"/>
          <p:cNvSpPr/>
          <p:nvPr/>
        </p:nvSpPr>
        <p:spPr>
          <a:xfrm>
            <a:off x="777240" y="4325112"/>
            <a:ext cx="457200" cy="457200"/>
          </a:xfrm>
          <a:prstGeom prst="ellipse">
            <a:avLst/>
          </a:prstGeom>
          <a:solidFill>
            <a:srgbClr val="1E3A8A"/>
          </a:solidFill>
          <a:ln w="12700">
            <a:solidFill>
              <a:srgbClr val="3B82F6"/>
            </a:solidFill>
            <a:prstDash val="solid"/>
          </a:ln>
        </p:spPr>
      </p:sp>
      <p:sp>
        <p:nvSpPr>
          <p:cNvPr id="17" name="Text 14"/>
          <p:cNvSpPr txBox="1"/>
          <p:nvPr/>
        </p:nvSpPr>
        <p:spPr>
          <a:xfrm>
            <a:off x="777240" y="4325112"/>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3</a:t>
            </a:r>
            <a:endParaRPr lang="en-US" sz="1400" dirty="0"/>
          </a:p>
        </p:txBody>
      </p:sp>
      <p:sp>
        <p:nvSpPr>
          <p:cNvPr id="18" name="Text 15"/>
          <p:cNvSpPr txBox="1"/>
          <p:nvPr/>
        </p:nvSpPr>
        <p:spPr>
          <a:xfrm>
            <a:off x="1463040" y="4169664"/>
            <a:ext cx="6309360" cy="347472"/>
          </a:xfrm>
          <a:prstGeom prst="rect">
            <a:avLst/>
          </a:prstGeom>
          <a:noFill/>
          <a:ln/>
        </p:spPr>
        <p:txBody>
          <a:bodyPr wrap="square" lIns="0" tIns="0" rIns="0" bIns="0" rtlCol="0" anchor="t"/>
          <a:lstStyle/>
          <a:p>
            <a:pPr algn="l" indent="0" marL="0">
              <a:lnSpc>
                <a:spcPct val="110000"/>
              </a:lnSpc>
              <a:spcAft>
                <a:spcPts val="400"/>
              </a:spcAft>
              <a:buNone/>
            </a:pPr>
            <a:r>
              <a:rPr lang="en-US" sz="1550" b="1" dirty="0">
                <a:solidFill>
                  <a:schemeClr val="bg1"/>
                </a:solidFill>
              </a:rPr>
              <a:t>Sin fuga de datos</a:t>
            </a:r>
            <a:endParaRPr lang="en-US" sz="1550" dirty="0"/>
          </a:p>
        </p:txBody>
      </p:sp>
      <p:sp>
        <p:nvSpPr>
          <p:cNvPr id="19" name="Text 16"/>
          <p:cNvSpPr txBox="1"/>
          <p:nvPr/>
        </p:nvSpPr>
        <p:spPr>
          <a:xfrm>
            <a:off x="1463040" y="4535424"/>
            <a:ext cx="6309360" cy="4572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Los datos se prepararon solo con entrenamiento y el grupo de prueba se usó una sola vez.</a:t>
            </a:r>
            <a:endParaRPr lang="en-US" sz="1250" dirty="0"/>
          </a:p>
        </p:txBody>
      </p:sp>
      <p:sp>
        <p:nvSpPr>
          <p:cNvPr id="20" name="Shape 17"/>
          <p:cNvSpPr/>
          <p:nvPr/>
        </p:nvSpPr>
        <p:spPr>
          <a:xfrm>
            <a:off x="548640" y="5157216"/>
            <a:ext cx="7406640" cy="960120"/>
          </a:xfrm>
          <a:prstGeom prst="roundRect">
            <a:avLst>
              <a:gd name="adj" fmla="val 13333"/>
            </a:avLst>
          </a:prstGeom>
          <a:solidFill>
            <a:schemeClr val="tx2">
              <a:alpha val="92000"/>
            </a:schemeClr>
          </a:solidFill>
          <a:ln w="12700">
            <a:solidFill>
              <a:srgbClr val="1E293B"/>
            </a:solidFill>
            <a:prstDash val="solid"/>
          </a:ln>
        </p:spPr>
      </p:sp>
      <p:sp>
        <p:nvSpPr>
          <p:cNvPr id="21" name="Shape 18"/>
          <p:cNvSpPr/>
          <p:nvPr/>
        </p:nvSpPr>
        <p:spPr>
          <a:xfrm>
            <a:off x="777240" y="5404104"/>
            <a:ext cx="457200" cy="457200"/>
          </a:xfrm>
          <a:prstGeom prst="ellipse">
            <a:avLst/>
          </a:prstGeom>
          <a:solidFill>
            <a:srgbClr val="1E3A8A"/>
          </a:solidFill>
          <a:ln w="12700">
            <a:solidFill>
              <a:srgbClr val="3B82F6"/>
            </a:solidFill>
            <a:prstDash val="solid"/>
          </a:ln>
        </p:spPr>
      </p:sp>
      <p:sp>
        <p:nvSpPr>
          <p:cNvPr id="22" name="Text 19"/>
          <p:cNvSpPr txBox="1"/>
          <p:nvPr/>
        </p:nvSpPr>
        <p:spPr>
          <a:xfrm>
            <a:off x="777240" y="5404104"/>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4</a:t>
            </a:r>
            <a:endParaRPr lang="en-US" sz="1400" dirty="0"/>
          </a:p>
        </p:txBody>
      </p:sp>
      <p:sp>
        <p:nvSpPr>
          <p:cNvPr id="23" name="Text 20"/>
          <p:cNvSpPr txBox="1"/>
          <p:nvPr/>
        </p:nvSpPr>
        <p:spPr>
          <a:xfrm>
            <a:off x="1463040" y="5248656"/>
            <a:ext cx="6309360" cy="347472"/>
          </a:xfrm>
          <a:prstGeom prst="rect">
            <a:avLst/>
          </a:prstGeom>
          <a:noFill/>
          <a:ln/>
        </p:spPr>
        <p:txBody>
          <a:bodyPr wrap="square" lIns="0" tIns="0" rIns="0" bIns="0" rtlCol="0" anchor="t"/>
          <a:lstStyle/>
          <a:p>
            <a:pPr algn="l" indent="0" marL="0">
              <a:lnSpc>
                <a:spcPct val="110000"/>
              </a:lnSpc>
              <a:spcAft>
                <a:spcPts val="400"/>
              </a:spcAft>
              <a:buNone/>
            </a:pPr>
            <a:r>
              <a:rPr lang="en-US" sz="1550" b="1" dirty="0">
                <a:solidFill>
                  <a:schemeClr val="bg1"/>
                </a:solidFill>
              </a:rPr>
              <a:t>Resultado explicable</a:t>
            </a:r>
            <a:endParaRPr lang="en-US" sz="1550" dirty="0"/>
          </a:p>
        </p:txBody>
      </p:sp>
      <p:sp>
        <p:nvSpPr>
          <p:cNvPr id="24" name="Text 21"/>
          <p:cNvSpPr txBox="1"/>
          <p:nvPr/>
        </p:nvSpPr>
        <p:spPr>
          <a:xfrm>
            <a:off x="1463040" y="5614416"/>
            <a:ext cx="6309360" cy="4572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Ordena bien 3 de cada 4 parejas de clientes y se apoya sobre todo en el historial de pago.</a:t>
            </a:r>
            <a:endParaRPr lang="en-US" sz="1250" dirty="0"/>
          </a:p>
        </p:txBody>
      </p:sp>
      <p:sp>
        <p:nvSpPr>
          <p:cNvPr id="25" name="Shape 22"/>
          <p:cNvSpPr/>
          <p:nvPr/>
        </p:nvSpPr>
        <p:spPr>
          <a:xfrm>
            <a:off x="8229600" y="1920240"/>
            <a:ext cx="3410712" cy="4251960"/>
          </a:xfrm>
          <a:prstGeom prst="roundRect">
            <a:avLst>
              <a:gd name="adj" fmla="val 3753"/>
            </a:avLst>
          </a:prstGeom>
          <a:solidFill>
            <a:schemeClr val="tx2">
              <a:alpha val="92000"/>
            </a:schemeClr>
          </a:solidFill>
          <a:ln w="12700">
            <a:solidFill>
              <a:srgbClr val="1E293B"/>
            </a:solidFill>
            <a:prstDash val="solid"/>
          </a:ln>
        </p:spPr>
      </p:sp>
      <p:sp>
        <p:nvSpPr>
          <p:cNvPr id="26" name="Text 23"/>
          <p:cNvSpPr txBox="1"/>
          <p:nvPr/>
        </p:nvSpPr>
        <p:spPr>
          <a:xfrm>
            <a:off x="8458200" y="2103120"/>
            <a:ext cx="292608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PÁGINA WEB</a:t>
            </a:r>
            <a:endParaRPr lang="en-US" sz="1050" dirty="0"/>
          </a:p>
        </p:txBody>
      </p:sp>
      <p:pic>
        <p:nvPicPr>
          <p:cNvPr id="27" name="Image 0" descr="/home/claude/deck/img/qr.png">    </p:cNvPr>
          <p:cNvPicPr>
            <a:picLocks noChangeAspect="1"/>
          </p:cNvPicPr>
          <p:nvPr/>
        </p:nvPicPr>
        <p:blipFill>
          <a:blip r:embed="rId1"/>
          <a:stretch>
            <a:fillRect/>
          </a:stretch>
        </p:blipFill>
        <p:spPr>
          <a:xfrm>
            <a:off x="8887968" y="2514600"/>
            <a:ext cx="2103120" cy="2103120"/>
          </a:xfrm>
          <a:prstGeom prst="rect">
            <a:avLst/>
          </a:prstGeom>
        </p:spPr>
      </p:pic>
      <p:sp>
        <p:nvSpPr>
          <p:cNvPr id="28" name="Text 24"/>
          <p:cNvSpPr txBox="1"/>
          <p:nvPr/>
        </p:nvSpPr>
        <p:spPr>
          <a:xfrm>
            <a:off x="8366760" y="4754880"/>
            <a:ext cx="3136392" cy="320040"/>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latin typeface="Consolas" pitchFamily="34" charset="0"/>
                <a:ea typeface="Consolas" pitchFamily="34" charset="-122"/>
                <a:cs typeface="Consolas" pitchFamily="34" charset="-120"/>
              </a:rPr>
              <a:t>suntzz.github.io/CrediRisk</a:t>
            </a:r>
            <a:endParaRPr lang="en-US" sz="1250" dirty="0"/>
          </a:p>
        </p:txBody>
      </p:sp>
      <p:sp>
        <p:nvSpPr>
          <p:cNvPr id="29" name="Text 25"/>
          <p:cNvSpPr txBox="1"/>
          <p:nvPr/>
        </p:nvSpPr>
        <p:spPr>
          <a:xfrm>
            <a:off x="8503920" y="5166360"/>
            <a:ext cx="2862072" cy="82296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chemeClr val="bg2"/>
                </a:solidFill>
              </a:rPr>
              <a:t>Evaluador de crédito, laboratorio del modelo y todas las gráficas.</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logo-C" descr="/home/claude/deck/img/credirisk-logo_c.png">    </p:cNvPr>
          <p:cNvPicPr>
            <a:picLocks noChangeAspect="1"/>
          </p:cNvPicPr>
          <p:nvPr/>
        </p:nvPicPr>
        <p:blipFill>
          <a:blip r:embed="rId1"/>
          <a:stretch>
            <a:fillRect/>
          </a:stretch>
        </p:blipFill>
        <p:spPr>
          <a:xfrm>
            <a:off x="4813772" y="1330960"/>
            <a:ext cx="421530" cy="447040"/>
          </a:xfrm>
          <a:prstGeom prst="rect">
            <a:avLst/>
          </a:prstGeom>
        </p:spPr>
      </p:pic>
      <p:sp>
        <p:nvSpPr>
          <p:cNvPr id="3" name="marca"/>
          <p:cNvSpPr txBox="1"/>
          <p:nvPr/>
        </p:nvSpPr>
        <p:spPr>
          <a:xfrm>
            <a:off x="5253081" y="1234440"/>
            <a:ext cx="2124842" cy="609600"/>
          </a:xfrm>
          <a:prstGeom prst="rect">
            <a:avLst/>
          </a:prstGeom>
          <a:noFill/>
          <a:ln/>
        </p:spPr>
        <p:txBody>
          <a:bodyPr wrap="square" lIns="0" tIns="0" rIns="0" bIns="0" rtlCol="0" anchor="ctr"/>
          <a:lstStyle/>
          <a:p>
            <a:pPr indent="0" marL="0">
              <a:buNone/>
            </a:pPr>
            <a:r>
              <a:rPr lang="en-US" sz="4000" b="1" dirty="0">
                <a:solidFill>
                  <a:srgbClr val="F8FAFC"/>
                </a:solidFill>
              </a:rPr>
              <a:t>rediRisk</a:t>
            </a:r>
            <a:endParaRPr lang="en-US" sz="4000" dirty="0"/>
          </a:p>
        </p:txBody>
      </p:sp>
      <p:sp>
        <p:nvSpPr>
          <p:cNvPr id="4" name="Text 0"/>
          <p:cNvSpPr/>
          <p:nvPr>
            <p:ph idx="100" type="title" hasCustomPrompt="1"/>
          </p:nvPr>
        </p:nvSpPr>
        <p:spPr>
          <a:xfrm>
            <a:off x="548640" y="2514600"/>
            <a:ext cx="11064240" cy="1097280"/>
          </a:xfrm>
          <a:prstGeom prst="rect">
            <a:avLst/>
          </a:prstGeom>
          <a:noFill/>
          <a:ln/>
        </p:spPr>
        <p:txBody>
          <a:bodyPr wrap="square" lIns="0" tIns="0" rIns="0" bIns="0" rtlCol="0" anchor="ctr"/>
          <a:lstStyle/>
          <a:p>
            <a:pPr algn="ctr" indent="0" marL="0">
              <a:buNone/>
            </a:pPr>
            <a:r>
              <a:rPr lang="en-US" sz="6000" b="1" dirty="0">
                <a:solidFill>
                  <a:schemeClr val="bg1"/>
                </a:solidFill>
              </a:rPr>
              <a:t>Gracias por su atención</a:t>
            </a:r>
            <a:endParaRPr lang="en-US" sz="6000" dirty="0"/>
          </a:p>
        </p:txBody>
      </p:sp>
      <p:sp>
        <p:nvSpPr>
          <p:cNvPr id="5" name="Text 2"/>
          <p:cNvSpPr txBox="1"/>
          <p:nvPr/>
        </p:nvSpPr>
        <p:spPr>
          <a:xfrm>
            <a:off x="2011680" y="3611880"/>
            <a:ext cx="8165592" cy="548640"/>
          </a:xfrm>
          <a:prstGeom prst="rect">
            <a:avLst/>
          </a:prstGeom>
          <a:noFill/>
          <a:ln/>
        </p:spPr>
        <p:txBody>
          <a:bodyPr wrap="square" lIns="0" tIns="0" rIns="0" bIns="0" rtlCol="0" anchor="t"/>
          <a:lstStyle/>
          <a:p>
            <a:pPr algn="ctr" indent="0" marL="0">
              <a:lnSpc>
                <a:spcPct val="110000"/>
              </a:lnSpc>
              <a:spcAft>
                <a:spcPts val="400"/>
              </a:spcAft>
              <a:buNone/>
            </a:pPr>
            <a:r>
              <a:rPr lang="en-US" sz="2000" dirty="0">
                <a:solidFill>
                  <a:schemeClr val="bg2"/>
                </a:solidFill>
              </a:rPr>
              <a:t>Preguntas y comentarios</a:t>
            </a:r>
            <a:endParaRPr lang="en-US" sz="2000" dirty="0"/>
          </a:p>
        </p:txBody>
      </p:sp>
      <p:sp>
        <p:nvSpPr>
          <p:cNvPr id="6" name="Text 3"/>
          <p:cNvSpPr txBox="1"/>
          <p:nvPr/>
        </p:nvSpPr>
        <p:spPr>
          <a:xfrm>
            <a:off x="1097280" y="4572000"/>
            <a:ext cx="9994392" cy="411480"/>
          </a:xfrm>
          <a:prstGeom prst="rect">
            <a:avLst/>
          </a:prstGeom>
          <a:noFill/>
          <a:ln/>
        </p:spPr>
        <p:txBody>
          <a:bodyPr wrap="square" lIns="0" tIns="0" rIns="0" bIns="0" rtlCol="0" anchor="t"/>
          <a:lstStyle/>
          <a:p>
            <a:pPr algn="ctr" indent="0" marL="0">
              <a:lnSpc>
                <a:spcPct val="110000"/>
              </a:lnSpc>
              <a:spcAft>
                <a:spcPts val="400"/>
              </a:spcAft>
              <a:buNone/>
            </a:pPr>
            <a:r>
              <a:rPr lang="en-US" sz="1500" b="1" dirty="0">
                <a:solidFill>
                  <a:schemeClr val="bg1"/>
                </a:solidFill>
              </a:rPr>
              <a:t>Leidy Guecha · Sharick Hernández · Laura Díaz · Iván Solano · Cristian Martínez</a:t>
            </a:r>
            <a:endParaRPr lang="en-US" sz="1500" dirty="0"/>
          </a:p>
        </p:txBody>
      </p:sp>
      <p:sp>
        <p:nvSpPr>
          <p:cNvPr id="7" name="Shape 4"/>
          <p:cNvSpPr/>
          <p:nvPr/>
        </p:nvSpPr>
        <p:spPr>
          <a:xfrm>
            <a:off x="4480560" y="5212080"/>
            <a:ext cx="3227832" cy="384048"/>
          </a:xfrm>
          <a:prstGeom prst="roundRect">
            <a:avLst>
              <a:gd name="adj" fmla="val 50000"/>
            </a:avLst>
          </a:prstGeom>
          <a:solidFill>
            <a:schemeClr val="bg1"/>
          </a:solidFill>
          <a:ln w="12700">
            <a:solidFill>
              <a:srgbClr val="F8FAFC"/>
            </a:solidFill>
            <a:prstDash val="solid"/>
          </a:ln>
        </p:spPr>
      </p:sp>
      <p:sp>
        <p:nvSpPr>
          <p:cNvPr id="8" name="Text 5"/>
          <p:cNvSpPr txBox="1"/>
          <p:nvPr/>
        </p:nvSpPr>
        <p:spPr>
          <a:xfrm>
            <a:off x="4480560" y="5212080"/>
            <a:ext cx="3227832" cy="384048"/>
          </a:xfrm>
          <a:prstGeom prst="rect">
            <a:avLst/>
          </a:prstGeom>
          <a:noFill/>
          <a:ln/>
        </p:spPr>
        <p:txBody>
          <a:bodyPr wrap="square" lIns="0" tIns="0" rIns="0" bIns="0" rtlCol="0" anchor="ctr"/>
          <a:lstStyle/>
          <a:p>
            <a:pPr algn="ctr" indent="0" marL="0">
              <a:buNone/>
            </a:pPr>
            <a:r>
              <a:rPr lang="en-US" sz="1250" b="1" dirty="0">
                <a:solidFill>
                  <a:schemeClr val="tx1"/>
                </a:solidFill>
              </a:rPr>
              <a:t>suntzz.github.io/CrediRisk</a:t>
            </a:r>
            <a:endParaRPr lang="en-US" sz="1250" dirty="0"/>
          </a:p>
        </p:txBody>
      </p:sp>
      <p:sp>
        <p:nvSpPr>
          <p:cNvPr id="9" name="Text 6"/>
          <p:cNvSpPr txBox="1"/>
          <p:nvPr/>
        </p:nvSpPr>
        <p:spPr>
          <a:xfrm>
            <a:off x="2011680" y="5989320"/>
            <a:ext cx="8165592" cy="36576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Redes Neuronales Profundas · Universidad Católica de Colombia · 2026</a:t>
            </a:r>
            <a:endParaRPr lang="en-US" sz="1200" dirty="0"/>
          </a:p>
        </p:txBody>
      </p:sp>
    </p:spTree>
  </p:cSld>
  <p:clrMapOvr>
    <a:masterClrMapping/>
  </p:clrMapOvr>
</p:sld>
</file>

<file path=ppt/theme/theme1.xml><?xml version="1.0" encoding="utf-8"?>
<a:theme xmlns:a="http://schemas.openxmlformats.org/drawingml/2006/main" name="CrediRisk">
  <a:themeElements>
    <a:clrScheme name="CrediRisk">
      <a:dk1>
        <a:srgbClr val="0B1220"/>
      </a:dk1>
      <a:lt1>
        <a:srgbClr val="F8FAFC"/>
      </a:lt1>
      <a:dk2>
        <a:srgbClr val="0F172A"/>
      </a:dk2>
      <a:lt2>
        <a:srgbClr val="CBD5E1"/>
      </a:lt2>
      <a:accent1>
        <a:srgbClr val="3B82F6"/>
      </a:accent1>
      <a:accent2>
        <a:srgbClr val="38BDF8"/>
      </a:accent2>
      <a:accent3>
        <a:srgbClr val="F59E0B"/>
      </a:accent3>
      <a:accent4>
        <a:srgbClr val="34D399"/>
      </a:accent4>
      <a:accent5>
        <a:srgbClr val="F87171"/>
      </a:accent5>
      <a:accent6>
        <a:srgbClr val="94A3B8"/>
      </a:accent6>
      <a:hlink>
        <a:srgbClr val="38BDF8"/>
      </a:hlink>
      <a:folHlink>
        <a:srgbClr val="7DD3FC"/>
      </a:folHlink>
    </a:clrScheme>
    <a:fontScheme name="CrediRis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CrediRisk – Riesgo crediticio con redes neuronales</dc:title>
  <dc:subject>PptxGenJS Presentation</dc:subject>
  <dc:creator>Equipo CrediRisk</dc:creator>
  <cp:lastModifiedBy>Equipo CrediRisk</cp:lastModifiedBy>
  <cp:revision>1</cp:revision>
  <dcterms:created xsi:type="dcterms:W3CDTF">2026-10-24T06:00:09Z</dcterms:created>
  <dcterms:modified xsi:type="dcterms:W3CDTF">2026-10-24T06:00:09Z</dcterms:modified>
</cp:coreProperties>
</file>