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7.xml" ContentType="application/vnd.openxmlformats-officedocument.drawingml.chart+xml"/>
  <Override PartName="/ppt/charts/chart1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9.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0.xml" ContentType="application/vnd.openxmlformats-officedocument.drawingml.chart+xml"/>
  <Override PartName="/ppt/charts/chart2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32415756-0cd3-2a59-93b5-8711a676cdf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ReLU</c:v>
                </c:pt>
              </c:strCache>
            </c:strRef>
          </c:tx>
          <c:spPr>
            <a:solidFill>
              <a:srgbClr val="3B82F6"/>
            </a:solidFill>
            <a:ln w="381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0.5"/>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LeakyReLU (α = 0,1)</c:v>
                </c:pt>
              </c:strCache>
            </c:strRef>
          </c:tx>
          <c:spPr>
            <a:solidFill>
              <a:srgbClr val="38BDF8"/>
            </a:solidFill>
            <a:ln w="38100" cap="flat">
              <a:solidFill>
                <a:srgbClr val="38BDF8"/>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8BDF8"/>
              </a:solidFill>
              <a:ln w="9525" cap="flat">
                <a:solidFill>
                  <a:srgbClr val="38BDF8"/>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-0.3</c:v>
                </c:pt>
                <c:pt idx="1">
                  <c:v>-0.275</c:v>
                </c:pt>
                <c:pt idx="2">
                  <c:v>-0.25</c:v>
                </c:pt>
                <c:pt idx="3">
                  <c:v>-0.225</c:v>
                </c:pt>
                <c:pt idx="4">
                  <c:v>-0.2</c:v>
                </c:pt>
                <c:pt idx="5">
                  <c:v>-0.175</c:v>
                </c:pt>
                <c:pt idx="6">
                  <c:v>-0.15</c:v>
                </c:pt>
                <c:pt idx="7">
                  <c:v>-0.125</c:v>
                </c:pt>
                <c:pt idx="8">
                  <c:v>-0.1</c:v>
                </c:pt>
                <c:pt idx="9">
                  <c:v>-0.075</c:v>
                </c:pt>
                <c:pt idx="10">
                  <c:v>-0.05</c:v>
                </c:pt>
                <c:pt idx="11">
                  <c:v>-0.025</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0.5"/>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Sigmoide</c:v>
                </c:pt>
              </c:strCache>
            </c:strRef>
          </c:tx>
          <c:spPr>
            <a:solidFill>
              <a:srgbClr val="34D399"/>
            </a:solidFill>
            <a:ln w="38100" cap="flat">
              <a:solidFill>
                <a:srgbClr val="34D399"/>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4D399"/>
              </a:solidFill>
              <a:ln w="9525" cap="flat">
                <a:solidFill>
                  <a:srgbClr val="34D399"/>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0.0474</c:v>
                </c:pt>
                <c:pt idx="1">
                  <c:v>0.0601</c:v>
                </c:pt>
                <c:pt idx="2">
                  <c:v>0.0759</c:v>
                </c:pt>
                <c:pt idx="3">
                  <c:v>0.0953</c:v>
                </c:pt>
                <c:pt idx="4">
                  <c:v>0.1192</c:v>
                </c:pt>
                <c:pt idx="5">
                  <c:v>0.148</c:v>
                </c:pt>
                <c:pt idx="6">
                  <c:v>0.1824</c:v>
                </c:pt>
                <c:pt idx="7">
                  <c:v>0.2227</c:v>
                </c:pt>
                <c:pt idx="8">
                  <c:v>0.2689</c:v>
                </c:pt>
                <c:pt idx="9">
                  <c:v>0.3208</c:v>
                </c:pt>
                <c:pt idx="10">
                  <c:v>0.3775</c:v>
                </c:pt>
                <c:pt idx="11">
                  <c:v>0.4378</c:v>
                </c:pt>
                <c:pt idx="12">
                  <c:v>0.5</c:v>
                </c:pt>
                <c:pt idx="13">
                  <c:v>0.5622</c:v>
                </c:pt>
                <c:pt idx="14">
                  <c:v>0.6225</c:v>
                </c:pt>
                <c:pt idx="15">
                  <c:v>0.6792</c:v>
                </c:pt>
                <c:pt idx="16">
                  <c:v>0.7311</c:v>
                </c:pt>
                <c:pt idx="17">
                  <c:v>0.7773</c:v>
                </c:pt>
                <c:pt idx="18">
                  <c:v>0.8176</c:v>
                </c:pt>
                <c:pt idx="19">
                  <c:v>0.852</c:v>
                </c:pt>
                <c:pt idx="20">
                  <c:v>0.8808</c:v>
                </c:pt>
                <c:pt idx="21">
                  <c:v>0.9047</c:v>
                </c:pt>
                <c:pt idx="22">
                  <c:v>0.9241</c:v>
                </c:pt>
                <c:pt idx="23">
                  <c:v>0.9399</c:v>
                </c:pt>
                <c:pt idx="24">
                  <c:v>0.9526</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ELU y GELU</c:v>
                </c:pt>
              </c:strCache>
            </c:strRef>
          </c:tx>
          <c:spPr>
            <a:solidFill>
              <a:srgbClr val="F59E0B"/>
            </a:solidFill>
            <a:ln w="381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Sheet1!$A$2:$A$26</c:f>
              <c:multiLvlStrCache>
                <c:ptCount val="25"/>
                <c:lvl>
                  <c:pt idx="0">
                    <c:v>−3</c:v>
                  </c:pt>
                  <c:pt idx="1">
                    <c:v/>
                  </c:pt>
                  <c:pt idx="2">
                    <c:v/>
                  </c:pt>
                  <c:pt idx="3">
                    <c:v/>
                  </c:pt>
                  <c:pt idx="4">
                    <c:v>−2</c:v>
                  </c:pt>
                  <c:pt idx="5">
                    <c:v/>
                  </c:pt>
                  <c:pt idx="6">
                    <c:v/>
                  </c:pt>
                  <c:pt idx="7">
                    <c:v/>
                  </c:pt>
                  <c:pt idx="8">
                    <c:v>−1</c:v>
                  </c:pt>
                  <c:pt idx="9">
                    <c:v/>
                  </c:pt>
                  <c:pt idx="10">
                    <c:v/>
                  </c:pt>
                  <c:pt idx="11">
                    <c:v/>
                  </c:pt>
                  <c:pt idx="12">
                    <c:v>0</c:v>
                  </c:pt>
                  <c:pt idx="13">
                    <c:v/>
                  </c:pt>
                  <c:pt idx="14">
                    <c:v/>
                  </c:pt>
                  <c:pt idx="15">
                    <c:v/>
                  </c:pt>
                  <c:pt idx="16">
                    <c:v>1</c:v>
                  </c:pt>
                  <c:pt idx="17">
                    <c:v/>
                  </c:pt>
                  <c:pt idx="18">
                    <c:v/>
                  </c:pt>
                  <c:pt idx="19">
                    <c:v/>
                  </c:pt>
                  <c:pt idx="20">
                    <c:v>2</c:v>
                  </c:pt>
                  <c:pt idx="21">
                    <c:v/>
                  </c:pt>
                  <c:pt idx="22">
                    <c:v/>
                  </c:pt>
                  <c:pt idx="23">
                    <c:v/>
                  </c:pt>
                  <c:pt idx="24">
                    <c:v>3</c:v>
                  </c:pt>
                </c:lvl>
              </c:multiLvlStrCache>
            </c:multiLvlStrRef>
          </c:cat>
          <c:val>
            <c:numRef>
              <c:f>Sheet1!$B$2:$B$26</c:f>
              <c:numCache>
                <c:formatCode>General</c:formatCode>
                <c:ptCount val="25"/>
                <c:pt idx="0">
                  <c:v>-0.9502</c:v>
                </c:pt>
                <c:pt idx="1">
                  <c:v>-0.9361</c:v>
                </c:pt>
                <c:pt idx="2">
                  <c:v>-0.9179</c:v>
                </c:pt>
                <c:pt idx="3">
                  <c:v>-0.8946</c:v>
                </c:pt>
                <c:pt idx="4">
                  <c:v>-0.8647</c:v>
                </c:pt>
                <c:pt idx="5">
                  <c:v>-0.8262</c:v>
                </c:pt>
                <c:pt idx="6">
                  <c:v>-0.7769</c:v>
                </c:pt>
                <c:pt idx="7">
                  <c:v>-0.7135</c:v>
                </c:pt>
                <c:pt idx="8">
                  <c:v>-0.6321</c:v>
                </c:pt>
                <c:pt idx="9">
                  <c:v>-0.5276</c:v>
                </c:pt>
                <c:pt idx="10">
                  <c:v>-0.3935</c:v>
                </c:pt>
                <c:pt idx="11">
                  <c:v>-0.2212</c:v>
                </c:pt>
                <c:pt idx="12">
                  <c:v>0</c:v>
                </c:pt>
                <c:pt idx="13">
                  <c:v>0.25</c:v>
                </c:pt>
                <c:pt idx="14">
                  <c:v>0.5</c:v>
                </c:pt>
                <c:pt idx="15">
                  <c:v>0.75</c:v>
                </c:pt>
                <c:pt idx="16">
                  <c:v>1</c:v>
                </c:pt>
                <c:pt idx="17">
                  <c:v>1.25</c:v>
                </c:pt>
                <c:pt idx="18">
                  <c:v>1.5</c:v>
                </c:pt>
                <c:pt idx="19">
                  <c:v>1.75</c:v>
                </c:pt>
                <c:pt idx="20">
                  <c:v>2</c:v>
                </c:pt>
                <c:pt idx="21">
                  <c:v>2.25</c:v>
                </c:pt>
                <c:pt idx="22">
                  <c:v>2.5</c:v>
                </c:pt>
                <c:pt idx="23">
                  <c:v>2.75</c:v>
                </c:pt>
                <c:pt idx="24">
                  <c:v>3</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3"/>
          <c:min val="-1"/>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8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Lo que ayuda es la diversidad (AUC en validación)</a:t>
            </a:r>
          </a:p>
        </c:rich>
      </c:tx>
      <c:layout/>
      <c:overlay val="0"/>
    </c:title>
    <c:autoTitleDeleted val="0"/>
    <c:plotArea>
      <c:layout/>
      <c:barChart>
        <c:barDir val="col"/>
        <c:grouping val="clustered"/>
        <c:varyColors val="0"/>
        <c:ser>
          <c:idx val="0"/>
          <c:order val="0"/>
          <c:tx>
            <c:strRef>
              <c:f>Sheet1!$B$1</c:f>
              <c:strCache>
                <c:ptCount val="1"/>
                <c:pt idx="0">
                  <c:v>AUC en validación</c:v>
                </c:pt>
              </c:strCache>
            </c:strRef>
          </c:tx>
          <c:spPr>
            <a:solidFill>
              <a:srgbClr val="475569"/>
            </a:solidFill>
            <a:effectLst/>
          </c:spPr>
          <c:invertIfNegative val="0"/>
          <c:dLbls>
            <c:numFmt formatCode="0.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3B82F6"/>
              </a:solidFill>
              <a:effectLst/>
            </c:spPr>
          </c:dPt>
          <c:dPt>
            <c:idx val="2"/>
            <c:invertIfNegative val="0"/>
            <c:bubble3D val="0"/>
            <c:spPr>
              <a:solidFill>
                <a:srgbClr val="34D399"/>
              </a:solidFill>
              <a:effectLst/>
            </c:spPr>
          </c:dPt>
          <c:cat>
            <c:multiLvlStrRef>
              <c:f>Sheet1!$A$2:$A$4</c:f>
              <c:multiLvlStrCache>
                <c:ptCount val="3"/>
                <c:lvl>
                  <c:pt idx="0">
                    <c:v>Una sola red</c:v>
                  </c:pt>
                  <c:pt idx="1">
                    <c:v>5 copias de la
misma red</c:v>
                  </c:pt>
                  <c:pt idx="2">
                    <c:v>3 redes distintas
(final)</c:v>
                  </c:pt>
                </c:lvl>
              </c:multiLvlStrCache>
            </c:multiLvlStrRef>
          </c:cat>
          <c:val>
            <c:numRef>
              <c:f>Sheet1!$B$2:$B$4</c:f>
              <c:numCache>
                <c:formatCode>General</c:formatCode>
                <c:ptCount val="3"/>
                <c:pt idx="0">
                  <c:v>0.75225</c:v>
                </c:pt>
                <c:pt idx="1">
                  <c:v>0.75249</c:v>
                </c:pt>
                <c:pt idx="2">
                  <c:v>0.75382</c:v>
                </c:pt>
              </c:numCache>
            </c:numRef>
          </c:val>
        </c:ser>
        <c:dLbls>
          <c:numFmt formatCode="0.0000"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5"/>
          <c:min val="0.7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Tamaño de la red (neuronas por capa)</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34D399"/>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B82F6"/>
              </a:solidFill>
              <a:effectLst/>
            </c:spPr>
          </c:dPt>
          <c:dPt>
            <c:idx val="2"/>
            <c:invertIfNegative val="0"/>
            <c:bubble3D val="0"/>
            <c:spPr>
              <a:solidFill>
                <a:srgbClr val="3B82F6"/>
              </a:solidFill>
              <a:effectLst/>
            </c:spPr>
          </c:dPt>
          <c:dPt>
            <c:idx val="3"/>
            <c:invertIfNegative val="0"/>
            <c:bubble3D val="0"/>
            <c:spPr>
              <a:solidFill>
                <a:srgbClr val="3B82F6"/>
              </a:solidFill>
              <a:effectLst/>
            </c:spPr>
          </c:dPt>
          <c:dPt>
            <c:idx val="4"/>
            <c:invertIfNegative val="0"/>
            <c:bubble3D val="0"/>
            <c:spPr>
              <a:solidFill>
                <a:srgbClr val="3B82F6"/>
              </a:solidFill>
              <a:effectLst/>
            </c:spPr>
          </c:dPt>
          <c:dPt>
            <c:idx val="5"/>
            <c:invertIfNegative val="0"/>
            <c:bubble3D val="0"/>
            <c:spPr>
              <a:solidFill>
                <a:srgbClr val="3B82F6"/>
              </a:solidFill>
              <a:effectLst/>
            </c:spPr>
          </c:dPt>
          <c:dPt>
            <c:idx val="6"/>
            <c:invertIfNegative val="0"/>
            <c:bubble3D val="0"/>
            <c:spPr>
              <a:solidFill>
                <a:srgbClr val="3B82F6"/>
              </a:solidFill>
              <a:effectLst/>
            </c:spPr>
          </c:dPt>
          <c:dPt>
            <c:idx val="7"/>
            <c:invertIfNegative val="0"/>
            <c:bubble3D val="0"/>
            <c:spPr>
              <a:solidFill>
                <a:srgbClr val="3B82F6"/>
              </a:solidFill>
              <a:effectLst/>
            </c:spPr>
          </c:dPt>
          <c:dPt>
            <c:idx val="8"/>
            <c:invertIfNegative val="0"/>
            <c:bubble3D val="0"/>
            <c:spPr>
              <a:solidFill>
                <a:srgbClr val="3B82F6"/>
              </a:solidFill>
              <a:effectLst/>
            </c:spPr>
          </c:dPt>
          <c:cat>
            <c:multiLvlStrRef>
              <c:f>Sheet1!$A$2:$A$10</c:f>
              <c:multiLvlStrCache>
                <c:ptCount val="9"/>
                <c:lvl>
                  <c:pt idx="0">
                    <c:v>[32,16]</c:v>
                  </c:pt>
                  <c:pt idx="1">
                    <c:v>[48,24]</c:v>
                  </c:pt>
                  <c:pt idx="2">
                    <c:v>[64,32]</c:v>
                  </c:pt>
                  <c:pt idx="3">
                    <c:v>[64,32,16]</c:v>
                  </c:pt>
                  <c:pt idx="4">
                    <c:v>[96,48,24]</c:v>
                  </c:pt>
                  <c:pt idx="5">
                    <c:v>[128,64,32]</c:v>
                  </c:pt>
                  <c:pt idx="6">
                    <c:v>[128,64,32,16]</c:v>
                  </c:pt>
                  <c:pt idx="7">
                    <c:v>[128,96,48,24]</c:v>
                  </c:pt>
                  <c:pt idx="8">
                    <c:v>[160,96,48,24]</c:v>
                  </c:pt>
                </c:lvl>
              </c:multiLvlStrCache>
            </c:multiLvlStrRef>
          </c:cat>
          <c:val>
            <c:numRef>
              <c:f>Sheet1!$B$2:$B$10</c:f>
              <c:numCache>
                <c:formatCode>General</c:formatCode>
                <c:ptCount val="9"/>
                <c:pt idx="0">
                  <c:v>0.75225</c:v>
                </c:pt>
                <c:pt idx="1">
                  <c:v>0.75082</c:v>
                </c:pt>
                <c:pt idx="2">
                  <c:v>0.75038</c:v>
                </c:pt>
                <c:pt idx="3">
                  <c:v>0.75053</c:v>
                </c:pt>
                <c:pt idx="4">
                  <c:v>0.74899</c:v>
                </c:pt>
                <c:pt idx="5">
                  <c:v>0.74927</c:v>
                </c:pt>
                <c:pt idx="6">
                  <c:v>0.75052</c:v>
                </c:pt>
                <c:pt idx="7">
                  <c:v>0.74982</c:v>
                </c:pt>
                <c:pt idx="8">
                  <c:v>0.74897</c:v>
                </c:pt>
              </c:numCache>
            </c:numRef>
          </c:val>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rot="-2700000"/>
          <a:lstStyle/>
          <a:p>
            <a:pPr>
              <a:defRPr sz="75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3"/>
          <c:min val="0.74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Dropout</a:t>
            </a:r>
          </a:p>
        </c:rich>
      </c:tx>
      <c:layout/>
      <c:overlay val="0"/>
    </c:title>
    <c:autoTitleDeleted val="0"/>
    <c:plotArea>
      <c:layout/>
      <c:lineChart>
        <c:varyColors val="0"/>
        <c:ser>
          <c:idx val="0"/>
          <c:order val="0"/>
          <c:tx>
            <c:strRef>
              <c:f>Sheet1!$B$1</c:f>
              <c:strCache>
                <c:ptCount val="1"/>
                <c:pt idx="0">
                  <c:v>AUC</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7"/>
            <c:spPr>
              <a:solidFill>
                <a:srgbClr val="F59E0B"/>
              </a:solidFill>
              <a:ln w="9525" cap="flat">
                <a:solidFill>
                  <a:srgbClr val="F59E0B"/>
                </a:solidFill>
                <a:prstDash val="solid"/>
                <a:round/>
              </a:ln>
              <a:effectLst/>
            </c:spPr>
          </c:marker>
          <c:cat>
            <c:multiLvlStrRef>
              <c:f>Sheet1!$A$2:$A$7</c:f>
              <c:multiLvlStrCache>
                <c:ptCount val="6"/>
                <c:lvl>
                  <c:pt idx="0">
                    <c:v>0 %</c:v>
                  </c:pt>
                  <c:pt idx="1">
                    <c:v>10 %</c:v>
                  </c:pt>
                  <c:pt idx="2">
                    <c:v>15 %</c:v>
                  </c:pt>
                  <c:pt idx="3">
                    <c:v>20 %</c:v>
                  </c:pt>
                  <c:pt idx="4">
                    <c:v>30 %</c:v>
                  </c:pt>
                  <c:pt idx="5">
                    <c:v>40 %</c:v>
                  </c:pt>
                </c:lvl>
              </c:multiLvlStrCache>
            </c:multiLvlStrRef>
          </c:cat>
          <c:val>
            <c:numRef>
              <c:f>Sheet1!$B$2:$B$7</c:f>
              <c:numCache>
                <c:formatCode>General</c:formatCode>
                <c:ptCount val="6"/>
                <c:pt idx="0">
                  <c:v>0.74471</c:v>
                </c:pt>
                <c:pt idx="1">
                  <c:v>0.75125</c:v>
                </c:pt>
                <c:pt idx="2">
                  <c:v>0.75043</c:v>
                </c:pt>
                <c:pt idx="3">
                  <c:v>0.75053</c:v>
                </c:pt>
                <c:pt idx="4">
                  <c:v>0.74963</c:v>
                </c:pt>
                <c:pt idx="5">
                  <c:v>0.74844</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2"/>
          <c:min val="0.744"/>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Ablación (nº de variables)</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475569"/>
            </a:solidFill>
            <a:effectLst/>
          </c:spPr>
          <c:invertIfNegative val="0"/>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475569"/>
              </a:solidFill>
              <a:effectLst/>
            </c:spPr>
          </c:dPt>
          <c:dPt>
            <c:idx val="2"/>
            <c:invertIfNegative val="0"/>
            <c:bubble3D val="0"/>
            <c:spPr>
              <a:solidFill>
                <a:srgbClr val="475569"/>
              </a:solidFill>
              <a:effectLst/>
            </c:spPr>
          </c:dPt>
          <c:dPt>
            <c:idx val="3"/>
            <c:invertIfNegative val="0"/>
            <c:bubble3D val="0"/>
            <c:spPr>
              <a:solidFill>
                <a:srgbClr val="3B82F6"/>
              </a:solidFill>
              <a:effectLst/>
            </c:spPr>
          </c:dPt>
          <c:dPt>
            <c:idx val="4"/>
            <c:invertIfNegative val="0"/>
            <c:bubble3D val="0"/>
            <c:spPr>
              <a:solidFill>
                <a:srgbClr val="475569"/>
              </a:solidFill>
              <a:effectLst/>
            </c:spPr>
          </c:dPt>
          <c:cat>
            <c:multiLvlStrRef>
              <c:f>Sheet1!$A$2:$A$6</c:f>
              <c:multiLvlStrCache>
                <c:ptCount val="5"/>
                <c:lvl>
                  <c:pt idx="0">
                    <c:v>9</c:v>
                  </c:pt>
                  <c:pt idx="1">
                    <c:v>21</c:v>
                  </c:pt>
                  <c:pt idx="2">
                    <c:v>35</c:v>
                  </c:pt>
                  <c:pt idx="3">
                    <c:v>44</c:v>
                  </c:pt>
                  <c:pt idx="4">
                    <c:v>50</c:v>
                  </c:pt>
                </c:lvl>
              </c:multiLvlStrCache>
            </c:multiLvlStrRef>
          </c:cat>
          <c:val>
            <c:numRef>
              <c:f>Sheet1!$B$2:$B$6</c:f>
              <c:numCache>
                <c:formatCode>General</c:formatCode>
                <c:ptCount val="5"/>
                <c:pt idx="0">
                  <c:v>0.62789</c:v>
                </c:pt>
                <c:pt idx="1">
                  <c:v>0.74409</c:v>
                </c:pt>
                <c:pt idx="2">
                  <c:v>0.75202</c:v>
                </c:pt>
                <c:pt idx="3">
                  <c:v>0.75225</c:v>
                </c:pt>
                <c:pt idx="4">
                  <c:v>0.7518</c:v>
                </c:pt>
              </c:numCache>
            </c:numRef>
          </c:val>
        </c:ser>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7"/>
          <c:min val="0.6"/>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1 · 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Sheet1!$A$2:$A$45</c:f>
              <c:multiLvlStrCache>
                <c:ptCount val="4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lvl>
              </c:multiLvlStrCache>
            </c:multiLvlStrRef>
          </c:cat>
          <c:val>
            <c:numRef>
              <c:f>Sheet1!$B$2:$B$45</c:f>
              <c:numCache>
                <c:formatCode>General</c:formatCode>
                <c:ptCount val="44"/>
                <c:pt idx="0">
                  <c:v>0.6267</c:v>
                </c:pt>
                <c:pt idx="1">
                  <c:v>0.6083</c:v>
                </c:pt>
                <c:pt idx="2">
                  <c:v>0.6018</c:v>
                </c:pt>
                <c:pt idx="3">
                  <c:v>0.5982</c:v>
                </c:pt>
                <c:pt idx="4">
                  <c:v>0.596</c:v>
                </c:pt>
                <c:pt idx="5">
                  <c:v>0.5943</c:v>
                </c:pt>
                <c:pt idx="6">
                  <c:v>0.5931</c:v>
                </c:pt>
                <c:pt idx="7">
                  <c:v>0.5924</c:v>
                </c:pt>
                <c:pt idx="8">
                  <c:v>0.5913</c:v>
                </c:pt>
                <c:pt idx="9">
                  <c:v>0.5909</c:v>
                </c:pt>
                <c:pt idx="10">
                  <c:v>0.5899</c:v>
                </c:pt>
                <c:pt idx="11">
                  <c:v>0.5898</c:v>
                </c:pt>
                <c:pt idx="12">
                  <c:v>0.589</c:v>
                </c:pt>
                <c:pt idx="13">
                  <c:v>0.5886</c:v>
                </c:pt>
                <c:pt idx="14">
                  <c:v>0.5887</c:v>
                </c:pt>
                <c:pt idx="15">
                  <c:v>0.5876</c:v>
                </c:pt>
                <c:pt idx="16">
                  <c:v>0.5868</c:v>
                </c:pt>
                <c:pt idx="17">
                  <c:v>0.5864</c:v>
                </c:pt>
                <c:pt idx="18">
                  <c:v>0.5866</c:v>
                </c:pt>
                <c:pt idx="19">
                  <c:v>0.5858</c:v>
                </c:pt>
                <c:pt idx="20">
                  <c:v>0.5853</c:v>
                </c:pt>
                <c:pt idx="21">
                  <c:v>0.5851</c:v>
                </c:pt>
                <c:pt idx="22">
                  <c:v>0.5848</c:v>
                </c:pt>
                <c:pt idx="23">
                  <c:v>0.5845</c:v>
                </c:pt>
                <c:pt idx="24">
                  <c:v>0.5842</c:v>
                </c:pt>
                <c:pt idx="25">
                  <c:v>0.5842</c:v>
                </c:pt>
                <c:pt idx="26">
                  <c:v>0.5841</c:v>
                </c:pt>
                <c:pt idx="27">
                  <c:v>0.5837</c:v>
                </c:pt>
                <c:pt idx="28">
                  <c:v>0.5837</c:v>
                </c:pt>
                <c:pt idx="29">
                  <c:v>0.5836</c:v>
                </c:pt>
                <c:pt idx="30">
                  <c:v>0.5832</c:v>
                </c:pt>
                <c:pt idx="31">
                  <c:v>0.5829</c:v>
                </c:pt>
                <c:pt idx="32">
                  <c:v>0.5826</c:v>
                </c:pt>
                <c:pt idx="33">
                  <c:v>0.5822</c:v>
                </c:pt>
                <c:pt idx="34">
                  <c:v>0.5821</c:v>
                </c:pt>
                <c:pt idx="35">
                  <c:v>0.5818</c:v>
                </c:pt>
                <c:pt idx="36">
                  <c:v>0.5818</c:v>
                </c:pt>
                <c:pt idx="37">
                  <c:v>0.5816</c:v>
                </c:pt>
                <c:pt idx="38">
                  <c:v>0.5816</c:v>
                </c:pt>
                <c:pt idx="39">
                  <c:v>0.5815</c:v>
                </c:pt>
                <c:pt idx="40">
                  <c:v>0.5813</c:v>
                </c:pt>
                <c:pt idx="41">
                  <c:v>0.5813</c:v>
                </c:pt>
                <c:pt idx="42">
                  <c:v>0.5812</c:v>
                </c:pt>
                <c:pt idx="43">
                  <c:v>0.5812</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Sheet1!$A$2:$A$45</c:f>
              <c:multiLvlStrCache>
                <c:ptCount val="4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lvl>
              </c:multiLvlStrCache>
            </c:multiLvlStrRef>
          </c:cat>
          <c:val>
            <c:numRef>
              <c:f>Sheet1!$C$2:$C$45</c:f>
              <c:numCache>
                <c:formatCode>General</c:formatCode>
                <c:ptCount val="44"/>
                <c:pt idx="0">
                  <c:v>0.6269</c:v>
                </c:pt>
                <c:pt idx="1">
                  <c:v>0.6095</c:v>
                </c:pt>
                <c:pt idx="2">
                  <c:v>0.6036</c:v>
                </c:pt>
                <c:pt idx="3">
                  <c:v>0.5997</c:v>
                </c:pt>
                <c:pt idx="4">
                  <c:v>0.5978</c:v>
                </c:pt>
                <c:pt idx="5">
                  <c:v>0.5966</c:v>
                </c:pt>
                <c:pt idx="6">
                  <c:v>0.5958</c:v>
                </c:pt>
                <c:pt idx="7">
                  <c:v>0.5948</c:v>
                </c:pt>
                <c:pt idx="8">
                  <c:v>0.5939</c:v>
                </c:pt>
                <c:pt idx="9">
                  <c:v>0.5943</c:v>
                </c:pt>
                <c:pt idx="10">
                  <c:v>0.594</c:v>
                </c:pt>
                <c:pt idx="11">
                  <c:v>0.5938</c:v>
                </c:pt>
                <c:pt idx="12">
                  <c:v>0.5931</c:v>
                </c:pt>
                <c:pt idx="13">
                  <c:v>0.5929</c:v>
                </c:pt>
                <c:pt idx="14">
                  <c:v>0.5928</c:v>
                </c:pt>
                <c:pt idx="15">
                  <c:v>0.5922</c:v>
                </c:pt>
                <c:pt idx="16">
                  <c:v>0.5921</c:v>
                </c:pt>
                <c:pt idx="17">
                  <c:v>0.5921</c:v>
                </c:pt>
                <c:pt idx="18">
                  <c:v>0.5921</c:v>
                </c:pt>
                <c:pt idx="19">
                  <c:v>0.592</c:v>
                </c:pt>
                <c:pt idx="20">
                  <c:v>0.5922</c:v>
                </c:pt>
                <c:pt idx="21">
                  <c:v>0.5919</c:v>
                </c:pt>
                <c:pt idx="22">
                  <c:v>0.5918</c:v>
                </c:pt>
                <c:pt idx="23">
                  <c:v>0.5915</c:v>
                </c:pt>
                <c:pt idx="24">
                  <c:v>0.5915</c:v>
                </c:pt>
                <c:pt idx="25">
                  <c:v>0.5914</c:v>
                </c:pt>
                <c:pt idx="26">
                  <c:v>0.5914</c:v>
                </c:pt>
                <c:pt idx="27">
                  <c:v>0.5911</c:v>
                </c:pt>
                <c:pt idx="28">
                  <c:v>0.5913</c:v>
                </c:pt>
                <c:pt idx="29">
                  <c:v>0.5915</c:v>
                </c:pt>
                <c:pt idx="30">
                  <c:v>0.5915</c:v>
                </c:pt>
                <c:pt idx="31">
                  <c:v>0.5912</c:v>
                </c:pt>
                <c:pt idx="32">
                  <c:v>0.5912</c:v>
                </c:pt>
                <c:pt idx="33">
                  <c:v>0.5911</c:v>
                </c:pt>
                <c:pt idx="34">
                  <c:v>0.5911</c:v>
                </c:pt>
                <c:pt idx="35">
                  <c:v>0.5912</c:v>
                </c:pt>
                <c:pt idx="36">
                  <c:v>0.5913</c:v>
                </c:pt>
                <c:pt idx="37">
                  <c:v>0.5913</c:v>
                </c:pt>
                <c:pt idx="38">
                  <c:v>0.5913</c:v>
                </c:pt>
                <c:pt idx="39">
                  <c:v>0.5913</c:v>
                </c:pt>
                <c:pt idx="40">
                  <c:v>0.5912</c:v>
                </c:pt>
                <c:pt idx="41">
                  <c:v>0.5912</c:v>
                </c:pt>
                <c:pt idx="42">
                  <c:v>0.5912</c:v>
                </c:pt>
                <c:pt idx="43">
                  <c:v>0.5911</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2 · LeakyReLU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Sheet1!$A$2:$A$57</c:f>
              <c:multiLvlStrCache>
                <c:ptCount val="5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lvl>
              </c:multiLvlStrCache>
            </c:multiLvlStrRef>
          </c:cat>
          <c:val>
            <c:numRef>
              <c:f>Sheet1!$B$2:$B$57</c:f>
              <c:numCache>
                <c:formatCode>General</c:formatCode>
                <c:ptCount val="56"/>
                <c:pt idx="0">
                  <c:v>0.6187</c:v>
                </c:pt>
                <c:pt idx="1">
                  <c:v>0.6054</c:v>
                </c:pt>
                <c:pt idx="2">
                  <c:v>0.6008</c:v>
                </c:pt>
                <c:pt idx="3">
                  <c:v>0.5975</c:v>
                </c:pt>
                <c:pt idx="4">
                  <c:v>0.5956</c:v>
                </c:pt>
                <c:pt idx="5">
                  <c:v>0.5943</c:v>
                </c:pt>
                <c:pt idx="6">
                  <c:v>0.5931</c:v>
                </c:pt>
                <c:pt idx="7">
                  <c:v>0.5923</c:v>
                </c:pt>
                <c:pt idx="8">
                  <c:v>0.5916</c:v>
                </c:pt>
                <c:pt idx="9">
                  <c:v>0.5906</c:v>
                </c:pt>
                <c:pt idx="10">
                  <c:v>0.5901</c:v>
                </c:pt>
                <c:pt idx="11">
                  <c:v>0.5895</c:v>
                </c:pt>
                <c:pt idx="12">
                  <c:v>0.5892</c:v>
                </c:pt>
                <c:pt idx="13">
                  <c:v>0.5887</c:v>
                </c:pt>
                <c:pt idx="14">
                  <c:v>0.5883</c:v>
                </c:pt>
                <c:pt idx="15">
                  <c:v>0.5879</c:v>
                </c:pt>
                <c:pt idx="16">
                  <c:v>0.5876</c:v>
                </c:pt>
                <c:pt idx="17">
                  <c:v>0.5872</c:v>
                </c:pt>
                <c:pt idx="18">
                  <c:v>0.5869</c:v>
                </c:pt>
                <c:pt idx="19">
                  <c:v>0.5865</c:v>
                </c:pt>
                <c:pt idx="20">
                  <c:v>0.5862</c:v>
                </c:pt>
                <c:pt idx="21">
                  <c:v>0.586</c:v>
                </c:pt>
                <c:pt idx="22">
                  <c:v>0.5856</c:v>
                </c:pt>
                <c:pt idx="23">
                  <c:v>0.5853</c:v>
                </c:pt>
                <c:pt idx="24">
                  <c:v>0.5853</c:v>
                </c:pt>
                <c:pt idx="25">
                  <c:v>0.5849</c:v>
                </c:pt>
                <c:pt idx="26">
                  <c:v>0.5847</c:v>
                </c:pt>
                <c:pt idx="27">
                  <c:v>0.5846</c:v>
                </c:pt>
                <c:pt idx="28">
                  <c:v>0.5842</c:v>
                </c:pt>
                <c:pt idx="29">
                  <c:v>0.5841</c:v>
                </c:pt>
                <c:pt idx="30">
                  <c:v>0.584</c:v>
                </c:pt>
                <c:pt idx="31">
                  <c:v>0.5838</c:v>
                </c:pt>
                <c:pt idx="32">
                  <c:v>0.5836</c:v>
                </c:pt>
                <c:pt idx="33">
                  <c:v>0.5834</c:v>
                </c:pt>
                <c:pt idx="34">
                  <c:v>0.5831</c:v>
                </c:pt>
                <c:pt idx="35">
                  <c:v>0.5829</c:v>
                </c:pt>
                <c:pt idx="36">
                  <c:v>0.5827</c:v>
                </c:pt>
                <c:pt idx="37">
                  <c:v>0.5826</c:v>
                </c:pt>
                <c:pt idx="38">
                  <c:v>0.5824</c:v>
                </c:pt>
                <c:pt idx="39">
                  <c:v>0.5823</c:v>
                </c:pt>
                <c:pt idx="40">
                  <c:v>0.5823</c:v>
                </c:pt>
                <c:pt idx="41">
                  <c:v>0.5822</c:v>
                </c:pt>
                <c:pt idx="42">
                  <c:v>0.5821</c:v>
                </c:pt>
                <c:pt idx="43">
                  <c:v>0.582</c:v>
                </c:pt>
                <c:pt idx="44">
                  <c:v>0.5819</c:v>
                </c:pt>
                <c:pt idx="45">
                  <c:v>0.5818</c:v>
                </c:pt>
                <c:pt idx="46">
                  <c:v>0.5817</c:v>
                </c:pt>
                <c:pt idx="47">
                  <c:v>0.5816</c:v>
                </c:pt>
                <c:pt idx="48">
                  <c:v>0.5815</c:v>
                </c:pt>
                <c:pt idx="49">
                  <c:v>0.5813</c:v>
                </c:pt>
                <c:pt idx="50">
                  <c:v>0.5813</c:v>
                </c:pt>
                <c:pt idx="51">
                  <c:v>0.5812</c:v>
                </c:pt>
                <c:pt idx="52">
                  <c:v>0.5811</c:v>
                </c:pt>
                <c:pt idx="53">
                  <c:v>0.5811</c:v>
                </c:pt>
                <c:pt idx="54">
                  <c:v>0.581</c:v>
                </c:pt>
                <c:pt idx="55">
                  <c:v>0.5809</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Sheet1!$A$2:$A$57</c:f>
              <c:multiLvlStrCache>
                <c:ptCount val="5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lvl>
              </c:multiLvlStrCache>
            </c:multiLvlStrRef>
          </c:cat>
          <c:val>
            <c:numRef>
              <c:f>Sheet1!$C$2:$C$57</c:f>
              <c:numCache>
                <c:formatCode>General</c:formatCode>
                <c:ptCount val="56"/>
                <c:pt idx="0">
                  <c:v>0.6167</c:v>
                </c:pt>
                <c:pt idx="1">
                  <c:v>0.604</c:v>
                </c:pt>
                <c:pt idx="2">
                  <c:v>0.5999</c:v>
                </c:pt>
                <c:pt idx="3">
                  <c:v>0.597</c:v>
                </c:pt>
                <c:pt idx="4">
                  <c:v>0.5955</c:v>
                </c:pt>
                <c:pt idx="5">
                  <c:v>0.5946</c:v>
                </c:pt>
                <c:pt idx="6">
                  <c:v>0.5941</c:v>
                </c:pt>
                <c:pt idx="7">
                  <c:v>0.5935</c:v>
                </c:pt>
                <c:pt idx="8">
                  <c:v>0.5933</c:v>
                </c:pt>
                <c:pt idx="9">
                  <c:v>0.5925</c:v>
                </c:pt>
                <c:pt idx="10">
                  <c:v>0.5923</c:v>
                </c:pt>
                <c:pt idx="11">
                  <c:v>0.5919</c:v>
                </c:pt>
                <c:pt idx="12">
                  <c:v>0.5919</c:v>
                </c:pt>
                <c:pt idx="13">
                  <c:v>0.5918</c:v>
                </c:pt>
                <c:pt idx="14">
                  <c:v>0.5917</c:v>
                </c:pt>
                <c:pt idx="15">
                  <c:v>0.5917</c:v>
                </c:pt>
                <c:pt idx="16">
                  <c:v>0.5913</c:v>
                </c:pt>
                <c:pt idx="17">
                  <c:v>0.5911</c:v>
                </c:pt>
                <c:pt idx="18">
                  <c:v>0.5911</c:v>
                </c:pt>
                <c:pt idx="19">
                  <c:v>0.591</c:v>
                </c:pt>
                <c:pt idx="20">
                  <c:v>0.591</c:v>
                </c:pt>
                <c:pt idx="21">
                  <c:v>0.591</c:v>
                </c:pt>
                <c:pt idx="22">
                  <c:v>0.5909</c:v>
                </c:pt>
                <c:pt idx="23">
                  <c:v>0.5907</c:v>
                </c:pt>
                <c:pt idx="24">
                  <c:v>0.5906</c:v>
                </c:pt>
                <c:pt idx="25">
                  <c:v>0.5905</c:v>
                </c:pt>
                <c:pt idx="26">
                  <c:v>0.5904</c:v>
                </c:pt>
                <c:pt idx="27">
                  <c:v>0.5904</c:v>
                </c:pt>
                <c:pt idx="28">
                  <c:v>0.5902</c:v>
                </c:pt>
                <c:pt idx="29">
                  <c:v>0.5904</c:v>
                </c:pt>
                <c:pt idx="30">
                  <c:v>0.5904</c:v>
                </c:pt>
                <c:pt idx="31">
                  <c:v>0.5902</c:v>
                </c:pt>
                <c:pt idx="32">
                  <c:v>0.5904</c:v>
                </c:pt>
                <c:pt idx="33">
                  <c:v>0.5904</c:v>
                </c:pt>
                <c:pt idx="34">
                  <c:v>0.5903</c:v>
                </c:pt>
                <c:pt idx="35">
                  <c:v>0.5901</c:v>
                </c:pt>
                <c:pt idx="36">
                  <c:v>0.59</c:v>
                </c:pt>
                <c:pt idx="37">
                  <c:v>0.5899</c:v>
                </c:pt>
                <c:pt idx="38">
                  <c:v>0.5897</c:v>
                </c:pt>
                <c:pt idx="39">
                  <c:v>0.5896</c:v>
                </c:pt>
                <c:pt idx="40">
                  <c:v>0.5897</c:v>
                </c:pt>
                <c:pt idx="41">
                  <c:v>0.5898</c:v>
                </c:pt>
                <c:pt idx="42">
                  <c:v>0.5897</c:v>
                </c:pt>
                <c:pt idx="43">
                  <c:v>0.5898</c:v>
                </c:pt>
                <c:pt idx="44">
                  <c:v>0.5897</c:v>
                </c:pt>
                <c:pt idx="45">
                  <c:v>0.5898</c:v>
                </c:pt>
                <c:pt idx="46">
                  <c:v>0.5898</c:v>
                </c:pt>
                <c:pt idx="47">
                  <c:v>0.5899</c:v>
                </c:pt>
                <c:pt idx="48">
                  <c:v>0.5897</c:v>
                </c:pt>
                <c:pt idx="49">
                  <c:v>0.5896</c:v>
                </c:pt>
                <c:pt idx="50">
                  <c:v>0.5896</c:v>
                </c:pt>
                <c:pt idx="51">
                  <c:v>0.5896</c:v>
                </c:pt>
                <c:pt idx="52">
                  <c:v>0.5896</c:v>
                </c:pt>
                <c:pt idx="53">
                  <c:v>0.5896</c:v>
                </c:pt>
                <c:pt idx="54">
                  <c:v>0.5896</c:v>
                </c:pt>
                <c:pt idx="55">
                  <c:v>0.5896</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Red 3 · ReLU · 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Sheet1!$B$2:$B$51</c:f>
              <c:numCache>
                <c:formatCode>General</c:formatCode>
                <c:ptCount val="50"/>
                <c:pt idx="0">
                  <c:v>0.6111</c:v>
                </c:pt>
                <c:pt idx="1">
                  <c:v>0.5995</c:v>
                </c:pt>
                <c:pt idx="2">
                  <c:v>0.5954</c:v>
                </c:pt>
                <c:pt idx="3">
                  <c:v>0.5947</c:v>
                </c:pt>
                <c:pt idx="4">
                  <c:v>0.593</c:v>
                </c:pt>
                <c:pt idx="5">
                  <c:v>0.5909</c:v>
                </c:pt>
                <c:pt idx="6">
                  <c:v>0.5911</c:v>
                </c:pt>
                <c:pt idx="7">
                  <c:v>0.5901</c:v>
                </c:pt>
                <c:pt idx="8">
                  <c:v>0.5901</c:v>
                </c:pt>
                <c:pt idx="9">
                  <c:v>0.5894</c:v>
                </c:pt>
                <c:pt idx="10">
                  <c:v>0.5884</c:v>
                </c:pt>
                <c:pt idx="11">
                  <c:v>0.5878</c:v>
                </c:pt>
                <c:pt idx="12">
                  <c:v>0.588</c:v>
                </c:pt>
                <c:pt idx="13">
                  <c:v>0.5872</c:v>
                </c:pt>
                <c:pt idx="14">
                  <c:v>0.5867</c:v>
                </c:pt>
                <c:pt idx="15">
                  <c:v>0.5869</c:v>
                </c:pt>
                <c:pt idx="16">
                  <c:v>0.5854</c:v>
                </c:pt>
                <c:pt idx="17">
                  <c:v>0.5855</c:v>
                </c:pt>
                <c:pt idx="18">
                  <c:v>0.5846</c:v>
                </c:pt>
                <c:pt idx="19">
                  <c:v>0.5844</c:v>
                </c:pt>
                <c:pt idx="20">
                  <c:v>0.5837</c:v>
                </c:pt>
                <c:pt idx="21">
                  <c:v>0.5837</c:v>
                </c:pt>
                <c:pt idx="22">
                  <c:v>0.5818</c:v>
                </c:pt>
                <c:pt idx="23">
                  <c:v>0.5811</c:v>
                </c:pt>
                <c:pt idx="24">
                  <c:v>0.5811</c:v>
                </c:pt>
                <c:pt idx="25">
                  <c:v>0.5805</c:v>
                </c:pt>
                <c:pt idx="26">
                  <c:v>0.5803</c:v>
                </c:pt>
                <c:pt idx="27">
                  <c:v>0.5795</c:v>
                </c:pt>
                <c:pt idx="28">
                  <c:v>0.5799</c:v>
                </c:pt>
                <c:pt idx="29">
                  <c:v>0.5798</c:v>
                </c:pt>
                <c:pt idx="30">
                  <c:v>0.5784</c:v>
                </c:pt>
                <c:pt idx="31">
                  <c:v>0.5778</c:v>
                </c:pt>
                <c:pt idx="32">
                  <c:v>0.5776</c:v>
                </c:pt>
                <c:pt idx="33">
                  <c:v>0.5775</c:v>
                </c:pt>
                <c:pt idx="34">
                  <c:v>0.5778</c:v>
                </c:pt>
                <c:pt idx="35">
                  <c:v>0.5771</c:v>
                </c:pt>
                <c:pt idx="36">
                  <c:v>0.5767</c:v>
                </c:pt>
                <c:pt idx="37">
                  <c:v>0.5763</c:v>
                </c:pt>
                <c:pt idx="38">
                  <c:v>0.5761</c:v>
                </c:pt>
                <c:pt idx="39">
                  <c:v>0.576</c:v>
                </c:pt>
                <c:pt idx="40">
                  <c:v>0.5755</c:v>
                </c:pt>
                <c:pt idx="41">
                  <c:v>0.5757</c:v>
                </c:pt>
                <c:pt idx="42">
                  <c:v>0.5756</c:v>
                </c:pt>
                <c:pt idx="43">
                  <c:v>0.5756</c:v>
                </c:pt>
                <c:pt idx="44">
                  <c:v>0.5757</c:v>
                </c:pt>
                <c:pt idx="45">
                  <c:v>0.5753</c:v>
                </c:pt>
                <c:pt idx="46">
                  <c:v>0.5754</c:v>
                </c:pt>
                <c:pt idx="47">
                  <c:v>0.5754</c:v>
                </c:pt>
                <c:pt idx="48">
                  <c:v>0.5753</c:v>
                </c:pt>
                <c:pt idx="49">
                  <c:v>0.5752</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Sheet1!$C$2:$C$51</c:f>
              <c:numCache>
                <c:formatCode>General</c:formatCode>
                <c:ptCount val="50"/>
                <c:pt idx="0">
                  <c:v>0.6146</c:v>
                </c:pt>
                <c:pt idx="1">
                  <c:v>0.6033</c:v>
                </c:pt>
                <c:pt idx="2">
                  <c:v>0.5985</c:v>
                </c:pt>
                <c:pt idx="3">
                  <c:v>0.5988</c:v>
                </c:pt>
                <c:pt idx="4">
                  <c:v>0.5967</c:v>
                </c:pt>
                <c:pt idx="5">
                  <c:v>0.5956</c:v>
                </c:pt>
                <c:pt idx="6">
                  <c:v>0.596</c:v>
                </c:pt>
                <c:pt idx="7">
                  <c:v>0.5952</c:v>
                </c:pt>
                <c:pt idx="8">
                  <c:v>0.5958</c:v>
                </c:pt>
                <c:pt idx="9">
                  <c:v>0.5945</c:v>
                </c:pt>
                <c:pt idx="10">
                  <c:v>0.5941</c:v>
                </c:pt>
                <c:pt idx="11">
                  <c:v>0.5937</c:v>
                </c:pt>
                <c:pt idx="12">
                  <c:v>0.594</c:v>
                </c:pt>
                <c:pt idx="13">
                  <c:v>0.5937</c:v>
                </c:pt>
                <c:pt idx="14">
                  <c:v>0.5936</c:v>
                </c:pt>
                <c:pt idx="15">
                  <c:v>0.5943</c:v>
                </c:pt>
                <c:pt idx="16">
                  <c:v>0.593</c:v>
                </c:pt>
                <c:pt idx="17">
                  <c:v>0.5933</c:v>
                </c:pt>
                <c:pt idx="18">
                  <c:v>0.5929</c:v>
                </c:pt>
                <c:pt idx="19">
                  <c:v>0.5933</c:v>
                </c:pt>
                <c:pt idx="20">
                  <c:v>0.5932</c:v>
                </c:pt>
                <c:pt idx="21">
                  <c:v>0.593</c:v>
                </c:pt>
                <c:pt idx="22">
                  <c:v>0.5924</c:v>
                </c:pt>
                <c:pt idx="23">
                  <c:v>0.592</c:v>
                </c:pt>
                <c:pt idx="24">
                  <c:v>0.5923</c:v>
                </c:pt>
                <c:pt idx="25">
                  <c:v>0.5924</c:v>
                </c:pt>
                <c:pt idx="26">
                  <c:v>0.5923</c:v>
                </c:pt>
                <c:pt idx="27">
                  <c:v>0.5917</c:v>
                </c:pt>
                <c:pt idx="28">
                  <c:v>0.5921</c:v>
                </c:pt>
                <c:pt idx="29">
                  <c:v>0.5925</c:v>
                </c:pt>
                <c:pt idx="30">
                  <c:v>0.5914</c:v>
                </c:pt>
                <c:pt idx="31">
                  <c:v>0.5915</c:v>
                </c:pt>
                <c:pt idx="32">
                  <c:v>0.5917</c:v>
                </c:pt>
                <c:pt idx="33">
                  <c:v>0.5917</c:v>
                </c:pt>
                <c:pt idx="34">
                  <c:v>0.5919</c:v>
                </c:pt>
                <c:pt idx="35">
                  <c:v>0.5915</c:v>
                </c:pt>
                <c:pt idx="36">
                  <c:v>0.5914</c:v>
                </c:pt>
                <c:pt idx="37">
                  <c:v>0.5914</c:v>
                </c:pt>
                <c:pt idx="38">
                  <c:v>0.5914</c:v>
                </c:pt>
                <c:pt idx="39">
                  <c:v>0.5916</c:v>
                </c:pt>
                <c:pt idx="40">
                  <c:v>0.5916</c:v>
                </c:pt>
                <c:pt idx="41">
                  <c:v>0.5917</c:v>
                </c:pt>
                <c:pt idx="42">
                  <c:v>0.5918</c:v>
                </c:pt>
                <c:pt idx="43">
                  <c:v>0.5919</c:v>
                </c:pt>
                <c:pt idx="44">
                  <c:v>0.5919</c:v>
                </c:pt>
                <c:pt idx="45">
                  <c:v>0.5917</c:v>
                </c:pt>
                <c:pt idx="46">
                  <c:v>0.5918</c:v>
                </c:pt>
                <c:pt idx="47">
                  <c:v>0.5919</c:v>
                </c:pt>
                <c:pt idx="48">
                  <c:v>0.5919</c:v>
                </c:pt>
                <c:pt idx="49">
                  <c:v>0.5918</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63"/>
          <c:min val="0.5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0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Error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Sheet1!$B$2:$B$151</c:f>
              <c:numCache>
                <c:formatCode>General</c:formatCode>
                <c:ptCount val="150"/>
                <c:pt idx="0">
                  <c:v>0.6267</c:v>
                </c:pt>
                <c:pt idx="1">
                  <c:v>0.6083</c:v>
                </c:pt>
                <c:pt idx="2">
                  <c:v>0.6018</c:v>
                </c:pt>
                <c:pt idx="3">
                  <c:v>0.5982</c:v>
                </c:pt>
                <c:pt idx="4">
                  <c:v>0.596</c:v>
                </c:pt>
                <c:pt idx="5">
                  <c:v>0.5943</c:v>
                </c:pt>
                <c:pt idx="6">
                  <c:v>0.5931</c:v>
                </c:pt>
                <c:pt idx="7">
                  <c:v>0.5924</c:v>
                </c:pt>
                <c:pt idx="8">
                  <c:v>0.5913</c:v>
                </c:pt>
                <c:pt idx="9">
                  <c:v>0.5909</c:v>
                </c:pt>
                <c:pt idx="10">
                  <c:v>0.5899</c:v>
                </c:pt>
                <c:pt idx="11">
                  <c:v>0.5898</c:v>
                </c:pt>
                <c:pt idx="12">
                  <c:v>0.589</c:v>
                </c:pt>
                <c:pt idx="13">
                  <c:v>0.5886</c:v>
                </c:pt>
                <c:pt idx="14">
                  <c:v>0.5887</c:v>
                </c:pt>
                <c:pt idx="15">
                  <c:v>0.5876</c:v>
                </c:pt>
                <c:pt idx="16">
                  <c:v>0.5868</c:v>
                </c:pt>
                <c:pt idx="17">
                  <c:v>0.5864</c:v>
                </c:pt>
                <c:pt idx="18">
                  <c:v>0.5866</c:v>
                </c:pt>
                <c:pt idx="19">
                  <c:v>0.5858</c:v>
                </c:pt>
                <c:pt idx="20">
                  <c:v>0.5853</c:v>
                </c:pt>
                <c:pt idx="21">
                  <c:v>0.5852</c:v>
                </c:pt>
                <c:pt idx="22">
                  <c:v>0.5847</c:v>
                </c:pt>
                <c:pt idx="23">
                  <c:v>0.5844</c:v>
                </c:pt>
                <c:pt idx="24">
                  <c:v>0.5842</c:v>
                </c:pt>
                <c:pt idx="25">
                  <c:v>0.5837</c:v>
                </c:pt>
                <c:pt idx="26">
                  <c:v>0.5837</c:v>
                </c:pt>
                <c:pt idx="27">
                  <c:v>0.5828</c:v>
                </c:pt>
                <c:pt idx="28">
                  <c:v>0.5828</c:v>
                </c:pt>
                <c:pt idx="29">
                  <c:v>0.5825</c:v>
                </c:pt>
                <c:pt idx="30">
                  <c:v>0.5817</c:v>
                </c:pt>
                <c:pt idx="31">
                  <c:v>0.5812</c:v>
                </c:pt>
                <c:pt idx="32">
                  <c:v>0.5808</c:v>
                </c:pt>
                <c:pt idx="33">
                  <c:v>0.5802</c:v>
                </c:pt>
                <c:pt idx="34">
                  <c:v>0.5801</c:v>
                </c:pt>
                <c:pt idx="35">
                  <c:v>0.5794</c:v>
                </c:pt>
                <c:pt idx="36">
                  <c:v>0.5792</c:v>
                </c:pt>
                <c:pt idx="37">
                  <c:v>0.5784</c:v>
                </c:pt>
                <c:pt idx="38">
                  <c:v>0.5787</c:v>
                </c:pt>
                <c:pt idx="39">
                  <c:v>0.5778</c:v>
                </c:pt>
                <c:pt idx="40">
                  <c:v>0.5771</c:v>
                </c:pt>
                <c:pt idx="41">
                  <c:v>0.5768</c:v>
                </c:pt>
                <c:pt idx="42">
                  <c:v>0.5764</c:v>
                </c:pt>
                <c:pt idx="43">
                  <c:v>0.5763</c:v>
                </c:pt>
                <c:pt idx="44">
                  <c:v>0.5755</c:v>
                </c:pt>
                <c:pt idx="45">
                  <c:v>0.5751</c:v>
                </c:pt>
                <c:pt idx="46">
                  <c:v>0.5745</c:v>
                </c:pt>
                <c:pt idx="47">
                  <c:v>0.5746</c:v>
                </c:pt>
                <c:pt idx="48">
                  <c:v>0.5741</c:v>
                </c:pt>
                <c:pt idx="49">
                  <c:v>0.5734</c:v>
                </c:pt>
                <c:pt idx="50">
                  <c:v>0.5737</c:v>
                </c:pt>
                <c:pt idx="51">
                  <c:v>0.5726</c:v>
                </c:pt>
                <c:pt idx="52">
                  <c:v>0.5727</c:v>
                </c:pt>
                <c:pt idx="53">
                  <c:v>0.5721</c:v>
                </c:pt>
                <c:pt idx="54">
                  <c:v>0.5719</c:v>
                </c:pt>
                <c:pt idx="55">
                  <c:v>0.5706</c:v>
                </c:pt>
                <c:pt idx="56">
                  <c:v>0.5709</c:v>
                </c:pt>
                <c:pt idx="57">
                  <c:v>0.5703</c:v>
                </c:pt>
                <c:pt idx="58">
                  <c:v>0.5699</c:v>
                </c:pt>
                <c:pt idx="59">
                  <c:v>0.5697</c:v>
                </c:pt>
                <c:pt idx="60">
                  <c:v>0.5693</c:v>
                </c:pt>
                <c:pt idx="61">
                  <c:v>0.5685</c:v>
                </c:pt>
                <c:pt idx="62">
                  <c:v>0.5685</c:v>
                </c:pt>
                <c:pt idx="63">
                  <c:v>0.568</c:v>
                </c:pt>
                <c:pt idx="64">
                  <c:v>0.5678</c:v>
                </c:pt>
                <c:pt idx="65">
                  <c:v>0.5682</c:v>
                </c:pt>
                <c:pt idx="66">
                  <c:v>0.5671</c:v>
                </c:pt>
                <c:pt idx="67">
                  <c:v>0.5666</c:v>
                </c:pt>
                <c:pt idx="68">
                  <c:v>0.5664</c:v>
                </c:pt>
                <c:pt idx="69">
                  <c:v>0.566</c:v>
                </c:pt>
                <c:pt idx="70">
                  <c:v>0.5656</c:v>
                </c:pt>
                <c:pt idx="71">
                  <c:v>0.5655</c:v>
                </c:pt>
                <c:pt idx="72">
                  <c:v>0.5648</c:v>
                </c:pt>
                <c:pt idx="73">
                  <c:v>0.5659</c:v>
                </c:pt>
                <c:pt idx="74">
                  <c:v>0.565</c:v>
                </c:pt>
                <c:pt idx="75">
                  <c:v>0.5645</c:v>
                </c:pt>
                <c:pt idx="76">
                  <c:v>0.5636</c:v>
                </c:pt>
                <c:pt idx="77">
                  <c:v>0.5636</c:v>
                </c:pt>
                <c:pt idx="78">
                  <c:v>0.5633</c:v>
                </c:pt>
                <c:pt idx="79">
                  <c:v>0.563</c:v>
                </c:pt>
                <c:pt idx="80">
                  <c:v>0.5626</c:v>
                </c:pt>
                <c:pt idx="81">
                  <c:v>0.5622</c:v>
                </c:pt>
                <c:pt idx="82">
                  <c:v>0.5623</c:v>
                </c:pt>
                <c:pt idx="83">
                  <c:v>0.5624</c:v>
                </c:pt>
                <c:pt idx="84">
                  <c:v>0.5615</c:v>
                </c:pt>
                <c:pt idx="85">
                  <c:v>0.561</c:v>
                </c:pt>
                <c:pt idx="86">
                  <c:v>0.5611</c:v>
                </c:pt>
                <c:pt idx="87">
                  <c:v>0.5609</c:v>
                </c:pt>
                <c:pt idx="88">
                  <c:v>0.5602</c:v>
                </c:pt>
                <c:pt idx="89">
                  <c:v>0.56</c:v>
                </c:pt>
                <c:pt idx="90">
                  <c:v>0.5589</c:v>
                </c:pt>
                <c:pt idx="91">
                  <c:v>0.5591</c:v>
                </c:pt>
                <c:pt idx="92">
                  <c:v>0.5585</c:v>
                </c:pt>
                <c:pt idx="93">
                  <c:v>0.5584</c:v>
                </c:pt>
                <c:pt idx="94">
                  <c:v>0.559</c:v>
                </c:pt>
                <c:pt idx="95">
                  <c:v>0.558</c:v>
                </c:pt>
                <c:pt idx="96">
                  <c:v>0.5582</c:v>
                </c:pt>
                <c:pt idx="97">
                  <c:v>0.5578</c:v>
                </c:pt>
                <c:pt idx="98">
                  <c:v>0.5573</c:v>
                </c:pt>
                <c:pt idx="99">
                  <c:v>0.5575</c:v>
                </c:pt>
                <c:pt idx="100">
                  <c:v>0.5568</c:v>
                </c:pt>
                <c:pt idx="101">
                  <c:v>0.557</c:v>
                </c:pt>
                <c:pt idx="102">
                  <c:v>0.5561</c:v>
                </c:pt>
                <c:pt idx="103">
                  <c:v>0.5556</c:v>
                </c:pt>
                <c:pt idx="104">
                  <c:v>0.5556</c:v>
                </c:pt>
                <c:pt idx="105">
                  <c:v>0.5546</c:v>
                </c:pt>
                <c:pt idx="106">
                  <c:v>0.5548</c:v>
                </c:pt>
                <c:pt idx="107">
                  <c:v>0.5552</c:v>
                </c:pt>
                <c:pt idx="108">
                  <c:v>0.554</c:v>
                </c:pt>
                <c:pt idx="109">
                  <c:v>0.5539</c:v>
                </c:pt>
                <c:pt idx="110">
                  <c:v>0.5538</c:v>
                </c:pt>
                <c:pt idx="111">
                  <c:v>0.554</c:v>
                </c:pt>
                <c:pt idx="112">
                  <c:v>0.5529</c:v>
                </c:pt>
                <c:pt idx="113">
                  <c:v>0.5533</c:v>
                </c:pt>
                <c:pt idx="114">
                  <c:v>0.5523</c:v>
                </c:pt>
                <c:pt idx="115">
                  <c:v>0.5524</c:v>
                </c:pt>
                <c:pt idx="116">
                  <c:v>0.5519</c:v>
                </c:pt>
                <c:pt idx="117">
                  <c:v>0.5516</c:v>
                </c:pt>
                <c:pt idx="118">
                  <c:v>0.5512</c:v>
                </c:pt>
                <c:pt idx="119">
                  <c:v>0.552</c:v>
                </c:pt>
                <c:pt idx="120">
                  <c:v>0.5515</c:v>
                </c:pt>
                <c:pt idx="121">
                  <c:v>0.5519</c:v>
                </c:pt>
                <c:pt idx="122">
                  <c:v>0.5516</c:v>
                </c:pt>
                <c:pt idx="123">
                  <c:v>0.5504</c:v>
                </c:pt>
                <c:pt idx="124">
                  <c:v>0.5507</c:v>
                </c:pt>
                <c:pt idx="125">
                  <c:v>0.5501</c:v>
                </c:pt>
                <c:pt idx="126">
                  <c:v>0.5501</c:v>
                </c:pt>
                <c:pt idx="127">
                  <c:v>0.5504</c:v>
                </c:pt>
                <c:pt idx="128">
                  <c:v>0.5499</c:v>
                </c:pt>
                <c:pt idx="129">
                  <c:v>0.5489</c:v>
                </c:pt>
                <c:pt idx="130">
                  <c:v>0.5491</c:v>
                </c:pt>
                <c:pt idx="131">
                  <c:v>0.5488</c:v>
                </c:pt>
                <c:pt idx="132">
                  <c:v>0.5487</c:v>
                </c:pt>
                <c:pt idx="133">
                  <c:v>0.5481</c:v>
                </c:pt>
                <c:pt idx="134">
                  <c:v>0.5475</c:v>
                </c:pt>
                <c:pt idx="135">
                  <c:v>0.5476</c:v>
                </c:pt>
                <c:pt idx="136">
                  <c:v>0.5468</c:v>
                </c:pt>
                <c:pt idx="137">
                  <c:v>0.5473</c:v>
                </c:pt>
                <c:pt idx="138">
                  <c:v>0.5479</c:v>
                </c:pt>
                <c:pt idx="139">
                  <c:v>0.5465</c:v>
                </c:pt>
                <c:pt idx="140">
                  <c:v>0.547</c:v>
                </c:pt>
                <c:pt idx="141">
                  <c:v>0.5468</c:v>
                </c:pt>
                <c:pt idx="142">
                  <c:v>0.5463</c:v>
                </c:pt>
                <c:pt idx="143">
                  <c:v>0.5461</c:v>
                </c:pt>
                <c:pt idx="144">
                  <c:v>0.546</c:v>
                </c:pt>
                <c:pt idx="145">
                  <c:v>0.5469</c:v>
                </c:pt>
                <c:pt idx="146">
                  <c:v>0.5459</c:v>
                </c:pt>
                <c:pt idx="147">
                  <c:v>0.5455</c:v>
                </c:pt>
                <c:pt idx="148">
                  <c:v>0.5457</c:v>
                </c:pt>
                <c:pt idx="149">
                  <c:v>0.5454</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Sheet1!$A$2:$A$151</c:f>
              <c:multiLvlStrCache>
                <c:ptCount val="1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lvl>
              </c:multiLvlStrCache>
            </c:multiLvlStrRef>
          </c:cat>
          <c:val>
            <c:numRef>
              <c:f>Sheet1!$C$2:$C$151</c:f>
              <c:numCache>
                <c:formatCode>General</c:formatCode>
                <c:ptCount val="150"/>
                <c:pt idx="0">
                  <c:v>0.6269</c:v>
                </c:pt>
                <c:pt idx="1">
                  <c:v>0.6095</c:v>
                </c:pt>
                <c:pt idx="2">
                  <c:v>0.6036</c:v>
                </c:pt>
                <c:pt idx="3">
                  <c:v>0.5997</c:v>
                </c:pt>
                <c:pt idx="4">
                  <c:v>0.5978</c:v>
                </c:pt>
                <c:pt idx="5">
                  <c:v>0.5966</c:v>
                </c:pt>
                <c:pt idx="6">
                  <c:v>0.5958</c:v>
                </c:pt>
                <c:pt idx="7">
                  <c:v>0.5948</c:v>
                </c:pt>
                <c:pt idx="8">
                  <c:v>0.5939</c:v>
                </c:pt>
                <c:pt idx="9">
                  <c:v>0.5943</c:v>
                </c:pt>
                <c:pt idx="10">
                  <c:v>0.594</c:v>
                </c:pt>
                <c:pt idx="11">
                  <c:v>0.5938</c:v>
                </c:pt>
                <c:pt idx="12">
                  <c:v>0.5931</c:v>
                </c:pt>
                <c:pt idx="13">
                  <c:v>0.5929</c:v>
                </c:pt>
                <c:pt idx="14">
                  <c:v>0.5928</c:v>
                </c:pt>
                <c:pt idx="15">
                  <c:v>0.5922</c:v>
                </c:pt>
                <c:pt idx="16">
                  <c:v>0.5921</c:v>
                </c:pt>
                <c:pt idx="17">
                  <c:v>0.5921</c:v>
                </c:pt>
                <c:pt idx="18">
                  <c:v>0.5921</c:v>
                </c:pt>
                <c:pt idx="19">
                  <c:v>0.592</c:v>
                </c:pt>
                <c:pt idx="20">
                  <c:v>0.5922</c:v>
                </c:pt>
                <c:pt idx="21">
                  <c:v>0.5921</c:v>
                </c:pt>
                <c:pt idx="22">
                  <c:v>0.5919</c:v>
                </c:pt>
                <c:pt idx="23">
                  <c:v>0.5917</c:v>
                </c:pt>
                <c:pt idx="24">
                  <c:v>0.5919</c:v>
                </c:pt>
                <c:pt idx="25">
                  <c:v>0.5918</c:v>
                </c:pt>
                <c:pt idx="26">
                  <c:v>0.5918</c:v>
                </c:pt>
                <c:pt idx="27">
                  <c:v>0.5913</c:v>
                </c:pt>
                <c:pt idx="28">
                  <c:v>0.5918</c:v>
                </c:pt>
                <c:pt idx="29">
                  <c:v>0.592</c:v>
                </c:pt>
                <c:pt idx="30">
                  <c:v>0.5916</c:v>
                </c:pt>
                <c:pt idx="31">
                  <c:v>0.5913</c:v>
                </c:pt>
                <c:pt idx="32">
                  <c:v>0.5912</c:v>
                </c:pt>
                <c:pt idx="33">
                  <c:v>0.5915</c:v>
                </c:pt>
                <c:pt idx="34">
                  <c:v>0.5923</c:v>
                </c:pt>
                <c:pt idx="35">
                  <c:v>0.5926</c:v>
                </c:pt>
                <c:pt idx="36">
                  <c:v>0.5924</c:v>
                </c:pt>
                <c:pt idx="37">
                  <c:v>0.5926</c:v>
                </c:pt>
                <c:pt idx="38">
                  <c:v>0.5927</c:v>
                </c:pt>
                <c:pt idx="39">
                  <c:v>0.5922</c:v>
                </c:pt>
                <c:pt idx="40">
                  <c:v>0.5916</c:v>
                </c:pt>
                <c:pt idx="41">
                  <c:v>0.5922</c:v>
                </c:pt>
                <c:pt idx="42">
                  <c:v>0.592</c:v>
                </c:pt>
                <c:pt idx="43">
                  <c:v>0.592</c:v>
                </c:pt>
                <c:pt idx="44">
                  <c:v>0.5923</c:v>
                </c:pt>
                <c:pt idx="45">
                  <c:v>0.5926</c:v>
                </c:pt>
                <c:pt idx="46">
                  <c:v>0.5926</c:v>
                </c:pt>
                <c:pt idx="47">
                  <c:v>0.5928</c:v>
                </c:pt>
                <c:pt idx="48">
                  <c:v>0.5928</c:v>
                </c:pt>
                <c:pt idx="49">
                  <c:v>0.5926</c:v>
                </c:pt>
                <c:pt idx="50">
                  <c:v>0.5938</c:v>
                </c:pt>
                <c:pt idx="51">
                  <c:v>0.5932</c:v>
                </c:pt>
                <c:pt idx="52">
                  <c:v>0.5935</c:v>
                </c:pt>
                <c:pt idx="53">
                  <c:v>0.5939</c:v>
                </c:pt>
                <c:pt idx="54">
                  <c:v>0.5931</c:v>
                </c:pt>
                <c:pt idx="55">
                  <c:v>0.5934</c:v>
                </c:pt>
                <c:pt idx="56">
                  <c:v>0.5938</c:v>
                </c:pt>
                <c:pt idx="57">
                  <c:v>0.5931</c:v>
                </c:pt>
                <c:pt idx="58">
                  <c:v>0.5932</c:v>
                </c:pt>
                <c:pt idx="59">
                  <c:v>0.5932</c:v>
                </c:pt>
                <c:pt idx="60">
                  <c:v>0.5934</c:v>
                </c:pt>
                <c:pt idx="61">
                  <c:v>0.5936</c:v>
                </c:pt>
                <c:pt idx="62">
                  <c:v>0.5935</c:v>
                </c:pt>
                <c:pt idx="63">
                  <c:v>0.5938</c:v>
                </c:pt>
                <c:pt idx="64">
                  <c:v>0.5941</c:v>
                </c:pt>
                <c:pt idx="65">
                  <c:v>0.5943</c:v>
                </c:pt>
                <c:pt idx="66">
                  <c:v>0.5942</c:v>
                </c:pt>
                <c:pt idx="67">
                  <c:v>0.5939</c:v>
                </c:pt>
                <c:pt idx="68">
                  <c:v>0.5941</c:v>
                </c:pt>
                <c:pt idx="69">
                  <c:v>0.5944</c:v>
                </c:pt>
                <c:pt idx="70">
                  <c:v>0.5942</c:v>
                </c:pt>
                <c:pt idx="71">
                  <c:v>0.5945</c:v>
                </c:pt>
                <c:pt idx="72">
                  <c:v>0.595</c:v>
                </c:pt>
                <c:pt idx="73">
                  <c:v>0.5957</c:v>
                </c:pt>
                <c:pt idx="74">
                  <c:v>0.5947</c:v>
                </c:pt>
                <c:pt idx="75">
                  <c:v>0.595</c:v>
                </c:pt>
                <c:pt idx="76">
                  <c:v>0.5943</c:v>
                </c:pt>
                <c:pt idx="77">
                  <c:v>0.5955</c:v>
                </c:pt>
                <c:pt idx="78">
                  <c:v>0.5952</c:v>
                </c:pt>
                <c:pt idx="79">
                  <c:v>0.5949</c:v>
                </c:pt>
                <c:pt idx="80">
                  <c:v>0.5945</c:v>
                </c:pt>
                <c:pt idx="81">
                  <c:v>0.5952</c:v>
                </c:pt>
                <c:pt idx="82">
                  <c:v>0.5956</c:v>
                </c:pt>
                <c:pt idx="83">
                  <c:v>0.5958</c:v>
                </c:pt>
                <c:pt idx="84">
                  <c:v>0.595</c:v>
                </c:pt>
                <c:pt idx="85">
                  <c:v>0.5953</c:v>
                </c:pt>
                <c:pt idx="86">
                  <c:v>0.5952</c:v>
                </c:pt>
                <c:pt idx="87">
                  <c:v>0.596</c:v>
                </c:pt>
                <c:pt idx="88">
                  <c:v>0.5958</c:v>
                </c:pt>
                <c:pt idx="89">
                  <c:v>0.5959</c:v>
                </c:pt>
                <c:pt idx="90">
                  <c:v>0.596</c:v>
                </c:pt>
                <c:pt idx="91">
                  <c:v>0.5957</c:v>
                </c:pt>
                <c:pt idx="92">
                  <c:v>0.5959</c:v>
                </c:pt>
                <c:pt idx="93">
                  <c:v>0.5959</c:v>
                </c:pt>
                <c:pt idx="94">
                  <c:v>0.5965</c:v>
                </c:pt>
                <c:pt idx="95">
                  <c:v>0.5958</c:v>
                </c:pt>
                <c:pt idx="96">
                  <c:v>0.5964</c:v>
                </c:pt>
                <c:pt idx="97">
                  <c:v>0.5967</c:v>
                </c:pt>
                <c:pt idx="98">
                  <c:v>0.5971</c:v>
                </c:pt>
                <c:pt idx="99">
                  <c:v>0.596</c:v>
                </c:pt>
                <c:pt idx="100">
                  <c:v>0.5964</c:v>
                </c:pt>
                <c:pt idx="101">
                  <c:v>0.5965</c:v>
                </c:pt>
                <c:pt idx="102">
                  <c:v>0.5969</c:v>
                </c:pt>
                <c:pt idx="103">
                  <c:v>0.5969</c:v>
                </c:pt>
                <c:pt idx="104">
                  <c:v>0.5976</c:v>
                </c:pt>
                <c:pt idx="105">
                  <c:v>0.5973</c:v>
                </c:pt>
                <c:pt idx="106">
                  <c:v>0.5978</c:v>
                </c:pt>
                <c:pt idx="107">
                  <c:v>0.5977</c:v>
                </c:pt>
                <c:pt idx="108">
                  <c:v>0.5984</c:v>
                </c:pt>
                <c:pt idx="109">
                  <c:v>0.5981</c:v>
                </c:pt>
                <c:pt idx="110">
                  <c:v>0.598</c:v>
                </c:pt>
                <c:pt idx="111">
                  <c:v>0.5978</c:v>
                </c:pt>
                <c:pt idx="112">
                  <c:v>0.5974</c:v>
                </c:pt>
                <c:pt idx="113">
                  <c:v>0.5978</c:v>
                </c:pt>
                <c:pt idx="114">
                  <c:v>0.5982</c:v>
                </c:pt>
                <c:pt idx="115">
                  <c:v>0.5985</c:v>
                </c:pt>
                <c:pt idx="116">
                  <c:v>0.5979</c:v>
                </c:pt>
                <c:pt idx="117">
                  <c:v>0.5988</c:v>
                </c:pt>
                <c:pt idx="118">
                  <c:v>0.5989</c:v>
                </c:pt>
                <c:pt idx="119">
                  <c:v>0.5985</c:v>
                </c:pt>
                <c:pt idx="120">
                  <c:v>0.5987</c:v>
                </c:pt>
                <c:pt idx="121">
                  <c:v>0.5988</c:v>
                </c:pt>
                <c:pt idx="122">
                  <c:v>0.5984</c:v>
                </c:pt>
                <c:pt idx="123">
                  <c:v>0.5987</c:v>
                </c:pt>
                <c:pt idx="124">
                  <c:v>0.5984</c:v>
                </c:pt>
                <c:pt idx="125">
                  <c:v>0.599</c:v>
                </c:pt>
                <c:pt idx="126">
                  <c:v>0.5994</c:v>
                </c:pt>
                <c:pt idx="127">
                  <c:v>0.5999</c:v>
                </c:pt>
                <c:pt idx="128">
                  <c:v>0.6</c:v>
                </c:pt>
                <c:pt idx="129">
                  <c:v>0.6004</c:v>
                </c:pt>
                <c:pt idx="130">
                  <c:v>0.5994</c:v>
                </c:pt>
                <c:pt idx="131">
                  <c:v>0.5999</c:v>
                </c:pt>
                <c:pt idx="132">
                  <c:v>0.6001</c:v>
                </c:pt>
                <c:pt idx="133">
                  <c:v>0.601</c:v>
                </c:pt>
                <c:pt idx="134">
                  <c:v>0.6011</c:v>
                </c:pt>
                <c:pt idx="135">
                  <c:v>0.6004</c:v>
                </c:pt>
                <c:pt idx="136">
                  <c:v>0.6006</c:v>
                </c:pt>
                <c:pt idx="137">
                  <c:v>0.6005</c:v>
                </c:pt>
                <c:pt idx="138">
                  <c:v>0.6002</c:v>
                </c:pt>
                <c:pt idx="139">
                  <c:v>0.6008</c:v>
                </c:pt>
                <c:pt idx="140">
                  <c:v>0.6007</c:v>
                </c:pt>
                <c:pt idx="141">
                  <c:v>0.6003</c:v>
                </c:pt>
                <c:pt idx="142">
                  <c:v>0.6</c:v>
                </c:pt>
                <c:pt idx="143">
                  <c:v>0.5996</c:v>
                </c:pt>
                <c:pt idx="144">
                  <c:v>0.6003</c:v>
                </c:pt>
                <c:pt idx="145">
                  <c:v>0.5995</c:v>
                </c:pt>
                <c:pt idx="146">
                  <c:v>0.5996</c:v>
                </c:pt>
                <c:pt idx="147">
                  <c:v>0.6009</c:v>
                </c:pt>
                <c:pt idx="148">
                  <c:v>0.6006</c:v>
                </c:pt>
                <c:pt idx="149">
                  <c:v>0.6005</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tickLblSkip val="25"/>
      </c:catAx>
      <c:valAx>
        <c:axId val="2094734552"/>
        <c:scaling>
          <c:orientation val="minMax"/>
          <c:max val="0.63"/>
          <c:min val="0.54"/>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 de aciertos por época</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3B82F6"/>
              </a:solidFill>
              <a:ln w="9525" cap="flat">
                <a:solidFill>
                  <a:srgbClr val="3B82F6"/>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Sheet1!$B$2:$B$201</c:f>
              <c:numCache>
                <c:formatCode>General</c:formatCode>
                <c:ptCount val="200"/>
                <c:pt idx="0">
                  <c:v>68.71</c:v>
                </c:pt>
                <c:pt idx="1">
                  <c:v>69.25</c:v>
                </c:pt>
                <c:pt idx="2">
                  <c:v>69.71</c:v>
                </c:pt>
                <c:pt idx="3">
                  <c:v>70.15</c:v>
                </c:pt>
                <c:pt idx="4">
                  <c:v>70.46</c:v>
                </c:pt>
                <c:pt idx="5">
                  <c:v>70.8</c:v>
                </c:pt>
                <c:pt idx="6">
                  <c:v>71.12</c:v>
                </c:pt>
                <c:pt idx="7">
                  <c:v>71.39</c:v>
                </c:pt>
                <c:pt idx="8">
                  <c:v>71.57</c:v>
                </c:pt>
                <c:pt idx="9">
                  <c:v>72.04</c:v>
                </c:pt>
                <c:pt idx="10">
                  <c:v>72.45</c:v>
                </c:pt>
                <c:pt idx="11">
                  <c:v>72.71</c:v>
                </c:pt>
                <c:pt idx="12">
                  <c:v>72.98</c:v>
                </c:pt>
                <c:pt idx="13">
                  <c:v>73.47</c:v>
                </c:pt>
                <c:pt idx="14">
                  <c:v>73.74</c:v>
                </c:pt>
                <c:pt idx="15">
                  <c:v>74.05</c:v>
                </c:pt>
                <c:pt idx="16">
                  <c:v>74.67</c:v>
                </c:pt>
                <c:pt idx="17">
                  <c:v>75.01</c:v>
                </c:pt>
                <c:pt idx="18">
                  <c:v>75.16</c:v>
                </c:pt>
                <c:pt idx="19">
                  <c:v>75.55</c:v>
                </c:pt>
                <c:pt idx="20">
                  <c:v>76.05</c:v>
                </c:pt>
                <c:pt idx="21">
                  <c:v>76.06</c:v>
                </c:pt>
                <c:pt idx="22">
                  <c:v>76.86</c:v>
                </c:pt>
                <c:pt idx="23">
                  <c:v>76.86</c:v>
                </c:pt>
                <c:pt idx="24">
                  <c:v>76.67</c:v>
                </c:pt>
                <c:pt idx="25">
                  <c:v>76.99</c:v>
                </c:pt>
                <c:pt idx="26">
                  <c:v>77.38</c:v>
                </c:pt>
                <c:pt idx="27">
                  <c:v>75.23</c:v>
                </c:pt>
                <c:pt idx="28">
                  <c:v>77.81</c:v>
                </c:pt>
                <c:pt idx="29">
                  <c:v>78.65</c:v>
                </c:pt>
                <c:pt idx="30">
                  <c:v>78.57</c:v>
                </c:pt>
                <c:pt idx="31">
                  <c:v>78.86</c:v>
                </c:pt>
                <c:pt idx="32">
                  <c:v>78.54</c:v>
                </c:pt>
                <c:pt idx="33">
                  <c:v>78.03</c:v>
                </c:pt>
                <c:pt idx="34">
                  <c:v>77.3</c:v>
                </c:pt>
                <c:pt idx="35">
                  <c:v>76.5</c:v>
                </c:pt>
                <c:pt idx="36">
                  <c:v>78.26</c:v>
                </c:pt>
                <c:pt idx="37">
                  <c:v>80.52</c:v>
                </c:pt>
                <c:pt idx="38">
                  <c:v>80.81</c:v>
                </c:pt>
                <c:pt idx="39">
                  <c:v>80.69</c:v>
                </c:pt>
                <c:pt idx="40">
                  <c:v>79.77</c:v>
                </c:pt>
                <c:pt idx="41">
                  <c:v>80.18</c:v>
                </c:pt>
                <c:pt idx="42">
                  <c:v>82.29</c:v>
                </c:pt>
                <c:pt idx="43">
                  <c:v>82.19</c:v>
                </c:pt>
                <c:pt idx="44">
                  <c:v>82.41</c:v>
                </c:pt>
                <c:pt idx="45">
                  <c:v>82.64</c:v>
                </c:pt>
                <c:pt idx="46">
                  <c:v>82.45</c:v>
                </c:pt>
                <c:pt idx="47">
                  <c:v>83.74</c:v>
                </c:pt>
                <c:pt idx="48">
                  <c:v>83.67</c:v>
                </c:pt>
                <c:pt idx="49">
                  <c:v>83.79</c:v>
                </c:pt>
                <c:pt idx="50">
                  <c:v>83.39</c:v>
                </c:pt>
                <c:pt idx="51">
                  <c:v>83.29</c:v>
                </c:pt>
                <c:pt idx="52">
                  <c:v>82.58</c:v>
                </c:pt>
                <c:pt idx="53">
                  <c:v>83.31</c:v>
                </c:pt>
                <c:pt idx="54">
                  <c:v>84.37</c:v>
                </c:pt>
                <c:pt idx="55">
                  <c:v>84.56</c:v>
                </c:pt>
                <c:pt idx="56">
                  <c:v>84.77</c:v>
                </c:pt>
                <c:pt idx="57">
                  <c:v>85.11</c:v>
                </c:pt>
                <c:pt idx="58">
                  <c:v>83.5</c:v>
                </c:pt>
                <c:pt idx="59">
                  <c:v>82.04</c:v>
                </c:pt>
                <c:pt idx="60">
                  <c:v>83.34</c:v>
                </c:pt>
                <c:pt idx="61">
                  <c:v>84.93</c:v>
                </c:pt>
                <c:pt idx="62">
                  <c:v>85.87</c:v>
                </c:pt>
                <c:pt idx="63">
                  <c:v>85.89</c:v>
                </c:pt>
                <c:pt idx="64">
                  <c:v>86.54</c:v>
                </c:pt>
                <c:pt idx="65">
                  <c:v>86.32</c:v>
                </c:pt>
                <c:pt idx="66">
                  <c:v>86.33</c:v>
                </c:pt>
                <c:pt idx="67">
                  <c:v>86.74</c:v>
                </c:pt>
                <c:pt idx="68">
                  <c:v>86.26</c:v>
                </c:pt>
                <c:pt idx="69">
                  <c:v>85.91</c:v>
                </c:pt>
                <c:pt idx="70">
                  <c:v>86.56</c:v>
                </c:pt>
                <c:pt idx="71">
                  <c:v>87.33</c:v>
                </c:pt>
                <c:pt idx="72">
                  <c:v>86.89</c:v>
                </c:pt>
                <c:pt idx="73">
                  <c:v>86.16</c:v>
                </c:pt>
                <c:pt idx="74">
                  <c:v>86.57</c:v>
                </c:pt>
                <c:pt idx="75">
                  <c:v>86.74</c:v>
                </c:pt>
                <c:pt idx="76">
                  <c:v>87.83</c:v>
                </c:pt>
                <c:pt idx="77">
                  <c:v>89.14</c:v>
                </c:pt>
                <c:pt idx="78">
                  <c:v>89.12</c:v>
                </c:pt>
                <c:pt idx="79">
                  <c:v>88.63</c:v>
                </c:pt>
                <c:pt idx="80">
                  <c:v>89.02</c:v>
                </c:pt>
                <c:pt idx="81">
                  <c:v>89.68</c:v>
                </c:pt>
                <c:pt idx="82">
                  <c:v>90.19</c:v>
                </c:pt>
                <c:pt idx="83">
                  <c:v>89.99</c:v>
                </c:pt>
                <c:pt idx="84">
                  <c:v>90.04</c:v>
                </c:pt>
                <c:pt idx="85">
                  <c:v>90.02</c:v>
                </c:pt>
                <c:pt idx="86">
                  <c:v>91.24</c:v>
                </c:pt>
                <c:pt idx="87">
                  <c:v>89.81</c:v>
                </c:pt>
                <c:pt idx="88">
                  <c:v>91.5</c:v>
                </c:pt>
                <c:pt idx="89">
                  <c:v>90.97</c:v>
                </c:pt>
                <c:pt idx="90">
                  <c:v>91.3</c:v>
                </c:pt>
                <c:pt idx="91">
                  <c:v>92.07</c:v>
                </c:pt>
                <c:pt idx="92">
                  <c:v>91.93</c:v>
                </c:pt>
                <c:pt idx="93">
                  <c:v>92.02</c:v>
                </c:pt>
                <c:pt idx="94">
                  <c:v>92.56</c:v>
                </c:pt>
                <c:pt idx="95">
                  <c:v>92.12</c:v>
                </c:pt>
                <c:pt idx="96">
                  <c:v>92.05</c:v>
                </c:pt>
                <c:pt idx="97">
                  <c:v>92.53</c:v>
                </c:pt>
                <c:pt idx="98">
                  <c:v>92.59</c:v>
                </c:pt>
                <c:pt idx="99">
                  <c:v>93.31</c:v>
                </c:pt>
                <c:pt idx="100">
                  <c:v>93.37</c:v>
                </c:pt>
                <c:pt idx="101">
                  <c:v>93.74</c:v>
                </c:pt>
                <c:pt idx="102">
                  <c:v>93.24</c:v>
                </c:pt>
                <c:pt idx="103">
                  <c:v>93.5</c:v>
                </c:pt>
                <c:pt idx="104">
                  <c:v>93.86</c:v>
                </c:pt>
                <c:pt idx="105">
                  <c:v>94.43</c:v>
                </c:pt>
                <c:pt idx="106">
                  <c:v>94.52</c:v>
                </c:pt>
                <c:pt idx="107">
                  <c:v>94.19</c:v>
                </c:pt>
                <c:pt idx="108">
                  <c:v>94.81</c:v>
                </c:pt>
                <c:pt idx="109">
                  <c:v>94.47</c:v>
                </c:pt>
                <c:pt idx="110">
                  <c:v>94.44</c:v>
                </c:pt>
                <c:pt idx="111">
                  <c:v>94.61</c:v>
                </c:pt>
                <c:pt idx="112">
                  <c:v>94.48</c:v>
                </c:pt>
                <c:pt idx="113">
                  <c:v>95.91</c:v>
                </c:pt>
                <c:pt idx="114">
                  <c:v>95.37</c:v>
                </c:pt>
                <c:pt idx="115">
                  <c:v>95.1</c:v>
                </c:pt>
                <c:pt idx="116">
                  <c:v>95.35</c:v>
                </c:pt>
                <c:pt idx="117">
                  <c:v>95.45</c:v>
                </c:pt>
                <c:pt idx="118">
                  <c:v>95.41</c:v>
                </c:pt>
                <c:pt idx="119">
                  <c:v>95.93</c:v>
                </c:pt>
                <c:pt idx="120">
                  <c:v>95.95</c:v>
                </c:pt>
                <c:pt idx="121">
                  <c:v>96.05</c:v>
                </c:pt>
                <c:pt idx="122">
                  <c:v>96.47</c:v>
                </c:pt>
                <c:pt idx="123">
                  <c:v>96.32</c:v>
                </c:pt>
                <c:pt idx="124">
                  <c:v>96.2</c:v>
                </c:pt>
                <c:pt idx="125">
                  <c:v>96.55</c:v>
                </c:pt>
                <c:pt idx="126">
                  <c:v>96.82</c:v>
                </c:pt>
                <c:pt idx="127">
                  <c:v>97.09</c:v>
                </c:pt>
                <c:pt idx="128">
                  <c:v>97.15</c:v>
                </c:pt>
                <c:pt idx="129">
                  <c:v>97.19</c:v>
                </c:pt>
                <c:pt idx="130">
                  <c:v>97.37</c:v>
                </c:pt>
                <c:pt idx="131">
                  <c:v>96.93</c:v>
                </c:pt>
                <c:pt idx="132">
                  <c:v>97.61</c:v>
                </c:pt>
                <c:pt idx="133">
                  <c:v>97.87</c:v>
                </c:pt>
                <c:pt idx="134">
                  <c:v>97.73</c:v>
                </c:pt>
                <c:pt idx="135">
                  <c:v>97.67</c:v>
                </c:pt>
                <c:pt idx="136">
                  <c:v>97.58</c:v>
                </c:pt>
                <c:pt idx="137">
                  <c:v>97.4</c:v>
                </c:pt>
                <c:pt idx="138">
                  <c:v>96.88</c:v>
                </c:pt>
                <c:pt idx="139">
                  <c:v>97.17</c:v>
                </c:pt>
                <c:pt idx="140">
                  <c:v>97.91</c:v>
                </c:pt>
                <c:pt idx="141">
                  <c:v>98.16</c:v>
                </c:pt>
                <c:pt idx="142">
                  <c:v>97.72</c:v>
                </c:pt>
                <c:pt idx="143">
                  <c:v>98.47</c:v>
                </c:pt>
                <c:pt idx="144">
                  <c:v>98.4</c:v>
                </c:pt>
                <c:pt idx="145">
                  <c:v>98.33</c:v>
                </c:pt>
                <c:pt idx="146">
                  <c:v>97.78</c:v>
                </c:pt>
                <c:pt idx="147">
                  <c:v>97.63</c:v>
                </c:pt>
                <c:pt idx="148">
                  <c:v>97.72</c:v>
                </c:pt>
                <c:pt idx="149">
                  <c:v>98.31</c:v>
                </c:pt>
                <c:pt idx="150">
                  <c:v>98.49</c:v>
                </c:pt>
                <c:pt idx="151">
                  <c:v>98.44</c:v>
                </c:pt>
                <c:pt idx="152">
                  <c:v>98.75</c:v>
                </c:pt>
                <c:pt idx="153">
                  <c:v>98.87</c:v>
                </c:pt>
                <c:pt idx="154">
                  <c:v>98.75</c:v>
                </c:pt>
                <c:pt idx="155">
                  <c:v>98.67</c:v>
                </c:pt>
                <c:pt idx="156">
                  <c:v>98.31</c:v>
                </c:pt>
                <c:pt idx="157">
                  <c:v>98.24</c:v>
                </c:pt>
                <c:pt idx="158">
                  <c:v>98.14</c:v>
                </c:pt>
                <c:pt idx="159">
                  <c:v>98.47</c:v>
                </c:pt>
                <c:pt idx="160">
                  <c:v>98.9</c:v>
                </c:pt>
                <c:pt idx="161">
                  <c:v>98.73</c:v>
                </c:pt>
                <c:pt idx="162">
                  <c:v>99.19</c:v>
                </c:pt>
                <c:pt idx="163">
                  <c:v>98.57</c:v>
                </c:pt>
                <c:pt idx="164">
                  <c:v>98.48</c:v>
                </c:pt>
                <c:pt idx="165">
                  <c:v>98.81</c:v>
                </c:pt>
                <c:pt idx="166">
                  <c:v>99.03</c:v>
                </c:pt>
                <c:pt idx="167">
                  <c:v>99.12</c:v>
                </c:pt>
                <c:pt idx="168">
                  <c:v>99.4</c:v>
                </c:pt>
                <c:pt idx="169">
                  <c:v>98.8</c:v>
                </c:pt>
                <c:pt idx="170">
                  <c:v>98.34</c:v>
                </c:pt>
                <c:pt idx="171">
                  <c:v>98.8</c:v>
                </c:pt>
                <c:pt idx="172">
                  <c:v>99.01</c:v>
                </c:pt>
                <c:pt idx="173">
                  <c:v>99.18</c:v>
                </c:pt>
                <c:pt idx="174">
                  <c:v>99.31</c:v>
                </c:pt>
                <c:pt idx="175">
                  <c:v>99.01</c:v>
                </c:pt>
                <c:pt idx="176">
                  <c:v>99.03</c:v>
                </c:pt>
                <c:pt idx="177">
                  <c:v>98.46</c:v>
                </c:pt>
                <c:pt idx="178">
                  <c:v>98.86</c:v>
                </c:pt>
                <c:pt idx="179">
                  <c:v>99.14</c:v>
                </c:pt>
                <c:pt idx="180">
                  <c:v>99.11</c:v>
                </c:pt>
                <c:pt idx="181">
                  <c:v>99.2</c:v>
                </c:pt>
                <c:pt idx="182">
                  <c:v>99.3</c:v>
                </c:pt>
                <c:pt idx="183">
                  <c:v>99.39</c:v>
                </c:pt>
                <c:pt idx="184">
                  <c:v>99.18</c:v>
                </c:pt>
                <c:pt idx="185">
                  <c:v>98.88</c:v>
                </c:pt>
                <c:pt idx="186">
                  <c:v>98.67</c:v>
                </c:pt>
                <c:pt idx="187">
                  <c:v>98.76</c:v>
                </c:pt>
                <c:pt idx="188">
                  <c:v>99.39</c:v>
                </c:pt>
                <c:pt idx="189">
                  <c:v>99.12</c:v>
                </c:pt>
                <c:pt idx="190">
                  <c:v>99.49</c:v>
                </c:pt>
                <c:pt idx="191">
                  <c:v>99.07</c:v>
                </c:pt>
                <c:pt idx="192">
                  <c:v>98.95</c:v>
                </c:pt>
                <c:pt idx="193">
                  <c:v>99.07</c:v>
                </c:pt>
                <c:pt idx="194">
                  <c:v>99.34</c:v>
                </c:pt>
                <c:pt idx="195">
                  <c:v>99.36</c:v>
                </c:pt>
                <c:pt idx="196">
                  <c:v>99.22</c:v>
                </c:pt>
                <c:pt idx="197">
                  <c:v>98.62</c:v>
                </c:pt>
                <c:pt idx="198">
                  <c:v>99.05</c:v>
                </c:pt>
                <c:pt idx="199">
                  <c:v>99.21</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Sheet1!$A$2:$A$201</c:f>
              <c:multiLvlStrCache>
                <c:ptCount val="2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lvl>
              </c:multiLvlStrCache>
            </c:multiLvlStrRef>
          </c:cat>
          <c:val>
            <c:numRef>
              <c:f>Sheet1!$C$2:$C$201</c:f>
              <c:numCache>
                <c:formatCode>General</c:formatCode>
                <c:ptCount val="200"/>
                <c:pt idx="0">
                  <c:v>67.57</c:v>
                </c:pt>
                <c:pt idx="1">
                  <c:v>67.69</c:v>
                </c:pt>
                <c:pt idx="2">
                  <c:v>67.69</c:v>
                </c:pt>
                <c:pt idx="3">
                  <c:v>67.83</c:v>
                </c:pt>
                <c:pt idx="4">
                  <c:v>67.37</c:v>
                </c:pt>
                <c:pt idx="5">
                  <c:v>67.38</c:v>
                </c:pt>
                <c:pt idx="6">
                  <c:v>67.09</c:v>
                </c:pt>
                <c:pt idx="7">
                  <c:v>66.81</c:v>
                </c:pt>
                <c:pt idx="8">
                  <c:v>66.48</c:v>
                </c:pt>
                <c:pt idx="9">
                  <c:v>66.19</c:v>
                </c:pt>
                <c:pt idx="10">
                  <c:v>65.38</c:v>
                </c:pt>
                <c:pt idx="11">
                  <c:v>65.23</c:v>
                </c:pt>
                <c:pt idx="12">
                  <c:v>64.03</c:v>
                </c:pt>
                <c:pt idx="13">
                  <c:v>63.82</c:v>
                </c:pt>
                <c:pt idx="14">
                  <c:v>63.21</c:v>
                </c:pt>
                <c:pt idx="15">
                  <c:v>62.96</c:v>
                </c:pt>
                <c:pt idx="16">
                  <c:v>62.88</c:v>
                </c:pt>
                <c:pt idx="17">
                  <c:v>61.97</c:v>
                </c:pt>
                <c:pt idx="18">
                  <c:v>61.86</c:v>
                </c:pt>
                <c:pt idx="19">
                  <c:v>61.78</c:v>
                </c:pt>
                <c:pt idx="20">
                  <c:v>61.42</c:v>
                </c:pt>
                <c:pt idx="21">
                  <c:v>60.68</c:v>
                </c:pt>
                <c:pt idx="22">
                  <c:v>60.88</c:v>
                </c:pt>
                <c:pt idx="23">
                  <c:v>60.27</c:v>
                </c:pt>
                <c:pt idx="24">
                  <c:v>60.27</c:v>
                </c:pt>
                <c:pt idx="25">
                  <c:v>61.19</c:v>
                </c:pt>
                <c:pt idx="26">
                  <c:v>61.11</c:v>
                </c:pt>
                <c:pt idx="27">
                  <c:v>60.8</c:v>
                </c:pt>
                <c:pt idx="28">
                  <c:v>61.06</c:v>
                </c:pt>
                <c:pt idx="29">
                  <c:v>60.44</c:v>
                </c:pt>
                <c:pt idx="30">
                  <c:v>59.8</c:v>
                </c:pt>
                <c:pt idx="31">
                  <c:v>60.24</c:v>
                </c:pt>
                <c:pt idx="32">
                  <c:v>59.66</c:v>
                </c:pt>
                <c:pt idx="33">
                  <c:v>59.33</c:v>
                </c:pt>
                <c:pt idx="34">
                  <c:v>58.6</c:v>
                </c:pt>
                <c:pt idx="35">
                  <c:v>58.31</c:v>
                </c:pt>
                <c:pt idx="36">
                  <c:v>59.03</c:v>
                </c:pt>
                <c:pt idx="37">
                  <c:v>59.62</c:v>
                </c:pt>
                <c:pt idx="38">
                  <c:v>60.55</c:v>
                </c:pt>
                <c:pt idx="39">
                  <c:v>60.39</c:v>
                </c:pt>
                <c:pt idx="40">
                  <c:v>60.13</c:v>
                </c:pt>
                <c:pt idx="41">
                  <c:v>58.71</c:v>
                </c:pt>
                <c:pt idx="42">
                  <c:v>59.29</c:v>
                </c:pt>
                <c:pt idx="43">
                  <c:v>59.54</c:v>
                </c:pt>
                <c:pt idx="44">
                  <c:v>59.3</c:v>
                </c:pt>
                <c:pt idx="45">
                  <c:v>60.4</c:v>
                </c:pt>
                <c:pt idx="46">
                  <c:v>60.17</c:v>
                </c:pt>
                <c:pt idx="47">
                  <c:v>60.05</c:v>
                </c:pt>
                <c:pt idx="48">
                  <c:v>60.44</c:v>
                </c:pt>
                <c:pt idx="49">
                  <c:v>60.09</c:v>
                </c:pt>
                <c:pt idx="50">
                  <c:v>60.31</c:v>
                </c:pt>
                <c:pt idx="51">
                  <c:v>60.31</c:v>
                </c:pt>
                <c:pt idx="52">
                  <c:v>59.42</c:v>
                </c:pt>
                <c:pt idx="53">
                  <c:v>59.85</c:v>
                </c:pt>
                <c:pt idx="54">
                  <c:v>60.53</c:v>
                </c:pt>
                <c:pt idx="55">
                  <c:v>60.51</c:v>
                </c:pt>
                <c:pt idx="56">
                  <c:v>60.21</c:v>
                </c:pt>
                <c:pt idx="57">
                  <c:v>59.22</c:v>
                </c:pt>
                <c:pt idx="58">
                  <c:v>58.59</c:v>
                </c:pt>
                <c:pt idx="59">
                  <c:v>59.02</c:v>
                </c:pt>
                <c:pt idx="60">
                  <c:v>59.07</c:v>
                </c:pt>
                <c:pt idx="61">
                  <c:v>59.45</c:v>
                </c:pt>
                <c:pt idx="62">
                  <c:v>59.98</c:v>
                </c:pt>
                <c:pt idx="63">
                  <c:v>59.31</c:v>
                </c:pt>
                <c:pt idx="64">
                  <c:v>60.01</c:v>
                </c:pt>
                <c:pt idx="65">
                  <c:v>60.16</c:v>
                </c:pt>
                <c:pt idx="66">
                  <c:v>59.1</c:v>
                </c:pt>
                <c:pt idx="67">
                  <c:v>60.16</c:v>
                </c:pt>
                <c:pt idx="68">
                  <c:v>59.33</c:v>
                </c:pt>
                <c:pt idx="69">
                  <c:v>59.98</c:v>
                </c:pt>
                <c:pt idx="70">
                  <c:v>60.87</c:v>
                </c:pt>
                <c:pt idx="71">
                  <c:v>59.8</c:v>
                </c:pt>
                <c:pt idx="72">
                  <c:v>60.12</c:v>
                </c:pt>
                <c:pt idx="73">
                  <c:v>59.89</c:v>
                </c:pt>
                <c:pt idx="74">
                  <c:v>60</c:v>
                </c:pt>
                <c:pt idx="75">
                  <c:v>59.27</c:v>
                </c:pt>
                <c:pt idx="76">
                  <c:v>59.21</c:v>
                </c:pt>
                <c:pt idx="77">
                  <c:v>60.27</c:v>
                </c:pt>
                <c:pt idx="78">
                  <c:v>59.92</c:v>
                </c:pt>
                <c:pt idx="79">
                  <c:v>60.01</c:v>
                </c:pt>
                <c:pt idx="80">
                  <c:v>59.93</c:v>
                </c:pt>
                <c:pt idx="81">
                  <c:v>59.92</c:v>
                </c:pt>
                <c:pt idx="82">
                  <c:v>60.23</c:v>
                </c:pt>
                <c:pt idx="83">
                  <c:v>60.68</c:v>
                </c:pt>
                <c:pt idx="84">
                  <c:v>60.64</c:v>
                </c:pt>
                <c:pt idx="85">
                  <c:v>60.72</c:v>
                </c:pt>
                <c:pt idx="86">
                  <c:v>60.9</c:v>
                </c:pt>
                <c:pt idx="87">
                  <c:v>60.19</c:v>
                </c:pt>
                <c:pt idx="88">
                  <c:v>60.62</c:v>
                </c:pt>
                <c:pt idx="89">
                  <c:v>60.17</c:v>
                </c:pt>
                <c:pt idx="90">
                  <c:v>60.67</c:v>
                </c:pt>
                <c:pt idx="91">
                  <c:v>60.43</c:v>
                </c:pt>
                <c:pt idx="92">
                  <c:v>60.83</c:v>
                </c:pt>
                <c:pt idx="93">
                  <c:v>61.25</c:v>
                </c:pt>
                <c:pt idx="94">
                  <c:v>61.14</c:v>
                </c:pt>
                <c:pt idx="95">
                  <c:v>60.35</c:v>
                </c:pt>
                <c:pt idx="96">
                  <c:v>59.96</c:v>
                </c:pt>
                <c:pt idx="97">
                  <c:v>60.87</c:v>
                </c:pt>
                <c:pt idx="98">
                  <c:v>60.62</c:v>
                </c:pt>
                <c:pt idx="99">
                  <c:v>61.35</c:v>
                </c:pt>
                <c:pt idx="100">
                  <c:v>61.43</c:v>
                </c:pt>
                <c:pt idx="101">
                  <c:v>61.38</c:v>
                </c:pt>
                <c:pt idx="102">
                  <c:v>60.76</c:v>
                </c:pt>
                <c:pt idx="103">
                  <c:v>60.88</c:v>
                </c:pt>
                <c:pt idx="104">
                  <c:v>61.5</c:v>
                </c:pt>
                <c:pt idx="105">
                  <c:v>60.53</c:v>
                </c:pt>
                <c:pt idx="106">
                  <c:v>60.51</c:v>
                </c:pt>
                <c:pt idx="107">
                  <c:v>60.43</c:v>
                </c:pt>
                <c:pt idx="108">
                  <c:v>61.27</c:v>
                </c:pt>
                <c:pt idx="109">
                  <c:v>61.6</c:v>
                </c:pt>
                <c:pt idx="110">
                  <c:v>61.11</c:v>
                </c:pt>
                <c:pt idx="111">
                  <c:v>61.09</c:v>
                </c:pt>
                <c:pt idx="112">
                  <c:v>60.78</c:v>
                </c:pt>
                <c:pt idx="113">
                  <c:v>61.04</c:v>
                </c:pt>
                <c:pt idx="114">
                  <c:v>61.43</c:v>
                </c:pt>
                <c:pt idx="115">
                  <c:v>61.18</c:v>
                </c:pt>
                <c:pt idx="116">
                  <c:v>61.13</c:v>
                </c:pt>
                <c:pt idx="117">
                  <c:v>61.39</c:v>
                </c:pt>
                <c:pt idx="118">
                  <c:v>60.83</c:v>
                </c:pt>
                <c:pt idx="119">
                  <c:v>61.85</c:v>
                </c:pt>
                <c:pt idx="120">
                  <c:v>61.25</c:v>
                </c:pt>
                <c:pt idx="121">
                  <c:v>61.65</c:v>
                </c:pt>
                <c:pt idx="122">
                  <c:v>60.57</c:v>
                </c:pt>
                <c:pt idx="123">
                  <c:v>61.27</c:v>
                </c:pt>
                <c:pt idx="124">
                  <c:v>61.41</c:v>
                </c:pt>
                <c:pt idx="125">
                  <c:v>61.64</c:v>
                </c:pt>
                <c:pt idx="126">
                  <c:v>61.15</c:v>
                </c:pt>
                <c:pt idx="127">
                  <c:v>61.19</c:v>
                </c:pt>
                <c:pt idx="128">
                  <c:v>60.66</c:v>
                </c:pt>
                <c:pt idx="129">
                  <c:v>61.07</c:v>
                </c:pt>
                <c:pt idx="130">
                  <c:v>60.63</c:v>
                </c:pt>
                <c:pt idx="131">
                  <c:v>61.23</c:v>
                </c:pt>
                <c:pt idx="132">
                  <c:v>61.45</c:v>
                </c:pt>
                <c:pt idx="133">
                  <c:v>61.26</c:v>
                </c:pt>
                <c:pt idx="134">
                  <c:v>61.03</c:v>
                </c:pt>
                <c:pt idx="135">
                  <c:v>61.39</c:v>
                </c:pt>
                <c:pt idx="136">
                  <c:v>61.82</c:v>
                </c:pt>
                <c:pt idx="137">
                  <c:v>60.56</c:v>
                </c:pt>
                <c:pt idx="138">
                  <c:v>61</c:v>
                </c:pt>
                <c:pt idx="139">
                  <c:v>60.95</c:v>
                </c:pt>
                <c:pt idx="140">
                  <c:v>60.27</c:v>
                </c:pt>
                <c:pt idx="141">
                  <c:v>60.79</c:v>
                </c:pt>
                <c:pt idx="142">
                  <c:v>61.3</c:v>
                </c:pt>
                <c:pt idx="143">
                  <c:v>60.72</c:v>
                </c:pt>
                <c:pt idx="144">
                  <c:v>61.66</c:v>
                </c:pt>
                <c:pt idx="145">
                  <c:v>61.22</c:v>
                </c:pt>
                <c:pt idx="146">
                  <c:v>60.41</c:v>
                </c:pt>
                <c:pt idx="147">
                  <c:v>60.95</c:v>
                </c:pt>
                <c:pt idx="148">
                  <c:v>60.45</c:v>
                </c:pt>
                <c:pt idx="149">
                  <c:v>60.6</c:v>
                </c:pt>
                <c:pt idx="150">
                  <c:v>61.07</c:v>
                </c:pt>
                <c:pt idx="151">
                  <c:v>60.59</c:v>
                </c:pt>
                <c:pt idx="152">
                  <c:v>60.74</c:v>
                </c:pt>
                <c:pt idx="153">
                  <c:v>61.46</c:v>
                </c:pt>
                <c:pt idx="154">
                  <c:v>60.57</c:v>
                </c:pt>
                <c:pt idx="155">
                  <c:v>60.78</c:v>
                </c:pt>
                <c:pt idx="156">
                  <c:v>61.3</c:v>
                </c:pt>
                <c:pt idx="157">
                  <c:v>60.86</c:v>
                </c:pt>
                <c:pt idx="158">
                  <c:v>60.51</c:v>
                </c:pt>
                <c:pt idx="159">
                  <c:v>60.83</c:v>
                </c:pt>
                <c:pt idx="160">
                  <c:v>60.64</c:v>
                </c:pt>
                <c:pt idx="161">
                  <c:v>61.1</c:v>
                </c:pt>
                <c:pt idx="162">
                  <c:v>61.23</c:v>
                </c:pt>
                <c:pt idx="163">
                  <c:v>59.78</c:v>
                </c:pt>
                <c:pt idx="164">
                  <c:v>60.79</c:v>
                </c:pt>
                <c:pt idx="165">
                  <c:v>60.98</c:v>
                </c:pt>
                <c:pt idx="166">
                  <c:v>60.68</c:v>
                </c:pt>
                <c:pt idx="167">
                  <c:v>60.72</c:v>
                </c:pt>
                <c:pt idx="168">
                  <c:v>60.57</c:v>
                </c:pt>
                <c:pt idx="169">
                  <c:v>60.59</c:v>
                </c:pt>
                <c:pt idx="170">
                  <c:v>61.21</c:v>
                </c:pt>
                <c:pt idx="171">
                  <c:v>61.18</c:v>
                </c:pt>
                <c:pt idx="172">
                  <c:v>61.1</c:v>
                </c:pt>
                <c:pt idx="173">
                  <c:v>62.13</c:v>
                </c:pt>
                <c:pt idx="174">
                  <c:v>61.39</c:v>
                </c:pt>
                <c:pt idx="175">
                  <c:v>60.83</c:v>
                </c:pt>
                <c:pt idx="176">
                  <c:v>61.11</c:v>
                </c:pt>
                <c:pt idx="177">
                  <c:v>60.6</c:v>
                </c:pt>
                <c:pt idx="178">
                  <c:v>60.01</c:v>
                </c:pt>
                <c:pt idx="179">
                  <c:v>61.14</c:v>
                </c:pt>
                <c:pt idx="180">
                  <c:v>60.83</c:v>
                </c:pt>
                <c:pt idx="181">
                  <c:v>61.39</c:v>
                </c:pt>
                <c:pt idx="182">
                  <c:v>61.74</c:v>
                </c:pt>
                <c:pt idx="183">
                  <c:v>61.31</c:v>
                </c:pt>
                <c:pt idx="184">
                  <c:v>61.29</c:v>
                </c:pt>
                <c:pt idx="185">
                  <c:v>61.06</c:v>
                </c:pt>
                <c:pt idx="186">
                  <c:v>61.27</c:v>
                </c:pt>
                <c:pt idx="187">
                  <c:v>60.67</c:v>
                </c:pt>
                <c:pt idx="188">
                  <c:v>61.51</c:v>
                </c:pt>
                <c:pt idx="189">
                  <c:v>61.09</c:v>
                </c:pt>
                <c:pt idx="190">
                  <c:v>60.66</c:v>
                </c:pt>
                <c:pt idx="191">
                  <c:v>61.31</c:v>
                </c:pt>
                <c:pt idx="192">
                  <c:v>60.28</c:v>
                </c:pt>
                <c:pt idx="193">
                  <c:v>60.88</c:v>
                </c:pt>
                <c:pt idx="194">
                  <c:v>60.78</c:v>
                </c:pt>
                <c:pt idx="195">
                  <c:v>61.82</c:v>
                </c:pt>
                <c:pt idx="196">
                  <c:v>61.04</c:v>
                </c:pt>
                <c:pt idx="197">
                  <c:v>60.71</c:v>
                </c:pt>
                <c:pt idx="198">
                  <c:v>60.51</c:v>
                </c:pt>
                <c:pt idx="199">
                  <c:v>60.62</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tickLblSkip val="25"/>
      </c:catAx>
      <c:valAx>
        <c:axId val="2094734552"/>
        <c:scaling>
          <c:orientation val="minMax"/>
          <c:max val="100"/>
          <c:min val="50"/>
        </c:scaling>
        <c:delete val="0"/>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al final del entrenamiento (0,5 = adivinar)</a:t>
            </a:r>
          </a:p>
        </c:rich>
      </c:tx>
      <c:layout/>
      <c:overlay val="0"/>
    </c:title>
    <c:autoTitleDeleted val="0"/>
    <c:plotArea>
      <c:layout/>
      <c:barChart>
        <c:barDir val="col"/>
        <c:grouping val="clustered"/>
        <c:varyColors val="0"/>
        <c:ser>
          <c:idx val="0"/>
          <c:order val="0"/>
          <c:tx>
            <c:strRef>
              <c:f>Sheet1!$B$1</c:f>
              <c:strCache>
                <c:ptCount val="1"/>
                <c:pt idx="0">
                  <c:v>Entrenamiento</c:v>
                </c:pt>
              </c:strCache>
            </c:strRef>
          </c:tx>
          <c:spPr>
            <a:solidFill>
              <a:srgbClr val="3B82F6"/>
            </a:solidFill>
            <a:effectLst/>
          </c:spPr>
          <c:invertIfNegative val="0"/>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Nuestra red
(respuestas al azar)</c:v>
                  </c:pt>
                  <c:pt idx="1">
                    <c:v>Red gigante
(respuestas al azar)</c:v>
                  </c:pt>
                  <c:pt idx="2">
                    <c:v>Nuestra red
(respuestas reales)</c:v>
                  </c:pt>
                </c:lvl>
              </c:multiLvlStrCache>
            </c:multiLvlStrRef>
          </c:cat>
          <c:val>
            <c:numRef>
              <c:f>Sheet1!$B$2:$B$4</c:f>
              <c:numCache>
                <c:formatCode>General</c:formatCode>
                <c:ptCount val="3"/>
                <c:pt idx="0">
                  <c:v>0.519</c:v>
                </c:pt>
                <c:pt idx="1">
                  <c:v>0.998</c:v>
                </c:pt>
                <c:pt idx="2">
                  <c:v>0.763</c:v>
                </c:pt>
              </c:numCache>
            </c:numRef>
          </c:val>
        </c:ser>
        <c:ser>
          <c:idx val="1"/>
          <c:order val="1"/>
          <c:tx>
            <c:strRef>
              <c:f>Sheet1!$C$1</c:f>
              <c:strCache>
                <c:ptCount val="1"/>
                <c:pt idx="0">
                  <c:v>Validación</c:v>
                </c:pt>
              </c:strCache>
            </c:strRef>
          </c:tx>
          <c:spPr>
            <a:solidFill>
              <a:srgbClr val="F59E0B"/>
            </a:solidFill>
            <a:effectLst/>
          </c:spPr>
          <c:invertIfNegative val="0"/>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Nuestra red
(respuestas al azar)</c:v>
                  </c:pt>
                  <c:pt idx="1">
                    <c:v>Red gigante
(respuestas al azar)</c:v>
                  </c:pt>
                  <c:pt idx="2">
                    <c:v>Nuestra red
(respuestas reales)</c:v>
                  </c:pt>
                </c:lvl>
              </c:multiLvlStrCache>
            </c:multiLvlStrRef>
          </c:cat>
          <c:val>
            <c:numRef>
              <c:f>Sheet1!$C$2:$C$4</c:f>
              <c:numCache>
                <c:formatCode>General</c:formatCode>
                <c:ptCount val="3"/>
                <c:pt idx="0">
                  <c:v>0.54</c:v>
                </c:pt>
                <c:pt idx="1">
                  <c:v>0.499</c:v>
                </c:pt>
                <c:pt idx="2">
                  <c:v>0.752</c:v>
                </c:pt>
              </c:numCache>
            </c:numRef>
          </c:val>
        </c:ser>
        <c:dLbls>
          <c:numFmt formatCode="0.00"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AUC según cantidad de clientes</a:t>
            </a:r>
          </a:p>
        </c:rich>
      </c:tx>
      <c:layout/>
      <c:overlay val="0"/>
    </c:title>
    <c:autoTitleDeleted val="0"/>
    <c:plotArea>
      <c:layout/>
      <c:lineChart>
        <c:varyColors val="0"/>
        <c:ser>
          <c:idx val="0"/>
          <c:order val="0"/>
          <c:tx>
            <c:strRef>
              <c:f>Sheet1!$B$1</c:f>
              <c:strCache>
                <c:ptCount val="1"/>
                <c:pt idx="0">
                  <c:v>Entrenamiento</c:v>
                </c:pt>
              </c:strCache>
            </c:strRef>
          </c:tx>
          <c:spPr>
            <a:solidFill>
              <a:srgbClr val="3B82F6"/>
            </a:solidFill>
            <a:ln w="25400" cap="flat">
              <a:solidFill>
                <a:srgbClr val="3B82F6"/>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7"/>
            <c:spPr>
              <a:solidFill>
                <a:srgbClr val="3B82F6"/>
              </a:solidFill>
              <a:ln w="9525" cap="flat">
                <a:solidFill>
                  <a:srgbClr val="3B82F6"/>
                </a:solidFill>
                <a:prstDash val="solid"/>
                <a:round/>
              </a:ln>
              <a:effectLst/>
            </c:spPr>
          </c:marker>
          <c:cat>
            <c:multiLvlStrRef>
              <c:f>Sheet1!$A$2:$A$9</c:f>
              <c:multiLvlStrCache>
                <c:ptCount val="8"/>
                <c:lvl>
                  <c:pt idx="0">
                    <c:v>695</c:v>
                  </c:pt>
                  <c:pt idx="1">
                    <c:v>1.737</c:v>
                  </c:pt>
                  <c:pt idx="2">
                    <c:v>3.475</c:v>
                  </c:pt>
                  <c:pt idx="3">
                    <c:v>6.951</c:v>
                  </c:pt>
                  <c:pt idx="4">
                    <c:v>12.164</c:v>
                  </c:pt>
                  <c:pt idx="5">
                    <c:v>17.377</c:v>
                  </c:pt>
                  <c:pt idx="6">
                    <c:v>26.066</c:v>
                  </c:pt>
                  <c:pt idx="7">
                    <c:v>34.755</c:v>
                  </c:pt>
                </c:lvl>
              </c:multiLvlStrCache>
            </c:multiLvlStrRef>
          </c:cat>
          <c:val>
            <c:numRef>
              <c:f>Sheet1!$B$2:$B$9</c:f>
              <c:numCache>
                <c:formatCode>General</c:formatCode>
                <c:ptCount val="8"/>
                <c:pt idx="0">
                  <c:v>0.8843</c:v>
                </c:pt>
                <c:pt idx="1">
                  <c:v>0.8196</c:v>
                </c:pt>
                <c:pt idx="2">
                  <c:v>0.809</c:v>
                </c:pt>
                <c:pt idx="3">
                  <c:v>0.7848</c:v>
                </c:pt>
                <c:pt idx="4">
                  <c:v>0.7735</c:v>
                </c:pt>
                <c:pt idx="5">
                  <c:v>0.7703</c:v>
                </c:pt>
                <c:pt idx="6">
                  <c:v>0.7658</c:v>
                </c:pt>
                <c:pt idx="7">
                  <c:v>0.7638</c:v>
                </c:pt>
              </c:numCache>
            </c:numRef>
          </c:val>
          <c:smooth val="0"/>
        </c:ser>
        <c:ser>
          <c:idx val="1"/>
          <c:order val="1"/>
          <c:tx>
            <c:strRef>
              <c:f>Sheet1!$C$1</c:f>
              <c:strCache>
                <c:ptCount val="1"/>
                <c:pt idx="0">
                  <c:v>Validación</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7"/>
            <c:spPr>
              <a:solidFill>
                <a:srgbClr val="F59E0B"/>
              </a:solidFill>
              <a:ln w="9525" cap="flat">
                <a:solidFill>
                  <a:srgbClr val="F59E0B"/>
                </a:solidFill>
                <a:prstDash val="solid"/>
                <a:round/>
              </a:ln>
              <a:effectLst/>
            </c:spPr>
          </c:marker>
          <c:cat>
            <c:multiLvlStrRef>
              <c:f>Sheet1!$A$2:$A$9</c:f>
              <c:multiLvlStrCache>
                <c:ptCount val="8"/>
                <c:lvl>
                  <c:pt idx="0">
                    <c:v>695</c:v>
                  </c:pt>
                  <c:pt idx="1">
                    <c:v>1.737</c:v>
                  </c:pt>
                  <c:pt idx="2">
                    <c:v>3.475</c:v>
                  </c:pt>
                  <c:pt idx="3">
                    <c:v>6.951</c:v>
                  </c:pt>
                  <c:pt idx="4">
                    <c:v>12.164</c:v>
                  </c:pt>
                  <c:pt idx="5">
                    <c:v>17.377</c:v>
                  </c:pt>
                  <c:pt idx="6">
                    <c:v>26.066</c:v>
                  </c:pt>
                  <c:pt idx="7">
                    <c:v>34.755</c:v>
                  </c:pt>
                </c:lvl>
              </c:multiLvlStrCache>
            </c:multiLvlStrRef>
          </c:cat>
          <c:val>
            <c:numRef>
              <c:f>Sheet1!$C$2:$C$9</c:f>
              <c:numCache>
                <c:formatCode>General</c:formatCode>
                <c:ptCount val="8"/>
                <c:pt idx="0">
                  <c:v>0.707</c:v>
                </c:pt>
                <c:pt idx="1">
                  <c:v>0.7228</c:v>
                </c:pt>
                <c:pt idx="2">
                  <c:v>0.7334</c:v>
                </c:pt>
                <c:pt idx="3">
                  <c:v>0.7399</c:v>
                </c:pt>
                <c:pt idx="4">
                  <c:v>0.7451</c:v>
                </c:pt>
                <c:pt idx="5">
                  <c:v>0.748</c:v>
                </c:pt>
                <c:pt idx="6">
                  <c:v>0.7512</c:v>
                </c:pt>
                <c:pt idx="7">
                  <c:v>0.7522</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85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9"/>
          <c:min val="0.7"/>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Castigo según la probabilidad dada a la respuesta correcta</a:t>
            </a:r>
          </a:p>
        </c:rich>
      </c:tx>
      <c:layout/>
      <c:overlay val="0"/>
    </c:title>
    <c:autoTitleDeleted val="0"/>
    <c:plotArea>
      <c:layout/>
      <c:lineChart>
        <c:varyColors val="0"/>
        <c:ser>
          <c:idx val="0"/>
          <c:order val="0"/>
          <c:tx>
            <c:strRef>
              <c:f>Sheet1!$B$1</c:f>
              <c:strCache>
                <c:ptCount val="1"/>
                <c:pt idx="0">
                  <c:v>Castigo</c:v>
                </c:pt>
              </c:strCache>
            </c:strRef>
          </c:tx>
          <c:spPr>
            <a:solidFill>
              <a:srgbClr val="F87171"/>
            </a:solidFill>
            <a:ln w="38100" cap="flat">
              <a:solidFill>
                <a:srgbClr val="F87171"/>
              </a:solidFill>
              <a:prstDash val="solid"/>
              <a:round/>
            </a:ln>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c:symbol val="circle"/>
            <c:size val="6"/>
            <c:spPr>
              <a:solidFill>
                <a:srgbClr val="F87171"/>
              </a:solidFill>
              <a:ln w="9525" cap="flat">
                <a:solidFill>
                  <a:srgbClr val="F87171"/>
                </a:solidFill>
                <a:prstDash val="solid"/>
                <a:round/>
              </a:ln>
              <a:effectLst/>
            </c:spPr>
          </c:marker>
          <c:cat>
            <c:multiLvlStrRef>
              <c:f>Sheet1!$A$2:$A$15</c:f>
              <c:multiLvlStrCache>
                <c:ptCount val="14"/>
                <c:lvl>
                  <c:pt idx="0">
                    <c:v>2 %</c:v>
                  </c:pt>
                  <c:pt idx="1">
                    <c:v>5 %</c:v>
                  </c:pt>
                  <c:pt idx="2">
                    <c:v>10 %</c:v>
                  </c:pt>
                  <c:pt idx="3">
                    <c:v>15 %</c:v>
                  </c:pt>
                  <c:pt idx="4">
                    <c:v>20 %</c:v>
                  </c:pt>
                  <c:pt idx="5">
                    <c:v>30 %</c:v>
                  </c:pt>
                  <c:pt idx="6">
                    <c:v>40 %</c:v>
                  </c:pt>
                  <c:pt idx="7">
                    <c:v>50 %</c:v>
                  </c:pt>
                  <c:pt idx="8">
                    <c:v>60 %</c:v>
                  </c:pt>
                  <c:pt idx="9">
                    <c:v>70 %</c:v>
                  </c:pt>
                  <c:pt idx="10">
                    <c:v>80 %</c:v>
                  </c:pt>
                  <c:pt idx="11">
                    <c:v>90 %</c:v>
                  </c:pt>
                  <c:pt idx="12">
                    <c:v>95 %</c:v>
                  </c:pt>
                  <c:pt idx="13">
                    <c:v>100 %</c:v>
                  </c:pt>
                </c:lvl>
              </c:multiLvlStrCache>
            </c:multiLvlStrRef>
          </c:cat>
          <c:val>
            <c:numRef>
              <c:f>Sheet1!$B$2:$B$15</c:f>
              <c:numCache>
                <c:formatCode>General</c:formatCode>
                <c:ptCount val="14"/>
                <c:pt idx="0">
                  <c:v>3.912</c:v>
                </c:pt>
                <c:pt idx="1">
                  <c:v>2.9957</c:v>
                </c:pt>
                <c:pt idx="2">
                  <c:v>2.3026</c:v>
                </c:pt>
                <c:pt idx="3">
                  <c:v>1.8971</c:v>
                </c:pt>
                <c:pt idx="4">
                  <c:v>1.6094</c:v>
                </c:pt>
                <c:pt idx="5">
                  <c:v>1.204</c:v>
                </c:pt>
                <c:pt idx="6">
                  <c:v>0.9163</c:v>
                </c:pt>
                <c:pt idx="7">
                  <c:v>0.6931</c:v>
                </c:pt>
                <c:pt idx="8">
                  <c:v>0.5108</c:v>
                </c:pt>
                <c:pt idx="9">
                  <c:v>0.3567</c:v>
                </c:pt>
                <c:pt idx="10">
                  <c:v>0.2231</c:v>
                </c:pt>
                <c:pt idx="11">
                  <c:v>0.1054</c:v>
                </c:pt>
                <c:pt idx="12">
                  <c:v>0.0513</c:v>
                </c:pt>
                <c:pt idx="13">
                  <c:v>0</c:v>
                </c:pt>
              </c:numCache>
            </c:numRef>
          </c:val>
          <c:smooth val="0"/>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1E293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Validación frente a prueba</a:t>
            </a:r>
          </a:p>
        </c:rich>
      </c:tx>
      <c:layout/>
      <c:overlay val="0"/>
    </c:title>
    <c:autoTitleDeleted val="0"/>
    <c:plotArea>
      <c:layout/>
      <c:barChart>
        <c:barDir val="col"/>
        <c:grouping val="clustered"/>
        <c:varyColors val="0"/>
        <c:ser>
          <c:idx val="0"/>
          <c:order val="0"/>
          <c:tx>
            <c:strRef>
              <c:f>Sheet1!$B$1</c:f>
              <c:strCache>
                <c:ptCount val="1"/>
                <c:pt idx="0">
                  <c:v>Validación</c:v>
                </c:pt>
              </c:strCache>
            </c:strRef>
          </c:tx>
          <c:spPr>
            <a:solidFill>
              <a:srgbClr val="F59E0B"/>
            </a:solidFill>
            <a:effectLst/>
          </c:spPr>
          <c:invertIfNegative val="0"/>
          <c:dLbls>
            <c:numFmt formatCode="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AUC</c:v>
                  </c:pt>
                  <c:pt idx="1">
                    <c:v>Exactitud</c:v>
                  </c:pt>
                  <c:pt idx="2">
                    <c:v>Precisión</c:v>
                  </c:pt>
                  <c:pt idx="3">
                    <c:v>Sensib.</c:v>
                  </c:pt>
                  <c:pt idx="4">
                    <c:v>F1</c:v>
                  </c:pt>
                </c:lvl>
              </c:multiLvlStrCache>
            </c:multiLvlStrRef>
          </c:cat>
          <c:val>
            <c:numRef>
              <c:f>Sheet1!$B$2:$B$6</c:f>
              <c:numCache>
                <c:formatCode>General</c:formatCode>
                <c:ptCount val="5"/>
                <c:pt idx="0">
                  <c:v>0.7538</c:v>
                </c:pt>
                <c:pt idx="1">
                  <c:v>0.6917</c:v>
                </c:pt>
                <c:pt idx="2">
                  <c:v>0.6934</c:v>
                </c:pt>
                <c:pt idx="3">
                  <c:v>0.6871</c:v>
                </c:pt>
                <c:pt idx="4">
                  <c:v>0.6902</c:v>
                </c:pt>
              </c:numCache>
            </c:numRef>
          </c:val>
        </c:ser>
        <c:ser>
          <c:idx val="1"/>
          <c:order val="1"/>
          <c:tx>
            <c:strRef>
              <c:f>Sheet1!$C$1</c:f>
              <c:strCache>
                <c:ptCount val="1"/>
                <c:pt idx="0">
                  <c:v>Prueba</c:v>
                </c:pt>
              </c:strCache>
            </c:strRef>
          </c:tx>
          <c:spPr>
            <a:solidFill>
              <a:srgbClr val="34D399"/>
            </a:solidFill>
            <a:effectLst/>
          </c:spPr>
          <c:invertIfNegative val="0"/>
          <c:dLbls>
            <c:numFmt formatCode="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AUC</c:v>
                  </c:pt>
                  <c:pt idx="1">
                    <c:v>Exactitud</c:v>
                  </c:pt>
                  <c:pt idx="2">
                    <c:v>Precisión</c:v>
                  </c:pt>
                  <c:pt idx="3">
                    <c:v>Sensib.</c:v>
                  </c:pt>
                  <c:pt idx="4">
                    <c:v>F1</c:v>
                  </c:pt>
                </c:lvl>
              </c:multiLvlStrCache>
            </c:multiLvlStrRef>
          </c:cat>
          <c:val>
            <c:numRef>
              <c:f>Sheet1!$C$2:$C$6</c:f>
              <c:numCache>
                <c:formatCode>General</c:formatCode>
                <c:ptCount val="5"/>
                <c:pt idx="0">
                  <c:v>0.7448</c:v>
                </c:pt>
                <c:pt idx="1">
                  <c:v>0.6748</c:v>
                </c:pt>
                <c:pt idx="2">
                  <c:v>0.6784</c:v>
                </c:pt>
                <c:pt idx="3">
                  <c:v>0.6649</c:v>
                </c:pt>
                <c:pt idx="4">
                  <c:v>0.6715</c:v>
                </c:pt>
              </c:numCache>
            </c:numRef>
          </c:val>
        </c:ser>
        <c:dLbls>
          <c:numFmt formatCode="0.00" sourceLinked="0"/>
          <c:txPr>
            <a:bodyPr/>
            <a:lstStyle/>
            <a:p>
              <a:pPr>
                <a:defRPr b="0" i="0" strike="noStrike" sz="850" u="none">
                  <a:solidFill>
                    <a:srgbClr val="E2E8F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8"/>
          <c:min val="0.6"/>
        </c:scaling>
        <c:delete val="0"/>
        <c:axPos val="l"/>
        <c:majorGridlines>
          <c:spPr>
            <a:ln w="9525" cap="flat">
              <a:solidFill>
                <a:srgbClr val="1E293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Evolución del AUC por etapa</a:t>
            </a:r>
          </a:p>
        </c:rich>
      </c:tx>
      <c:layout/>
      <c:overlay val="0"/>
    </c:title>
    <c:autoTitleDeleted val="0"/>
    <c:plotArea>
      <c:layout/>
      <c:barChart>
        <c:barDir val="col"/>
        <c:grouping val="clustered"/>
        <c:varyColors val="0"/>
        <c:ser>
          <c:idx val="0"/>
          <c:order val="0"/>
          <c:tx>
            <c:strRef>
              <c:f>Sheet1!$B$1</c:f>
              <c:strCache>
                <c:ptCount val="1"/>
                <c:pt idx="0">
                  <c:v>Validación</c:v>
                </c:pt>
              </c:strCache>
            </c:strRef>
          </c:tx>
          <c:spPr>
            <a:solidFill>
              <a:srgbClr val="F59E0B"/>
            </a:solidFill>
            <a:effectLst/>
          </c:spPr>
          <c:invertIfNegative val="0"/>
          <c:dLbls>
            <c:numFmt formatCode="0.000" sourceLinked="0"/>
            <c:txPr>
              <a:bodyPr/>
              <a:lstStyle/>
              <a:p>
                <a:pPr>
                  <a:defRPr b="0" i="0" strike="noStrike" sz="80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Línea base</c:v>
                  </c:pt>
                  <c:pt idx="1">
                    <c:v>Mejor red F1</c:v>
                  </c:pt>
                  <c:pt idx="2">
                    <c:v>5 semillas</c:v>
                  </c:pt>
                  <c:pt idx="3">
                    <c:v>Red L2 (F2)</c:v>
                  </c:pt>
                  <c:pt idx="4">
                    <c:v>Final</c:v>
                  </c:pt>
                </c:lvl>
              </c:multiLvlStrCache>
            </c:multiLvlStrRef>
          </c:cat>
          <c:val>
            <c:numRef>
              <c:f>Sheet1!$B$2:$B$6</c:f>
              <c:numCache>
                <c:formatCode>General</c:formatCode>
                <c:ptCount val="5"/>
                <c:pt idx="0">
                  <c:v>0.74969</c:v>
                </c:pt>
                <c:pt idx="1">
                  <c:v>0.75225</c:v>
                </c:pt>
                <c:pt idx="2">
                  <c:v>0.75249</c:v>
                </c:pt>
                <c:pt idx="3">
                  <c:v>0.7525</c:v>
                </c:pt>
                <c:pt idx="4">
                  <c:v>0.75382</c:v>
                </c:pt>
              </c:numCache>
            </c:numRef>
          </c:val>
        </c:ser>
        <c:ser>
          <c:idx val="1"/>
          <c:order val="1"/>
          <c:tx>
            <c:strRef>
              <c:f>Sheet1!$C$1</c:f>
              <c:strCache>
                <c:ptCount val="1"/>
                <c:pt idx="0">
                  <c:v>Prueba</c:v>
                </c:pt>
              </c:strCache>
            </c:strRef>
          </c:tx>
          <c:spPr>
            <a:solidFill>
              <a:srgbClr val="34D399"/>
            </a:solidFill>
            <a:effectLst/>
          </c:spPr>
          <c:invertIfNegative val="0"/>
          <c:dLbls>
            <c:numFmt formatCode="0.000" sourceLinked="0"/>
            <c:txPr>
              <a:bodyPr/>
              <a:lstStyle/>
              <a:p>
                <a:pPr>
                  <a:defRPr b="0" i="0" strike="noStrike" sz="80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Línea base</c:v>
                  </c:pt>
                  <c:pt idx="1">
                    <c:v>Mejor red F1</c:v>
                  </c:pt>
                  <c:pt idx="2">
                    <c:v>5 semillas</c:v>
                  </c:pt>
                  <c:pt idx="3">
                    <c:v>Red L2 (F2)</c:v>
                  </c:pt>
                  <c:pt idx="4">
                    <c:v>Final</c:v>
                  </c:pt>
                </c:lvl>
              </c:multiLvlStrCache>
            </c:multiLvlStrRef>
          </c:cat>
          <c:val>
            <c:numRef>
              <c:f>Sheet1!$C$2:$C$6</c:f>
              <c:numCache>
                <c:formatCode>General</c:formatCode>
                <c:ptCount val="5"/>
                <c:pt idx="0">
                  <c:v>0.74243</c:v>
                </c:pt>
                <c:pt idx="1">
                  <c:v>0.74373</c:v>
                </c:pt>
                <c:pt idx="2">
                  <c:v>0.7446</c:v>
                </c:pt>
                <c:pt idx="3">
                  <c:v>0.74336</c:v>
                </c:pt>
                <c:pt idx="4">
                  <c:v>0.74482</c:v>
                </c:pt>
              </c:numCache>
            </c:numRef>
          </c:val>
        </c:ser>
        <c:dLbls>
          <c:numFmt formatCode="0.000" sourceLinked="0"/>
          <c:txPr>
            <a:bodyPr/>
            <a:lstStyle/>
            <a:p>
              <a:pPr>
                <a:defRPr b="0" i="0" strike="noStrike" sz="800" u="none">
                  <a:solidFill>
                    <a:srgbClr val="E2E8F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0.757"/>
          <c:min val="0.735"/>
        </c:scaling>
        <c:delete val="0"/>
        <c:axPos val="l"/>
        <c:majorGridlines>
          <c:spPr>
            <a:ln w="9525" cap="flat">
              <a:solidFill>
                <a:srgbClr val="1E293B"/>
              </a:solidFill>
              <a:prstDash val="solid"/>
              <a:round/>
            </a:ln>
          </c:spPr>
        </c:majorGridlines>
        <c:numFmt formatCode="0.000"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Probabilidad de ser APTO que da el modelo</a:t>
            </a:r>
          </a:p>
        </c:rich>
      </c:tx>
      <c:layout/>
      <c:overlay val="0"/>
    </c:title>
    <c:autoTitleDeleted val="0"/>
    <c:plotArea>
      <c:layout/>
      <c:barChart>
        <c:barDir val="col"/>
        <c:grouping val="clustered"/>
        <c:varyColors val="0"/>
        <c:ser>
          <c:idx val="0"/>
          <c:order val="0"/>
          <c:tx>
            <c:strRef>
              <c:f>Sheet1!$B$1</c:f>
              <c:strCache>
                <c:ptCount val="1"/>
                <c:pt idx="0">
                  <c:v>Realmente NO APTO</c:v>
                </c:pt>
              </c:strCache>
            </c:strRef>
          </c:tx>
          <c:spPr>
            <a:solidFill>
              <a:srgbClr val="F87171"/>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Sheet1!$A$2:$A$21</c:f>
              <c:multiLvlStrCache>
                <c:ptCount val="20"/>
                <c:lvl>
                  <c:pt idx="0">
                    <c:v>0.03</c:v>
                  </c:pt>
                  <c:pt idx="1">
                    <c:v>0.08</c:v>
                  </c:pt>
                  <c:pt idx="2">
                    <c:v>0.12</c:v>
                  </c:pt>
                  <c:pt idx="3">
                    <c:v>0.18</c:v>
                  </c:pt>
                  <c:pt idx="4">
                    <c:v>0.23</c:v>
                  </c:pt>
                  <c:pt idx="5">
                    <c:v>0.28</c:v>
                  </c:pt>
                  <c:pt idx="6">
                    <c:v>0.33</c:v>
                  </c:pt>
                  <c:pt idx="7">
                    <c:v>0.38</c:v>
                  </c:pt>
                  <c:pt idx="8">
                    <c:v>0.43</c:v>
                  </c:pt>
                  <c:pt idx="9">
                    <c:v>0.48</c:v>
                  </c:pt>
                  <c:pt idx="10">
                    <c:v>0.53</c:v>
                  </c:pt>
                  <c:pt idx="11">
                    <c:v>0.58</c:v>
                  </c:pt>
                  <c:pt idx="12">
                    <c:v>0.63</c:v>
                  </c:pt>
                  <c:pt idx="13">
                    <c:v>0.68</c:v>
                  </c:pt>
                  <c:pt idx="14">
                    <c:v>0.73</c:v>
                  </c:pt>
                  <c:pt idx="15">
                    <c:v>0.78</c:v>
                  </c:pt>
                  <c:pt idx="16">
                    <c:v>0.83</c:v>
                  </c:pt>
                  <c:pt idx="17">
                    <c:v>0.88</c:v>
                  </c:pt>
                  <c:pt idx="18">
                    <c:v>0.93</c:v>
                  </c:pt>
                  <c:pt idx="19">
                    <c:v>0.98</c:v>
                  </c:pt>
                </c:lvl>
              </c:multiLvlStrCache>
            </c:multiLvlStrRef>
          </c:cat>
          <c:val>
            <c:numRef>
              <c:f>Sheet1!$B$2:$B$21</c:f>
              <c:numCache>
                <c:formatCode>General</c:formatCode>
                <c:ptCount val="20"/>
                <c:pt idx="0">
                  <c:v>1</c:v>
                </c:pt>
                <c:pt idx="1">
                  <c:v>51</c:v>
                </c:pt>
                <c:pt idx="2">
                  <c:v>177</c:v>
                </c:pt>
                <c:pt idx="3">
                  <c:v>296</c:v>
                </c:pt>
                <c:pt idx="4">
                  <c:v>329</c:v>
                </c:pt>
                <c:pt idx="5">
                  <c:v>338</c:v>
                </c:pt>
                <c:pt idx="6">
                  <c:v>369</c:v>
                </c:pt>
                <c:pt idx="7">
                  <c:v>409</c:v>
                </c:pt>
                <c:pt idx="8">
                  <c:v>322</c:v>
                </c:pt>
                <c:pt idx="9">
                  <c:v>301</c:v>
                </c:pt>
                <c:pt idx="10">
                  <c:v>226</c:v>
                </c:pt>
                <c:pt idx="11">
                  <c:v>212</c:v>
                </c:pt>
                <c:pt idx="12">
                  <c:v>224</c:v>
                </c:pt>
                <c:pt idx="13">
                  <c:v>206</c:v>
                </c:pt>
                <c:pt idx="14">
                  <c:v>129</c:v>
                </c:pt>
                <c:pt idx="15">
                  <c:v>76</c:v>
                </c:pt>
                <c:pt idx="16">
                  <c:v>42</c:v>
                </c:pt>
                <c:pt idx="17">
                  <c:v>16</c:v>
                </c:pt>
                <c:pt idx="18">
                  <c:v>0</c:v>
                </c:pt>
                <c:pt idx="19">
                  <c:v>0</c:v>
                </c:pt>
              </c:numCache>
            </c:numRef>
          </c:val>
        </c:ser>
        <c:ser>
          <c:idx val="1"/>
          <c:order val="1"/>
          <c:tx>
            <c:strRef>
              <c:f>Sheet1!$C$1</c:f>
              <c:strCache>
                <c:ptCount val="1"/>
                <c:pt idx="0">
                  <c:v>Realmente APTO</c:v>
                </c:pt>
              </c:strCache>
            </c:strRef>
          </c:tx>
          <c:spPr>
            <a:solidFill>
              <a:srgbClr val="34D399"/>
            </a:solidFill>
            <a:effectLst/>
          </c:spPr>
          <c:invertIfNegative val="0"/>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cat>
            <c:multiLvlStrRef>
              <c:f>Sheet1!$A$2:$A$21</c:f>
              <c:multiLvlStrCache>
                <c:ptCount val="20"/>
                <c:lvl>
                  <c:pt idx="0">
                    <c:v>0.03</c:v>
                  </c:pt>
                  <c:pt idx="1">
                    <c:v>0.08</c:v>
                  </c:pt>
                  <c:pt idx="2">
                    <c:v>0.12</c:v>
                  </c:pt>
                  <c:pt idx="3">
                    <c:v>0.18</c:v>
                  </c:pt>
                  <c:pt idx="4">
                    <c:v>0.23</c:v>
                  </c:pt>
                  <c:pt idx="5">
                    <c:v>0.28</c:v>
                  </c:pt>
                  <c:pt idx="6">
                    <c:v>0.33</c:v>
                  </c:pt>
                  <c:pt idx="7">
                    <c:v>0.38</c:v>
                  </c:pt>
                  <c:pt idx="8">
                    <c:v>0.43</c:v>
                  </c:pt>
                  <c:pt idx="9">
                    <c:v>0.48</c:v>
                  </c:pt>
                  <c:pt idx="10">
                    <c:v>0.53</c:v>
                  </c:pt>
                  <c:pt idx="11">
                    <c:v>0.58</c:v>
                  </c:pt>
                  <c:pt idx="12">
                    <c:v>0.63</c:v>
                  </c:pt>
                  <c:pt idx="13">
                    <c:v>0.68</c:v>
                  </c:pt>
                  <c:pt idx="14">
                    <c:v>0.73</c:v>
                  </c:pt>
                  <c:pt idx="15">
                    <c:v>0.78</c:v>
                  </c:pt>
                  <c:pt idx="16">
                    <c:v>0.83</c:v>
                  </c:pt>
                  <c:pt idx="17">
                    <c:v>0.88</c:v>
                  </c:pt>
                  <c:pt idx="18">
                    <c:v>0.93</c:v>
                  </c:pt>
                  <c:pt idx="19">
                    <c:v>0.98</c:v>
                  </c:pt>
                </c:lvl>
              </c:multiLvlStrCache>
            </c:multiLvlStrRef>
          </c:cat>
          <c:val>
            <c:numRef>
              <c:f>Sheet1!$C$2:$C$21</c:f>
              <c:numCache>
                <c:formatCode>General</c:formatCode>
                <c:ptCount val="20"/>
                <c:pt idx="0">
                  <c:v>0</c:v>
                </c:pt>
                <c:pt idx="1">
                  <c:v>2</c:v>
                </c:pt>
                <c:pt idx="2">
                  <c:v>24</c:v>
                </c:pt>
                <c:pt idx="3">
                  <c:v>62</c:v>
                </c:pt>
                <c:pt idx="4">
                  <c:v>83</c:v>
                </c:pt>
                <c:pt idx="5">
                  <c:v>140</c:v>
                </c:pt>
                <c:pt idx="6">
                  <c:v>157</c:v>
                </c:pt>
                <c:pt idx="7">
                  <c:v>232</c:v>
                </c:pt>
                <c:pt idx="8">
                  <c:v>229</c:v>
                </c:pt>
                <c:pt idx="9">
                  <c:v>236</c:v>
                </c:pt>
                <c:pt idx="10">
                  <c:v>270</c:v>
                </c:pt>
                <c:pt idx="11">
                  <c:v>316</c:v>
                </c:pt>
                <c:pt idx="12">
                  <c:v>386</c:v>
                </c:pt>
                <c:pt idx="13">
                  <c:v>383</c:v>
                </c:pt>
                <c:pt idx="14">
                  <c:v>396</c:v>
                </c:pt>
                <c:pt idx="15">
                  <c:v>392</c:v>
                </c:pt>
                <c:pt idx="16">
                  <c:v>243</c:v>
                </c:pt>
                <c:pt idx="17">
                  <c:v>140</c:v>
                </c:pt>
                <c:pt idx="18">
                  <c:v>31</c:v>
                </c:pt>
                <c:pt idx="19">
                  <c:v>1</c:v>
                </c:pt>
              </c:numCache>
            </c:numRef>
          </c:val>
        </c:ser>
        <c:dLbls>
          <c:numFmt formatCode="#,##0" sourceLinked="0"/>
          <c:txPr>
            <a:bodyPr/>
            <a:lstStyle/>
            <a:p>
              <a:pPr>
                <a:defRPr b="0" i="0" strike="noStrike" sz="1000" u="none">
                  <a:solidFill>
                    <a:srgbClr val="E2E8F0"/>
                  </a:solidFill>
                  <a:latin typeface="+mn-lt"/>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9525" cap="flat">
              <a:solidFill>
                <a:srgbClr val="1E293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Umbral de decisión (simulación con mora real del 8 %)</a:t>
            </a:r>
          </a:p>
        </c:rich>
      </c:tx>
      <c:layout/>
      <c:overlay val="0"/>
    </c:title>
    <c:autoTitleDeleted val="0"/>
    <c:plotArea>
      <c:layout/>
      <c:barChart>
        <c:barDir val="col"/>
        <c:grouping val="clustered"/>
        <c:varyColors val="0"/>
        <c:ser>
          <c:idx val="0"/>
          <c:order val="0"/>
          <c:tx>
            <c:strRef>
              <c:f>Sheet1!$B$1</c:f>
              <c:strCache>
                <c:ptCount val="1"/>
                <c:pt idx="0">
                  <c:v>Aprobados</c:v>
                </c:pt>
              </c:strCache>
            </c:strRef>
          </c:tx>
          <c:spPr>
            <a:solidFill>
              <a:srgbClr val="3B82F6"/>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50 %</c:v>
                  </c:pt>
                  <c:pt idx="1">
                    <c:v>60 %</c:v>
                  </c:pt>
                  <c:pt idx="2">
                    <c:v>70 %</c:v>
                  </c:pt>
                </c:lvl>
              </c:multiLvlStrCache>
            </c:multiLvlStrRef>
          </c:cat>
          <c:val>
            <c:numRef>
              <c:f>Sheet1!$B$2:$B$4</c:f>
              <c:numCache>
                <c:formatCode>General</c:formatCode>
                <c:ptCount val="3"/>
                <c:pt idx="0">
                  <c:v>63.7</c:v>
                </c:pt>
                <c:pt idx="1">
                  <c:v>48.7</c:v>
                </c:pt>
                <c:pt idx="2">
                  <c:v>28.8</c:v>
                </c:pt>
              </c:numCache>
            </c:numRef>
          </c:val>
        </c:ser>
        <c:ser>
          <c:idx val="1"/>
          <c:order val="1"/>
          <c:tx>
            <c:strRef>
              <c:f>Sheet1!$C$1</c:f>
              <c:strCache>
                <c:ptCount val="1"/>
                <c:pt idx="0">
                  <c:v>Malos detectados</c:v>
                </c:pt>
              </c:strCache>
            </c:strRef>
          </c:tx>
          <c:spPr>
            <a:solidFill>
              <a:srgbClr val="34D399"/>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50 %</c:v>
                  </c:pt>
                  <c:pt idx="1">
                    <c:v>60 %</c:v>
                  </c:pt>
                  <c:pt idx="2">
                    <c:v>70 %</c:v>
                  </c:pt>
                </c:lvl>
              </c:multiLvlStrCache>
            </c:multiLvlStrRef>
          </c:cat>
          <c:val>
            <c:numRef>
              <c:f>Sheet1!$C$2:$C$4</c:f>
              <c:numCache>
                <c:formatCode>General</c:formatCode>
                <c:ptCount val="3"/>
                <c:pt idx="0">
                  <c:v>68.5</c:v>
                </c:pt>
                <c:pt idx="1">
                  <c:v>81.8</c:v>
                </c:pt>
                <c:pt idx="2">
                  <c:v>92.6</c:v>
                </c:pt>
              </c:numCache>
            </c:numRef>
          </c:val>
        </c:ser>
        <c:ser>
          <c:idx val="2"/>
          <c:order val="2"/>
          <c:tx>
            <c:strRef>
              <c:f>Sheet1!$D$1</c:f>
              <c:strCache>
                <c:ptCount val="1"/>
                <c:pt idx="0">
                  <c:v>Mora en aprobados</c:v>
                </c:pt>
              </c:strCache>
            </c:strRef>
          </c:tx>
          <c:spPr>
            <a:solidFill>
              <a:srgbClr val="F87171"/>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cat>
            <c:multiLvlStrRef>
              <c:f>Sheet1!$A$2:$A$4</c:f>
              <c:multiLvlStrCache>
                <c:ptCount val="3"/>
                <c:lvl>
                  <c:pt idx="0">
                    <c:v>50 %</c:v>
                  </c:pt>
                  <c:pt idx="1">
                    <c:v>60 %</c:v>
                  </c:pt>
                  <c:pt idx="2">
                    <c:v>70 %</c:v>
                  </c:pt>
                </c:lvl>
              </c:multiLvlStrCache>
            </c:multiLvlStrRef>
          </c:cat>
          <c:val>
            <c:numRef>
              <c:f>Sheet1!$D$2:$D$4</c:f>
              <c:numCache>
                <c:formatCode>General</c:formatCode>
                <c:ptCount val="3"/>
                <c:pt idx="0">
                  <c:v>4</c:v>
                </c:pt>
                <c:pt idx="1">
                  <c:v>3</c:v>
                </c:pt>
                <c:pt idx="2">
                  <c:v>2.1</c:v>
                </c:pt>
              </c:numCache>
            </c:numRef>
          </c:val>
        </c:ser>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1E293B"/>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legend>
      <c:legendPos val="t"/>
      <c:overlay val="0"/>
      <c:txPr>
        <a:bodyPr/>
        <a:lstStyle/>
        <a:p>
          <a:pPr>
            <a:defRPr sz="11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Peso de cada variable en la decisión</a:t>
            </a:r>
          </a:p>
        </c:rich>
      </c:tx>
      <c:layout/>
      <c:overlay val="0"/>
    </c:title>
    <c:autoTitleDeleted val="0"/>
    <c:plotArea>
      <c:layout/>
      <c:barChart>
        <c:barDir val="bar"/>
        <c:grouping val="clustered"/>
        <c:varyColors val="0"/>
        <c:ser>
          <c:idx val="0"/>
          <c:order val="0"/>
          <c:tx>
            <c:strRef>
              <c:f>Sheet1!$B$1</c:f>
              <c:strCache>
                <c:ptCount val="1"/>
                <c:pt idx="0">
                  <c:v>Peso</c:v>
                </c:pt>
              </c:strCache>
            </c:strRef>
          </c:tx>
          <c:spPr>
            <a:solidFill>
              <a:srgbClr val="475569"/>
            </a:solidFill>
            <a:effectLst/>
          </c:spPr>
          <c:invertIfNegative val="0"/>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dPt>
            <c:idx val="0"/>
            <c:invertIfNegative val="0"/>
            <c:bubble3D val="0"/>
            <c:spPr>
              <a:solidFill>
                <a:srgbClr val="475569"/>
              </a:solidFill>
              <a:effectLst/>
            </c:spPr>
          </c:dPt>
          <c:dPt>
            <c:idx val="1"/>
            <c:invertIfNegative val="0"/>
            <c:bubble3D val="0"/>
            <c:spPr>
              <a:solidFill>
                <a:srgbClr val="475569"/>
              </a:solidFill>
              <a:effectLst/>
            </c:spPr>
          </c:dPt>
          <c:dPt>
            <c:idx val="2"/>
            <c:invertIfNegative val="0"/>
            <c:bubble3D val="0"/>
            <c:spPr>
              <a:solidFill>
                <a:srgbClr val="475569"/>
              </a:solidFill>
              <a:effectLst/>
            </c:spPr>
          </c:dPt>
          <c:dPt>
            <c:idx val="3"/>
            <c:invertIfNegative val="0"/>
            <c:bubble3D val="0"/>
            <c:spPr>
              <a:solidFill>
                <a:srgbClr val="475569"/>
              </a:solidFill>
              <a:effectLst/>
            </c:spPr>
          </c:dPt>
          <c:dPt>
            <c:idx val="4"/>
            <c:invertIfNegative val="0"/>
            <c:bubble3D val="0"/>
            <c:spPr>
              <a:solidFill>
                <a:srgbClr val="475569"/>
              </a:solidFill>
              <a:effectLst/>
            </c:spPr>
          </c:dPt>
          <c:dPt>
            <c:idx val="5"/>
            <c:invertIfNegative val="0"/>
            <c:bubble3D val="0"/>
            <c:spPr>
              <a:solidFill>
                <a:srgbClr val="475569"/>
              </a:solidFill>
              <a:effectLst/>
            </c:spPr>
          </c:dPt>
          <c:dPt>
            <c:idx val="6"/>
            <c:invertIfNegative val="0"/>
            <c:bubble3D val="0"/>
            <c:spPr>
              <a:solidFill>
                <a:srgbClr val="475569"/>
              </a:solidFill>
              <a:effectLst/>
            </c:spPr>
          </c:dPt>
          <c:dPt>
            <c:idx val="7"/>
            <c:invertIfNegative val="0"/>
            <c:bubble3D val="0"/>
            <c:spPr>
              <a:solidFill>
                <a:srgbClr val="38BDF8"/>
              </a:solidFill>
              <a:effectLst/>
            </c:spPr>
          </c:dPt>
          <c:cat>
            <c:multiLvlStrRef>
              <c:f>Sheet1!$A$2:$A$9</c:f>
              <c:multiLvlStrCache>
                <c:ptCount val="8"/>
                <c:lvl>
                  <c:pt idx="0">
                    <c:v>Plazo</c:v>
                  </c:pt>
                  <c:pt idx="1">
                    <c:v>Línea de negocio</c:v>
                  </c:pt>
                  <c:pt idx="2">
                    <c:v>Antigüedad cliente</c:v>
                  </c:pt>
                  <c:pt idx="3">
                    <c:v>Tipo de contrato</c:v>
                  </c:pt>
                  <c:pt idx="4">
                    <c:v>Pagos a tiempo</c:v>
                  </c:pt>
                  <c:pt idx="5">
                    <c:v>Créditos activos</c:v>
                  </c:pt>
                  <c:pt idx="6">
                    <c:v>Tasa de interés</c:v>
                  </c:pt>
                  <c:pt idx="7">
                    <c:v>Score crediticio</c:v>
                  </c:pt>
                </c:lvl>
              </c:multiLvlStrCache>
            </c:multiLvlStrRef>
          </c:cat>
          <c:val>
            <c:numRef>
              <c:f>Sheet1!$B$2:$B$9</c:f>
              <c:numCache>
                <c:formatCode>General</c:formatCode>
                <c:ptCount val="8"/>
                <c:pt idx="0">
                  <c:v>2.07</c:v>
                </c:pt>
                <c:pt idx="1">
                  <c:v>2.28</c:v>
                </c:pt>
                <c:pt idx="2">
                  <c:v>2.66</c:v>
                </c:pt>
                <c:pt idx="3">
                  <c:v>2.69</c:v>
                </c:pt>
                <c:pt idx="4">
                  <c:v>2.72</c:v>
                </c:pt>
                <c:pt idx="5">
                  <c:v>3.52</c:v>
                </c:pt>
                <c:pt idx="6">
                  <c:v>5.47</c:v>
                </c:pt>
                <c:pt idx="7">
                  <c:v>68.43</c:v>
                </c:pt>
              </c:numCache>
            </c:numRef>
          </c:val>
        </c:ser>
        <c:dLbls>
          <c:numFmt formatCode="0.0&quot;%&quot;" sourceLinked="0"/>
          <c:txPr>
            <a:bodyPr/>
            <a:lstStyle/>
            <a:p>
              <a:pPr>
                <a:defRPr b="0" i="0" strike="noStrike" sz="900" u="none">
                  <a:solidFill>
                    <a:srgbClr val="E2E8F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334155"/>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80"/>
        </c:scaling>
        <c:delete val="0"/>
        <c:axPos val="b"/>
        <c:majorGridlines>
          <c:spPr>
            <a:ln w="9525" cap="flat">
              <a:solidFill>
                <a:srgbClr val="1E293B"/>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solidFill>
          <a:srgbClr val="0B1220">
            <a:alpha val="0"/>
          </a:srgbClr>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Leidy: Buenos días, profesora y compañeros. Somos el equipo CrediRisk y cada uno se va a presentar. Yo soy Leidy Guecha. Sharick: Yo soy Sharick Hernández. Laura: Yo soy Laura Díaz. Iván: Yo soy Iván Solano. Cristian: Y yo soy Cristian Martínez. Cristian: Nuestro proyecto es un sistema que ayuda a decidir si una persona es apta o no para recibir un crédito de consumo. Para eso usamos un ensamble, es decir, un grupo de tres redes neuronales que trabajan juntas. Iván: Con clientes que el modelo nunca había visto obtuvimos un AUC de 0,745; más adelante explicamos qué significa ese número. Laura: Todo lo que vamos a mostrar también está en nuestra página web, que pueden visitar al final con el código QR. Leidy empieza con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[Leidy] Empecemos por el problema. Un banco recibe miles de solicitudes de crédito y tiene que decidir a quién prestarle. Nuestro modelo recibe los datos de cada solicitante y responde con una probabilidad de que la persona sea apta. Si esa probabilidad es de 50 % o más, la clasificamos como APTO; si es menor, como NO APTO. Trabajamos con 49.650 solicitudes reales, cada una con 23 datos, como la edad, los ingresos, las deudas y el historial de pagos. La mitad de los clientes son aptos y la otra mitad no, así que adivinar al azar acertaría el 50 %. Antes de hacer cualquier cálculo dividimos a los clientes en tres grupos. El 70 % es el grupo de entrenamiento: como el libro de ejercicios, con él la red aprende. El 15 % es validación: como los simulacros, sirve para comparar versiones y elegir la mejor. Y el otro 15 % es el grupo de prueba: el examen final, que guardamos sin tocar y usamos una sola vez al final. Así la nota final es honesta.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[Leidy] Una red neuronal solo entiende números, y funciona mejor si están en escalas parecidas. Por eso los datos pasan por cuatro pasos. Primero limpiamos: quitamos el número de solicitud, que no dice nada de la persona, y una columna que era la respuesta disfrazada; dejarla sería hacer trampa. Segundo, si falta un dato lo rellenamos con el valor típico y agregamos un aviso de que faltaba. Tercero, suavizamos los valores extremos, como ingresos muy altos. Y cuarto, convertimos las categorías en columnas de ceros y unos y llevamos todo a la misma escala. Por eso pasamos de 23 datos a 44 números: las 19 variables numéricas siguen siendo 19 columnas; se agregan 7 columnas de aviso de dato faltante; y las 4 variables de categorías se convierten en 18 columnas. Por ejemplo, una persona casada se escribe como 0, 1, 0, 0, 0. No usamos números como 1, 2 o 3 porque la red creería que una categoría es mayor que otra. Algo importante: todos estos cálculos se hicieron solo con el grupo de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[Leidy] Una red neuronal está formada por neuronas, y todas funcionan igual. Cada neurona recibe los 44 números del cliente y multiplica cada uno por un peso; el peso indica qué tan importante es ese dato para esa neurona. Luego suma todo y le agrega el sesgo, que es un número propio de cada neurona; le permite activarse aunque las entradas sean cero, como el punto de partida de una recta. Por último aplica la función de activación, que decide cuánto se enciende la neurona. Abajo ven cómo aprende la red: toma 128 clientes, calcula una probabilidad para cada uno, compara con la respuesta real para medir el error, calcula cuánto contribuyó cada peso a ese error y corrige un poquito cada peso. Ese ciclo se repite 272 veces por cada vuelta completa a los datos, y a cada vuelta la llamamos época. Ahora Sharick les mostrará cómo se arma la red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Gracias, Leidy. Esta es la red completa. La Red 1, la principal, recibe los 44 números y los pasa por tres capas ocultas de 64, 32 y 16 neuronas, que usan la función ReLU. Cada capa tiene sus pesos y un sesgo por neurona: por ejemplo, la primera capa tiene 44 por 64, es decir 2.816 pesos, y 64 sesgos. Al final hay una sola neurona de salida con función sigmoide, que entrega la probabilidad de ser apto. En total la Red 1 tiene 5.505 parámetros, y después de entrenar, por ejemplo, el sesgo de la salida quedó en menos 0,063. Las otras dos redes siguen la misma lógica: la Red 2 es más pequeña, con capas de 32 y 16 neuronas y la función LeakyReLU, y la Red 3 tiene la misma forma que la Red 1, pero con más dropout y otra semilla.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Ahora, ¿qué funciones de activación usamos y por qué? En las capas ocultas de las Redes 1 y 3 usamos ReLU: deja pasar los valores positivos y convierte los negativos en cero. Es simple y rápida de entrenar. En la Red 2 usamos LeakyReLU, que es parecida, pero deja pasar un 10 % de los valores negativos; así ninguna neurona se apaga del todo, y además hace que esa red piense distinto a las otras dos. En la salida de las tres redes usamos sigmoide, que convierte el resultado en una probabilidad entre 0 y 1. En la fase 3 también probamos ELU y GELU, que son versiones suaves de ReLU. ELU fue muy estable, pero ninguna superó al modelo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Una red con miles de pesos puede terminar aprendiéndose de memoria los clientes de entrenamiento. Para evitarlo usamos cuatro técnicas. El dropout apaga al azar el 15 o 20 % de las neuronas en cada paso, para que la red no dependa de unas pocas. La parada temprana detiene el entrenamiento si pasan 12 épocas sin mejorar en validación, y recupera la mejor versión. Si la red se estanca 5 épocas, reducimos a la mitad el tamaño de cada corrección. Y mantuvimos redes compactas. Sobre las épocas: no fijamos un número; pusimos un máximo de 100 y dejamos que la parada temprana decidiera. Las tres redes finales tuvieron su mejor punto en las épocas 32, 51 y 36, y se detuvieron 12 épocas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[Sharick] El modelo final no es una sola red: son las tres redes que acabamos de ver. Cada una evalúa al mismo cliente por separado, luego promediamos las tres probabilidades y con ese promedio decidimos. Es como un comité de tres evaluadores. Por ejemplo, si un cliente recibe 0,62, 0,48 y 0,57, el promedio es 0,557 y es APTO: la Red 2 sola lo habría rechazado, pero el comité la corrige. ¿Por qué tres redes distintas y no tres iguales? Lo comprobamos: una sola red llegó a un AUC de 0,7523; cinco copias de la misma red, a 0,7525; y tres redes diferentes, a 0,7538, que fue el mejor resultado. Lo que ayuda es la diversidad, porque cada red se equivoca en clientes un poco distintos. Ahora Laura les contará cómo llegamos a este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Gracias, Sharick. No nos quedamos con la primera red que funcionó. En total entrenamos 164 redes y evaluamos 19 combinaciones. Además, cada configuración importante la repetimos con 5 semillas distintas para comprobar que el resultado no era suerte. El trabajo se hizo por etapas. La línea base nos dio un punto de partida, con un AUC de 0,7497. En la fase 1, con 37 pruebas, exploramos el tamaño de la red, el paso de aprendizaje y el dropout. En la fase 2, con 29 pruebas, afinamos esos valores y probamos combinar redes; ahí apareció el ensamble de 3 redes, el mejor con 0,7538. Y en la fase 3, con 12 pruebas, probamos técnicas más modernas, que empataron pero no superaron al ensamble. Cada fase partió de lo mejor de la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Algunos resultados importantes de las pruebas. A la izquierda, las redes más grandes no funcionaron mejor; incluso la más pequeña quedó arriba. Más pesos solo dan más capacidad de memorizar. En el centro, el dropout: sin dropout obtuvimos el peor resultado, y con 40 % la red se frena demasiado; el punto adecuado estuvo entre 10 y 20 %. A la derecha está el estudio de ablación, donde entrenamos la misma red con distintos grupos de variables. Con solo 9 variables financieras el AUC cae a 0,628. Con las 44 llega al máximo. Y agregar 6 indicadores calculados a mano no ayuda, porque la red ya aprende esas relaciones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La pregunta más importante es si el modelo aprendió reglas generales o solo memorizó los ejemplos. Para responderla miramos las curvas de aprendizaje: la línea azul es el error con los clientes de entrenamiento y la naranja, con los de validación. Si la red memorizara, la azul seguiría bajando y la naranja subiría: se abrirían como una tijera. Lo que vemos en nuestras tres redes es que ambas curvas bajan juntas y se quedan cerca. En el mejor punto la diferencia de error es de apenas 0,008 a 0,015.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En la prueba 2 quitamos el freno: dejamos la Red 1 entrenando 150 épocas sin parada temprana. Después de la época 44, justo donde el freno la había detenido, la validación empieza a empeorar mientras el entrenamiento sigue mejorando. Ahí empieza la memorización, y el freno la evitó a tiempo. En la prueba 3 entrenamos a propósito una red gigante, de 187 mil pesos y sin ninguna técnica contra la memorización, para tener un ejemplo real de memorización. Llegó a 99 % de aciertos en entrenamiento pero solo 61 % en validación. Nuestra red tiene 69,8 % y 68,8 %, casi iguales. No se parece en nada a una red que memoriza. Iván continúa con las demás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Gracias, Laura. La prueba 4 es la más contundente. Barajamos al azar las respuestas de los clientes, de modo que no había nada real que aprender. Nuestra red se quedó en 0,5, que es lo mismo que adivinar, y se detuvo sola. La red gigante, en cambio, llegó a 1,0 en entrenamiento: memorizó ruido. Como con las respuestas reales nuestra red llega a 0,754, eso demuestra que aprende patrones reales. En la prueba 5 entrenamos la misma red con cada vez más clientes. Con solo 695 clientes la red memoriza, con una diferencia de 0,177. Con los 34.755 la diferencia baja a 0,012. Es el comportamiento típico de un modelo que generaliza.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En resumen, las cinco pruebas apuntan a lo mismo: las curvas van juntas, el freno actuó a tiempo, el modelo no se parece a una red que memoriza, no aprende ruido y la diferencia se cierra con más datos. Además, con los clientes del examen final el AUC solo bajó de 0,754 a 0,745. Sí existe una diferencia pequeña entre entrenamiento y prueba, pero es normal en cualquier modelo; memorizar se vería como la red gigante, con diferencias enormes. Por eso concluimos que el modelo aprendió.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El error se puede medir de dos formas. La primera es contar: tomamos la decisión del modelo, APTO o NO APTO, y la comparamos con lo que realmente pasó. En el grupo de prueba, el error de clasificación es el número de fallos dividido entre el total: 2.422 entre 7.448, es decir 32,5 %. De cada 100 clientes, se equivoca con 32. La precisión indica que, de cada 100 clientes que el modelo aprueba, 68 eran realmente buenos pagadores. La sensibilidad indica que, de cada 100 clientes buenos, el modelo encuentra a 66. Y el F1 resume el equilibrio entre ambas medidas: 0,672.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[Iván] La segunda forma mide qué tan buena es la probabilidad, antes de decidir. El log loss, o entropía cruzada, es el error que la red minimiza mientras entrena. Como ven en la gráfica, castiga poco una respuesta segura y correcta, y castiga muchísimo una respuesta muy segura pero equivocada. Si el modelo no supiera nada y dijera siempre 50 %, el log loss sería 0,693; el nuestro es 0,596. El Brier es el error cuadrático de la probabilidad: va de 0, que es perfecto, a 0,25, que es decir siempre 50 %; el nuestro es 0,205. Y el AUC, nuestra métrica principal, significa que si tomamos un cliente bueno y uno malo al azar, en 3 de cada 4 casos el modelo le da más probabilidad al bueno. Cristian les mostrará los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Gracias, Iván. Estos son los resultados del examen final con 7.448 clientes que el modelo nunca vio. El AUC es 0,745, acertamos el 67,5 % de los clientes y, frente a validación, el AUC solo cayó 1,2 %, lo que indica que el modelo generaliza. A la derecha ven cómo evolucionó el AUC desde la línea base hasta el modelo final. La mejora en prueba es de 0,0024: es modesta, y lo decimos con honestidad. Para nosotros el aporte principal es el método: sin fuga de datos, con pruebas para cada decisión y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Aquí está la matriz de confusión. En verde, los aciertos: 2.550 clientes riesgosos bien rechazados y 2.476 buenos bien aprobados. En rojo, los errores: 1.174 clientes riesgosos que el modelo aprobaría, que es el error más costoso para un banco, y 1.248 buenos que rechazaría, que es negocio perdido. ¿Por qué no acierta siempre? En la gráfica de la derecha vemos las probabilidades que el modelo da a los clientes buenos y a los malos: se mezclan en el centro. Hay muchas personas con datos casi idénticos y unas pagan y otras no, por causas que no están en los datos, como un despido o una enfermedad. Ningún modelo puede separar lo que los datos no distinguen.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Dos usos prácticos del modelo. A la izquierda, el umbral: si el banco es más exigente y sube el umbral de 50 % a 70 %, la mora entre los aprobados baja de 4 % a 2,1 %, pero aprueba a muchas menos personas. Es una decisión de negocio, no del modelo. A la derecha, las variables con más peso: el score crediticio concentra el 68 % de la importancia, porque la forma en que una persona ha pagado antes es la mejor pista de cómo pagará después. Le siguen la tasa de interés y el número de créditos activos. Ojo: esto muestra asociación, no causa.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[Cristian] Queremos ser transparentes con los límites. La mejora frente a la línea base es modesta y no hicimos una prueba estadística formal; usamos una sola división de los datos; solo probamos redes de este tipo; y el umbral no está ajustado a los costos reales del banco. Aun así, concluimos cuatro cosas: el modelo aprendió y no memorizó; cada decisión se tomó con evidencia, entrenando 164 redes; no hubo fuga de datos, porque el examen final se usó una sola vez; y el resultado es explicable, porque se apoya sobre todo en el historial de pago. Los invitamos a escanear el código para probar el evaluador en nuestra página. Todos: Muchas gracias por su atención. Quedamos atentos a sus preguntas y comentarios.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R_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R_HERO-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R_SECTION-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CR_CONTENT-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_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R_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14600"/>
            <a:ext cx="11064240" cy="1097280"/>
          </a:xfrm>
          <a:prstGeom prst="rect">
            <a:avLst/>
          </a:prstGeom>
          <a:noFill/>
          <a:ln/>
        </p:spPr>
        <p:txBody>
          <a:bodyPr wrap="square" rtlCol="0"/>
          <a:lstStyle>
            <a:lvl1pPr algn="ctr" indent="0" marL="0">
              <a:buNone/>
              <a:defRPr lang="en-US" sz="6000" b="1" dirty="0">
                <a:solidFill>
                  <a:schemeClr val="bg1"/>
                </a:solidFill>
              </a:defRPr>
            </a:lvl1pPr>
          </a:lstStyle>
          <a:p>
            <a:pPr algn="ctr"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R_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6400800" cy="365760"/>
          </a:xfrm>
          <a:prstGeom prst="rect">
            <a:avLst/>
          </a:prstGeom>
          <a:noFill/>
          <a:ln/>
        </p:spPr>
        <p:txBody>
          <a:bodyPr wrap="square" rtlCol="0"/>
          <a:lstStyle>
            <a:lvl1pPr algn="l" indent="0" marL="0">
              <a:buNone/>
              <a:defRPr lang="en-US" sz="1400" spc="4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400" dirty="0"/>
          </a:p>
        </p:txBody>
      </p:sp>
      <p:sp>
        <p:nvSpPr>
          <p:cNvPr id="3" name="Text 0"/>
          <p:cNvSpPr/>
          <p:nvPr>
            <p:ph idx="101" type="title" hasCustomPrompt="1"/>
          </p:nvPr>
        </p:nvSpPr>
        <p:spPr>
          <a:xfrm>
            <a:off x="731520" y="2560320"/>
            <a:ext cx="78638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pic>
        <p:nvPicPr>
          <p:cNvPr id="4" name="Image 0" descr="/home/claude/deck/img/credirisk-logo-white_c.png">    </p:cNvPr>
          <p:cNvPicPr>
            <a:picLocks noChangeAspect="1"/>
          </p:cNvPicPr>
          <p:nvPr/>
        </p:nvPicPr>
        <p:blipFill>
          <a:blip r:embed="rId1"/>
          <a:stretch>
            <a:fillRect/>
          </a:stretch>
        </p:blipFill>
        <p:spPr>
          <a:xfrm>
            <a:off x="548640" y="6379058"/>
            <a:ext cx="105382" cy="111760"/>
          </a:xfrm>
          <a:prstGeom prst="rect">
            <a:avLst/>
          </a:prstGeom>
        </p:spPr>
      </p:pic>
      <p:sp>
        <p:nvSpPr>
          <p:cNvPr id="5" name="Text 0"/>
          <p:cNvSpPr/>
          <p:nvPr/>
        </p:nvSpPr>
        <p:spPr>
          <a:xfrm>
            <a:off x="658467" y="6355080"/>
            <a:ext cx="531211" cy="152400"/>
          </a:xfrm>
          <a:prstGeom prst="rect">
            <a:avLst/>
          </a:prstGeom>
          <a:noFill/>
          <a:ln/>
        </p:spPr>
        <p:txBody>
          <a:bodyPr wrap="square" lIns="0" tIns="0" rIns="0" bIns="0" rtlCol="0" anchor="ctr"/>
          <a:lstStyle/>
          <a:p>
            <a:pPr indent="0" marL="0">
              <a:buNone/>
            </a:pPr>
            <a:r>
              <a:rPr lang="en-US" sz="1000" b="1" dirty="0">
                <a:solidFill>
                  <a:srgbClr val="64748B"/>
                </a:solidFill>
              </a:rPr>
              <a:t>rediRisk</a:t>
            </a:r>
            <a:endParaRPr lang="en-US" sz="1000" dirty="0"/>
          </a:p>
        </p:txBody>
      </p:sp>
      <p:sp>
        <p:nvSpPr>
          <p:cNvPr id="6" name="Text 1"/>
          <p:cNvSpPr/>
          <p:nvPr/>
        </p:nvSpPr>
        <p:spPr>
          <a:xfrm>
            <a:off x="1235398" y="6355080"/>
            <a:ext cx="4572000" cy="15240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Universidad Católica de Colombia · 2026</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R_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img/credirisk-logo_c.png">    </p:cNvPr>
          <p:cNvPicPr>
            <a:picLocks noChangeAspect="1"/>
          </p:cNvPicPr>
          <p:nvPr/>
        </p:nvPicPr>
        <p:blipFill>
          <a:blip r:embed="rId1"/>
          <a:stretch>
            <a:fillRect/>
          </a:stretch>
        </p:blipFill>
        <p:spPr>
          <a:xfrm>
            <a:off x="713232" y="496621"/>
            <a:ext cx="179150" cy="189992"/>
          </a:xfrm>
          <a:prstGeom prst="rect">
            <a:avLst/>
          </a:prstGeom>
        </p:spPr>
      </p:pic>
      <p:sp>
        <p:nvSpPr>
          <p:cNvPr id="3" name="Text 0"/>
          <p:cNvSpPr/>
          <p:nvPr/>
        </p:nvSpPr>
        <p:spPr>
          <a:xfrm>
            <a:off x="899939" y="455676"/>
            <a:ext cx="903058" cy="259080"/>
          </a:xfrm>
          <a:prstGeom prst="rect">
            <a:avLst/>
          </a:prstGeom>
          <a:noFill/>
          <a:ln/>
        </p:spPr>
        <p:txBody>
          <a:bodyPr wrap="square" lIns="0" tIns="0" rIns="0" bIns="0" rtlCol="0" anchor="ctr"/>
          <a:lstStyle/>
          <a:p>
            <a:pPr indent="0" marL="0">
              <a:buNone/>
            </a:pPr>
            <a:r>
              <a:rPr lang="en-US" sz="1700" b="1" dirty="0">
                <a:solidFill>
                  <a:srgbClr val="F8FAFC"/>
                </a:solidFill>
              </a:rPr>
              <a:t>rediRisk</a:t>
            </a:r>
            <a:endParaRPr lang="en-US" sz="1700" dirty="0"/>
          </a:p>
        </p:txBody>
      </p:sp>
      <p:sp>
        <p:nvSpPr>
          <p:cNvPr id="4" name="Shape 1"/>
          <p:cNvSpPr/>
          <p:nvPr/>
        </p:nvSpPr>
        <p:spPr>
          <a:xfrm>
            <a:off x="2049884" y="402336"/>
            <a:ext cx="0" cy="365760"/>
          </a:xfrm>
          <a:prstGeom prst="line">
            <a:avLst/>
          </a:prstGeom>
          <a:noFill/>
          <a:ln w="12700">
            <a:solidFill>
              <a:srgbClr val="334155"/>
            </a:solidFill>
            <a:prstDash val="solid"/>
          </a:ln>
        </p:spPr>
      </p:sp>
      <p:sp>
        <p:nvSpPr>
          <p:cNvPr id="5" name="Text 2"/>
          <p:cNvSpPr/>
          <p:nvPr>
            <p:ph idx="103" type="title" hasCustomPrompt="1"/>
          </p:nvPr>
        </p:nvSpPr>
        <p:spPr>
          <a:xfrm>
            <a:off x="2305916" y="256032"/>
            <a:ext cx="9215524" cy="658368"/>
          </a:xfrm>
          <a:prstGeom prst="rect">
            <a:avLst/>
          </a:prstGeom>
          <a:noFill/>
          <a:ln/>
        </p:spPr>
        <p:txBody>
          <a:bodyPr wrap="square" rtlCol="0"/>
          <a:lstStyle>
            <a:lvl1pPr algn="l" indent="0" marL="0">
              <a:buNone/>
              <a:defRPr lang="en-US" sz="2200" b="1" dirty="0">
                <a:solidFill>
                  <a:schemeClr val="bg1"/>
                </a:solidFill>
              </a:defRPr>
            </a:lvl1pPr>
          </a:lstStyle>
          <a:p>
            <a:pPr algn="l" indent="0" marL="0">
              <a:buNone/>
            </a:pPr>
            <a:endParaRPr lang="en-US" sz="2200" dirty="0"/>
          </a:p>
        </p:txBody>
      </p:sp>
      <p:pic>
        <p:nvPicPr>
          <p:cNvPr id="6" name="Image 1" descr="/home/claude/deck/img/credirisk-logo-white_c.png">    </p:cNvPr>
          <p:cNvPicPr>
            <a:picLocks noChangeAspect="1"/>
          </p:cNvPicPr>
          <p:nvPr/>
        </p:nvPicPr>
        <p:blipFill>
          <a:blip r:embed="rId2"/>
          <a:stretch>
            <a:fillRect/>
          </a:stretch>
        </p:blipFill>
        <p:spPr>
          <a:xfrm>
            <a:off x="548640" y="6379058"/>
            <a:ext cx="105382" cy="111760"/>
          </a:xfrm>
          <a:prstGeom prst="rect">
            <a:avLst/>
          </a:prstGeom>
        </p:spPr>
      </p:pic>
      <p:sp>
        <p:nvSpPr>
          <p:cNvPr id="7" name="Text 2"/>
          <p:cNvSpPr/>
          <p:nvPr/>
        </p:nvSpPr>
        <p:spPr>
          <a:xfrm>
            <a:off x="658467" y="6355080"/>
            <a:ext cx="531211" cy="152400"/>
          </a:xfrm>
          <a:prstGeom prst="rect">
            <a:avLst/>
          </a:prstGeom>
          <a:noFill/>
          <a:ln/>
        </p:spPr>
        <p:txBody>
          <a:bodyPr wrap="square" lIns="0" tIns="0" rIns="0" bIns="0" rtlCol="0" anchor="ctr"/>
          <a:lstStyle/>
          <a:p>
            <a:pPr indent="0" marL="0">
              <a:buNone/>
            </a:pPr>
            <a:r>
              <a:rPr lang="en-US" sz="1000" b="1" dirty="0">
                <a:solidFill>
                  <a:srgbClr val="64748B"/>
                </a:solidFill>
              </a:rPr>
              <a:t>rediRisk</a:t>
            </a:r>
            <a:endParaRPr lang="en-US" sz="1000" dirty="0"/>
          </a:p>
        </p:txBody>
      </p:sp>
      <p:sp>
        <p:nvSpPr>
          <p:cNvPr id="8" name="Text 3"/>
          <p:cNvSpPr/>
          <p:nvPr/>
        </p:nvSpPr>
        <p:spPr>
          <a:xfrm>
            <a:off x="1235398" y="6355080"/>
            <a:ext cx="4572000" cy="15240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Universidad Católica de Colombia · 2026</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5.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chart" Target="/ppt/charts/chart11.xml"/><Relationship Id="rId4" Type="http://schemas.openxmlformats.org/officeDocument/2006/relationships/slideLayout" Target="../slideLayouts/slideLayout5.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chart" Target="/ppt/charts/chart18.xml"/><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chart" Target="/ppt/charts/chart21.xml"/><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C" descr="/home/claude/deck/img/credirisk-logo_c.png">    </p:cNvPr>
          <p:cNvPicPr>
            <a:picLocks noChangeAspect="1"/>
          </p:cNvPicPr>
          <p:nvPr/>
        </p:nvPicPr>
        <p:blipFill>
          <a:blip r:embed="rId1"/>
          <a:stretch>
            <a:fillRect/>
          </a:stretch>
        </p:blipFill>
        <p:spPr>
          <a:xfrm>
            <a:off x="3980422" y="662178"/>
            <a:ext cx="695524" cy="737616"/>
          </a:xfrm>
          <a:prstGeom prst="rect">
            <a:avLst/>
          </a:prstGeom>
        </p:spPr>
      </p:pic>
      <p:sp>
        <p:nvSpPr>
          <p:cNvPr id="3" name="marca"/>
          <p:cNvSpPr txBox="1"/>
          <p:nvPr/>
        </p:nvSpPr>
        <p:spPr>
          <a:xfrm>
            <a:off x="4705283" y="502920"/>
            <a:ext cx="3505989" cy="1005840"/>
          </a:xfrm>
          <a:prstGeom prst="rect">
            <a:avLst/>
          </a:prstGeom>
          <a:noFill/>
          <a:ln/>
        </p:spPr>
        <p:txBody>
          <a:bodyPr wrap="square" lIns="0" tIns="0" rIns="0" bIns="0" rtlCol="0" anchor="ctr"/>
          <a:lstStyle/>
          <a:p>
            <a:pPr indent="0" marL="0">
              <a:buNone/>
            </a:pPr>
            <a:r>
              <a:rPr lang="en-US" sz="6600" b="1" dirty="0">
                <a:solidFill>
                  <a:srgbClr val="F8FAFC"/>
                </a:solidFill>
              </a:rPr>
              <a:t>rediRisk</a:t>
            </a:r>
            <a:endParaRPr lang="en-US" sz="6600" dirty="0"/>
          </a:p>
        </p:txBody>
      </p:sp>
      <p:sp>
        <p:nvSpPr>
          <p:cNvPr id="4" name="Text 1"/>
          <p:cNvSpPr txBox="1"/>
          <p:nvPr/>
        </p:nvSpPr>
        <p:spPr>
          <a:xfrm>
            <a:off x="1828800" y="1783080"/>
            <a:ext cx="8531352" cy="411480"/>
          </a:xfrm>
          <a:prstGeom prst="rect">
            <a:avLst/>
          </a:prstGeom>
          <a:noFill/>
          <a:ln/>
        </p:spPr>
        <p:txBody>
          <a:bodyPr wrap="square" lIns="0" tIns="0" rIns="0" bIns="0" rtlCol="0" anchor="t"/>
          <a:lstStyle/>
          <a:p>
            <a:pPr algn="ctr" indent="0" marL="0">
              <a:lnSpc>
                <a:spcPct val="110000"/>
              </a:lnSpc>
              <a:spcAft>
                <a:spcPts val="400"/>
              </a:spcAft>
              <a:buNone/>
            </a:pPr>
            <a:r>
              <a:rPr lang="en-US" sz="1800" dirty="0">
                <a:solidFill>
                  <a:schemeClr val="bg2"/>
                </a:solidFill>
              </a:rPr>
              <a:t>Evaluación del riesgo crediticio con un ensamble de redes neuronales profundas</a:t>
            </a:r>
            <a:endParaRPr lang="en-US" sz="1800" dirty="0"/>
          </a:p>
        </p:txBody>
      </p:sp>
      <p:sp>
        <p:nvSpPr>
          <p:cNvPr id="5" name="Shape 2"/>
          <p:cNvSpPr/>
          <p:nvPr/>
        </p:nvSpPr>
        <p:spPr>
          <a:xfrm>
            <a:off x="3063240" y="2331720"/>
            <a:ext cx="2926080" cy="384048"/>
          </a:xfrm>
          <a:prstGeom prst="roundRect">
            <a:avLst>
              <a:gd name="adj" fmla="val 50000"/>
            </a:avLst>
          </a:prstGeom>
          <a:solidFill>
            <a:schemeClr val="bg1"/>
          </a:solidFill>
          <a:ln w="12700">
            <a:solidFill>
              <a:srgbClr val="F8FAFC"/>
            </a:solidFill>
            <a:prstDash val="solid"/>
          </a:ln>
        </p:spPr>
      </p:sp>
      <p:sp>
        <p:nvSpPr>
          <p:cNvPr id="6" name="Text 3"/>
          <p:cNvSpPr txBox="1"/>
          <p:nvPr/>
        </p:nvSpPr>
        <p:spPr>
          <a:xfrm>
            <a:off x="3063240" y="2331720"/>
            <a:ext cx="2926080" cy="384048"/>
          </a:xfrm>
          <a:prstGeom prst="rect">
            <a:avLst/>
          </a:prstGeom>
          <a:noFill/>
          <a:ln/>
        </p:spPr>
        <p:txBody>
          <a:bodyPr wrap="square" lIns="0" tIns="0" rIns="0" bIns="0" rtlCol="0" anchor="ctr"/>
          <a:lstStyle/>
          <a:p>
            <a:pPr algn="ctr" indent="0" marL="0">
              <a:buNone/>
            </a:pPr>
            <a:r>
              <a:rPr lang="en-US" sz="1250" b="1" dirty="0">
                <a:solidFill>
                  <a:schemeClr val="tx1"/>
                </a:solidFill>
              </a:rPr>
              <a:t>Ensamble de 3 redes neuronales</a:t>
            </a:r>
            <a:endParaRPr lang="en-US" sz="1250" dirty="0"/>
          </a:p>
        </p:txBody>
      </p:sp>
      <p:sp>
        <p:nvSpPr>
          <p:cNvPr id="7" name="Shape 4"/>
          <p:cNvSpPr/>
          <p:nvPr/>
        </p:nvSpPr>
        <p:spPr>
          <a:xfrm>
            <a:off x="6172200" y="2331720"/>
            <a:ext cx="2971800" cy="384048"/>
          </a:xfrm>
          <a:prstGeom prst="roundRect">
            <a:avLst>
              <a:gd name="adj" fmla="val 50000"/>
            </a:avLst>
          </a:prstGeom>
          <a:solidFill>
            <a:schemeClr val="tx1">
              <a:alpha val="90000"/>
            </a:schemeClr>
          </a:solidFill>
          <a:ln w="12700">
            <a:solidFill>
              <a:srgbClr val="334155"/>
            </a:solidFill>
            <a:prstDash val="solid"/>
          </a:ln>
        </p:spPr>
      </p:sp>
      <p:sp>
        <p:nvSpPr>
          <p:cNvPr id="8" name="Text 5"/>
          <p:cNvSpPr txBox="1"/>
          <p:nvPr/>
        </p:nvSpPr>
        <p:spPr>
          <a:xfrm>
            <a:off x="6172200" y="2331720"/>
            <a:ext cx="2971800" cy="384048"/>
          </a:xfrm>
          <a:prstGeom prst="rect">
            <a:avLst/>
          </a:prstGeom>
          <a:noFill/>
          <a:ln/>
        </p:spPr>
        <p:txBody>
          <a:bodyPr wrap="square" lIns="0" tIns="0" rIns="0" bIns="0" rtlCol="0" anchor="ctr"/>
          <a:lstStyle/>
          <a:p>
            <a:pPr algn="ctr" indent="0" marL="0">
              <a:buNone/>
            </a:pPr>
            <a:r>
              <a:rPr lang="en-US" sz="1250" b="1" dirty="0">
                <a:solidFill>
                  <a:schemeClr val="bg1"/>
                </a:solidFill>
              </a:rPr>
              <a:t>AUC 0,745 en clientes nunca vistos</a:t>
            </a:r>
            <a:endParaRPr lang="en-US" sz="1250" dirty="0"/>
          </a:p>
        </p:txBody>
      </p:sp>
      <p:pic>
        <p:nvPicPr>
          <p:cNvPr id="9" name="carnet-1" descr="/home/claude/deck/img/badge-1.png">    </p:cNvPr>
          <p:cNvPicPr>
            <a:picLocks noChangeAspect="1"/>
          </p:cNvPicPr>
          <p:nvPr/>
        </p:nvPicPr>
        <p:blipFill>
          <a:blip r:embed="rId2"/>
          <a:stretch>
            <a:fillRect/>
          </a:stretch>
        </p:blipFill>
        <p:spPr>
          <a:xfrm>
            <a:off x="1624432" y="3017520"/>
            <a:ext cx="1481328" cy="2083443"/>
          </a:xfrm>
          <a:prstGeom prst="rect">
            <a:avLst/>
          </a:prstGeom>
        </p:spPr>
      </p:pic>
      <p:sp>
        <p:nvSpPr>
          <p:cNvPr id="10" name="Text 6"/>
          <p:cNvSpPr txBox="1"/>
          <p:nvPr/>
        </p:nvSpPr>
        <p:spPr>
          <a:xfrm>
            <a:off x="1441552"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Leidy Vanessa</a:t>
            </a:r>
            <a:endParaRPr lang="en-US" sz="1250" dirty="0"/>
          </a:p>
        </p:txBody>
      </p:sp>
      <p:sp>
        <p:nvSpPr>
          <p:cNvPr id="11" name="Text 7"/>
          <p:cNvSpPr txBox="1"/>
          <p:nvPr/>
        </p:nvSpPr>
        <p:spPr>
          <a:xfrm>
            <a:off x="1441552"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Guecha Alape</a:t>
            </a:r>
            <a:endParaRPr lang="en-US" sz="1100" dirty="0"/>
          </a:p>
        </p:txBody>
      </p:sp>
      <p:pic>
        <p:nvPicPr>
          <p:cNvPr id="12" name="carnet-2" descr="/home/claude/deck/img/badge-2.png">    </p:cNvPr>
          <p:cNvPicPr>
            <a:picLocks noChangeAspect="1"/>
          </p:cNvPicPr>
          <p:nvPr/>
        </p:nvPicPr>
        <p:blipFill>
          <a:blip r:embed="rId3"/>
          <a:stretch>
            <a:fillRect/>
          </a:stretch>
        </p:blipFill>
        <p:spPr>
          <a:xfrm>
            <a:off x="3489808" y="3017520"/>
            <a:ext cx="1481328" cy="2083443"/>
          </a:xfrm>
          <a:prstGeom prst="rect">
            <a:avLst/>
          </a:prstGeom>
        </p:spPr>
      </p:pic>
      <p:sp>
        <p:nvSpPr>
          <p:cNvPr id="13" name="Text 8"/>
          <p:cNvSpPr txBox="1"/>
          <p:nvPr/>
        </p:nvSpPr>
        <p:spPr>
          <a:xfrm>
            <a:off x="3306928"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Sharick Natalia</a:t>
            </a:r>
            <a:endParaRPr lang="en-US" sz="1250" dirty="0"/>
          </a:p>
        </p:txBody>
      </p:sp>
      <p:sp>
        <p:nvSpPr>
          <p:cNvPr id="14" name="Text 9"/>
          <p:cNvSpPr txBox="1"/>
          <p:nvPr/>
        </p:nvSpPr>
        <p:spPr>
          <a:xfrm>
            <a:off x="3306928"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Hernández Gómez</a:t>
            </a:r>
            <a:endParaRPr lang="en-US" sz="1100" dirty="0"/>
          </a:p>
        </p:txBody>
      </p:sp>
      <p:pic>
        <p:nvPicPr>
          <p:cNvPr id="15" name="carnet-3" descr="/home/claude/deck/img/badge-3.png">    </p:cNvPr>
          <p:cNvPicPr>
            <a:picLocks noChangeAspect="1"/>
          </p:cNvPicPr>
          <p:nvPr/>
        </p:nvPicPr>
        <p:blipFill>
          <a:blip r:embed="rId4"/>
          <a:stretch>
            <a:fillRect/>
          </a:stretch>
        </p:blipFill>
        <p:spPr>
          <a:xfrm>
            <a:off x="5355184" y="3017520"/>
            <a:ext cx="1481328" cy="2083443"/>
          </a:xfrm>
          <a:prstGeom prst="rect">
            <a:avLst/>
          </a:prstGeom>
        </p:spPr>
      </p:pic>
      <p:sp>
        <p:nvSpPr>
          <p:cNvPr id="16" name="Text 10"/>
          <p:cNvSpPr txBox="1"/>
          <p:nvPr/>
        </p:nvSpPr>
        <p:spPr>
          <a:xfrm>
            <a:off x="5172304"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Laura Sofía</a:t>
            </a:r>
            <a:endParaRPr lang="en-US" sz="1250" dirty="0"/>
          </a:p>
        </p:txBody>
      </p:sp>
      <p:sp>
        <p:nvSpPr>
          <p:cNvPr id="17" name="Text 11"/>
          <p:cNvSpPr txBox="1"/>
          <p:nvPr/>
        </p:nvSpPr>
        <p:spPr>
          <a:xfrm>
            <a:off x="5172304"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Díaz Suárez</a:t>
            </a:r>
            <a:endParaRPr lang="en-US" sz="1100" dirty="0"/>
          </a:p>
        </p:txBody>
      </p:sp>
      <p:pic>
        <p:nvPicPr>
          <p:cNvPr id="18" name="carnet-4" descr="/home/claude/deck/img/badge-4.png">    </p:cNvPr>
          <p:cNvPicPr>
            <a:picLocks noChangeAspect="1"/>
          </p:cNvPicPr>
          <p:nvPr/>
        </p:nvPicPr>
        <p:blipFill>
          <a:blip r:embed="rId5"/>
          <a:stretch>
            <a:fillRect/>
          </a:stretch>
        </p:blipFill>
        <p:spPr>
          <a:xfrm>
            <a:off x="7220560" y="3017520"/>
            <a:ext cx="1481328" cy="2083443"/>
          </a:xfrm>
          <a:prstGeom prst="rect">
            <a:avLst/>
          </a:prstGeom>
        </p:spPr>
      </p:pic>
      <p:sp>
        <p:nvSpPr>
          <p:cNvPr id="19" name="Text 12"/>
          <p:cNvSpPr txBox="1"/>
          <p:nvPr/>
        </p:nvSpPr>
        <p:spPr>
          <a:xfrm>
            <a:off x="7037680"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Iván Camilo</a:t>
            </a:r>
            <a:endParaRPr lang="en-US" sz="1250" dirty="0"/>
          </a:p>
        </p:txBody>
      </p:sp>
      <p:sp>
        <p:nvSpPr>
          <p:cNvPr id="20" name="Text 13"/>
          <p:cNvSpPr txBox="1"/>
          <p:nvPr/>
        </p:nvSpPr>
        <p:spPr>
          <a:xfrm>
            <a:off x="7037680"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Solano Sánchez</a:t>
            </a:r>
            <a:endParaRPr lang="en-US" sz="1100" dirty="0"/>
          </a:p>
        </p:txBody>
      </p:sp>
      <p:pic>
        <p:nvPicPr>
          <p:cNvPr id="21" name="carnet-5" descr="/home/claude/deck/img/badge-5.png">    </p:cNvPr>
          <p:cNvPicPr>
            <a:picLocks noChangeAspect="1"/>
          </p:cNvPicPr>
          <p:nvPr/>
        </p:nvPicPr>
        <p:blipFill>
          <a:blip r:embed="rId6"/>
          <a:stretch>
            <a:fillRect/>
          </a:stretch>
        </p:blipFill>
        <p:spPr>
          <a:xfrm>
            <a:off x="9085936" y="3017520"/>
            <a:ext cx="1481328" cy="2083443"/>
          </a:xfrm>
          <a:prstGeom prst="rect">
            <a:avLst/>
          </a:prstGeom>
        </p:spPr>
      </p:pic>
      <p:sp>
        <p:nvSpPr>
          <p:cNvPr id="22" name="Text 14"/>
          <p:cNvSpPr txBox="1"/>
          <p:nvPr/>
        </p:nvSpPr>
        <p:spPr>
          <a:xfrm>
            <a:off x="8903056" y="5174115"/>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bg1"/>
                </a:solidFill>
              </a:rPr>
              <a:t>Cristian Camilo</a:t>
            </a:r>
            <a:endParaRPr lang="en-US" sz="1250" dirty="0"/>
          </a:p>
        </p:txBody>
      </p:sp>
      <p:sp>
        <p:nvSpPr>
          <p:cNvPr id="23" name="Text 15"/>
          <p:cNvSpPr txBox="1"/>
          <p:nvPr/>
        </p:nvSpPr>
        <p:spPr>
          <a:xfrm>
            <a:off x="8903056" y="5411859"/>
            <a:ext cx="1847088" cy="256032"/>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rgbClr val="94A3B8"/>
                </a:solidFill>
              </a:rPr>
              <a:t>Martínez Delgado</a:t>
            </a:r>
            <a:endParaRPr lang="en-US" sz="1100" dirty="0"/>
          </a:p>
        </p:txBody>
      </p:sp>
      <p:sp>
        <p:nvSpPr>
          <p:cNvPr id="24" name="Text 16"/>
          <p:cNvSpPr txBox="1"/>
          <p:nvPr/>
        </p:nvSpPr>
        <p:spPr>
          <a:xfrm>
            <a:off x="2011680" y="6355080"/>
            <a:ext cx="8165592" cy="32004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rgbClr val="94A3B8"/>
                </a:solidFill>
                <a:latin typeface="Consolas" pitchFamily="34" charset="0"/>
                <a:ea typeface="Consolas" pitchFamily="34" charset="-122"/>
                <a:cs typeface="Consolas" pitchFamily="34" charset="-120"/>
              </a:rPr>
              <a:t>Redes Neuronales Profundas · Universidad Católica de Colombia ·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El problema y los datos</a:t>
            </a:r>
            <a:endParaRPr lang="en-US" sz="2200" dirty="0"/>
          </a:p>
        </p:txBody>
      </p:sp>
      <p:sp>
        <p:nvSpPr>
          <p:cNvPr id="4" name="Shape 1"/>
          <p:cNvSpPr/>
          <p:nvPr/>
        </p:nvSpPr>
        <p:spPr>
          <a:xfrm>
            <a:off x="548640" y="1188720"/>
            <a:ext cx="5394960" cy="4983480"/>
          </a:xfrm>
          <a:prstGeom prst="roundRect">
            <a:avLst>
              <a:gd name="adj" fmla="val 2569"/>
            </a:avLst>
          </a:prstGeom>
          <a:solidFill>
            <a:schemeClr val="tx2">
              <a:alpha val="92000"/>
            </a:schemeClr>
          </a:solidFill>
          <a:ln w="12700">
            <a:solidFill>
              <a:srgbClr val="1E293B"/>
            </a:solidFill>
            <a:prstDash val="solid"/>
          </a:ln>
        </p:spPr>
      </p:sp>
      <p:sp>
        <p:nvSpPr>
          <p:cNvPr id="5" name="Text 2"/>
          <p:cNvSpPr txBox="1"/>
          <p:nvPr/>
        </p:nvSpPr>
        <p:spPr>
          <a:xfrm>
            <a:off x="777240" y="1371600"/>
            <a:ext cx="45720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HACE EL MODELO</a:t>
            </a:r>
            <a:endParaRPr lang="en-US" sz="1050" dirty="0"/>
          </a:p>
        </p:txBody>
      </p:sp>
      <p:sp>
        <p:nvSpPr>
          <p:cNvPr id="6" name="Text 3"/>
          <p:cNvSpPr txBox="1"/>
          <p:nvPr/>
        </p:nvSpPr>
        <p:spPr>
          <a:xfrm>
            <a:off x="777240" y="1691640"/>
            <a:ext cx="4937760" cy="640080"/>
          </a:xfrm>
          <a:prstGeom prst="rect">
            <a:avLst/>
          </a:prstGeom>
          <a:noFill/>
          <a:ln/>
        </p:spPr>
        <p:txBody>
          <a:bodyPr wrap="square" lIns="0" tIns="0" rIns="0" bIns="0" rtlCol="0" anchor="t"/>
          <a:lstStyle/>
          <a:p>
            <a:pPr algn="l" indent="0" marL="0">
              <a:lnSpc>
                <a:spcPct val="110000"/>
              </a:lnSpc>
              <a:spcAft>
                <a:spcPts val="400"/>
              </a:spcAft>
              <a:buNone/>
            </a:pPr>
            <a:r>
              <a:rPr lang="en-US" sz="1350" dirty="0">
                <a:solidFill>
                  <a:schemeClr val="bg2"/>
                </a:solidFill>
              </a:rPr>
              <a:t>Recibe los datos de una solicitud de crédito de consumo y responde con una probabilidad de que la persona sea apta:</a:t>
            </a:r>
            <a:endParaRPr lang="en-US" sz="1350" dirty="0"/>
          </a:p>
        </p:txBody>
      </p:sp>
      <p:sp>
        <p:nvSpPr>
          <p:cNvPr id="7" name="Shape 4"/>
          <p:cNvSpPr/>
          <p:nvPr/>
        </p:nvSpPr>
        <p:spPr>
          <a:xfrm>
            <a:off x="777240" y="2423160"/>
            <a:ext cx="2377440" cy="1051560"/>
          </a:xfrm>
          <a:prstGeom prst="roundRect">
            <a:avLst>
              <a:gd name="adj" fmla="val 12174"/>
            </a:avLst>
          </a:prstGeom>
          <a:solidFill>
            <a:srgbClr val="064E3B">
              <a:alpha val="60000"/>
            </a:srgbClr>
          </a:solidFill>
          <a:ln w="12700">
            <a:solidFill>
              <a:srgbClr val="34D399"/>
            </a:solidFill>
            <a:prstDash val="solid"/>
          </a:ln>
        </p:spPr>
      </p:sp>
      <p:sp>
        <p:nvSpPr>
          <p:cNvPr id="8" name="Text 5"/>
          <p:cNvSpPr txBox="1"/>
          <p:nvPr/>
        </p:nvSpPr>
        <p:spPr>
          <a:xfrm>
            <a:off x="777240" y="2487168"/>
            <a:ext cx="2377440" cy="45720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accent4"/>
                </a:solidFill>
              </a:rPr>
              <a:t>APTO (1)</a:t>
            </a:r>
            <a:endParaRPr lang="en-US" sz="2200" dirty="0"/>
          </a:p>
        </p:txBody>
      </p:sp>
      <p:sp>
        <p:nvSpPr>
          <p:cNvPr id="9" name="Text 6"/>
          <p:cNvSpPr txBox="1"/>
          <p:nvPr/>
        </p:nvSpPr>
        <p:spPr>
          <a:xfrm>
            <a:off x="777240" y="2971800"/>
            <a:ext cx="2377440" cy="32004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probablemente pagará</a:t>
            </a:r>
            <a:endParaRPr lang="en-US" sz="1200" dirty="0"/>
          </a:p>
        </p:txBody>
      </p:sp>
      <p:sp>
        <p:nvSpPr>
          <p:cNvPr id="10" name="Shape 7"/>
          <p:cNvSpPr/>
          <p:nvPr/>
        </p:nvSpPr>
        <p:spPr>
          <a:xfrm>
            <a:off x="3337560" y="2423160"/>
            <a:ext cx="2377440" cy="1051560"/>
          </a:xfrm>
          <a:prstGeom prst="roundRect">
            <a:avLst>
              <a:gd name="adj" fmla="val 12174"/>
            </a:avLst>
          </a:prstGeom>
          <a:solidFill>
            <a:srgbClr val="7F1D1D">
              <a:alpha val="60000"/>
            </a:srgbClr>
          </a:solidFill>
          <a:ln w="12700">
            <a:solidFill>
              <a:srgbClr val="F87171"/>
            </a:solidFill>
            <a:prstDash val="solid"/>
          </a:ln>
        </p:spPr>
      </p:sp>
      <p:sp>
        <p:nvSpPr>
          <p:cNvPr id="11" name="Text 8"/>
          <p:cNvSpPr txBox="1"/>
          <p:nvPr/>
        </p:nvSpPr>
        <p:spPr>
          <a:xfrm>
            <a:off x="3337560" y="2487168"/>
            <a:ext cx="2377440" cy="457200"/>
          </a:xfrm>
          <a:prstGeom prst="rect">
            <a:avLst/>
          </a:prstGeom>
          <a:noFill/>
          <a:ln/>
        </p:spPr>
        <p:txBody>
          <a:bodyPr wrap="square" lIns="0" tIns="0" rIns="0" bIns="0" rtlCol="0" anchor="t"/>
          <a:lstStyle/>
          <a:p>
            <a:pPr algn="ctr" indent="0" marL="0">
              <a:lnSpc>
                <a:spcPct val="110000"/>
              </a:lnSpc>
              <a:spcAft>
                <a:spcPts val="400"/>
              </a:spcAft>
              <a:buNone/>
            </a:pPr>
            <a:r>
              <a:rPr lang="en-US" sz="2200" b="1" dirty="0">
                <a:solidFill>
                  <a:schemeClr val="accent5"/>
                </a:solidFill>
              </a:rPr>
              <a:t>NO APTO (0)</a:t>
            </a:r>
            <a:endParaRPr lang="en-US" sz="2200" dirty="0"/>
          </a:p>
        </p:txBody>
      </p:sp>
      <p:sp>
        <p:nvSpPr>
          <p:cNvPr id="12" name="Text 9"/>
          <p:cNvSpPr txBox="1"/>
          <p:nvPr/>
        </p:nvSpPr>
        <p:spPr>
          <a:xfrm>
            <a:off x="3337560" y="2971800"/>
            <a:ext cx="2377440" cy="32004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riesgo de no pagar</a:t>
            </a:r>
            <a:endParaRPr lang="en-US" sz="1200" dirty="0"/>
          </a:p>
        </p:txBody>
      </p:sp>
      <p:sp>
        <p:nvSpPr>
          <p:cNvPr id="13" name="Text 10"/>
          <p:cNvSpPr txBox="1"/>
          <p:nvPr/>
        </p:nvSpPr>
        <p:spPr>
          <a:xfrm>
            <a:off x="777240" y="3611880"/>
            <a:ext cx="49377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accent2"/>
                </a:solidFill>
              </a:rPr>
              <a:t>Regla: si la probabilidad es 50 % o más, el cliente es APTO.</a:t>
            </a:r>
            <a:endParaRPr lang="en-US" sz="1250" dirty="0"/>
          </a:p>
        </p:txBody>
      </p:sp>
      <p:sp>
        <p:nvSpPr>
          <p:cNvPr id="14" name="Shape 11"/>
          <p:cNvSpPr/>
          <p:nvPr/>
        </p:nvSpPr>
        <p:spPr>
          <a:xfrm>
            <a:off x="777240" y="4114800"/>
            <a:ext cx="1554480" cy="1828800"/>
          </a:xfrm>
          <a:prstGeom prst="roundRect">
            <a:avLst>
              <a:gd name="adj" fmla="val 8235"/>
            </a:avLst>
          </a:prstGeom>
          <a:solidFill>
            <a:srgbClr val="1E293B"/>
          </a:solidFill>
          <a:ln w="12700">
            <a:solidFill>
              <a:srgbClr val="1E293B"/>
            </a:solidFill>
            <a:prstDash val="solid"/>
          </a:ln>
        </p:spPr>
      </p:sp>
      <p:sp>
        <p:nvSpPr>
          <p:cNvPr id="15" name="Text 12"/>
          <p:cNvSpPr txBox="1"/>
          <p:nvPr/>
        </p:nvSpPr>
        <p:spPr>
          <a:xfrm>
            <a:off x="777240" y="4297680"/>
            <a:ext cx="1554480" cy="548640"/>
          </a:xfrm>
          <a:prstGeom prst="rect">
            <a:avLst/>
          </a:prstGeom>
          <a:noFill/>
          <a:ln/>
        </p:spPr>
        <p:txBody>
          <a:bodyPr wrap="square" lIns="0" tIns="0" rIns="0" bIns="0" rtlCol="0" anchor="t"/>
          <a:lstStyle/>
          <a:p>
            <a:pPr algn="ctr" indent="0" marL="0">
              <a:lnSpc>
                <a:spcPct val="110000"/>
              </a:lnSpc>
              <a:spcAft>
                <a:spcPts val="400"/>
              </a:spcAft>
              <a:buNone/>
            </a:pPr>
            <a:r>
              <a:rPr lang="en-US" sz="2100" b="1" dirty="0">
                <a:solidFill>
                  <a:schemeClr val="accent2"/>
                </a:solidFill>
                <a:latin typeface="Consolas" pitchFamily="34" charset="0"/>
                <a:ea typeface="Consolas" pitchFamily="34" charset="-122"/>
                <a:cs typeface="Consolas" pitchFamily="34" charset="-120"/>
              </a:rPr>
              <a:t>49.650</a:t>
            </a:r>
            <a:endParaRPr lang="en-US" sz="2100" dirty="0"/>
          </a:p>
        </p:txBody>
      </p:sp>
      <p:sp>
        <p:nvSpPr>
          <p:cNvPr id="16" name="Text 13"/>
          <p:cNvSpPr txBox="1"/>
          <p:nvPr/>
        </p:nvSpPr>
        <p:spPr>
          <a:xfrm>
            <a:off x="868680" y="4937760"/>
            <a:ext cx="1371600" cy="73152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solicitudes de crédito</a:t>
            </a:r>
            <a:endParaRPr lang="en-US" sz="1200" dirty="0"/>
          </a:p>
        </p:txBody>
      </p:sp>
      <p:sp>
        <p:nvSpPr>
          <p:cNvPr id="17" name="Shape 14"/>
          <p:cNvSpPr/>
          <p:nvPr/>
        </p:nvSpPr>
        <p:spPr>
          <a:xfrm>
            <a:off x="2450592" y="4114800"/>
            <a:ext cx="1554480" cy="1828800"/>
          </a:xfrm>
          <a:prstGeom prst="roundRect">
            <a:avLst>
              <a:gd name="adj" fmla="val 8235"/>
            </a:avLst>
          </a:prstGeom>
          <a:solidFill>
            <a:srgbClr val="1E293B"/>
          </a:solidFill>
          <a:ln w="12700">
            <a:solidFill>
              <a:srgbClr val="1E293B"/>
            </a:solidFill>
            <a:prstDash val="solid"/>
          </a:ln>
        </p:spPr>
      </p:sp>
      <p:sp>
        <p:nvSpPr>
          <p:cNvPr id="18" name="Text 15"/>
          <p:cNvSpPr txBox="1"/>
          <p:nvPr/>
        </p:nvSpPr>
        <p:spPr>
          <a:xfrm>
            <a:off x="2450592" y="4297680"/>
            <a:ext cx="1554480" cy="548640"/>
          </a:xfrm>
          <a:prstGeom prst="rect">
            <a:avLst/>
          </a:prstGeom>
          <a:noFill/>
          <a:ln/>
        </p:spPr>
        <p:txBody>
          <a:bodyPr wrap="square" lIns="0" tIns="0" rIns="0" bIns="0" rtlCol="0" anchor="t"/>
          <a:lstStyle/>
          <a:p>
            <a:pPr algn="ctr" indent="0" marL="0">
              <a:lnSpc>
                <a:spcPct val="110000"/>
              </a:lnSpc>
              <a:spcAft>
                <a:spcPts val="400"/>
              </a:spcAft>
              <a:buNone/>
            </a:pPr>
            <a:r>
              <a:rPr lang="en-US" sz="2600" b="1" dirty="0">
                <a:solidFill>
                  <a:schemeClr val="accent2"/>
                </a:solidFill>
                <a:latin typeface="Consolas" pitchFamily="34" charset="0"/>
                <a:ea typeface="Consolas" pitchFamily="34" charset="-122"/>
                <a:cs typeface="Consolas" pitchFamily="34" charset="-120"/>
              </a:rPr>
              <a:t>23</a:t>
            </a:r>
            <a:endParaRPr lang="en-US" sz="2600" dirty="0"/>
          </a:p>
        </p:txBody>
      </p:sp>
      <p:sp>
        <p:nvSpPr>
          <p:cNvPr id="19" name="Text 16"/>
          <p:cNvSpPr txBox="1"/>
          <p:nvPr/>
        </p:nvSpPr>
        <p:spPr>
          <a:xfrm>
            <a:off x="2542032" y="4937760"/>
            <a:ext cx="1371600" cy="73152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datos por persona</a:t>
            </a:r>
            <a:endParaRPr lang="en-US" sz="1200" dirty="0"/>
          </a:p>
        </p:txBody>
      </p:sp>
      <p:sp>
        <p:nvSpPr>
          <p:cNvPr id="20" name="Shape 17"/>
          <p:cNvSpPr/>
          <p:nvPr/>
        </p:nvSpPr>
        <p:spPr>
          <a:xfrm>
            <a:off x="4123944" y="4114800"/>
            <a:ext cx="1554480" cy="1828800"/>
          </a:xfrm>
          <a:prstGeom prst="roundRect">
            <a:avLst>
              <a:gd name="adj" fmla="val 8235"/>
            </a:avLst>
          </a:prstGeom>
          <a:solidFill>
            <a:srgbClr val="1E293B"/>
          </a:solidFill>
          <a:ln w="12700">
            <a:solidFill>
              <a:srgbClr val="1E293B"/>
            </a:solidFill>
            <a:prstDash val="solid"/>
          </a:ln>
        </p:spPr>
      </p:sp>
      <p:sp>
        <p:nvSpPr>
          <p:cNvPr id="21" name="Text 18"/>
          <p:cNvSpPr txBox="1"/>
          <p:nvPr/>
        </p:nvSpPr>
        <p:spPr>
          <a:xfrm>
            <a:off x="4123944" y="4297680"/>
            <a:ext cx="1554480" cy="548640"/>
          </a:xfrm>
          <a:prstGeom prst="rect">
            <a:avLst/>
          </a:prstGeom>
          <a:noFill/>
          <a:ln/>
        </p:spPr>
        <p:txBody>
          <a:bodyPr wrap="square" lIns="0" tIns="0" rIns="0" bIns="0" rtlCol="0" anchor="t"/>
          <a:lstStyle/>
          <a:p>
            <a:pPr algn="ctr" indent="0" marL="0">
              <a:lnSpc>
                <a:spcPct val="110000"/>
              </a:lnSpc>
              <a:spcAft>
                <a:spcPts val="400"/>
              </a:spcAft>
              <a:buNone/>
            </a:pPr>
            <a:r>
              <a:rPr lang="en-US" sz="2100" b="1" dirty="0">
                <a:solidFill>
                  <a:schemeClr val="accent2"/>
                </a:solidFill>
                <a:latin typeface="Consolas" pitchFamily="34" charset="0"/>
                <a:ea typeface="Consolas" pitchFamily="34" charset="-122"/>
                <a:cs typeface="Consolas" pitchFamily="34" charset="-120"/>
              </a:rPr>
              <a:t>50 / 50</a:t>
            </a:r>
            <a:endParaRPr lang="en-US" sz="2100" dirty="0"/>
          </a:p>
        </p:txBody>
      </p:sp>
      <p:sp>
        <p:nvSpPr>
          <p:cNvPr id="22" name="Text 19"/>
          <p:cNvSpPr txBox="1"/>
          <p:nvPr/>
        </p:nvSpPr>
        <p:spPr>
          <a:xfrm>
            <a:off x="4215384" y="4937760"/>
            <a:ext cx="1371600" cy="731520"/>
          </a:xfrm>
          <a:prstGeom prst="rect">
            <a:avLst/>
          </a:prstGeom>
          <a:noFill/>
          <a:ln/>
        </p:spPr>
        <p:txBody>
          <a:bodyPr wrap="square" lIns="0" tIns="0" rIns="0" bIns="0" rtlCol="0" anchor="t"/>
          <a:lstStyle/>
          <a:p>
            <a:pPr algn="ctr" indent="0" marL="0">
              <a:lnSpc>
                <a:spcPct val="110000"/>
              </a:lnSpc>
              <a:spcAft>
                <a:spcPts val="400"/>
              </a:spcAft>
              <a:buNone/>
            </a:pPr>
            <a:r>
              <a:rPr lang="en-US" sz="1200" dirty="0">
                <a:solidFill>
                  <a:schemeClr val="bg2"/>
                </a:solidFill>
              </a:rPr>
              <a:t>aptos / no aptos</a:t>
            </a:r>
            <a:endParaRPr lang="en-US" sz="1200" dirty="0"/>
          </a:p>
        </p:txBody>
      </p:sp>
      <p:sp>
        <p:nvSpPr>
          <p:cNvPr id="23" name="Shape 20"/>
          <p:cNvSpPr/>
          <p:nvPr/>
        </p:nvSpPr>
        <p:spPr>
          <a:xfrm>
            <a:off x="6172200" y="1188720"/>
            <a:ext cx="5468112" cy="4983480"/>
          </a:xfrm>
          <a:prstGeom prst="roundRect">
            <a:avLst>
              <a:gd name="adj" fmla="val 2569"/>
            </a:avLst>
          </a:prstGeom>
          <a:solidFill>
            <a:schemeClr val="tx2">
              <a:alpha val="92000"/>
            </a:schemeClr>
          </a:solidFill>
          <a:ln w="12700">
            <a:solidFill>
              <a:srgbClr val="1E293B"/>
            </a:solidFill>
            <a:prstDash val="solid"/>
          </a:ln>
        </p:spPr>
      </p:sp>
      <p:sp>
        <p:nvSpPr>
          <p:cNvPr id="24" name="Text 21"/>
          <p:cNvSpPr txBox="1"/>
          <p:nvPr/>
        </p:nvSpPr>
        <p:spPr>
          <a:xfrm>
            <a:off x="6400800" y="1371600"/>
            <a:ext cx="50292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DIVISIÓN DE LOS DATOS (70 / 15 / 15)</a:t>
            </a:r>
            <a:endParaRPr lang="en-US" sz="1050" dirty="0"/>
          </a:p>
        </p:txBody>
      </p:sp>
      <p:sp>
        <p:nvSpPr>
          <p:cNvPr id="25" name="Shape 22"/>
          <p:cNvSpPr/>
          <p:nvPr/>
        </p:nvSpPr>
        <p:spPr>
          <a:xfrm>
            <a:off x="6400800" y="1737360"/>
            <a:ext cx="3461918" cy="548640"/>
          </a:xfrm>
          <a:prstGeom prst="roundRect">
            <a:avLst>
              <a:gd name="adj" fmla="val 16667"/>
            </a:avLst>
          </a:prstGeom>
          <a:solidFill>
            <a:srgbClr val="3B82F6"/>
          </a:solidFill>
          <a:ln w="12700">
            <a:solidFill>
              <a:srgbClr val="3B82F6"/>
            </a:solidFill>
            <a:prstDash val="solid"/>
          </a:ln>
        </p:spPr>
      </p:sp>
      <p:sp>
        <p:nvSpPr>
          <p:cNvPr id="26" name="Text 23"/>
          <p:cNvSpPr txBox="1"/>
          <p:nvPr/>
        </p:nvSpPr>
        <p:spPr>
          <a:xfrm>
            <a:off x="6400800" y="1737360"/>
            <a:ext cx="3461918" cy="548640"/>
          </a:xfrm>
          <a:prstGeom prst="rect">
            <a:avLst/>
          </a:prstGeom>
          <a:noFill/>
          <a:ln/>
        </p:spPr>
        <p:txBody>
          <a:bodyPr wrap="square" lIns="0" tIns="0" rIns="0" bIns="0" rtlCol="0" anchor="ctr"/>
          <a:lstStyle/>
          <a:p>
            <a:pPr algn="ctr" indent="0" marL="0">
              <a:buNone/>
            </a:pPr>
            <a:r>
              <a:rPr lang="en-US" sz="1500" b="1" dirty="0">
                <a:solidFill>
                  <a:schemeClr val="tx1"/>
                </a:solidFill>
              </a:rPr>
              <a:t>70 %</a:t>
            </a:r>
            <a:endParaRPr lang="en-US" sz="1500" dirty="0"/>
          </a:p>
        </p:txBody>
      </p:sp>
      <p:sp>
        <p:nvSpPr>
          <p:cNvPr id="27" name="Shape 24"/>
          <p:cNvSpPr/>
          <p:nvPr/>
        </p:nvSpPr>
        <p:spPr>
          <a:xfrm>
            <a:off x="9908438" y="1737360"/>
            <a:ext cx="705866" cy="548640"/>
          </a:xfrm>
          <a:prstGeom prst="roundRect">
            <a:avLst>
              <a:gd name="adj" fmla="val 16667"/>
            </a:avLst>
          </a:prstGeom>
          <a:solidFill>
            <a:srgbClr val="F59E0B"/>
          </a:solidFill>
          <a:ln w="12700">
            <a:solidFill>
              <a:srgbClr val="F59E0B"/>
            </a:solidFill>
            <a:prstDash val="solid"/>
          </a:ln>
        </p:spPr>
      </p:sp>
      <p:sp>
        <p:nvSpPr>
          <p:cNvPr id="28" name="Text 25"/>
          <p:cNvSpPr txBox="1"/>
          <p:nvPr/>
        </p:nvSpPr>
        <p:spPr>
          <a:xfrm>
            <a:off x="9908438" y="1737360"/>
            <a:ext cx="705866" cy="548640"/>
          </a:xfrm>
          <a:prstGeom prst="rect">
            <a:avLst/>
          </a:prstGeom>
          <a:noFill/>
          <a:ln/>
        </p:spPr>
        <p:txBody>
          <a:bodyPr wrap="square" lIns="0" tIns="0" rIns="0" bIns="0" rtlCol="0" anchor="ctr"/>
          <a:lstStyle/>
          <a:p>
            <a:pPr algn="ctr" indent="0" marL="0">
              <a:buNone/>
            </a:pPr>
            <a:r>
              <a:rPr lang="en-US" sz="1500" b="1" dirty="0">
                <a:solidFill>
                  <a:schemeClr val="tx1"/>
                </a:solidFill>
              </a:rPr>
              <a:t>15 %</a:t>
            </a:r>
            <a:endParaRPr lang="en-US" sz="1500" dirty="0"/>
          </a:p>
        </p:txBody>
      </p:sp>
      <p:sp>
        <p:nvSpPr>
          <p:cNvPr id="29" name="Shape 26"/>
          <p:cNvSpPr/>
          <p:nvPr/>
        </p:nvSpPr>
        <p:spPr>
          <a:xfrm>
            <a:off x="10660025" y="1737360"/>
            <a:ext cx="705967" cy="548640"/>
          </a:xfrm>
          <a:prstGeom prst="roundRect">
            <a:avLst>
              <a:gd name="adj" fmla="val 16667"/>
            </a:avLst>
          </a:prstGeom>
          <a:solidFill>
            <a:srgbClr val="34D399"/>
          </a:solidFill>
          <a:ln w="12700">
            <a:solidFill>
              <a:srgbClr val="34D399"/>
            </a:solidFill>
            <a:prstDash val="solid"/>
          </a:ln>
        </p:spPr>
      </p:sp>
      <p:sp>
        <p:nvSpPr>
          <p:cNvPr id="30" name="Text 27"/>
          <p:cNvSpPr txBox="1"/>
          <p:nvPr/>
        </p:nvSpPr>
        <p:spPr>
          <a:xfrm>
            <a:off x="10660025" y="1737360"/>
            <a:ext cx="705967" cy="548640"/>
          </a:xfrm>
          <a:prstGeom prst="rect">
            <a:avLst/>
          </a:prstGeom>
          <a:noFill/>
          <a:ln/>
        </p:spPr>
        <p:txBody>
          <a:bodyPr wrap="square" lIns="0" tIns="0" rIns="0" bIns="0" rtlCol="0" anchor="ctr"/>
          <a:lstStyle/>
          <a:p>
            <a:pPr algn="ctr" indent="0" marL="0">
              <a:buNone/>
            </a:pPr>
            <a:r>
              <a:rPr lang="en-US" sz="1500" b="1" dirty="0">
                <a:solidFill>
                  <a:schemeClr val="tx1"/>
                </a:solidFill>
              </a:rPr>
              <a:t>15 %</a:t>
            </a:r>
            <a:endParaRPr lang="en-US" sz="1500" dirty="0"/>
          </a:p>
        </p:txBody>
      </p:sp>
      <p:sp>
        <p:nvSpPr>
          <p:cNvPr id="31" name="Shape 28"/>
          <p:cNvSpPr/>
          <p:nvPr/>
        </p:nvSpPr>
        <p:spPr>
          <a:xfrm>
            <a:off x="6400800" y="2587752"/>
            <a:ext cx="182880" cy="182880"/>
          </a:xfrm>
          <a:prstGeom prst="ellipse">
            <a:avLst/>
          </a:prstGeom>
          <a:solidFill>
            <a:srgbClr val="3B82F6"/>
          </a:solidFill>
          <a:ln w="12700">
            <a:solidFill>
              <a:srgbClr val="3B82F6"/>
            </a:solidFill>
            <a:prstDash val="solid"/>
          </a:ln>
        </p:spPr>
      </p:sp>
      <p:sp>
        <p:nvSpPr>
          <p:cNvPr id="32" name="Text 29"/>
          <p:cNvSpPr txBox="1"/>
          <p:nvPr/>
        </p:nvSpPr>
        <p:spPr>
          <a:xfrm>
            <a:off x="6720840" y="2514600"/>
            <a:ext cx="20116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Entrenamiento</a:t>
            </a:r>
            <a:endParaRPr lang="en-US" sz="1450" dirty="0"/>
          </a:p>
        </p:txBody>
      </p:sp>
      <p:sp>
        <p:nvSpPr>
          <p:cNvPr id="33" name="Text 30"/>
          <p:cNvSpPr txBox="1"/>
          <p:nvPr/>
        </p:nvSpPr>
        <p:spPr>
          <a:xfrm>
            <a:off x="8915400" y="2532888"/>
            <a:ext cx="2468880" cy="320040"/>
          </a:xfrm>
          <a:prstGeom prst="rect">
            <a:avLst/>
          </a:prstGeom>
          <a:noFill/>
          <a:ln/>
        </p:spPr>
        <p:txBody>
          <a:bodyPr wrap="square" lIns="0" tIns="0" rIns="0" bIns="0" rtlCol="0" anchor="t"/>
          <a:lstStyle/>
          <a:p>
            <a:pPr algn="r"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34.755 clientes</a:t>
            </a:r>
            <a:endParaRPr lang="en-US" sz="1200" dirty="0"/>
          </a:p>
        </p:txBody>
      </p:sp>
      <p:sp>
        <p:nvSpPr>
          <p:cNvPr id="34" name="Text 31"/>
          <p:cNvSpPr txBox="1"/>
          <p:nvPr/>
        </p:nvSpPr>
        <p:spPr>
          <a:xfrm>
            <a:off x="6720840" y="2862072"/>
            <a:ext cx="4709160" cy="5029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El «libro de ejercicios»: con estos la red aprende y ajusta sus pesos.</a:t>
            </a:r>
            <a:endParaRPr lang="en-US" sz="1250" dirty="0"/>
          </a:p>
        </p:txBody>
      </p:sp>
      <p:sp>
        <p:nvSpPr>
          <p:cNvPr id="35" name="Shape 32"/>
          <p:cNvSpPr/>
          <p:nvPr/>
        </p:nvSpPr>
        <p:spPr>
          <a:xfrm>
            <a:off x="6400800" y="3502152"/>
            <a:ext cx="182880" cy="182880"/>
          </a:xfrm>
          <a:prstGeom prst="ellipse">
            <a:avLst/>
          </a:prstGeom>
          <a:solidFill>
            <a:srgbClr val="F59E0B"/>
          </a:solidFill>
          <a:ln w="12700">
            <a:solidFill>
              <a:srgbClr val="F59E0B"/>
            </a:solidFill>
            <a:prstDash val="solid"/>
          </a:ln>
        </p:spPr>
      </p:sp>
      <p:sp>
        <p:nvSpPr>
          <p:cNvPr id="36" name="Text 33"/>
          <p:cNvSpPr txBox="1"/>
          <p:nvPr/>
        </p:nvSpPr>
        <p:spPr>
          <a:xfrm>
            <a:off x="6720840" y="3429000"/>
            <a:ext cx="20116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Validación</a:t>
            </a:r>
            <a:endParaRPr lang="en-US" sz="1450" dirty="0"/>
          </a:p>
        </p:txBody>
      </p:sp>
      <p:sp>
        <p:nvSpPr>
          <p:cNvPr id="37" name="Text 34"/>
          <p:cNvSpPr txBox="1"/>
          <p:nvPr/>
        </p:nvSpPr>
        <p:spPr>
          <a:xfrm>
            <a:off x="8915400" y="3447288"/>
            <a:ext cx="2468880" cy="320040"/>
          </a:xfrm>
          <a:prstGeom prst="rect">
            <a:avLst/>
          </a:prstGeom>
          <a:noFill/>
          <a:ln/>
        </p:spPr>
        <p:txBody>
          <a:bodyPr wrap="square" lIns="0" tIns="0" rIns="0" bIns="0" rtlCol="0" anchor="t"/>
          <a:lstStyle/>
          <a:p>
            <a:pPr algn="r"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7.447 clientes</a:t>
            </a:r>
            <a:endParaRPr lang="en-US" sz="1200" dirty="0"/>
          </a:p>
        </p:txBody>
      </p:sp>
      <p:sp>
        <p:nvSpPr>
          <p:cNvPr id="38" name="Text 35"/>
          <p:cNvSpPr txBox="1"/>
          <p:nvPr/>
        </p:nvSpPr>
        <p:spPr>
          <a:xfrm>
            <a:off x="6720840" y="3776472"/>
            <a:ext cx="4709160" cy="5029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Los «simulacros»: para comparar versiones y decidir cuándo parar.</a:t>
            </a:r>
            <a:endParaRPr lang="en-US" sz="1250" dirty="0"/>
          </a:p>
        </p:txBody>
      </p:sp>
      <p:sp>
        <p:nvSpPr>
          <p:cNvPr id="39" name="Shape 36"/>
          <p:cNvSpPr/>
          <p:nvPr/>
        </p:nvSpPr>
        <p:spPr>
          <a:xfrm>
            <a:off x="6400800" y="4416552"/>
            <a:ext cx="182880" cy="182880"/>
          </a:xfrm>
          <a:prstGeom prst="ellipse">
            <a:avLst/>
          </a:prstGeom>
          <a:solidFill>
            <a:srgbClr val="34D399"/>
          </a:solidFill>
          <a:ln w="12700">
            <a:solidFill>
              <a:srgbClr val="34D399"/>
            </a:solidFill>
            <a:prstDash val="solid"/>
          </a:ln>
        </p:spPr>
      </p:sp>
      <p:sp>
        <p:nvSpPr>
          <p:cNvPr id="40" name="Text 37"/>
          <p:cNvSpPr txBox="1"/>
          <p:nvPr/>
        </p:nvSpPr>
        <p:spPr>
          <a:xfrm>
            <a:off x="6720840" y="4343400"/>
            <a:ext cx="20116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Prueba (Test)</a:t>
            </a:r>
            <a:endParaRPr lang="en-US" sz="1450" dirty="0"/>
          </a:p>
        </p:txBody>
      </p:sp>
      <p:sp>
        <p:nvSpPr>
          <p:cNvPr id="41" name="Text 38"/>
          <p:cNvSpPr txBox="1"/>
          <p:nvPr/>
        </p:nvSpPr>
        <p:spPr>
          <a:xfrm>
            <a:off x="8915400" y="4361688"/>
            <a:ext cx="2468880" cy="320040"/>
          </a:xfrm>
          <a:prstGeom prst="rect">
            <a:avLst/>
          </a:prstGeom>
          <a:noFill/>
          <a:ln/>
        </p:spPr>
        <p:txBody>
          <a:bodyPr wrap="square" lIns="0" tIns="0" rIns="0" bIns="0" rtlCol="0" anchor="t"/>
          <a:lstStyle/>
          <a:p>
            <a:pPr algn="r"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7.448 clientes</a:t>
            </a:r>
            <a:endParaRPr lang="en-US" sz="1200" dirty="0"/>
          </a:p>
        </p:txBody>
      </p:sp>
      <p:sp>
        <p:nvSpPr>
          <p:cNvPr id="42" name="Text 39"/>
          <p:cNvSpPr txBox="1"/>
          <p:nvPr/>
        </p:nvSpPr>
        <p:spPr>
          <a:xfrm>
            <a:off x="6720840" y="4690872"/>
            <a:ext cx="4709160" cy="5029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El «examen final»: guardado sin tocar y usado una sola vez.</a:t>
            </a:r>
            <a:endParaRPr lang="en-US" sz="1250" dirty="0"/>
          </a:p>
        </p:txBody>
      </p:sp>
      <p:sp>
        <p:nvSpPr>
          <p:cNvPr id="43" name="Shape 40"/>
          <p:cNvSpPr/>
          <p:nvPr/>
        </p:nvSpPr>
        <p:spPr>
          <a:xfrm>
            <a:off x="6400800" y="5303520"/>
            <a:ext cx="5010912" cy="731520"/>
          </a:xfrm>
          <a:prstGeom prst="roundRect">
            <a:avLst>
              <a:gd name="adj" fmla="val 17500"/>
            </a:avLst>
          </a:prstGeom>
          <a:solidFill>
            <a:srgbClr val="1E3A8A">
              <a:alpha val="45000"/>
            </a:srgbClr>
          </a:solidFill>
          <a:ln w="12700">
            <a:solidFill>
              <a:srgbClr val="3B82F6"/>
            </a:solidFill>
            <a:prstDash val="solid"/>
          </a:ln>
        </p:spPr>
      </p:sp>
      <p:sp>
        <p:nvSpPr>
          <p:cNvPr id="44" name="Text 41"/>
          <p:cNvSpPr txBox="1"/>
          <p:nvPr/>
        </p:nvSpPr>
        <p:spPr>
          <a:xfrm>
            <a:off x="6583680" y="5303520"/>
            <a:ext cx="4663440" cy="73152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La división se hizo antes de cualquier cálculo y con la misma proporción de aptos en cada grupo: así la nota final es honesta.</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Preparación de los datos: de 23 a 44 variables</a:t>
            </a:r>
            <a:endParaRPr lang="en-US" sz="2200" dirty="0"/>
          </a:p>
        </p:txBody>
      </p:sp>
      <p:sp>
        <p:nvSpPr>
          <p:cNvPr id="4" name="Shape 1"/>
          <p:cNvSpPr/>
          <p:nvPr/>
        </p:nvSpPr>
        <p:spPr>
          <a:xfrm>
            <a:off x="548640"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5" name="Text 2"/>
          <p:cNvSpPr txBox="1"/>
          <p:nvPr/>
        </p:nvSpPr>
        <p:spPr>
          <a:xfrm>
            <a:off x="749808"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1</a:t>
            </a:r>
            <a:endParaRPr lang="en-US" sz="950" dirty="0"/>
          </a:p>
        </p:txBody>
      </p:sp>
      <p:sp>
        <p:nvSpPr>
          <p:cNvPr id="6" name="Text 3"/>
          <p:cNvSpPr txBox="1"/>
          <p:nvPr/>
        </p:nvSpPr>
        <p:spPr>
          <a:xfrm>
            <a:off x="749808"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Limpiar</a:t>
            </a:r>
            <a:endParaRPr lang="en-US" sz="1500" dirty="0"/>
          </a:p>
        </p:txBody>
      </p:sp>
      <p:sp>
        <p:nvSpPr>
          <p:cNvPr id="7" name="Text 4"/>
          <p:cNvSpPr txBox="1"/>
          <p:nvPr/>
        </p:nvSpPr>
        <p:spPr>
          <a:xfrm>
            <a:off x="749808"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Se quita el número de solicitud y la columna que era la respuesta disfrazada (sería hacer trampa).</a:t>
            </a:r>
            <a:endParaRPr lang="en-US" sz="1200" dirty="0"/>
          </a:p>
        </p:txBody>
      </p:sp>
      <p:sp>
        <p:nvSpPr>
          <p:cNvPr id="8" name="Shape 5"/>
          <p:cNvSpPr/>
          <p:nvPr/>
        </p:nvSpPr>
        <p:spPr>
          <a:xfrm>
            <a:off x="3364992"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9" name="Text 6"/>
          <p:cNvSpPr txBox="1"/>
          <p:nvPr/>
        </p:nvSpPr>
        <p:spPr>
          <a:xfrm>
            <a:off x="3566160"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2</a:t>
            </a:r>
            <a:endParaRPr lang="en-US" sz="950" dirty="0"/>
          </a:p>
        </p:txBody>
      </p:sp>
      <p:sp>
        <p:nvSpPr>
          <p:cNvPr id="10" name="Text 7"/>
          <p:cNvSpPr txBox="1"/>
          <p:nvPr/>
        </p:nvSpPr>
        <p:spPr>
          <a:xfrm>
            <a:off x="3566160"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Rellenar vacíos</a:t>
            </a:r>
            <a:endParaRPr lang="en-US" sz="1500" dirty="0"/>
          </a:p>
        </p:txBody>
      </p:sp>
      <p:sp>
        <p:nvSpPr>
          <p:cNvPr id="11" name="Text 8"/>
          <p:cNvSpPr txBox="1"/>
          <p:nvPr/>
        </p:nvSpPr>
        <p:spPr>
          <a:xfrm>
            <a:off x="3566160"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Se usa el valor típico (mediana) y se agrega un aviso de que el dato faltaba.</a:t>
            </a:r>
            <a:endParaRPr lang="en-US" sz="1200" dirty="0"/>
          </a:p>
        </p:txBody>
      </p:sp>
      <p:sp>
        <p:nvSpPr>
          <p:cNvPr id="12" name="Shape 9"/>
          <p:cNvSpPr/>
          <p:nvPr/>
        </p:nvSpPr>
        <p:spPr>
          <a:xfrm>
            <a:off x="6181344"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13" name="Text 10"/>
          <p:cNvSpPr txBox="1"/>
          <p:nvPr/>
        </p:nvSpPr>
        <p:spPr>
          <a:xfrm>
            <a:off x="6382512"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3</a:t>
            </a:r>
            <a:endParaRPr lang="en-US" sz="950" dirty="0"/>
          </a:p>
        </p:txBody>
      </p:sp>
      <p:sp>
        <p:nvSpPr>
          <p:cNvPr id="14" name="Text 11"/>
          <p:cNvSpPr txBox="1"/>
          <p:nvPr/>
        </p:nvSpPr>
        <p:spPr>
          <a:xfrm>
            <a:off x="6382512"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Suavizar extremos</a:t>
            </a:r>
            <a:endParaRPr lang="en-US" sz="1500" dirty="0"/>
          </a:p>
        </p:txBody>
      </p:sp>
      <p:sp>
        <p:nvSpPr>
          <p:cNvPr id="15" name="Text 12"/>
          <p:cNvSpPr txBox="1"/>
          <p:nvPr/>
        </p:nvSpPr>
        <p:spPr>
          <a:xfrm>
            <a:off x="6382512"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Ingresos y deudas muy grandes se recortan y se comprimen con logaritmo.</a:t>
            </a:r>
            <a:endParaRPr lang="en-US" sz="1200" dirty="0"/>
          </a:p>
        </p:txBody>
      </p:sp>
      <p:sp>
        <p:nvSpPr>
          <p:cNvPr id="16" name="Shape 13"/>
          <p:cNvSpPr/>
          <p:nvPr/>
        </p:nvSpPr>
        <p:spPr>
          <a:xfrm>
            <a:off x="8997696" y="1188720"/>
            <a:ext cx="2606040" cy="1783080"/>
          </a:xfrm>
          <a:prstGeom prst="roundRect">
            <a:avLst>
              <a:gd name="adj" fmla="val 7179"/>
            </a:avLst>
          </a:prstGeom>
          <a:solidFill>
            <a:schemeClr val="tx2">
              <a:alpha val="92000"/>
            </a:schemeClr>
          </a:solidFill>
          <a:ln w="12700">
            <a:solidFill>
              <a:srgbClr val="1E293B"/>
            </a:solidFill>
            <a:prstDash val="solid"/>
          </a:ln>
        </p:spPr>
      </p:sp>
      <p:sp>
        <p:nvSpPr>
          <p:cNvPr id="17" name="Text 14"/>
          <p:cNvSpPr txBox="1"/>
          <p:nvPr/>
        </p:nvSpPr>
        <p:spPr>
          <a:xfrm>
            <a:off x="9198864" y="129844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PASO 4</a:t>
            </a:r>
            <a:endParaRPr lang="en-US" sz="950" dirty="0"/>
          </a:p>
        </p:txBody>
      </p:sp>
      <p:sp>
        <p:nvSpPr>
          <p:cNvPr id="18" name="Text 15"/>
          <p:cNvSpPr txBox="1"/>
          <p:nvPr/>
        </p:nvSpPr>
        <p:spPr>
          <a:xfrm>
            <a:off x="9198864" y="155448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Traducir y escalar</a:t>
            </a:r>
            <a:endParaRPr lang="en-US" sz="1500" dirty="0"/>
          </a:p>
        </p:txBody>
      </p:sp>
      <p:sp>
        <p:nvSpPr>
          <p:cNvPr id="19" name="Text 16"/>
          <p:cNvSpPr txBox="1"/>
          <p:nvPr/>
        </p:nvSpPr>
        <p:spPr>
          <a:xfrm>
            <a:off x="9198864" y="1920240"/>
            <a:ext cx="2240280" cy="100584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Las categorías pasan a columnas 0/1 y todo queda en la misma escala.</a:t>
            </a:r>
            <a:endParaRPr lang="en-US" sz="1200" dirty="0"/>
          </a:p>
        </p:txBody>
      </p:sp>
      <p:sp>
        <p:nvSpPr>
          <p:cNvPr id="20" name="Shape 17"/>
          <p:cNvSpPr/>
          <p:nvPr/>
        </p:nvSpPr>
        <p:spPr>
          <a:xfrm>
            <a:off x="548640" y="3154680"/>
            <a:ext cx="2148840" cy="731520"/>
          </a:xfrm>
          <a:prstGeom prst="roundRect">
            <a:avLst>
              <a:gd name="adj" fmla="val 17500"/>
            </a:avLst>
          </a:prstGeom>
          <a:solidFill>
            <a:schemeClr val="tx2">
              <a:alpha val="92000"/>
            </a:schemeClr>
          </a:solidFill>
          <a:ln w="12700">
            <a:solidFill>
              <a:srgbClr val="1E293B"/>
            </a:solidFill>
            <a:prstDash val="solid"/>
          </a:ln>
        </p:spPr>
      </p:sp>
      <p:sp>
        <p:nvSpPr>
          <p:cNvPr id="21" name="Text 18"/>
          <p:cNvSpPr txBox="1"/>
          <p:nvPr/>
        </p:nvSpPr>
        <p:spPr>
          <a:xfrm>
            <a:off x="73152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3B82F6"/>
                </a:solidFill>
                <a:latin typeface="Consolas" pitchFamily="34" charset="0"/>
                <a:ea typeface="Consolas" pitchFamily="34" charset="-122"/>
                <a:cs typeface="Consolas" pitchFamily="34" charset="-120"/>
              </a:rPr>
              <a:t>19</a:t>
            </a:r>
            <a:endParaRPr lang="en-US" sz="2600" dirty="0"/>
          </a:p>
        </p:txBody>
      </p:sp>
      <p:sp>
        <p:nvSpPr>
          <p:cNvPr id="22" name="Text 19"/>
          <p:cNvSpPr txBox="1"/>
          <p:nvPr/>
        </p:nvSpPr>
        <p:spPr>
          <a:xfrm>
            <a:off x="1463040" y="3154680"/>
            <a:ext cx="1143000"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numéricas</a:t>
            </a:r>
            <a:endParaRPr lang="en-US" sz="1250" dirty="0"/>
          </a:p>
        </p:txBody>
      </p:sp>
      <p:sp>
        <p:nvSpPr>
          <p:cNvPr id="23" name="Text 20"/>
          <p:cNvSpPr txBox="1"/>
          <p:nvPr/>
        </p:nvSpPr>
        <p:spPr>
          <a:xfrm>
            <a:off x="2697480" y="3154680"/>
            <a:ext cx="411480" cy="731520"/>
          </a:xfrm>
          <a:prstGeom prst="rect">
            <a:avLst/>
          </a:prstGeom>
          <a:noFill/>
          <a:ln/>
        </p:spPr>
        <p:txBody>
          <a:bodyPr wrap="square" lIns="0" tIns="0" rIns="0" bIns="0" rtlCol="0" anchor="ctr"/>
          <a:lstStyle/>
          <a:p>
            <a:pPr algn="ctr" indent="0" marL="0">
              <a:lnSpc>
                <a:spcPct val="110000"/>
              </a:lnSpc>
              <a:spcAft>
                <a:spcPts val="400"/>
              </a:spcAft>
              <a:buNone/>
            </a:pPr>
            <a:r>
              <a:rPr lang="en-US" sz="2400" b="1" dirty="0">
                <a:solidFill>
                  <a:srgbClr val="94A3B8"/>
                </a:solidFill>
              </a:rPr>
              <a:t>+</a:t>
            </a:r>
            <a:endParaRPr lang="en-US" sz="2400" dirty="0"/>
          </a:p>
        </p:txBody>
      </p:sp>
      <p:sp>
        <p:nvSpPr>
          <p:cNvPr id="24" name="Shape 21"/>
          <p:cNvSpPr/>
          <p:nvPr/>
        </p:nvSpPr>
        <p:spPr>
          <a:xfrm>
            <a:off x="3108960" y="3154680"/>
            <a:ext cx="2606040" cy="731520"/>
          </a:xfrm>
          <a:prstGeom prst="roundRect">
            <a:avLst>
              <a:gd name="adj" fmla="val 17500"/>
            </a:avLst>
          </a:prstGeom>
          <a:solidFill>
            <a:schemeClr val="tx2">
              <a:alpha val="92000"/>
            </a:schemeClr>
          </a:solidFill>
          <a:ln w="12700">
            <a:solidFill>
              <a:srgbClr val="1E293B"/>
            </a:solidFill>
            <a:prstDash val="solid"/>
          </a:ln>
        </p:spPr>
      </p:sp>
      <p:sp>
        <p:nvSpPr>
          <p:cNvPr id="25" name="Text 22"/>
          <p:cNvSpPr txBox="1"/>
          <p:nvPr/>
        </p:nvSpPr>
        <p:spPr>
          <a:xfrm>
            <a:off x="329184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F59E0B"/>
                </a:solidFill>
                <a:latin typeface="Consolas" pitchFamily="34" charset="0"/>
                <a:ea typeface="Consolas" pitchFamily="34" charset="-122"/>
                <a:cs typeface="Consolas" pitchFamily="34" charset="-120"/>
              </a:rPr>
              <a:t>7</a:t>
            </a:r>
            <a:endParaRPr lang="en-US" sz="2600" dirty="0"/>
          </a:p>
        </p:txBody>
      </p:sp>
      <p:sp>
        <p:nvSpPr>
          <p:cNvPr id="26" name="Text 23"/>
          <p:cNvSpPr txBox="1"/>
          <p:nvPr/>
        </p:nvSpPr>
        <p:spPr>
          <a:xfrm>
            <a:off x="4023360" y="3154680"/>
            <a:ext cx="1600200"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avisos de dato faltante</a:t>
            </a:r>
            <a:endParaRPr lang="en-US" sz="1250" dirty="0"/>
          </a:p>
        </p:txBody>
      </p:sp>
      <p:sp>
        <p:nvSpPr>
          <p:cNvPr id="27" name="Text 24"/>
          <p:cNvSpPr txBox="1"/>
          <p:nvPr/>
        </p:nvSpPr>
        <p:spPr>
          <a:xfrm>
            <a:off x="5715000" y="3154680"/>
            <a:ext cx="411480" cy="731520"/>
          </a:xfrm>
          <a:prstGeom prst="rect">
            <a:avLst/>
          </a:prstGeom>
          <a:noFill/>
          <a:ln/>
        </p:spPr>
        <p:txBody>
          <a:bodyPr wrap="square" lIns="0" tIns="0" rIns="0" bIns="0" rtlCol="0" anchor="ctr"/>
          <a:lstStyle/>
          <a:p>
            <a:pPr algn="ctr" indent="0" marL="0">
              <a:lnSpc>
                <a:spcPct val="110000"/>
              </a:lnSpc>
              <a:spcAft>
                <a:spcPts val="400"/>
              </a:spcAft>
              <a:buNone/>
            </a:pPr>
            <a:r>
              <a:rPr lang="en-US" sz="2400" b="1" dirty="0">
                <a:solidFill>
                  <a:srgbClr val="94A3B8"/>
                </a:solidFill>
              </a:rPr>
              <a:t>+</a:t>
            </a:r>
            <a:endParaRPr lang="en-US" sz="2400" dirty="0"/>
          </a:p>
        </p:txBody>
      </p:sp>
      <p:sp>
        <p:nvSpPr>
          <p:cNvPr id="28" name="Shape 25"/>
          <p:cNvSpPr/>
          <p:nvPr/>
        </p:nvSpPr>
        <p:spPr>
          <a:xfrm>
            <a:off x="6126480" y="3154680"/>
            <a:ext cx="2606040" cy="731520"/>
          </a:xfrm>
          <a:prstGeom prst="roundRect">
            <a:avLst>
              <a:gd name="adj" fmla="val 17500"/>
            </a:avLst>
          </a:prstGeom>
          <a:solidFill>
            <a:schemeClr val="tx2">
              <a:alpha val="92000"/>
            </a:schemeClr>
          </a:solidFill>
          <a:ln w="12700">
            <a:solidFill>
              <a:srgbClr val="1E293B"/>
            </a:solidFill>
            <a:prstDash val="solid"/>
          </a:ln>
        </p:spPr>
      </p:sp>
      <p:sp>
        <p:nvSpPr>
          <p:cNvPr id="29" name="Text 26"/>
          <p:cNvSpPr txBox="1"/>
          <p:nvPr/>
        </p:nvSpPr>
        <p:spPr>
          <a:xfrm>
            <a:off x="630936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34D399"/>
                </a:solidFill>
                <a:latin typeface="Consolas" pitchFamily="34" charset="0"/>
                <a:ea typeface="Consolas" pitchFamily="34" charset="-122"/>
                <a:cs typeface="Consolas" pitchFamily="34" charset="-120"/>
              </a:rPr>
              <a:t>18</a:t>
            </a:r>
            <a:endParaRPr lang="en-US" sz="2600" dirty="0"/>
          </a:p>
        </p:txBody>
      </p:sp>
      <p:sp>
        <p:nvSpPr>
          <p:cNvPr id="30" name="Text 27"/>
          <p:cNvSpPr txBox="1"/>
          <p:nvPr/>
        </p:nvSpPr>
        <p:spPr>
          <a:xfrm>
            <a:off x="7040880" y="3154680"/>
            <a:ext cx="1600200"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columnas de categorías</a:t>
            </a:r>
            <a:endParaRPr lang="en-US" sz="1250" dirty="0"/>
          </a:p>
        </p:txBody>
      </p:sp>
      <p:sp>
        <p:nvSpPr>
          <p:cNvPr id="31" name="Text 28"/>
          <p:cNvSpPr txBox="1"/>
          <p:nvPr/>
        </p:nvSpPr>
        <p:spPr>
          <a:xfrm>
            <a:off x="8732520" y="3154680"/>
            <a:ext cx="411480" cy="731520"/>
          </a:xfrm>
          <a:prstGeom prst="rect">
            <a:avLst/>
          </a:prstGeom>
          <a:noFill/>
          <a:ln/>
        </p:spPr>
        <p:txBody>
          <a:bodyPr wrap="square" lIns="0" tIns="0" rIns="0" bIns="0" rtlCol="0" anchor="ctr"/>
          <a:lstStyle/>
          <a:p>
            <a:pPr algn="ctr" indent="0" marL="0">
              <a:lnSpc>
                <a:spcPct val="110000"/>
              </a:lnSpc>
              <a:spcAft>
                <a:spcPts val="400"/>
              </a:spcAft>
              <a:buNone/>
            </a:pPr>
            <a:r>
              <a:rPr lang="en-US" sz="2400" b="1" dirty="0">
                <a:solidFill>
                  <a:srgbClr val="94A3B8"/>
                </a:solidFill>
              </a:rPr>
              <a:t>=</a:t>
            </a:r>
            <a:endParaRPr lang="en-US" sz="2400" dirty="0"/>
          </a:p>
        </p:txBody>
      </p:sp>
      <p:sp>
        <p:nvSpPr>
          <p:cNvPr id="32" name="Shape 29"/>
          <p:cNvSpPr/>
          <p:nvPr/>
        </p:nvSpPr>
        <p:spPr>
          <a:xfrm>
            <a:off x="9144000" y="3154680"/>
            <a:ext cx="2496312" cy="731520"/>
          </a:xfrm>
          <a:prstGeom prst="roundRect">
            <a:avLst>
              <a:gd name="adj" fmla="val 17500"/>
            </a:avLst>
          </a:prstGeom>
          <a:solidFill>
            <a:schemeClr val="tx2">
              <a:alpha val="92000"/>
            </a:schemeClr>
          </a:solidFill>
          <a:ln w="12700">
            <a:solidFill>
              <a:srgbClr val="1E293B"/>
            </a:solidFill>
            <a:prstDash val="solid"/>
          </a:ln>
        </p:spPr>
      </p:sp>
      <p:sp>
        <p:nvSpPr>
          <p:cNvPr id="33" name="Text 30"/>
          <p:cNvSpPr txBox="1"/>
          <p:nvPr/>
        </p:nvSpPr>
        <p:spPr>
          <a:xfrm>
            <a:off x="9326880" y="3154680"/>
            <a:ext cx="822960" cy="73152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rgbClr val="F8FAFC"/>
                </a:solidFill>
                <a:latin typeface="Consolas" pitchFamily="34" charset="0"/>
                <a:ea typeface="Consolas" pitchFamily="34" charset="-122"/>
                <a:cs typeface="Consolas" pitchFamily="34" charset="-120"/>
              </a:rPr>
              <a:t>44</a:t>
            </a:r>
            <a:endParaRPr lang="en-US" sz="2600" dirty="0"/>
          </a:p>
        </p:txBody>
      </p:sp>
      <p:sp>
        <p:nvSpPr>
          <p:cNvPr id="34" name="Text 31"/>
          <p:cNvSpPr txBox="1"/>
          <p:nvPr/>
        </p:nvSpPr>
        <p:spPr>
          <a:xfrm>
            <a:off x="10058400" y="3154680"/>
            <a:ext cx="1490472" cy="73152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entradas de la red</a:t>
            </a:r>
            <a:endParaRPr lang="en-US" sz="1250" dirty="0"/>
          </a:p>
        </p:txBody>
      </p:sp>
      <p:sp>
        <p:nvSpPr>
          <p:cNvPr id="35" name="Shape 32"/>
          <p:cNvSpPr/>
          <p:nvPr/>
        </p:nvSpPr>
        <p:spPr>
          <a:xfrm>
            <a:off x="548640" y="4069080"/>
            <a:ext cx="3429000" cy="2103120"/>
          </a:xfrm>
          <a:prstGeom prst="roundRect">
            <a:avLst>
              <a:gd name="adj" fmla="val 6087"/>
            </a:avLst>
          </a:prstGeom>
          <a:solidFill>
            <a:schemeClr val="tx2">
              <a:alpha val="92000"/>
            </a:schemeClr>
          </a:solidFill>
          <a:ln w="12700">
            <a:solidFill>
              <a:srgbClr val="1E293B"/>
            </a:solidFill>
            <a:prstDash val="solid"/>
          </a:ln>
        </p:spPr>
      </p:sp>
      <p:sp>
        <p:nvSpPr>
          <p:cNvPr id="36" name="Text 33"/>
          <p:cNvSpPr txBox="1"/>
          <p:nvPr/>
        </p:nvSpPr>
        <p:spPr>
          <a:xfrm>
            <a:off x="749808" y="4206240"/>
            <a:ext cx="3017520"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19 NUMÉRICAS → 19 COLUMNAS</a:t>
            </a:r>
            <a:endParaRPr lang="en-US" sz="950" dirty="0"/>
          </a:p>
        </p:txBody>
      </p:sp>
      <p:sp>
        <p:nvSpPr>
          <p:cNvPr id="37" name="Text 34"/>
          <p:cNvSpPr txBox="1"/>
          <p:nvPr/>
        </p:nvSpPr>
        <p:spPr>
          <a:xfrm>
            <a:off x="749808" y="4498848"/>
            <a:ext cx="3063240" cy="1600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Edad, ingresos, obligaciones, monto, plazo, cuota, tasa, endeudamiento, score, créditos activos, saldo, mora, pagos oportunos, antigüedad, patrimonio y personas a cargo. Cada una sigue siendo una columna.</a:t>
            </a:r>
            <a:endParaRPr lang="en-US" sz="1150" dirty="0"/>
          </a:p>
        </p:txBody>
      </p:sp>
      <p:sp>
        <p:nvSpPr>
          <p:cNvPr id="38" name="Shape 35"/>
          <p:cNvSpPr/>
          <p:nvPr/>
        </p:nvSpPr>
        <p:spPr>
          <a:xfrm>
            <a:off x="4160520" y="4069080"/>
            <a:ext cx="3429000" cy="2103120"/>
          </a:xfrm>
          <a:prstGeom prst="roundRect">
            <a:avLst>
              <a:gd name="adj" fmla="val 6087"/>
            </a:avLst>
          </a:prstGeom>
          <a:solidFill>
            <a:schemeClr val="tx2">
              <a:alpha val="92000"/>
            </a:schemeClr>
          </a:solidFill>
          <a:ln w="12700">
            <a:solidFill>
              <a:srgbClr val="1E293B"/>
            </a:solidFill>
            <a:prstDash val="solid"/>
          </a:ln>
        </p:spPr>
      </p:sp>
      <p:sp>
        <p:nvSpPr>
          <p:cNvPr id="39" name="Text 36"/>
          <p:cNvSpPr txBox="1"/>
          <p:nvPr/>
        </p:nvSpPr>
        <p:spPr>
          <a:xfrm>
            <a:off x="4361688" y="4206240"/>
            <a:ext cx="3017520" cy="256032"/>
          </a:xfrm>
          <a:prstGeom prst="rect">
            <a:avLst/>
          </a:prstGeom>
          <a:noFill/>
          <a:ln/>
        </p:spPr>
        <p:txBody>
          <a:bodyPr wrap="square" lIns="0" tIns="0" rIns="0" bIns="0" rtlCol="0" anchor="ctr"/>
          <a:lstStyle/>
          <a:p>
            <a:pPr indent="0" marL="0">
              <a:buNone/>
            </a:pPr>
            <a:r>
              <a:rPr lang="en-US" sz="950" spc="200" kern="0" dirty="0">
                <a:solidFill>
                  <a:srgbClr val="F59E0B"/>
                </a:solidFill>
                <a:latin typeface="Consolas" pitchFamily="34" charset="0"/>
                <a:ea typeface="Consolas" pitchFamily="34" charset="-122"/>
                <a:cs typeface="Consolas" pitchFamily="34" charset="-120"/>
              </a:rPr>
              <a:t>7 AVISOS DE DATO FALTANTE</a:t>
            </a:r>
            <a:endParaRPr lang="en-US" sz="950" dirty="0"/>
          </a:p>
        </p:txBody>
      </p:sp>
      <p:sp>
        <p:nvSpPr>
          <p:cNvPr id="40" name="Text 37"/>
          <p:cNvSpPr txBox="1"/>
          <p:nvPr/>
        </p:nvSpPr>
        <p:spPr>
          <a:xfrm>
            <a:off x="4361688" y="4498848"/>
            <a:ext cx="3063240" cy="1600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Las variables con más del 1 % de vacíos reciben una columna extra (0 = estaba, 1 = faltaba): saldo, créditos activos, antigüedad laboral y como cliente, pagos oportunos, obligaciones y cuotas en mora.</a:t>
            </a:r>
            <a:endParaRPr lang="en-US" sz="1150" dirty="0"/>
          </a:p>
        </p:txBody>
      </p:sp>
      <p:sp>
        <p:nvSpPr>
          <p:cNvPr id="41" name="Shape 38"/>
          <p:cNvSpPr/>
          <p:nvPr/>
        </p:nvSpPr>
        <p:spPr>
          <a:xfrm>
            <a:off x="7772400" y="4069080"/>
            <a:ext cx="3867912" cy="2103120"/>
          </a:xfrm>
          <a:prstGeom prst="roundRect">
            <a:avLst>
              <a:gd name="adj" fmla="val 6087"/>
            </a:avLst>
          </a:prstGeom>
          <a:solidFill>
            <a:schemeClr val="tx2">
              <a:alpha val="92000"/>
            </a:schemeClr>
          </a:solidFill>
          <a:ln w="12700">
            <a:solidFill>
              <a:srgbClr val="1E293B"/>
            </a:solidFill>
            <a:prstDash val="solid"/>
          </a:ln>
        </p:spPr>
      </p:sp>
      <p:sp>
        <p:nvSpPr>
          <p:cNvPr id="42" name="Text 39"/>
          <p:cNvSpPr txBox="1"/>
          <p:nvPr/>
        </p:nvSpPr>
        <p:spPr>
          <a:xfrm>
            <a:off x="7973568" y="4206240"/>
            <a:ext cx="3474720" cy="256032"/>
          </a:xfrm>
          <a:prstGeom prst="rect">
            <a:avLst/>
          </a:prstGeom>
          <a:noFill/>
          <a:ln/>
        </p:spPr>
        <p:txBody>
          <a:bodyPr wrap="square" lIns="0" tIns="0" rIns="0" bIns="0" rtlCol="0" anchor="ctr"/>
          <a:lstStyle/>
          <a:p>
            <a:pPr indent="0" marL="0">
              <a:buNone/>
            </a:pPr>
            <a:r>
              <a:rPr lang="en-US" sz="950" spc="200" kern="0" dirty="0">
                <a:solidFill>
                  <a:srgbClr val="34D399"/>
                </a:solidFill>
                <a:latin typeface="Consolas" pitchFamily="34" charset="0"/>
                <a:ea typeface="Consolas" pitchFamily="34" charset="-122"/>
                <a:cs typeface="Consolas" pitchFamily="34" charset="-120"/>
              </a:rPr>
              <a:t>4 CATEGORÍAS → 18 COLUMNAS</a:t>
            </a:r>
            <a:endParaRPr lang="en-US" sz="950" dirty="0"/>
          </a:p>
        </p:txBody>
      </p:sp>
      <p:sp>
        <p:nvSpPr>
          <p:cNvPr id="43" name="Text 40"/>
          <p:cNvSpPr txBox="1"/>
          <p:nvPr/>
        </p:nvSpPr>
        <p:spPr>
          <a:xfrm>
            <a:off x="7973568" y="4480560"/>
            <a:ext cx="352044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chemeClr val="bg2"/>
                </a:solidFill>
              </a:rPr>
              <a:t>Estado civil 5 · Contrato 5 · Vivienda 6 · Negocio 2</a:t>
            </a:r>
            <a:endParaRPr lang="en-US" sz="1100" dirty="0"/>
          </a:p>
        </p:txBody>
      </p:sp>
      <p:sp>
        <p:nvSpPr>
          <p:cNvPr id="44" name="Text 41"/>
          <p:cNvSpPr txBox="1"/>
          <p:nvPr/>
        </p:nvSpPr>
        <p:spPr>
          <a:xfrm>
            <a:off x="7973568" y="4773168"/>
            <a:ext cx="3474720" cy="256032"/>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Ejemplo, una persona casada:</a:t>
            </a:r>
            <a:endParaRPr lang="en-US" sz="1100" dirty="0"/>
          </a:p>
        </p:txBody>
      </p:sp>
      <p:sp>
        <p:nvSpPr>
          <p:cNvPr id="45" name="Shape 42"/>
          <p:cNvSpPr/>
          <p:nvPr/>
        </p:nvSpPr>
        <p:spPr>
          <a:xfrm>
            <a:off x="7973568" y="5047488"/>
            <a:ext cx="640080" cy="384048"/>
          </a:xfrm>
          <a:prstGeom prst="roundRect">
            <a:avLst>
              <a:gd name="adj" fmla="val 19048"/>
            </a:avLst>
          </a:prstGeom>
          <a:solidFill>
            <a:srgbClr val="1E293B"/>
          </a:solidFill>
          <a:ln w="12700">
            <a:solidFill>
              <a:srgbClr val="334155"/>
            </a:solidFill>
            <a:prstDash val="solid"/>
          </a:ln>
        </p:spPr>
      </p:sp>
      <p:sp>
        <p:nvSpPr>
          <p:cNvPr id="46" name="Text 43"/>
          <p:cNvSpPr txBox="1"/>
          <p:nvPr/>
        </p:nvSpPr>
        <p:spPr>
          <a:xfrm>
            <a:off x="7973568"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47" name="Text 44"/>
          <p:cNvSpPr txBox="1"/>
          <p:nvPr/>
        </p:nvSpPr>
        <p:spPr>
          <a:xfrm>
            <a:off x="7927848"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U. libre</a:t>
            </a:r>
            <a:endParaRPr lang="en-US" sz="850" dirty="0"/>
          </a:p>
        </p:txBody>
      </p:sp>
      <p:sp>
        <p:nvSpPr>
          <p:cNvPr id="48" name="Shape 45"/>
          <p:cNvSpPr/>
          <p:nvPr/>
        </p:nvSpPr>
        <p:spPr>
          <a:xfrm>
            <a:off x="8677656" y="5047488"/>
            <a:ext cx="640080" cy="384048"/>
          </a:xfrm>
          <a:prstGeom prst="roundRect">
            <a:avLst>
              <a:gd name="adj" fmla="val 19048"/>
            </a:avLst>
          </a:prstGeom>
          <a:solidFill>
            <a:srgbClr val="34D399"/>
          </a:solidFill>
          <a:ln w="12700">
            <a:solidFill>
              <a:srgbClr val="34D399"/>
            </a:solidFill>
            <a:prstDash val="solid"/>
          </a:ln>
        </p:spPr>
      </p:sp>
      <p:sp>
        <p:nvSpPr>
          <p:cNvPr id="49" name="Text 46"/>
          <p:cNvSpPr txBox="1"/>
          <p:nvPr/>
        </p:nvSpPr>
        <p:spPr>
          <a:xfrm>
            <a:off x="8677656"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chemeClr val="tx1"/>
                </a:solidFill>
                <a:latin typeface="Consolas" pitchFamily="34" charset="0"/>
                <a:ea typeface="Consolas" pitchFamily="34" charset="-122"/>
                <a:cs typeface="Consolas" pitchFamily="34" charset="-120"/>
              </a:rPr>
              <a:t>1</a:t>
            </a:r>
            <a:endParaRPr lang="en-US" sz="1500" dirty="0"/>
          </a:p>
        </p:txBody>
      </p:sp>
      <p:sp>
        <p:nvSpPr>
          <p:cNvPr id="50" name="Text 47"/>
          <p:cNvSpPr txBox="1"/>
          <p:nvPr/>
        </p:nvSpPr>
        <p:spPr>
          <a:xfrm>
            <a:off x="8631936"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Casado</a:t>
            </a:r>
            <a:endParaRPr lang="en-US" sz="850" dirty="0"/>
          </a:p>
        </p:txBody>
      </p:sp>
      <p:sp>
        <p:nvSpPr>
          <p:cNvPr id="51" name="Shape 48"/>
          <p:cNvSpPr/>
          <p:nvPr/>
        </p:nvSpPr>
        <p:spPr>
          <a:xfrm>
            <a:off x="9381744" y="5047488"/>
            <a:ext cx="640080" cy="384048"/>
          </a:xfrm>
          <a:prstGeom prst="roundRect">
            <a:avLst>
              <a:gd name="adj" fmla="val 19048"/>
            </a:avLst>
          </a:prstGeom>
          <a:solidFill>
            <a:srgbClr val="1E293B"/>
          </a:solidFill>
          <a:ln w="12700">
            <a:solidFill>
              <a:srgbClr val="334155"/>
            </a:solidFill>
            <a:prstDash val="solid"/>
          </a:ln>
        </p:spPr>
      </p:sp>
      <p:sp>
        <p:nvSpPr>
          <p:cNvPr id="52" name="Text 49"/>
          <p:cNvSpPr txBox="1"/>
          <p:nvPr/>
        </p:nvSpPr>
        <p:spPr>
          <a:xfrm>
            <a:off x="9381744"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53" name="Text 50"/>
          <p:cNvSpPr txBox="1"/>
          <p:nvPr/>
        </p:nvSpPr>
        <p:spPr>
          <a:xfrm>
            <a:off x="9336024"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Separado</a:t>
            </a:r>
            <a:endParaRPr lang="en-US" sz="850" dirty="0"/>
          </a:p>
        </p:txBody>
      </p:sp>
      <p:sp>
        <p:nvSpPr>
          <p:cNvPr id="54" name="Shape 51"/>
          <p:cNvSpPr/>
          <p:nvPr/>
        </p:nvSpPr>
        <p:spPr>
          <a:xfrm>
            <a:off x="10085832" y="5047488"/>
            <a:ext cx="640080" cy="384048"/>
          </a:xfrm>
          <a:prstGeom prst="roundRect">
            <a:avLst>
              <a:gd name="adj" fmla="val 19048"/>
            </a:avLst>
          </a:prstGeom>
          <a:solidFill>
            <a:srgbClr val="1E293B"/>
          </a:solidFill>
          <a:ln w="12700">
            <a:solidFill>
              <a:srgbClr val="334155"/>
            </a:solidFill>
            <a:prstDash val="solid"/>
          </a:ln>
        </p:spPr>
      </p:sp>
      <p:sp>
        <p:nvSpPr>
          <p:cNvPr id="55" name="Text 52"/>
          <p:cNvSpPr txBox="1"/>
          <p:nvPr/>
        </p:nvSpPr>
        <p:spPr>
          <a:xfrm>
            <a:off x="10085832"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56" name="Text 53"/>
          <p:cNvSpPr txBox="1"/>
          <p:nvPr/>
        </p:nvSpPr>
        <p:spPr>
          <a:xfrm>
            <a:off x="10040112"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Soltero</a:t>
            </a:r>
            <a:endParaRPr lang="en-US" sz="850" dirty="0"/>
          </a:p>
        </p:txBody>
      </p:sp>
      <p:sp>
        <p:nvSpPr>
          <p:cNvPr id="57" name="Shape 54"/>
          <p:cNvSpPr/>
          <p:nvPr/>
        </p:nvSpPr>
        <p:spPr>
          <a:xfrm>
            <a:off x="10789920" y="5047488"/>
            <a:ext cx="640080" cy="384048"/>
          </a:xfrm>
          <a:prstGeom prst="roundRect">
            <a:avLst>
              <a:gd name="adj" fmla="val 19048"/>
            </a:avLst>
          </a:prstGeom>
          <a:solidFill>
            <a:srgbClr val="1E293B"/>
          </a:solidFill>
          <a:ln w="12700">
            <a:solidFill>
              <a:srgbClr val="334155"/>
            </a:solidFill>
            <a:prstDash val="solid"/>
          </a:ln>
        </p:spPr>
      </p:sp>
      <p:sp>
        <p:nvSpPr>
          <p:cNvPr id="58" name="Text 55"/>
          <p:cNvSpPr txBox="1"/>
          <p:nvPr/>
        </p:nvSpPr>
        <p:spPr>
          <a:xfrm>
            <a:off x="10789920" y="5047488"/>
            <a:ext cx="640080" cy="384048"/>
          </a:xfrm>
          <a:prstGeom prst="rect">
            <a:avLst/>
          </a:prstGeom>
          <a:noFill/>
          <a:ln/>
        </p:spPr>
        <p:txBody>
          <a:bodyPr wrap="square" lIns="0" tIns="0" rIns="0" bIns="0" rtlCol="0" anchor="ctr"/>
          <a:lstStyle/>
          <a:p>
            <a:pPr algn="ctr" indent="0" marL="0">
              <a:lnSpc>
                <a:spcPct val="110000"/>
              </a:lnSpc>
              <a:spcAft>
                <a:spcPts val="400"/>
              </a:spcAft>
              <a:buNone/>
            </a:pPr>
            <a:r>
              <a:rPr lang="en-US" sz="1500" b="1" dirty="0">
                <a:solidFill>
                  <a:srgbClr val="94A3B8"/>
                </a:solidFill>
                <a:latin typeface="Consolas" pitchFamily="34" charset="0"/>
                <a:ea typeface="Consolas" pitchFamily="34" charset="-122"/>
                <a:cs typeface="Consolas" pitchFamily="34" charset="-120"/>
              </a:rPr>
              <a:t>0</a:t>
            </a:r>
            <a:endParaRPr lang="en-US" sz="1500" dirty="0"/>
          </a:p>
        </p:txBody>
      </p:sp>
      <p:sp>
        <p:nvSpPr>
          <p:cNvPr id="59" name="Text 56"/>
          <p:cNvSpPr txBox="1"/>
          <p:nvPr/>
        </p:nvSpPr>
        <p:spPr>
          <a:xfrm>
            <a:off x="10744200" y="5458968"/>
            <a:ext cx="731520" cy="228600"/>
          </a:xfrm>
          <a:prstGeom prst="rect">
            <a:avLst/>
          </a:prstGeom>
          <a:noFill/>
          <a:ln/>
        </p:spPr>
        <p:txBody>
          <a:bodyPr wrap="square" lIns="0" tIns="0" rIns="0" bIns="0" rtlCol="0" anchor="t"/>
          <a:lstStyle/>
          <a:p>
            <a:pPr algn="ctr" indent="0" marL="0">
              <a:lnSpc>
                <a:spcPct val="110000"/>
              </a:lnSpc>
              <a:spcAft>
                <a:spcPts val="400"/>
              </a:spcAft>
              <a:buNone/>
            </a:pPr>
            <a:r>
              <a:rPr lang="en-US" sz="850" dirty="0">
                <a:solidFill>
                  <a:srgbClr val="94A3B8"/>
                </a:solidFill>
              </a:rPr>
              <a:t>Viudo</a:t>
            </a:r>
            <a:endParaRPr lang="en-US" sz="850" dirty="0"/>
          </a:p>
        </p:txBody>
      </p:sp>
      <p:sp>
        <p:nvSpPr>
          <p:cNvPr id="60" name="Text 57"/>
          <p:cNvSpPr txBox="1"/>
          <p:nvPr/>
        </p:nvSpPr>
        <p:spPr>
          <a:xfrm>
            <a:off x="7973568" y="5715000"/>
            <a:ext cx="3520440" cy="41148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chemeClr val="accent2"/>
                </a:solidFill>
              </a:rPr>
              <a:t>No se usan 1, 2, 3…: la red creería que una categoría es «mayor» que otra.</a:t>
            </a:r>
            <a:endParaRPr lang="en-US" sz="10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funciona y cómo aprende una neurona</a:t>
            </a:r>
            <a:endParaRPr lang="en-US" sz="2200" dirty="0"/>
          </a:p>
        </p:txBody>
      </p:sp>
      <p:sp>
        <p:nvSpPr>
          <p:cNvPr id="4" name="Shape 1"/>
          <p:cNvSpPr/>
          <p:nvPr/>
        </p:nvSpPr>
        <p:spPr>
          <a:xfrm>
            <a:off x="548640" y="1188720"/>
            <a:ext cx="6675120" cy="3886200"/>
          </a:xfrm>
          <a:prstGeom prst="roundRect">
            <a:avLst>
              <a:gd name="adj" fmla="val 3294"/>
            </a:avLst>
          </a:prstGeom>
          <a:solidFill>
            <a:schemeClr val="tx2">
              <a:alpha val="92000"/>
            </a:schemeClr>
          </a:solidFill>
          <a:ln w="12700">
            <a:solidFill>
              <a:srgbClr val="1E293B"/>
            </a:solidFill>
            <a:prstDash val="solid"/>
          </a:ln>
        </p:spPr>
      </p:sp>
      <p:sp>
        <p:nvSpPr>
          <p:cNvPr id="5" name="Shape 2"/>
          <p:cNvSpPr/>
          <p:nvPr/>
        </p:nvSpPr>
        <p:spPr>
          <a:xfrm>
            <a:off x="822960" y="1463040"/>
            <a:ext cx="502920" cy="502920"/>
          </a:xfrm>
          <a:prstGeom prst="ellipse">
            <a:avLst/>
          </a:prstGeom>
          <a:solidFill>
            <a:srgbClr val="1E293B"/>
          </a:solidFill>
          <a:ln w="12700">
            <a:solidFill>
              <a:srgbClr val="94A3B8"/>
            </a:solidFill>
            <a:prstDash val="solid"/>
          </a:ln>
        </p:spPr>
      </p:sp>
      <p:sp>
        <p:nvSpPr>
          <p:cNvPr id="6" name="Text 3"/>
          <p:cNvSpPr txBox="1"/>
          <p:nvPr/>
        </p:nvSpPr>
        <p:spPr>
          <a:xfrm>
            <a:off x="822960" y="146304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x₁</a:t>
            </a:r>
            <a:endParaRPr lang="en-US" sz="1300" dirty="0"/>
          </a:p>
        </p:txBody>
      </p:sp>
      <p:sp>
        <p:nvSpPr>
          <p:cNvPr id="7" name="Shape 4"/>
          <p:cNvSpPr/>
          <p:nvPr/>
        </p:nvSpPr>
        <p:spPr>
          <a:xfrm>
            <a:off x="1325880" y="1709928"/>
            <a:ext cx="1783080" cy="804672"/>
          </a:xfrm>
          <a:prstGeom prst="line">
            <a:avLst/>
          </a:prstGeom>
          <a:noFill/>
          <a:ln w="19050">
            <a:solidFill>
              <a:srgbClr val="3B82F6"/>
            </a:solidFill>
            <a:prstDash val="solid"/>
            <a:tailEnd type="triangle"/>
          </a:ln>
        </p:spPr>
      </p:sp>
      <p:sp>
        <p:nvSpPr>
          <p:cNvPr id="8" name="Text 5"/>
          <p:cNvSpPr txBox="1"/>
          <p:nvPr/>
        </p:nvSpPr>
        <p:spPr>
          <a:xfrm>
            <a:off x="1874520" y="1627632"/>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w₁</a:t>
            </a:r>
            <a:endParaRPr lang="en-US" sz="1200" dirty="0"/>
          </a:p>
        </p:txBody>
      </p:sp>
      <p:sp>
        <p:nvSpPr>
          <p:cNvPr id="9" name="Shape 6"/>
          <p:cNvSpPr/>
          <p:nvPr/>
        </p:nvSpPr>
        <p:spPr>
          <a:xfrm>
            <a:off x="822960" y="2103120"/>
            <a:ext cx="502920" cy="502920"/>
          </a:xfrm>
          <a:prstGeom prst="ellipse">
            <a:avLst/>
          </a:prstGeom>
          <a:solidFill>
            <a:srgbClr val="1E293B"/>
          </a:solidFill>
          <a:ln w="12700">
            <a:solidFill>
              <a:srgbClr val="94A3B8"/>
            </a:solidFill>
            <a:prstDash val="solid"/>
          </a:ln>
        </p:spPr>
      </p:sp>
      <p:sp>
        <p:nvSpPr>
          <p:cNvPr id="10" name="Text 7"/>
          <p:cNvSpPr txBox="1"/>
          <p:nvPr/>
        </p:nvSpPr>
        <p:spPr>
          <a:xfrm>
            <a:off x="822960" y="2103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x₂</a:t>
            </a:r>
            <a:endParaRPr lang="en-US" sz="1300" dirty="0"/>
          </a:p>
        </p:txBody>
      </p:sp>
      <p:sp>
        <p:nvSpPr>
          <p:cNvPr id="11" name="Shape 8"/>
          <p:cNvSpPr/>
          <p:nvPr/>
        </p:nvSpPr>
        <p:spPr>
          <a:xfrm>
            <a:off x="1325880" y="2350008"/>
            <a:ext cx="1783080" cy="164592"/>
          </a:xfrm>
          <a:prstGeom prst="line">
            <a:avLst/>
          </a:prstGeom>
          <a:noFill/>
          <a:ln w="19050">
            <a:solidFill>
              <a:srgbClr val="3B82F6"/>
            </a:solidFill>
            <a:prstDash val="solid"/>
            <a:tailEnd type="triangle"/>
          </a:ln>
        </p:spPr>
      </p:sp>
      <p:sp>
        <p:nvSpPr>
          <p:cNvPr id="12" name="Text 9"/>
          <p:cNvSpPr txBox="1"/>
          <p:nvPr/>
        </p:nvSpPr>
        <p:spPr>
          <a:xfrm>
            <a:off x="1874520" y="2267712"/>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w₂</a:t>
            </a:r>
            <a:endParaRPr lang="en-US" sz="1200" dirty="0"/>
          </a:p>
        </p:txBody>
      </p:sp>
      <p:sp>
        <p:nvSpPr>
          <p:cNvPr id="13" name="Text 10"/>
          <p:cNvSpPr txBox="1"/>
          <p:nvPr/>
        </p:nvSpPr>
        <p:spPr>
          <a:xfrm>
            <a:off x="822960" y="2560320"/>
            <a:ext cx="502920" cy="457200"/>
          </a:xfrm>
          <a:prstGeom prst="rect">
            <a:avLst/>
          </a:prstGeom>
          <a:noFill/>
          <a:ln/>
        </p:spPr>
        <p:txBody>
          <a:bodyPr wrap="square" lIns="0" tIns="0" rIns="0" bIns="0" rtlCol="0" anchor="t"/>
          <a:lstStyle/>
          <a:p>
            <a:pPr algn="ctr" indent="0" marL="0">
              <a:lnSpc>
                <a:spcPct val="110000"/>
              </a:lnSpc>
              <a:spcAft>
                <a:spcPts val="400"/>
              </a:spcAft>
              <a:buNone/>
            </a:pPr>
            <a:r>
              <a:rPr lang="en-US" sz="1800" dirty="0">
                <a:solidFill>
                  <a:srgbClr val="94A3B8"/>
                </a:solidFill>
              </a:rPr>
              <a:t>⋮</a:t>
            </a:r>
            <a:endParaRPr lang="en-US" sz="1800" dirty="0"/>
          </a:p>
        </p:txBody>
      </p:sp>
      <p:sp>
        <p:nvSpPr>
          <p:cNvPr id="14" name="Shape 11"/>
          <p:cNvSpPr/>
          <p:nvPr/>
        </p:nvSpPr>
        <p:spPr>
          <a:xfrm>
            <a:off x="822960" y="3154680"/>
            <a:ext cx="502920" cy="502920"/>
          </a:xfrm>
          <a:prstGeom prst="ellipse">
            <a:avLst/>
          </a:prstGeom>
          <a:solidFill>
            <a:srgbClr val="1E293B"/>
          </a:solidFill>
          <a:ln w="12700">
            <a:solidFill>
              <a:srgbClr val="94A3B8"/>
            </a:solidFill>
            <a:prstDash val="solid"/>
          </a:ln>
        </p:spPr>
      </p:sp>
      <p:sp>
        <p:nvSpPr>
          <p:cNvPr id="15" name="Text 12"/>
          <p:cNvSpPr txBox="1"/>
          <p:nvPr/>
        </p:nvSpPr>
        <p:spPr>
          <a:xfrm>
            <a:off x="822960" y="315468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x₄₄</a:t>
            </a:r>
            <a:endParaRPr lang="en-US" sz="1300" dirty="0"/>
          </a:p>
        </p:txBody>
      </p:sp>
      <p:sp>
        <p:nvSpPr>
          <p:cNvPr id="16" name="Shape 13"/>
          <p:cNvSpPr/>
          <p:nvPr/>
        </p:nvSpPr>
        <p:spPr>
          <a:xfrm flipV="1">
            <a:off x="1325880" y="2514600"/>
            <a:ext cx="1783080" cy="886968"/>
          </a:xfrm>
          <a:prstGeom prst="line">
            <a:avLst/>
          </a:prstGeom>
          <a:noFill/>
          <a:ln w="19050">
            <a:solidFill>
              <a:srgbClr val="3B82F6"/>
            </a:solidFill>
            <a:prstDash val="solid"/>
            <a:tailEnd type="triangle"/>
          </a:ln>
        </p:spPr>
      </p:sp>
      <p:sp>
        <p:nvSpPr>
          <p:cNvPr id="17" name="Text 14"/>
          <p:cNvSpPr txBox="1"/>
          <p:nvPr/>
        </p:nvSpPr>
        <p:spPr>
          <a:xfrm>
            <a:off x="1874520" y="3108960"/>
            <a:ext cx="54864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accent2"/>
                </a:solidFill>
                <a:latin typeface="Consolas" pitchFamily="34" charset="0"/>
                <a:ea typeface="Consolas" pitchFamily="34" charset="-122"/>
                <a:cs typeface="Consolas" pitchFamily="34" charset="-120"/>
              </a:rPr>
              <a:t>w₄₄</a:t>
            </a:r>
            <a:endParaRPr lang="en-US" sz="1200" dirty="0"/>
          </a:p>
        </p:txBody>
      </p:sp>
      <p:sp>
        <p:nvSpPr>
          <p:cNvPr id="18" name="Shape 15"/>
          <p:cNvSpPr/>
          <p:nvPr/>
        </p:nvSpPr>
        <p:spPr>
          <a:xfrm>
            <a:off x="3108960" y="1965960"/>
            <a:ext cx="1097280" cy="1097280"/>
          </a:xfrm>
          <a:prstGeom prst="ellipse">
            <a:avLst/>
          </a:prstGeom>
          <a:solidFill>
            <a:srgbClr val="1E3A8A"/>
          </a:solidFill>
          <a:ln w="19050">
            <a:solidFill>
              <a:srgbClr val="3B82F6"/>
            </a:solidFill>
            <a:prstDash val="solid"/>
          </a:ln>
        </p:spPr>
      </p:sp>
      <p:sp>
        <p:nvSpPr>
          <p:cNvPr id="19" name="Text 16"/>
          <p:cNvSpPr txBox="1"/>
          <p:nvPr/>
        </p:nvSpPr>
        <p:spPr>
          <a:xfrm>
            <a:off x="3108960" y="1965960"/>
            <a:ext cx="1097280" cy="1097280"/>
          </a:xfrm>
          <a:prstGeom prst="rect">
            <a:avLst/>
          </a:prstGeom>
          <a:noFill/>
          <a:ln/>
        </p:spPr>
        <p:txBody>
          <a:bodyPr wrap="square" lIns="0" tIns="0" rIns="0" bIns="0" rtlCol="0" anchor="ctr"/>
          <a:lstStyle/>
          <a:p>
            <a:pPr algn="ctr" indent="0" marL="0">
              <a:lnSpc>
                <a:spcPct val="110000"/>
              </a:lnSpc>
              <a:spcAft>
                <a:spcPts val="400"/>
              </a:spcAft>
              <a:buNone/>
            </a:pPr>
            <a:r>
              <a:rPr lang="en-US" sz="3000" b="1" dirty="0">
                <a:solidFill>
                  <a:schemeClr val="bg1"/>
                </a:solidFill>
              </a:rPr>
              <a:t>Σ</a:t>
            </a:r>
            <a:endParaRPr lang="en-US" sz="3000" dirty="0"/>
          </a:p>
        </p:txBody>
      </p:sp>
      <p:sp>
        <p:nvSpPr>
          <p:cNvPr id="20" name="Shape 17"/>
          <p:cNvSpPr/>
          <p:nvPr/>
        </p:nvSpPr>
        <p:spPr>
          <a:xfrm>
            <a:off x="2971800" y="1261872"/>
            <a:ext cx="1371600" cy="411480"/>
          </a:xfrm>
          <a:prstGeom prst="roundRect">
            <a:avLst>
              <a:gd name="adj" fmla="val 31111"/>
            </a:avLst>
          </a:prstGeom>
          <a:solidFill>
            <a:srgbClr val="78350F">
              <a:alpha val="70000"/>
            </a:srgbClr>
          </a:solidFill>
          <a:ln w="12700">
            <a:solidFill>
              <a:srgbClr val="F59E0B"/>
            </a:solidFill>
            <a:prstDash val="solid"/>
          </a:ln>
        </p:spPr>
      </p:sp>
      <p:sp>
        <p:nvSpPr>
          <p:cNvPr id="21" name="Text 18"/>
          <p:cNvSpPr txBox="1"/>
          <p:nvPr/>
        </p:nvSpPr>
        <p:spPr>
          <a:xfrm>
            <a:off x="2971800" y="1261872"/>
            <a:ext cx="1371600" cy="411480"/>
          </a:xfrm>
          <a:prstGeom prst="rect">
            <a:avLst/>
          </a:prstGeom>
          <a:noFill/>
          <a:ln/>
        </p:spPr>
        <p:txBody>
          <a:bodyPr wrap="square" lIns="0" tIns="0" rIns="0" bIns="0" rtlCol="0" anchor="ctr"/>
          <a:lstStyle/>
          <a:p>
            <a:pPr algn="ctr" indent="0" marL="0">
              <a:lnSpc>
                <a:spcPct val="110000"/>
              </a:lnSpc>
              <a:spcAft>
                <a:spcPts val="400"/>
              </a:spcAft>
              <a:buNone/>
            </a:pPr>
            <a:r>
              <a:rPr lang="en-US" sz="1200" b="1" dirty="0">
                <a:solidFill>
                  <a:schemeClr val="accent3"/>
                </a:solidFill>
              </a:rPr>
              <a:t>+ b (sesgo)</a:t>
            </a:r>
            <a:endParaRPr lang="en-US" sz="1200" dirty="0"/>
          </a:p>
        </p:txBody>
      </p:sp>
      <p:sp>
        <p:nvSpPr>
          <p:cNvPr id="22" name="Shape 19"/>
          <p:cNvSpPr/>
          <p:nvPr/>
        </p:nvSpPr>
        <p:spPr>
          <a:xfrm>
            <a:off x="3657600" y="1673352"/>
            <a:ext cx="0" cy="292608"/>
          </a:xfrm>
          <a:prstGeom prst="line">
            <a:avLst/>
          </a:prstGeom>
          <a:noFill/>
          <a:ln w="19050">
            <a:solidFill>
              <a:srgbClr val="F59E0B"/>
            </a:solidFill>
            <a:prstDash val="solid"/>
            <a:tailEnd type="triangle"/>
          </a:ln>
        </p:spPr>
      </p:sp>
      <p:sp>
        <p:nvSpPr>
          <p:cNvPr id="23" name="Shape 20"/>
          <p:cNvSpPr/>
          <p:nvPr/>
        </p:nvSpPr>
        <p:spPr>
          <a:xfrm>
            <a:off x="4206240" y="2514600"/>
            <a:ext cx="548640" cy="0"/>
          </a:xfrm>
          <a:prstGeom prst="line">
            <a:avLst/>
          </a:prstGeom>
          <a:noFill/>
          <a:ln w="19050">
            <a:solidFill>
              <a:srgbClr val="475569"/>
            </a:solidFill>
            <a:prstDash val="solid"/>
            <a:tailEnd type="triangle"/>
          </a:ln>
        </p:spPr>
      </p:sp>
      <p:sp>
        <p:nvSpPr>
          <p:cNvPr id="24" name="Shape 21"/>
          <p:cNvSpPr/>
          <p:nvPr/>
        </p:nvSpPr>
        <p:spPr>
          <a:xfrm>
            <a:off x="4754880" y="2011680"/>
            <a:ext cx="1234440" cy="1005840"/>
          </a:xfrm>
          <a:prstGeom prst="roundRect">
            <a:avLst>
              <a:gd name="adj" fmla="val 12727"/>
            </a:avLst>
          </a:prstGeom>
          <a:solidFill>
            <a:srgbClr val="064E3B">
              <a:alpha val="70000"/>
            </a:srgbClr>
          </a:solidFill>
          <a:ln w="12700">
            <a:solidFill>
              <a:srgbClr val="34D399"/>
            </a:solidFill>
            <a:prstDash val="solid"/>
          </a:ln>
        </p:spPr>
      </p:sp>
      <p:sp>
        <p:nvSpPr>
          <p:cNvPr id="25" name="Text 22"/>
          <p:cNvSpPr txBox="1"/>
          <p:nvPr/>
        </p:nvSpPr>
        <p:spPr>
          <a:xfrm>
            <a:off x="4754880" y="2011680"/>
            <a:ext cx="1234440" cy="1005840"/>
          </a:xfrm>
          <a:prstGeom prst="rect">
            <a:avLst/>
          </a:prstGeom>
          <a:noFill/>
          <a:ln/>
        </p:spPr>
        <p:txBody>
          <a:bodyPr wrap="square" lIns="0" tIns="0" rIns="0" bIns="0" rtlCol="0" anchor="ctr"/>
          <a:lstStyle/>
          <a:p>
            <a:pPr algn="ctr" indent="0" marL="0">
              <a:lnSpc>
                <a:spcPct val="110000"/>
              </a:lnSpc>
              <a:spcAft>
                <a:spcPts val="400"/>
              </a:spcAft>
              <a:buNone/>
            </a:pPr>
            <a:r>
              <a:rPr lang="en-US" sz="1250" b="1" dirty="0">
                <a:solidFill>
                  <a:schemeClr val="accent4"/>
                </a:solidFill>
              </a:rPr>
              <a:t>f( )</a:t>
            </a:r>
            <a:endParaRPr lang="en-US" sz="1250" dirty="0"/>
          </a:p>
          <a:p>
            <a:pPr algn="ctr" indent="0" marL="0">
              <a:lnSpc>
                <a:spcPct val="110000"/>
              </a:lnSpc>
              <a:spcAft>
                <a:spcPts val="400"/>
              </a:spcAft>
              <a:buNone/>
            </a:pPr>
            <a:r>
              <a:rPr lang="en-US" sz="1250" b="1" dirty="0">
                <a:solidFill>
                  <a:schemeClr val="accent4"/>
                </a:solidFill>
              </a:rPr>
              <a:t>activación</a:t>
            </a:r>
            <a:endParaRPr lang="en-US" sz="1250" dirty="0"/>
          </a:p>
        </p:txBody>
      </p:sp>
      <p:sp>
        <p:nvSpPr>
          <p:cNvPr id="26" name="Shape 23"/>
          <p:cNvSpPr/>
          <p:nvPr/>
        </p:nvSpPr>
        <p:spPr>
          <a:xfrm>
            <a:off x="5989320" y="2514600"/>
            <a:ext cx="457200" cy="0"/>
          </a:xfrm>
          <a:prstGeom prst="line">
            <a:avLst/>
          </a:prstGeom>
          <a:noFill/>
          <a:ln w="19050">
            <a:solidFill>
              <a:srgbClr val="475569"/>
            </a:solidFill>
            <a:prstDash val="solid"/>
            <a:tailEnd type="triangle"/>
          </a:ln>
        </p:spPr>
      </p:sp>
      <p:sp>
        <p:nvSpPr>
          <p:cNvPr id="27" name="Shape 24"/>
          <p:cNvSpPr/>
          <p:nvPr/>
        </p:nvSpPr>
        <p:spPr>
          <a:xfrm>
            <a:off x="6446520" y="2258568"/>
            <a:ext cx="502920" cy="502920"/>
          </a:xfrm>
          <a:prstGeom prst="ellipse">
            <a:avLst/>
          </a:prstGeom>
          <a:solidFill>
            <a:srgbClr val="F8FAFC"/>
          </a:solidFill>
          <a:ln w="12700">
            <a:solidFill>
              <a:srgbClr val="F8FAFC"/>
            </a:solidFill>
            <a:prstDash val="solid"/>
          </a:ln>
        </p:spPr>
      </p:sp>
      <p:sp>
        <p:nvSpPr>
          <p:cNvPr id="28" name="Text 25"/>
          <p:cNvSpPr txBox="1"/>
          <p:nvPr/>
        </p:nvSpPr>
        <p:spPr>
          <a:xfrm>
            <a:off x="6446520" y="2258568"/>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tx1"/>
                </a:solidFill>
              </a:rPr>
              <a:t>a</a:t>
            </a:r>
            <a:endParaRPr lang="en-US" sz="1400" dirty="0"/>
          </a:p>
        </p:txBody>
      </p:sp>
      <p:sp>
        <p:nvSpPr>
          <p:cNvPr id="29" name="Text 26"/>
          <p:cNvSpPr txBox="1"/>
          <p:nvPr/>
        </p:nvSpPr>
        <p:spPr>
          <a:xfrm>
            <a:off x="777240" y="3886200"/>
            <a:ext cx="630936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latin typeface="Consolas" pitchFamily="34" charset="0"/>
                <a:ea typeface="Consolas" pitchFamily="34" charset="-122"/>
                <a:cs typeface="Consolas" pitchFamily="34" charset="-120"/>
              </a:rPr>
              <a:t>salida = f( w₁·x₁ + w₂·x₂ + … + w₄₄·x₄₄ + b )</a:t>
            </a:r>
            <a:endParaRPr lang="en-US" sz="1450" dirty="0"/>
          </a:p>
        </p:txBody>
      </p:sp>
      <p:sp>
        <p:nvSpPr>
          <p:cNvPr id="30" name="Text 27"/>
          <p:cNvSpPr txBox="1"/>
          <p:nvPr/>
        </p:nvSpPr>
        <p:spPr>
          <a:xfrm>
            <a:off x="777240" y="4343400"/>
            <a:ext cx="6309360" cy="54864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rgbClr val="94A3B8"/>
                </a:solidFill>
              </a:rPr>
              <a:t>Ejemplo: x = (0,5 ; −1,2), w = (0,8 ; 0,3), b = 0,1 → 0,4 − 0,36 + 0,1 = 0,14 → ReLU(0,14) = 0,14</a:t>
            </a:r>
            <a:endParaRPr lang="en-US" sz="1150" dirty="0"/>
          </a:p>
        </p:txBody>
      </p:sp>
      <p:sp>
        <p:nvSpPr>
          <p:cNvPr id="31" name="Shape 28"/>
          <p:cNvSpPr/>
          <p:nvPr/>
        </p:nvSpPr>
        <p:spPr>
          <a:xfrm>
            <a:off x="7452360" y="1188720"/>
            <a:ext cx="4187952" cy="1188720"/>
          </a:xfrm>
          <a:prstGeom prst="roundRect">
            <a:avLst>
              <a:gd name="adj" fmla="val 10769"/>
            </a:avLst>
          </a:prstGeom>
          <a:solidFill>
            <a:schemeClr val="tx2">
              <a:alpha val="92000"/>
            </a:schemeClr>
          </a:solidFill>
          <a:ln w="12700">
            <a:solidFill>
              <a:srgbClr val="1E293B"/>
            </a:solidFill>
            <a:prstDash val="solid"/>
          </a:ln>
        </p:spPr>
      </p:sp>
      <p:sp>
        <p:nvSpPr>
          <p:cNvPr id="32" name="Text 29"/>
          <p:cNvSpPr txBox="1"/>
          <p:nvPr/>
        </p:nvSpPr>
        <p:spPr>
          <a:xfrm>
            <a:off x="7680960" y="1307592"/>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3B82F6"/>
                </a:solidFill>
              </a:rPr>
              <a:t>Pesos (w)</a:t>
            </a:r>
            <a:endParaRPr lang="en-US" sz="1500" dirty="0"/>
          </a:p>
        </p:txBody>
      </p:sp>
      <p:sp>
        <p:nvSpPr>
          <p:cNvPr id="33" name="Text 30"/>
          <p:cNvSpPr txBox="1"/>
          <p:nvPr/>
        </p:nvSpPr>
        <p:spPr>
          <a:xfrm>
            <a:off x="7680960" y="1645920"/>
            <a:ext cx="3794760" cy="6858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Qué tan importante es cada dato para la neurona. Pueden ser positivos o negativos.</a:t>
            </a:r>
            <a:endParaRPr lang="en-US" sz="1200" dirty="0"/>
          </a:p>
        </p:txBody>
      </p:sp>
      <p:sp>
        <p:nvSpPr>
          <p:cNvPr id="34" name="Shape 31"/>
          <p:cNvSpPr/>
          <p:nvPr/>
        </p:nvSpPr>
        <p:spPr>
          <a:xfrm>
            <a:off x="7452360" y="2514600"/>
            <a:ext cx="4187952" cy="1188720"/>
          </a:xfrm>
          <a:prstGeom prst="roundRect">
            <a:avLst>
              <a:gd name="adj" fmla="val 10769"/>
            </a:avLst>
          </a:prstGeom>
          <a:solidFill>
            <a:schemeClr val="tx2">
              <a:alpha val="92000"/>
            </a:schemeClr>
          </a:solidFill>
          <a:ln w="12700">
            <a:solidFill>
              <a:srgbClr val="1E293B"/>
            </a:solidFill>
            <a:prstDash val="solid"/>
          </a:ln>
        </p:spPr>
      </p:sp>
      <p:sp>
        <p:nvSpPr>
          <p:cNvPr id="35" name="Text 32"/>
          <p:cNvSpPr txBox="1"/>
          <p:nvPr/>
        </p:nvSpPr>
        <p:spPr>
          <a:xfrm>
            <a:off x="7680960" y="2633472"/>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F59E0B"/>
                </a:solidFill>
              </a:rPr>
              <a:t>Sesgo (b)</a:t>
            </a:r>
            <a:endParaRPr lang="en-US" sz="1500" dirty="0"/>
          </a:p>
        </p:txBody>
      </p:sp>
      <p:sp>
        <p:nvSpPr>
          <p:cNvPr id="36" name="Text 33"/>
          <p:cNvSpPr txBox="1"/>
          <p:nvPr/>
        </p:nvSpPr>
        <p:spPr>
          <a:xfrm>
            <a:off x="7680960" y="2971800"/>
            <a:ext cx="3794760" cy="6858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Número propio de cada neurona que se suma al final; le permite activarse aunque las entradas sean 0.</a:t>
            </a:r>
            <a:endParaRPr lang="en-US" sz="1200" dirty="0"/>
          </a:p>
        </p:txBody>
      </p:sp>
      <p:sp>
        <p:nvSpPr>
          <p:cNvPr id="37" name="Shape 34"/>
          <p:cNvSpPr/>
          <p:nvPr/>
        </p:nvSpPr>
        <p:spPr>
          <a:xfrm>
            <a:off x="7452360" y="3840480"/>
            <a:ext cx="4187952" cy="1188720"/>
          </a:xfrm>
          <a:prstGeom prst="roundRect">
            <a:avLst>
              <a:gd name="adj" fmla="val 10769"/>
            </a:avLst>
          </a:prstGeom>
          <a:solidFill>
            <a:schemeClr val="tx2">
              <a:alpha val="92000"/>
            </a:schemeClr>
          </a:solidFill>
          <a:ln w="12700">
            <a:solidFill>
              <a:srgbClr val="1E293B"/>
            </a:solidFill>
            <a:prstDash val="solid"/>
          </a:ln>
        </p:spPr>
      </p:sp>
      <p:sp>
        <p:nvSpPr>
          <p:cNvPr id="38" name="Text 35"/>
          <p:cNvSpPr txBox="1"/>
          <p:nvPr/>
        </p:nvSpPr>
        <p:spPr>
          <a:xfrm>
            <a:off x="7680960" y="3959352"/>
            <a:ext cx="374904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rgbClr val="34D399"/>
                </a:solidFill>
              </a:rPr>
              <a:t>Función de activación</a:t>
            </a:r>
            <a:endParaRPr lang="en-US" sz="1500" dirty="0"/>
          </a:p>
        </p:txBody>
      </p:sp>
      <p:sp>
        <p:nvSpPr>
          <p:cNvPr id="39" name="Text 36"/>
          <p:cNvSpPr txBox="1"/>
          <p:nvPr/>
        </p:nvSpPr>
        <p:spPr>
          <a:xfrm>
            <a:off x="7680960" y="4297680"/>
            <a:ext cx="3794760" cy="6858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Decide cuánto se «enciende» la neurona con ese total.</a:t>
            </a:r>
            <a:endParaRPr lang="en-US" sz="1200" dirty="0"/>
          </a:p>
        </p:txBody>
      </p:sp>
      <p:sp>
        <p:nvSpPr>
          <p:cNvPr id="40" name="Shape 37"/>
          <p:cNvSpPr/>
          <p:nvPr/>
        </p:nvSpPr>
        <p:spPr>
          <a:xfrm>
            <a:off x="548640" y="5257800"/>
            <a:ext cx="11091672" cy="914400"/>
          </a:xfrm>
          <a:prstGeom prst="roundRect">
            <a:avLst>
              <a:gd name="adj" fmla="val 14000"/>
            </a:avLst>
          </a:prstGeom>
          <a:solidFill>
            <a:srgbClr val="1E3A8A">
              <a:alpha val="45000"/>
            </a:srgbClr>
          </a:solidFill>
          <a:ln w="12700">
            <a:solidFill>
              <a:srgbClr val="3B82F6"/>
            </a:solidFill>
            <a:prstDash val="solid"/>
          </a:ln>
        </p:spPr>
      </p:sp>
      <p:sp>
        <p:nvSpPr>
          <p:cNvPr id="41" name="Text 38"/>
          <p:cNvSpPr txBox="1"/>
          <p:nvPr/>
        </p:nvSpPr>
        <p:spPr>
          <a:xfrm>
            <a:off x="777240" y="5321808"/>
            <a:ext cx="2286000" cy="256032"/>
          </a:xfrm>
          <a:prstGeom prst="rect">
            <a:avLst/>
          </a:prstGeom>
          <a:noFill/>
          <a:ln/>
        </p:spPr>
        <p:txBody>
          <a:bodyPr wrap="square" lIns="0" tIns="0" rIns="0" bIns="0" rtlCol="0" anchor="ctr"/>
          <a:lstStyle/>
          <a:p>
            <a:pPr indent="0" marL="0">
              <a:buNone/>
            </a:pPr>
            <a:r>
              <a:rPr lang="en-US" sz="950" spc="200" kern="0" dirty="0">
                <a:solidFill>
                  <a:schemeClr val="accent2"/>
                </a:solidFill>
                <a:latin typeface="Consolas" pitchFamily="34" charset="0"/>
                <a:ea typeface="Consolas" pitchFamily="34" charset="-122"/>
                <a:cs typeface="Consolas" pitchFamily="34" charset="-120"/>
              </a:rPr>
              <a:t>CÓMO APRENDE</a:t>
            </a:r>
            <a:endParaRPr lang="en-US" sz="950" dirty="0"/>
          </a:p>
        </p:txBody>
      </p:sp>
      <p:sp>
        <p:nvSpPr>
          <p:cNvPr id="42" name="Shape 39"/>
          <p:cNvSpPr/>
          <p:nvPr/>
        </p:nvSpPr>
        <p:spPr>
          <a:xfrm>
            <a:off x="777240" y="5623560"/>
            <a:ext cx="384048" cy="384048"/>
          </a:xfrm>
          <a:prstGeom prst="ellipse">
            <a:avLst/>
          </a:prstGeom>
          <a:solidFill>
            <a:srgbClr val="3B82F6"/>
          </a:solidFill>
          <a:ln w="12700">
            <a:solidFill>
              <a:srgbClr val="3B82F6"/>
            </a:solidFill>
            <a:prstDash val="solid"/>
          </a:ln>
        </p:spPr>
      </p:sp>
      <p:sp>
        <p:nvSpPr>
          <p:cNvPr id="43" name="Text 40"/>
          <p:cNvSpPr txBox="1"/>
          <p:nvPr/>
        </p:nvSpPr>
        <p:spPr>
          <a:xfrm>
            <a:off x="77724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1</a:t>
            </a:r>
            <a:endParaRPr lang="en-US" sz="1300" dirty="0"/>
          </a:p>
        </p:txBody>
      </p:sp>
      <p:sp>
        <p:nvSpPr>
          <p:cNvPr id="44" name="Text 41"/>
          <p:cNvSpPr txBox="1"/>
          <p:nvPr/>
        </p:nvSpPr>
        <p:spPr>
          <a:xfrm>
            <a:off x="125272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Predice</a:t>
            </a:r>
            <a:endParaRPr lang="en-US" sz="1300" dirty="0"/>
          </a:p>
        </p:txBody>
      </p:sp>
      <p:sp>
        <p:nvSpPr>
          <p:cNvPr id="45" name="Shape 42"/>
          <p:cNvSpPr/>
          <p:nvPr/>
        </p:nvSpPr>
        <p:spPr>
          <a:xfrm>
            <a:off x="3017520" y="5623560"/>
            <a:ext cx="384048" cy="384048"/>
          </a:xfrm>
          <a:prstGeom prst="ellipse">
            <a:avLst/>
          </a:prstGeom>
          <a:solidFill>
            <a:srgbClr val="3B82F6"/>
          </a:solidFill>
          <a:ln w="12700">
            <a:solidFill>
              <a:srgbClr val="3B82F6"/>
            </a:solidFill>
            <a:prstDash val="solid"/>
          </a:ln>
        </p:spPr>
      </p:sp>
      <p:sp>
        <p:nvSpPr>
          <p:cNvPr id="46" name="Text 43"/>
          <p:cNvSpPr txBox="1"/>
          <p:nvPr/>
        </p:nvSpPr>
        <p:spPr>
          <a:xfrm>
            <a:off x="301752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2</a:t>
            </a:r>
            <a:endParaRPr lang="en-US" sz="1300" dirty="0"/>
          </a:p>
        </p:txBody>
      </p:sp>
      <p:sp>
        <p:nvSpPr>
          <p:cNvPr id="47" name="Text 44"/>
          <p:cNvSpPr txBox="1"/>
          <p:nvPr/>
        </p:nvSpPr>
        <p:spPr>
          <a:xfrm>
            <a:off x="349300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Mide el error</a:t>
            </a:r>
            <a:endParaRPr lang="en-US" sz="1300" dirty="0"/>
          </a:p>
        </p:txBody>
      </p:sp>
      <p:sp>
        <p:nvSpPr>
          <p:cNvPr id="48" name="Shape 45"/>
          <p:cNvSpPr/>
          <p:nvPr/>
        </p:nvSpPr>
        <p:spPr>
          <a:xfrm>
            <a:off x="5257800" y="5623560"/>
            <a:ext cx="384048" cy="384048"/>
          </a:xfrm>
          <a:prstGeom prst="ellipse">
            <a:avLst/>
          </a:prstGeom>
          <a:solidFill>
            <a:srgbClr val="3B82F6"/>
          </a:solidFill>
          <a:ln w="12700">
            <a:solidFill>
              <a:srgbClr val="3B82F6"/>
            </a:solidFill>
            <a:prstDash val="solid"/>
          </a:ln>
        </p:spPr>
      </p:sp>
      <p:sp>
        <p:nvSpPr>
          <p:cNvPr id="49" name="Text 46"/>
          <p:cNvSpPr txBox="1"/>
          <p:nvPr/>
        </p:nvSpPr>
        <p:spPr>
          <a:xfrm>
            <a:off x="525780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3</a:t>
            </a:r>
            <a:endParaRPr lang="en-US" sz="1300" dirty="0"/>
          </a:p>
        </p:txBody>
      </p:sp>
      <p:sp>
        <p:nvSpPr>
          <p:cNvPr id="50" name="Text 47"/>
          <p:cNvSpPr txBox="1"/>
          <p:nvPr/>
        </p:nvSpPr>
        <p:spPr>
          <a:xfrm>
            <a:off x="573328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Busca responsables</a:t>
            </a:r>
            <a:endParaRPr lang="en-US" sz="1300" dirty="0"/>
          </a:p>
        </p:txBody>
      </p:sp>
      <p:sp>
        <p:nvSpPr>
          <p:cNvPr id="51" name="Shape 48"/>
          <p:cNvSpPr/>
          <p:nvPr/>
        </p:nvSpPr>
        <p:spPr>
          <a:xfrm>
            <a:off x="7498080" y="5623560"/>
            <a:ext cx="384048" cy="384048"/>
          </a:xfrm>
          <a:prstGeom prst="ellipse">
            <a:avLst/>
          </a:prstGeom>
          <a:solidFill>
            <a:srgbClr val="3B82F6"/>
          </a:solidFill>
          <a:ln w="12700">
            <a:solidFill>
              <a:srgbClr val="3B82F6"/>
            </a:solidFill>
            <a:prstDash val="solid"/>
          </a:ln>
        </p:spPr>
      </p:sp>
      <p:sp>
        <p:nvSpPr>
          <p:cNvPr id="52" name="Text 49"/>
          <p:cNvSpPr txBox="1"/>
          <p:nvPr/>
        </p:nvSpPr>
        <p:spPr>
          <a:xfrm>
            <a:off x="7498080" y="5623560"/>
            <a:ext cx="384048" cy="384048"/>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4</a:t>
            </a:r>
            <a:endParaRPr lang="en-US" sz="1300" dirty="0"/>
          </a:p>
        </p:txBody>
      </p:sp>
      <p:sp>
        <p:nvSpPr>
          <p:cNvPr id="53" name="Text 50"/>
          <p:cNvSpPr txBox="1"/>
          <p:nvPr/>
        </p:nvSpPr>
        <p:spPr>
          <a:xfrm>
            <a:off x="7973568" y="5623560"/>
            <a:ext cx="1691640" cy="384048"/>
          </a:xfrm>
          <a:prstGeom prst="rect">
            <a:avLst/>
          </a:prstGeom>
          <a:noFill/>
          <a:ln/>
        </p:spPr>
        <p:txBody>
          <a:bodyPr wrap="square" lIns="0" tIns="0" rIns="0" bIns="0" rtlCol="0" anchor="ctr"/>
          <a:lstStyle/>
          <a:p>
            <a:pPr algn="l" indent="0" marL="0">
              <a:lnSpc>
                <a:spcPct val="110000"/>
              </a:lnSpc>
              <a:spcAft>
                <a:spcPts val="400"/>
              </a:spcAft>
              <a:buNone/>
            </a:pPr>
            <a:r>
              <a:rPr lang="en-US" sz="1300" b="1" dirty="0">
                <a:solidFill>
                  <a:schemeClr val="bg1"/>
                </a:solidFill>
              </a:rPr>
              <a:t>Corrige los pesos</a:t>
            </a:r>
            <a:endParaRPr lang="en-US" sz="1300" dirty="0"/>
          </a:p>
        </p:txBody>
      </p:sp>
      <p:sp>
        <p:nvSpPr>
          <p:cNvPr id="54" name="Text 51"/>
          <p:cNvSpPr txBox="1"/>
          <p:nvPr/>
        </p:nvSpPr>
        <p:spPr>
          <a:xfrm>
            <a:off x="9692640" y="5394960"/>
            <a:ext cx="1828800" cy="68580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rPr>
              <a:t>272 veces por época (lotes de 128 clientes) · optimizador Adam</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Arquitectura de las tres redes</a:t>
            </a:r>
            <a:endParaRPr lang="en-US" sz="2200" dirty="0"/>
          </a:p>
        </p:txBody>
      </p:sp>
      <p:sp>
        <p:nvSpPr>
          <p:cNvPr id="4" name="Text 1"/>
          <p:cNvSpPr txBox="1"/>
          <p:nvPr/>
        </p:nvSpPr>
        <p:spPr>
          <a:xfrm>
            <a:off x="548640" y="1188720"/>
            <a:ext cx="10058400" cy="256032"/>
          </a:xfrm>
          <a:prstGeom prst="rect">
            <a:avLst/>
          </a:prstGeom>
          <a:noFill/>
          <a:ln/>
        </p:spPr>
        <p:txBody>
          <a:bodyPr wrap="square" lIns="0" tIns="0" rIns="0" bIns="0" rtlCol="0" anchor="ctr"/>
          <a:lstStyle/>
          <a:p>
            <a:pPr indent="0" marL="0">
              <a:buNone/>
            </a:pPr>
            <a:r>
              <a:rPr lang="en-US" sz="1000" spc="200" kern="0" dirty="0">
                <a:solidFill>
                  <a:schemeClr val="accent2"/>
                </a:solidFill>
                <a:latin typeface="Consolas" pitchFamily="34" charset="0"/>
                <a:ea typeface="Consolas" pitchFamily="34" charset="-122"/>
                <a:cs typeface="Consolas" pitchFamily="34" charset="-120"/>
              </a:rPr>
              <a:t>RED 1 (PRINCIPAL) · 5.392 PESOS + 113 SESGOS = 5.505 PARÁMETROS</a:t>
            </a:r>
            <a:endParaRPr lang="en-US" sz="1000" dirty="0"/>
          </a:p>
        </p:txBody>
      </p:sp>
      <p:sp>
        <p:nvSpPr>
          <p:cNvPr id="5" name="Shape 2"/>
          <p:cNvSpPr/>
          <p:nvPr/>
        </p:nvSpPr>
        <p:spPr>
          <a:xfrm>
            <a:off x="548640" y="1508760"/>
            <a:ext cx="2002536" cy="2514600"/>
          </a:xfrm>
          <a:prstGeom prst="roundRect">
            <a:avLst>
              <a:gd name="adj" fmla="val 6393"/>
            </a:avLst>
          </a:prstGeom>
          <a:solidFill>
            <a:schemeClr val="tx2">
              <a:alpha val="92000"/>
            </a:schemeClr>
          </a:solidFill>
          <a:ln w="12700">
            <a:solidFill>
              <a:srgbClr val="94A3B8"/>
            </a:solidFill>
            <a:prstDash val="solid"/>
          </a:ln>
        </p:spPr>
      </p:sp>
      <p:sp>
        <p:nvSpPr>
          <p:cNvPr id="6" name="Text 3"/>
          <p:cNvSpPr txBox="1"/>
          <p:nvPr/>
        </p:nvSpPr>
        <p:spPr>
          <a:xfrm>
            <a:off x="713232" y="1600200"/>
            <a:ext cx="1728216"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ENTRADA</a:t>
            </a:r>
            <a:endParaRPr lang="en-US" sz="950" dirty="0"/>
          </a:p>
        </p:txBody>
      </p:sp>
      <p:sp>
        <p:nvSpPr>
          <p:cNvPr id="7" name="Text 4"/>
          <p:cNvSpPr txBox="1"/>
          <p:nvPr/>
        </p:nvSpPr>
        <p:spPr>
          <a:xfrm>
            <a:off x="713232"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44</a:t>
            </a:r>
            <a:endParaRPr lang="en-US" sz="2600" dirty="0"/>
          </a:p>
        </p:txBody>
      </p:sp>
      <p:sp>
        <p:nvSpPr>
          <p:cNvPr id="8" name="Text 5"/>
          <p:cNvSpPr txBox="1"/>
          <p:nvPr/>
        </p:nvSpPr>
        <p:spPr>
          <a:xfrm>
            <a:off x="1554480"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datos</a:t>
            </a:r>
            <a:endParaRPr lang="en-US" sz="1150" dirty="0"/>
          </a:p>
        </p:txBody>
      </p:sp>
      <p:sp>
        <p:nvSpPr>
          <p:cNvPr id="9" name="Text 6"/>
          <p:cNvSpPr txBox="1"/>
          <p:nvPr/>
        </p:nvSpPr>
        <p:spPr>
          <a:xfrm>
            <a:off x="713232"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10" name="Text 7"/>
          <p:cNvSpPr txBox="1"/>
          <p:nvPr/>
        </p:nvSpPr>
        <p:spPr>
          <a:xfrm>
            <a:off x="1463040"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1" name="Text 8"/>
          <p:cNvSpPr txBox="1"/>
          <p:nvPr/>
        </p:nvSpPr>
        <p:spPr>
          <a:xfrm>
            <a:off x="713232"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12" name="Text 9"/>
          <p:cNvSpPr txBox="1"/>
          <p:nvPr/>
        </p:nvSpPr>
        <p:spPr>
          <a:xfrm>
            <a:off x="1463040"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3" name="Text 10"/>
          <p:cNvSpPr txBox="1"/>
          <p:nvPr/>
        </p:nvSpPr>
        <p:spPr>
          <a:xfrm>
            <a:off x="713232"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14" name="Text 11"/>
          <p:cNvSpPr txBox="1"/>
          <p:nvPr/>
        </p:nvSpPr>
        <p:spPr>
          <a:xfrm>
            <a:off x="1463040" y="3163824"/>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5" name="Text 12"/>
          <p:cNvSpPr txBox="1"/>
          <p:nvPr/>
        </p:nvSpPr>
        <p:spPr>
          <a:xfrm>
            <a:off x="713232"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16" name="Text 13"/>
          <p:cNvSpPr txBox="1"/>
          <p:nvPr/>
        </p:nvSpPr>
        <p:spPr>
          <a:xfrm>
            <a:off x="1463040"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a:t>
            </a:r>
            <a:endParaRPr lang="en-US" sz="1050" dirty="0"/>
          </a:p>
        </p:txBody>
      </p:sp>
      <p:sp>
        <p:nvSpPr>
          <p:cNvPr id="17" name="Shape 14"/>
          <p:cNvSpPr/>
          <p:nvPr/>
        </p:nvSpPr>
        <p:spPr>
          <a:xfrm>
            <a:off x="2578608" y="2743200"/>
            <a:ext cx="214884" cy="0"/>
          </a:xfrm>
          <a:prstGeom prst="line">
            <a:avLst/>
          </a:prstGeom>
          <a:noFill/>
          <a:ln w="19050">
            <a:solidFill>
              <a:srgbClr val="475569"/>
            </a:solidFill>
            <a:prstDash val="solid"/>
            <a:tailEnd type="triangle"/>
          </a:ln>
        </p:spPr>
      </p:sp>
      <p:sp>
        <p:nvSpPr>
          <p:cNvPr id="18" name="Shape 15"/>
          <p:cNvSpPr/>
          <p:nvPr/>
        </p:nvSpPr>
        <p:spPr>
          <a:xfrm>
            <a:off x="2820924" y="1508760"/>
            <a:ext cx="2002536" cy="2514600"/>
          </a:xfrm>
          <a:prstGeom prst="roundRect">
            <a:avLst>
              <a:gd name="adj" fmla="val 6393"/>
            </a:avLst>
          </a:prstGeom>
          <a:solidFill>
            <a:schemeClr val="tx2">
              <a:alpha val="92000"/>
            </a:schemeClr>
          </a:solidFill>
          <a:ln w="15875">
            <a:solidFill>
              <a:srgbClr val="3B82F6"/>
            </a:solidFill>
            <a:prstDash val="solid"/>
          </a:ln>
        </p:spPr>
      </p:sp>
      <p:sp>
        <p:nvSpPr>
          <p:cNvPr id="19" name="Text 16"/>
          <p:cNvSpPr txBox="1"/>
          <p:nvPr/>
        </p:nvSpPr>
        <p:spPr>
          <a:xfrm>
            <a:off x="2985516" y="1600200"/>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OCULTA 1</a:t>
            </a:r>
            <a:endParaRPr lang="en-US" sz="950" dirty="0"/>
          </a:p>
        </p:txBody>
      </p:sp>
      <p:sp>
        <p:nvSpPr>
          <p:cNvPr id="20" name="Text 17"/>
          <p:cNvSpPr txBox="1"/>
          <p:nvPr/>
        </p:nvSpPr>
        <p:spPr>
          <a:xfrm>
            <a:off x="2985516"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64</a:t>
            </a:r>
            <a:endParaRPr lang="en-US" sz="2600" dirty="0"/>
          </a:p>
        </p:txBody>
      </p:sp>
      <p:sp>
        <p:nvSpPr>
          <p:cNvPr id="21" name="Text 18"/>
          <p:cNvSpPr txBox="1"/>
          <p:nvPr/>
        </p:nvSpPr>
        <p:spPr>
          <a:xfrm>
            <a:off x="3826764"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22" name="Text 19"/>
          <p:cNvSpPr txBox="1"/>
          <p:nvPr/>
        </p:nvSpPr>
        <p:spPr>
          <a:xfrm>
            <a:off x="2985516"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23" name="Text 20"/>
          <p:cNvSpPr txBox="1"/>
          <p:nvPr/>
        </p:nvSpPr>
        <p:spPr>
          <a:xfrm>
            <a:off x="3735324"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44 × 64 = 2.816</a:t>
            </a:r>
            <a:endParaRPr lang="en-US" sz="1050" dirty="0"/>
          </a:p>
        </p:txBody>
      </p:sp>
      <p:sp>
        <p:nvSpPr>
          <p:cNvPr id="24" name="Text 21"/>
          <p:cNvSpPr txBox="1"/>
          <p:nvPr/>
        </p:nvSpPr>
        <p:spPr>
          <a:xfrm>
            <a:off x="2985516"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25" name="Text 22"/>
          <p:cNvSpPr txBox="1"/>
          <p:nvPr/>
        </p:nvSpPr>
        <p:spPr>
          <a:xfrm>
            <a:off x="3735324"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64</a:t>
            </a:r>
            <a:endParaRPr lang="en-US" sz="1050" dirty="0"/>
          </a:p>
        </p:txBody>
      </p:sp>
      <p:sp>
        <p:nvSpPr>
          <p:cNvPr id="26" name="Text 23"/>
          <p:cNvSpPr txBox="1"/>
          <p:nvPr/>
        </p:nvSpPr>
        <p:spPr>
          <a:xfrm>
            <a:off x="2985516"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27" name="Shape 24"/>
          <p:cNvSpPr/>
          <p:nvPr/>
        </p:nvSpPr>
        <p:spPr>
          <a:xfrm>
            <a:off x="3735324" y="3145536"/>
            <a:ext cx="978408" cy="274320"/>
          </a:xfrm>
          <a:prstGeom prst="roundRect">
            <a:avLst>
              <a:gd name="adj" fmla="val 50000"/>
            </a:avLst>
          </a:prstGeom>
          <a:solidFill>
            <a:srgbClr val="3B82F6">
              <a:alpha val="85000"/>
            </a:srgbClr>
          </a:solidFill>
          <a:ln w="12700">
            <a:solidFill>
              <a:srgbClr val="3B82F6"/>
            </a:solidFill>
            <a:prstDash val="solid"/>
          </a:ln>
        </p:spPr>
      </p:sp>
      <p:sp>
        <p:nvSpPr>
          <p:cNvPr id="28" name="Text 25"/>
          <p:cNvSpPr txBox="1"/>
          <p:nvPr/>
        </p:nvSpPr>
        <p:spPr>
          <a:xfrm>
            <a:off x="3735324"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29" name="Text 26"/>
          <p:cNvSpPr txBox="1"/>
          <p:nvPr/>
        </p:nvSpPr>
        <p:spPr>
          <a:xfrm>
            <a:off x="2985516"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30" name="Text 27"/>
          <p:cNvSpPr txBox="1"/>
          <p:nvPr/>
        </p:nvSpPr>
        <p:spPr>
          <a:xfrm>
            <a:off x="3735324"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15 %</a:t>
            </a:r>
            <a:endParaRPr lang="en-US" sz="1050" dirty="0"/>
          </a:p>
        </p:txBody>
      </p:sp>
      <p:sp>
        <p:nvSpPr>
          <p:cNvPr id="31" name="Shape 28"/>
          <p:cNvSpPr/>
          <p:nvPr/>
        </p:nvSpPr>
        <p:spPr>
          <a:xfrm>
            <a:off x="4850892" y="2743200"/>
            <a:ext cx="214884" cy="0"/>
          </a:xfrm>
          <a:prstGeom prst="line">
            <a:avLst/>
          </a:prstGeom>
          <a:noFill/>
          <a:ln w="19050">
            <a:solidFill>
              <a:srgbClr val="475569"/>
            </a:solidFill>
            <a:prstDash val="solid"/>
            <a:tailEnd type="triangle"/>
          </a:ln>
        </p:spPr>
      </p:sp>
      <p:sp>
        <p:nvSpPr>
          <p:cNvPr id="32" name="Shape 29"/>
          <p:cNvSpPr/>
          <p:nvPr/>
        </p:nvSpPr>
        <p:spPr>
          <a:xfrm>
            <a:off x="5093208" y="1508760"/>
            <a:ext cx="2002536" cy="2514600"/>
          </a:xfrm>
          <a:prstGeom prst="roundRect">
            <a:avLst>
              <a:gd name="adj" fmla="val 6393"/>
            </a:avLst>
          </a:prstGeom>
          <a:solidFill>
            <a:schemeClr val="tx2">
              <a:alpha val="92000"/>
            </a:schemeClr>
          </a:solidFill>
          <a:ln w="15875">
            <a:solidFill>
              <a:srgbClr val="3B82F6"/>
            </a:solidFill>
            <a:prstDash val="solid"/>
          </a:ln>
        </p:spPr>
      </p:sp>
      <p:sp>
        <p:nvSpPr>
          <p:cNvPr id="33" name="Text 30"/>
          <p:cNvSpPr txBox="1"/>
          <p:nvPr/>
        </p:nvSpPr>
        <p:spPr>
          <a:xfrm>
            <a:off x="5257800" y="1600200"/>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OCULTA 2</a:t>
            </a:r>
            <a:endParaRPr lang="en-US" sz="950" dirty="0"/>
          </a:p>
        </p:txBody>
      </p:sp>
      <p:sp>
        <p:nvSpPr>
          <p:cNvPr id="34" name="Text 31"/>
          <p:cNvSpPr txBox="1"/>
          <p:nvPr/>
        </p:nvSpPr>
        <p:spPr>
          <a:xfrm>
            <a:off x="5257800"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32</a:t>
            </a:r>
            <a:endParaRPr lang="en-US" sz="2600" dirty="0"/>
          </a:p>
        </p:txBody>
      </p:sp>
      <p:sp>
        <p:nvSpPr>
          <p:cNvPr id="35" name="Text 32"/>
          <p:cNvSpPr txBox="1"/>
          <p:nvPr/>
        </p:nvSpPr>
        <p:spPr>
          <a:xfrm>
            <a:off x="6099048"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36" name="Text 33"/>
          <p:cNvSpPr txBox="1"/>
          <p:nvPr/>
        </p:nvSpPr>
        <p:spPr>
          <a:xfrm>
            <a:off x="5257800"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37" name="Text 34"/>
          <p:cNvSpPr txBox="1"/>
          <p:nvPr/>
        </p:nvSpPr>
        <p:spPr>
          <a:xfrm>
            <a:off x="6007608"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64 × 32 = 2.048</a:t>
            </a:r>
            <a:endParaRPr lang="en-US" sz="1050" dirty="0"/>
          </a:p>
        </p:txBody>
      </p:sp>
      <p:sp>
        <p:nvSpPr>
          <p:cNvPr id="38" name="Text 35"/>
          <p:cNvSpPr txBox="1"/>
          <p:nvPr/>
        </p:nvSpPr>
        <p:spPr>
          <a:xfrm>
            <a:off x="5257800"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39" name="Text 36"/>
          <p:cNvSpPr txBox="1"/>
          <p:nvPr/>
        </p:nvSpPr>
        <p:spPr>
          <a:xfrm>
            <a:off x="6007608"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32</a:t>
            </a:r>
            <a:endParaRPr lang="en-US" sz="1050" dirty="0"/>
          </a:p>
        </p:txBody>
      </p:sp>
      <p:sp>
        <p:nvSpPr>
          <p:cNvPr id="40" name="Text 37"/>
          <p:cNvSpPr txBox="1"/>
          <p:nvPr/>
        </p:nvSpPr>
        <p:spPr>
          <a:xfrm>
            <a:off x="5257800"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41" name="Shape 38"/>
          <p:cNvSpPr/>
          <p:nvPr/>
        </p:nvSpPr>
        <p:spPr>
          <a:xfrm>
            <a:off x="6007608" y="3145536"/>
            <a:ext cx="978408" cy="274320"/>
          </a:xfrm>
          <a:prstGeom prst="roundRect">
            <a:avLst>
              <a:gd name="adj" fmla="val 50000"/>
            </a:avLst>
          </a:prstGeom>
          <a:solidFill>
            <a:srgbClr val="3B82F6">
              <a:alpha val="85000"/>
            </a:srgbClr>
          </a:solidFill>
          <a:ln w="12700">
            <a:solidFill>
              <a:srgbClr val="3B82F6"/>
            </a:solidFill>
            <a:prstDash val="solid"/>
          </a:ln>
        </p:spPr>
      </p:sp>
      <p:sp>
        <p:nvSpPr>
          <p:cNvPr id="42" name="Text 39"/>
          <p:cNvSpPr txBox="1"/>
          <p:nvPr/>
        </p:nvSpPr>
        <p:spPr>
          <a:xfrm>
            <a:off x="6007608"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43" name="Text 40"/>
          <p:cNvSpPr txBox="1"/>
          <p:nvPr/>
        </p:nvSpPr>
        <p:spPr>
          <a:xfrm>
            <a:off x="5257800"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44" name="Text 41"/>
          <p:cNvSpPr txBox="1"/>
          <p:nvPr/>
        </p:nvSpPr>
        <p:spPr>
          <a:xfrm>
            <a:off x="6007608"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15 %</a:t>
            </a:r>
            <a:endParaRPr lang="en-US" sz="1050" dirty="0"/>
          </a:p>
        </p:txBody>
      </p:sp>
      <p:sp>
        <p:nvSpPr>
          <p:cNvPr id="45" name="Shape 42"/>
          <p:cNvSpPr/>
          <p:nvPr/>
        </p:nvSpPr>
        <p:spPr>
          <a:xfrm>
            <a:off x="7123176" y="2743200"/>
            <a:ext cx="214884" cy="0"/>
          </a:xfrm>
          <a:prstGeom prst="line">
            <a:avLst/>
          </a:prstGeom>
          <a:noFill/>
          <a:ln w="19050">
            <a:solidFill>
              <a:srgbClr val="475569"/>
            </a:solidFill>
            <a:prstDash val="solid"/>
            <a:tailEnd type="triangle"/>
          </a:ln>
        </p:spPr>
      </p:sp>
      <p:sp>
        <p:nvSpPr>
          <p:cNvPr id="46" name="Shape 43"/>
          <p:cNvSpPr/>
          <p:nvPr/>
        </p:nvSpPr>
        <p:spPr>
          <a:xfrm>
            <a:off x="7365492" y="1508760"/>
            <a:ext cx="2002536" cy="2514600"/>
          </a:xfrm>
          <a:prstGeom prst="roundRect">
            <a:avLst>
              <a:gd name="adj" fmla="val 6393"/>
            </a:avLst>
          </a:prstGeom>
          <a:solidFill>
            <a:schemeClr val="tx2">
              <a:alpha val="92000"/>
            </a:schemeClr>
          </a:solidFill>
          <a:ln w="15875">
            <a:solidFill>
              <a:srgbClr val="3B82F6"/>
            </a:solidFill>
            <a:prstDash val="solid"/>
          </a:ln>
        </p:spPr>
      </p:sp>
      <p:sp>
        <p:nvSpPr>
          <p:cNvPr id="47" name="Text 44"/>
          <p:cNvSpPr txBox="1"/>
          <p:nvPr/>
        </p:nvSpPr>
        <p:spPr>
          <a:xfrm>
            <a:off x="7530084" y="1600200"/>
            <a:ext cx="1728216" cy="256032"/>
          </a:xfrm>
          <a:prstGeom prst="rect">
            <a:avLst/>
          </a:prstGeom>
          <a:noFill/>
          <a:ln/>
        </p:spPr>
        <p:txBody>
          <a:bodyPr wrap="square" lIns="0" tIns="0" rIns="0" bIns="0" rtlCol="0" anchor="ctr"/>
          <a:lstStyle/>
          <a:p>
            <a:pPr indent="0" marL="0">
              <a:buNone/>
            </a:pPr>
            <a:r>
              <a:rPr lang="en-US" sz="950" spc="200" kern="0" dirty="0">
                <a:solidFill>
                  <a:srgbClr val="3B82F6"/>
                </a:solidFill>
                <a:latin typeface="Consolas" pitchFamily="34" charset="0"/>
                <a:ea typeface="Consolas" pitchFamily="34" charset="-122"/>
                <a:cs typeface="Consolas" pitchFamily="34" charset="-120"/>
              </a:rPr>
              <a:t>OCULTA 3</a:t>
            </a:r>
            <a:endParaRPr lang="en-US" sz="950" dirty="0"/>
          </a:p>
        </p:txBody>
      </p:sp>
      <p:sp>
        <p:nvSpPr>
          <p:cNvPr id="48" name="Text 45"/>
          <p:cNvSpPr txBox="1"/>
          <p:nvPr/>
        </p:nvSpPr>
        <p:spPr>
          <a:xfrm>
            <a:off x="7530084"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16</a:t>
            </a:r>
            <a:endParaRPr lang="en-US" sz="2600" dirty="0"/>
          </a:p>
        </p:txBody>
      </p:sp>
      <p:sp>
        <p:nvSpPr>
          <p:cNvPr id="49" name="Text 46"/>
          <p:cNvSpPr txBox="1"/>
          <p:nvPr/>
        </p:nvSpPr>
        <p:spPr>
          <a:xfrm>
            <a:off x="8371332"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neuronas</a:t>
            </a:r>
            <a:endParaRPr lang="en-US" sz="1150" dirty="0"/>
          </a:p>
        </p:txBody>
      </p:sp>
      <p:sp>
        <p:nvSpPr>
          <p:cNvPr id="50" name="Text 47"/>
          <p:cNvSpPr txBox="1"/>
          <p:nvPr/>
        </p:nvSpPr>
        <p:spPr>
          <a:xfrm>
            <a:off x="7530084"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51" name="Text 48"/>
          <p:cNvSpPr txBox="1"/>
          <p:nvPr/>
        </p:nvSpPr>
        <p:spPr>
          <a:xfrm>
            <a:off x="8279892"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32 × 16 = 512</a:t>
            </a:r>
            <a:endParaRPr lang="en-US" sz="1050" dirty="0"/>
          </a:p>
        </p:txBody>
      </p:sp>
      <p:sp>
        <p:nvSpPr>
          <p:cNvPr id="52" name="Text 49"/>
          <p:cNvSpPr txBox="1"/>
          <p:nvPr/>
        </p:nvSpPr>
        <p:spPr>
          <a:xfrm>
            <a:off x="7530084"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53" name="Text 50"/>
          <p:cNvSpPr txBox="1"/>
          <p:nvPr/>
        </p:nvSpPr>
        <p:spPr>
          <a:xfrm>
            <a:off x="8279892"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16</a:t>
            </a:r>
            <a:endParaRPr lang="en-US" sz="1050" dirty="0"/>
          </a:p>
        </p:txBody>
      </p:sp>
      <p:sp>
        <p:nvSpPr>
          <p:cNvPr id="54" name="Text 51"/>
          <p:cNvSpPr txBox="1"/>
          <p:nvPr/>
        </p:nvSpPr>
        <p:spPr>
          <a:xfrm>
            <a:off x="7530084"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55" name="Shape 52"/>
          <p:cNvSpPr/>
          <p:nvPr/>
        </p:nvSpPr>
        <p:spPr>
          <a:xfrm>
            <a:off x="8279892" y="3145536"/>
            <a:ext cx="978408" cy="274320"/>
          </a:xfrm>
          <a:prstGeom prst="roundRect">
            <a:avLst>
              <a:gd name="adj" fmla="val 50000"/>
            </a:avLst>
          </a:prstGeom>
          <a:solidFill>
            <a:srgbClr val="3B82F6">
              <a:alpha val="85000"/>
            </a:srgbClr>
          </a:solidFill>
          <a:ln w="12700">
            <a:solidFill>
              <a:srgbClr val="3B82F6"/>
            </a:solidFill>
            <a:prstDash val="solid"/>
          </a:ln>
        </p:spPr>
      </p:sp>
      <p:sp>
        <p:nvSpPr>
          <p:cNvPr id="56" name="Text 53"/>
          <p:cNvSpPr txBox="1"/>
          <p:nvPr/>
        </p:nvSpPr>
        <p:spPr>
          <a:xfrm>
            <a:off x="8279892"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ReLU</a:t>
            </a:r>
            <a:endParaRPr lang="en-US" sz="1050" dirty="0"/>
          </a:p>
        </p:txBody>
      </p:sp>
      <p:sp>
        <p:nvSpPr>
          <p:cNvPr id="57" name="Text 54"/>
          <p:cNvSpPr txBox="1"/>
          <p:nvPr/>
        </p:nvSpPr>
        <p:spPr>
          <a:xfrm>
            <a:off x="7530084"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58" name="Text 55"/>
          <p:cNvSpPr txBox="1"/>
          <p:nvPr/>
        </p:nvSpPr>
        <p:spPr>
          <a:xfrm>
            <a:off x="8279892"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no</a:t>
            </a:r>
            <a:endParaRPr lang="en-US" sz="1050" dirty="0"/>
          </a:p>
        </p:txBody>
      </p:sp>
      <p:sp>
        <p:nvSpPr>
          <p:cNvPr id="59" name="Shape 56"/>
          <p:cNvSpPr/>
          <p:nvPr/>
        </p:nvSpPr>
        <p:spPr>
          <a:xfrm>
            <a:off x="9395460" y="2743200"/>
            <a:ext cx="214884" cy="0"/>
          </a:xfrm>
          <a:prstGeom prst="line">
            <a:avLst/>
          </a:prstGeom>
          <a:noFill/>
          <a:ln w="19050">
            <a:solidFill>
              <a:srgbClr val="475569"/>
            </a:solidFill>
            <a:prstDash val="solid"/>
            <a:tailEnd type="triangle"/>
          </a:ln>
        </p:spPr>
      </p:sp>
      <p:sp>
        <p:nvSpPr>
          <p:cNvPr id="60" name="Shape 57"/>
          <p:cNvSpPr/>
          <p:nvPr/>
        </p:nvSpPr>
        <p:spPr>
          <a:xfrm>
            <a:off x="9637776" y="1508760"/>
            <a:ext cx="2002536" cy="2514600"/>
          </a:xfrm>
          <a:prstGeom prst="roundRect">
            <a:avLst>
              <a:gd name="adj" fmla="val 6393"/>
            </a:avLst>
          </a:prstGeom>
          <a:solidFill>
            <a:schemeClr val="tx2">
              <a:alpha val="92000"/>
            </a:schemeClr>
          </a:solidFill>
          <a:ln w="15875">
            <a:solidFill>
              <a:srgbClr val="34D399"/>
            </a:solidFill>
            <a:prstDash val="solid"/>
          </a:ln>
        </p:spPr>
      </p:sp>
      <p:sp>
        <p:nvSpPr>
          <p:cNvPr id="61" name="Text 58"/>
          <p:cNvSpPr txBox="1"/>
          <p:nvPr/>
        </p:nvSpPr>
        <p:spPr>
          <a:xfrm>
            <a:off x="9802368" y="1600200"/>
            <a:ext cx="1728216" cy="256032"/>
          </a:xfrm>
          <a:prstGeom prst="rect">
            <a:avLst/>
          </a:prstGeom>
          <a:noFill/>
          <a:ln/>
        </p:spPr>
        <p:txBody>
          <a:bodyPr wrap="square" lIns="0" tIns="0" rIns="0" bIns="0" rtlCol="0" anchor="ctr"/>
          <a:lstStyle/>
          <a:p>
            <a:pPr indent="0" marL="0">
              <a:buNone/>
            </a:pPr>
            <a:r>
              <a:rPr lang="en-US" sz="950" spc="200" kern="0" dirty="0">
                <a:solidFill>
                  <a:srgbClr val="34D399"/>
                </a:solidFill>
                <a:latin typeface="Consolas" pitchFamily="34" charset="0"/>
                <a:ea typeface="Consolas" pitchFamily="34" charset="-122"/>
                <a:cs typeface="Consolas" pitchFamily="34" charset="-120"/>
              </a:rPr>
              <a:t>SALIDA</a:t>
            </a:r>
            <a:endParaRPr lang="en-US" sz="950" dirty="0"/>
          </a:p>
        </p:txBody>
      </p:sp>
      <p:sp>
        <p:nvSpPr>
          <p:cNvPr id="62" name="Text 59"/>
          <p:cNvSpPr txBox="1"/>
          <p:nvPr/>
        </p:nvSpPr>
        <p:spPr>
          <a:xfrm>
            <a:off x="9802368" y="1828800"/>
            <a:ext cx="868680" cy="457200"/>
          </a:xfrm>
          <a:prstGeom prst="rect">
            <a:avLst/>
          </a:prstGeom>
          <a:noFill/>
          <a:ln/>
        </p:spPr>
        <p:txBody>
          <a:bodyPr wrap="square" lIns="0" tIns="0" rIns="0" bIns="0" rtlCol="0" anchor="ctr"/>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1</a:t>
            </a:r>
            <a:endParaRPr lang="en-US" sz="2600" dirty="0"/>
          </a:p>
        </p:txBody>
      </p:sp>
      <p:sp>
        <p:nvSpPr>
          <p:cNvPr id="63" name="Text 60"/>
          <p:cNvSpPr txBox="1"/>
          <p:nvPr/>
        </p:nvSpPr>
        <p:spPr>
          <a:xfrm>
            <a:off x="10643616" y="1828800"/>
            <a:ext cx="914400" cy="457200"/>
          </a:xfrm>
          <a:prstGeom prst="rect">
            <a:avLst/>
          </a:prstGeom>
          <a:noFill/>
          <a:ln/>
        </p:spPr>
        <p:txBody>
          <a:bodyPr wrap="square" lIns="0" tIns="0" rIns="0" bIns="0" rtlCol="0" anchor="ctr"/>
          <a:lstStyle/>
          <a:p>
            <a:pPr algn="l" indent="0" marL="0">
              <a:lnSpc>
                <a:spcPct val="110000"/>
              </a:lnSpc>
              <a:spcAft>
                <a:spcPts val="400"/>
              </a:spcAft>
              <a:buNone/>
            </a:pPr>
            <a:r>
              <a:rPr lang="en-US" sz="1150" dirty="0">
                <a:solidFill>
                  <a:schemeClr val="bg2"/>
                </a:solidFill>
              </a:rPr>
              <a:t>neurona</a:t>
            </a:r>
            <a:endParaRPr lang="en-US" sz="1150" dirty="0"/>
          </a:p>
        </p:txBody>
      </p:sp>
      <p:sp>
        <p:nvSpPr>
          <p:cNvPr id="64" name="Text 61"/>
          <p:cNvSpPr txBox="1"/>
          <p:nvPr/>
        </p:nvSpPr>
        <p:spPr>
          <a:xfrm>
            <a:off x="9802368" y="2395728"/>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Pesos</a:t>
            </a:r>
            <a:endParaRPr lang="en-US" sz="1050" dirty="0"/>
          </a:p>
        </p:txBody>
      </p:sp>
      <p:sp>
        <p:nvSpPr>
          <p:cNvPr id="65" name="Text 62"/>
          <p:cNvSpPr txBox="1"/>
          <p:nvPr/>
        </p:nvSpPr>
        <p:spPr>
          <a:xfrm>
            <a:off x="10552176" y="2395728"/>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16 × 1 = 16</a:t>
            </a:r>
            <a:endParaRPr lang="en-US" sz="1050" dirty="0"/>
          </a:p>
        </p:txBody>
      </p:sp>
      <p:sp>
        <p:nvSpPr>
          <p:cNvPr id="66" name="Text 63"/>
          <p:cNvSpPr txBox="1"/>
          <p:nvPr/>
        </p:nvSpPr>
        <p:spPr>
          <a:xfrm>
            <a:off x="9802368" y="2779776"/>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Sesgos</a:t>
            </a:r>
            <a:endParaRPr lang="en-US" sz="1050" dirty="0"/>
          </a:p>
        </p:txBody>
      </p:sp>
      <p:sp>
        <p:nvSpPr>
          <p:cNvPr id="67" name="Text 64"/>
          <p:cNvSpPr txBox="1"/>
          <p:nvPr/>
        </p:nvSpPr>
        <p:spPr>
          <a:xfrm>
            <a:off x="10552176" y="2779776"/>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1</a:t>
            </a:r>
            <a:endParaRPr lang="en-US" sz="1050" dirty="0"/>
          </a:p>
        </p:txBody>
      </p:sp>
      <p:sp>
        <p:nvSpPr>
          <p:cNvPr id="68" name="Text 65"/>
          <p:cNvSpPr txBox="1"/>
          <p:nvPr/>
        </p:nvSpPr>
        <p:spPr>
          <a:xfrm>
            <a:off x="9802368" y="3163824"/>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Activación</a:t>
            </a:r>
            <a:endParaRPr lang="en-US" sz="1050" dirty="0"/>
          </a:p>
        </p:txBody>
      </p:sp>
      <p:sp>
        <p:nvSpPr>
          <p:cNvPr id="69" name="Shape 66"/>
          <p:cNvSpPr/>
          <p:nvPr/>
        </p:nvSpPr>
        <p:spPr>
          <a:xfrm>
            <a:off x="10552176" y="3145536"/>
            <a:ext cx="978408" cy="274320"/>
          </a:xfrm>
          <a:prstGeom prst="roundRect">
            <a:avLst>
              <a:gd name="adj" fmla="val 50000"/>
            </a:avLst>
          </a:prstGeom>
          <a:solidFill>
            <a:srgbClr val="34D399">
              <a:alpha val="85000"/>
            </a:srgbClr>
          </a:solidFill>
          <a:ln w="12700">
            <a:solidFill>
              <a:srgbClr val="34D399"/>
            </a:solidFill>
            <a:prstDash val="solid"/>
          </a:ln>
        </p:spPr>
      </p:sp>
      <p:sp>
        <p:nvSpPr>
          <p:cNvPr id="70" name="Text 67"/>
          <p:cNvSpPr txBox="1"/>
          <p:nvPr/>
        </p:nvSpPr>
        <p:spPr>
          <a:xfrm>
            <a:off x="10552176" y="3145536"/>
            <a:ext cx="978408" cy="274320"/>
          </a:xfrm>
          <a:prstGeom prst="rect">
            <a:avLst/>
          </a:prstGeom>
          <a:noFill/>
          <a:ln/>
        </p:spPr>
        <p:txBody>
          <a:bodyPr wrap="square" lIns="0" tIns="0" rIns="0" bIns="0" rtlCol="0" anchor="ctr"/>
          <a:lstStyle/>
          <a:p>
            <a:pPr algn="ctr" indent="0" marL="0">
              <a:lnSpc>
                <a:spcPct val="110000"/>
              </a:lnSpc>
              <a:spcAft>
                <a:spcPts val="400"/>
              </a:spcAft>
              <a:buNone/>
            </a:pPr>
            <a:r>
              <a:rPr lang="en-US" sz="1050" b="1" dirty="0">
                <a:solidFill>
                  <a:schemeClr val="tx1"/>
                </a:solidFill>
              </a:rPr>
              <a:t>Sigmoide</a:t>
            </a:r>
            <a:endParaRPr lang="en-US" sz="1050" dirty="0"/>
          </a:p>
        </p:txBody>
      </p:sp>
      <p:sp>
        <p:nvSpPr>
          <p:cNvPr id="71" name="Text 68"/>
          <p:cNvSpPr txBox="1"/>
          <p:nvPr/>
        </p:nvSpPr>
        <p:spPr>
          <a:xfrm>
            <a:off x="9802368" y="3547872"/>
            <a:ext cx="86868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Dropout</a:t>
            </a:r>
            <a:endParaRPr lang="en-US" sz="1050" dirty="0"/>
          </a:p>
        </p:txBody>
      </p:sp>
      <p:sp>
        <p:nvSpPr>
          <p:cNvPr id="72" name="Text 69"/>
          <p:cNvSpPr txBox="1"/>
          <p:nvPr/>
        </p:nvSpPr>
        <p:spPr>
          <a:xfrm>
            <a:off x="10552176" y="3547872"/>
            <a:ext cx="978408" cy="274320"/>
          </a:xfrm>
          <a:prstGeom prst="rect">
            <a:avLst/>
          </a:prstGeom>
          <a:noFill/>
          <a:ln/>
        </p:spPr>
        <p:txBody>
          <a:bodyPr wrap="square" lIns="0" tIns="0" rIns="0" bIns="0" rtlCol="0" anchor="t"/>
          <a:lstStyle/>
          <a:p>
            <a:pPr algn="r" indent="0" marL="0">
              <a:lnSpc>
                <a:spcPct val="110000"/>
              </a:lnSpc>
              <a:spcAft>
                <a:spcPts val="400"/>
              </a:spcAft>
              <a:buNone/>
            </a:pPr>
            <a:r>
              <a:rPr lang="en-US" sz="1050" b="1" dirty="0">
                <a:solidFill>
                  <a:schemeClr val="bg1"/>
                </a:solidFill>
              </a:rPr>
              <a:t>no</a:t>
            </a:r>
            <a:endParaRPr lang="en-US" sz="1050" dirty="0"/>
          </a:p>
        </p:txBody>
      </p:sp>
      <p:sp>
        <p:nvSpPr>
          <p:cNvPr id="73" name="Shape 70"/>
          <p:cNvSpPr/>
          <p:nvPr/>
        </p:nvSpPr>
        <p:spPr>
          <a:xfrm>
            <a:off x="548640" y="4206240"/>
            <a:ext cx="11091672" cy="896112"/>
          </a:xfrm>
          <a:prstGeom prst="roundRect">
            <a:avLst>
              <a:gd name="adj" fmla="val 14286"/>
            </a:avLst>
          </a:prstGeom>
          <a:solidFill>
            <a:schemeClr val="tx2">
              <a:alpha val="92000"/>
            </a:schemeClr>
          </a:solidFill>
          <a:ln w="15875">
            <a:solidFill>
              <a:srgbClr val="38BDF8"/>
            </a:solidFill>
            <a:prstDash val="solid"/>
          </a:ln>
        </p:spPr>
      </p:sp>
      <p:sp>
        <p:nvSpPr>
          <p:cNvPr id="74" name="Text 71"/>
          <p:cNvSpPr txBox="1"/>
          <p:nvPr/>
        </p:nvSpPr>
        <p:spPr>
          <a:xfrm>
            <a:off x="777240" y="4206240"/>
            <a:ext cx="2194560" cy="896112"/>
          </a:xfrm>
          <a:prstGeom prst="rect">
            <a:avLst/>
          </a:prstGeom>
          <a:noFill/>
          <a:ln/>
        </p:spPr>
        <p:txBody>
          <a:bodyPr wrap="square" lIns="0" tIns="0" rIns="0" bIns="0" rtlCol="0" anchor="ctr"/>
          <a:lstStyle/>
          <a:p>
            <a:pPr algn="l" indent="0" marL="0">
              <a:lnSpc>
                <a:spcPct val="110000"/>
              </a:lnSpc>
              <a:spcAft>
                <a:spcPts val="400"/>
              </a:spcAft>
              <a:buNone/>
            </a:pPr>
            <a:r>
              <a:rPr lang="en-US" sz="1450" b="1" dirty="0">
                <a:solidFill>
                  <a:schemeClr val="bg1"/>
                </a:solidFill>
              </a:rPr>
              <a:t>Red 2 · LeakyReLU</a:t>
            </a:r>
            <a:endParaRPr lang="en-US" sz="1450" dirty="0"/>
          </a:p>
        </p:txBody>
      </p:sp>
      <p:sp>
        <p:nvSpPr>
          <p:cNvPr id="75" name="Shape 72"/>
          <p:cNvSpPr/>
          <p:nvPr/>
        </p:nvSpPr>
        <p:spPr>
          <a:xfrm>
            <a:off x="2926080" y="4425696"/>
            <a:ext cx="502920" cy="457200"/>
          </a:xfrm>
          <a:prstGeom prst="roundRect">
            <a:avLst>
              <a:gd name="adj" fmla="val 16000"/>
            </a:avLst>
          </a:prstGeom>
          <a:solidFill>
            <a:srgbClr val="1E293B"/>
          </a:solidFill>
          <a:ln w="12700">
            <a:solidFill>
              <a:srgbClr val="38BDF8"/>
            </a:solidFill>
            <a:prstDash val="solid"/>
          </a:ln>
        </p:spPr>
      </p:sp>
      <p:sp>
        <p:nvSpPr>
          <p:cNvPr id="76" name="Text 73"/>
          <p:cNvSpPr txBox="1"/>
          <p:nvPr/>
        </p:nvSpPr>
        <p:spPr>
          <a:xfrm>
            <a:off x="29260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44</a:t>
            </a:r>
            <a:endParaRPr lang="en-US" sz="1300" dirty="0"/>
          </a:p>
        </p:txBody>
      </p:sp>
      <p:sp>
        <p:nvSpPr>
          <p:cNvPr id="77" name="Text 74"/>
          <p:cNvSpPr txBox="1"/>
          <p:nvPr/>
        </p:nvSpPr>
        <p:spPr>
          <a:xfrm>
            <a:off x="3429000" y="442569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78" name="Shape 75"/>
          <p:cNvSpPr/>
          <p:nvPr/>
        </p:nvSpPr>
        <p:spPr>
          <a:xfrm>
            <a:off x="3611880" y="4425696"/>
            <a:ext cx="502920" cy="457200"/>
          </a:xfrm>
          <a:prstGeom prst="roundRect">
            <a:avLst>
              <a:gd name="adj" fmla="val 16000"/>
            </a:avLst>
          </a:prstGeom>
          <a:solidFill>
            <a:srgbClr val="1E293B"/>
          </a:solidFill>
          <a:ln w="12700">
            <a:solidFill>
              <a:srgbClr val="38BDF8"/>
            </a:solidFill>
            <a:prstDash val="solid"/>
          </a:ln>
        </p:spPr>
      </p:sp>
      <p:sp>
        <p:nvSpPr>
          <p:cNvPr id="79" name="Text 76"/>
          <p:cNvSpPr txBox="1"/>
          <p:nvPr/>
        </p:nvSpPr>
        <p:spPr>
          <a:xfrm>
            <a:off x="36118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32</a:t>
            </a:r>
            <a:endParaRPr lang="en-US" sz="1300" dirty="0"/>
          </a:p>
        </p:txBody>
      </p:sp>
      <p:sp>
        <p:nvSpPr>
          <p:cNvPr id="80" name="Text 77"/>
          <p:cNvSpPr txBox="1"/>
          <p:nvPr/>
        </p:nvSpPr>
        <p:spPr>
          <a:xfrm>
            <a:off x="4114800" y="442569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81" name="Shape 78"/>
          <p:cNvSpPr/>
          <p:nvPr/>
        </p:nvSpPr>
        <p:spPr>
          <a:xfrm>
            <a:off x="4297680" y="4425696"/>
            <a:ext cx="502920" cy="457200"/>
          </a:xfrm>
          <a:prstGeom prst="roundRect">
            <a:avLst>
              <a:gd name="adj" fmla="val 16000"/>
            </a:avLst>
          </a:prstGeom>
          <a:solidFill>
            <a:srgbClr val="1E293B"/>
          </a:solidFill>
          <a:ln w="12700">
            <a:solidFill>
              <a:srgbClr val="38BDF8"/>
            </a:solidFill>
            <a:prstDash val="solid"/>
          </a:ln>
        </p:spPr>
      </p:sp>
      <p:sp>
        <p:nvSpPr>
          <p:cNvPr id="82" name="Text 79"/>
          <p:cNvSpPr txBox="1"/>
          <p:nvPr/>
        </p:nvSpPr>
        <p:spPr>
          <a:xfrm>
            <a:off x="42976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16</a:t>
            </a:r>
            <a:endParaRPr lang="en-US" sz="1300" dirty="0"/>
          </a:p>
        </p:txBody>
      </p:sp>
      <p:sp>
        <p:nvSpPr>
          <p:cNvPr id="83" name="Text 80"/>
          <p:cNvSpPr txBox="1"/>
          <p:nvPr/>
        </p:nvSpPr>
        <p:spPr>
          <a:xfrm>
            <a:off x="4800600" y="442569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84" name="Shape 81"/>
          <p:cNvSpPr/>
          <p:nvPr/>
        </p:nvSpPr>
        <p:spPr>
          <a:xfrm>
            <a:off x="4983480" y="4425696"/>
            <a:ext cx="502920" cy="457200"/>
          </a:xfrm>
          <a:prstGeom prst="roundRect">
            <a:avLst>
              <a:gd name="adj" fmla="val 16000"/>
            </a:avLst>
          </a:prstGeom>
          <a:solidFill>
            <a:srgbClr val="1E293B"/>
          </a:solidFill>
          <a:ln w="12700">
            <a:solidFill>
              <a:srgbClr val="34D399"/>
            </a:solidFill>
            <a:prstDash val="solid"/>
          </a:ln>
        </p:spPr>
      </p:sp>
      <p:sp>
        <p:nvSpPr>
          <p:cNvPr id="85" name="Text 82"/>
          <p:cNvSpPr txBox="1"/>
          <p:nvPr/>
        </p:nvSpPr>
        <p:spPr>
          <a:xfrm>
            <a:off x="4983480" y="442569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a:t>
            </a:r>
            <a:endParaRPr lang="en-US" sz="1300" dirty="0"/>
          </a:p>
        </p:txBody>
      </p:sp>
      <p:sp>
        <p:nvSpPr>
          <p:cNvPr id="86" name="Text 83"/>
          <p:cNvSpPr txBox="1"/>
          <p:nvPr/>
        </p:nvSpPr>
        <p:spPr>
          <a:xfrm>
            <a:off x="6446520" y="4279392"/>
            <a:ext cx="5029200" cy="457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LeakyReLU en las ocultas · dropout 15 % solo en la 1.ª · sigmoide en la salida</a:t>
            </a:r>
            <a:endParaRPr lang="en-US" sz="1150" dirty="0"/>
          </a:p>
        </p:txBody>
      </p:sp>
      <p:sp>
        <p:nvSpPr>
          <p:cNvPr id="87" name="Text 84"/>
          <p:cNvSpPr txBox="1"/>
          <p:nvPr/>
        </p:nvSpPr>
        <p:spPr>
          <a:xfrm>
            <a:off x="6446520" y="4736592"/>
            <a:ext cx="502920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38BDF8"/>
                </a:solidFill>
                <a:latin typeface="Consolas" pitchFamily="34" charset="0"/>
                <a:ea typeface="Consolas" pitchFamily="34" charset="-122"/>
                <a:cs typeface="Consolas" pitchFamily="34" charset="-120"/>
              </a:rPr>
              <a:t>1.936 pesos + 49 sesgos = 1.985 parámetros</a:t>
            </a:r>
            <a:endParaRPr lang="en-US" sz="1100" dirty="0"/>
          </a:p>
        </p:txBody>
      </p:sp>
      <p:sp>
        <p:nvSpPr>
          <p:cNvPr id="88" name="Shape 85"/>
          <p:cNvSpPr/>
          <p:nvPr/>
        </p:nvSpPr>
        <p:spPr>
          <a:xfrm>
            <a:off x="548640" y="5212080"/>
            <a:ext cx="11091672" cy="896112"/>
          </a:xfrm>
          <a:prstGeom prst="roundRect">
            <a:avLst>
              <a:gd name="adj" fmla="val 14286"/>
            </a:avLst>
          </a:prstGeom>
          <a:solidFill>
            <a:schemeClr val="tx2">
              <a:alpha val="92000"/>
            </a:schemeClr>
          </a:solidFill>
          <a:ln w="15875">
            <a:solidFill>
              <a:srgbClr val="818CF8"/>
            </a:solidFill>
            <a:prstDash val="solid"/>
          </a:ln>
        </p:spPr>
      </p:sp>
      <p:sp>
        <p:nvSpPr>
          <p:cNvPr id="89" name="Text 86"/>
          <p:cNvSpPr txBox="1"/>
          <p:nvPr/>
        </p:nvSpPr>
        <p:spPr>
          <a:xfrm>
            <a:off x="777240" y="5212080"/>
            <a:ext cx="2194560" cy="896112"/>
          </a:xfrm>
          <a:prstGeom prst="rect">
            <a:avLst/>
          </a:prstGeom>
          <a:noFill/>
          <a:ln/>
        </p:spPr>
        <p:txBody>
          <a:bodyPr wrap="square" lIns="0" tIns="0" rIns="0" bIns="0" rtlCol="0" anchor="ctr"/>
          <a:lstStyle/>
          <a:p>
            <a:pPr algn="l" indent="0" marL="0">
              <a:lnSpc>
                <a:spcPct val="110000"/>
              </a:lnSpc>
              <a:spcAft>
                <a:spcPts val="400"/>
              </a:spcAft>
              <a:buNone/>
            </a:pPr>
            <a:r>
              <a:rPr lang="en-US" sz="1450" b="1" dirty="0">
                <a:solidFill>
                  <a:schemeClr val="bg1"/>
                </a:solidFill>
              </a:rPr>
              <a:t>Red 3 · ReLU</a:t>
            </a:r>
            <a:endParaRPr lang="en-US" sz="1450" dirty="0"/>
          </a:p>
        </p:txBody>
      </p:sp>
      <p:sp>
        <p:nvSpPr>
          <p:cNvPr id="90" name="Shape 87"/>
          <p:cNvSpPr/>
          <p:nvPr/>
        </p:nvSpPr>
        <p:spPr>
          <a:xfrm>
            <a:off x="2926080" y="5431536"/>
            <a:ext cx="502920" cy="457200"/>
          </a:xfrm>
          <a:prstGeom prst="roundRect">
            <a:avLst>
              <a:gd name="adj" fmla="val 16000"/>
            </a:avLst>
          </a:prstGeom>
          <a:solidFill>
            <a:srgbClr val="1E293B"/>
          </a:solidFill>
          <a:ln w="12700">
            <a:solidFill>
              <a:srgbClr val="818CF8"/>
            </a:solidFill>
            <a:prstDash val="solid"/>
          </a:ln>
        </p:spPr>
      </p:sp>
      <p:sp>
        <p:nvSpPr>
          <p:cNvPr id="91" name="Text 88"/>
          <p:cNvSpPr txBox="1"/>
          <p:nvPr/>
        </p:nvSpPr>
        <p:spPr>
          <a:xfrm>
            <a:off x="29260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44</a:t>
            </a:r>
            <a:endParaRPr lang="en-US" sz="1300" dirty="0"/>
          </a:p>
        </p:txBody>
      </p:sp>
      <p:sp>
        <p:nvSpPr>
          <p:cNvPr id="92" name="Text 89"/>
          <p:cNvSpPr txBox="1"/>
          <p:nvPr/>
        </p:nvSpPr>
        <p:spPr>
          <a:xfrm>
            <a:off x="34290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93" name="Shape 90"/>
          <p:cNvSpPr/>
          <p:nvPr/>
        </p:nvSpPr>
        <p:spPr>
          <a:xfrm>
            <a:off x="3611880" y="5431536"/>
            <a:ext cx="502920" cy="457200"/>
          </a:xfrm>
          <a:prstGeom prst="roundRect">
            <a:avLst>
              <a:gd name="adj" fmla="val 16000"/>
            </a:avLst>
          </a:prstGeom>
          <a:solidFill>
            <a:srgbClr val="1E293B"/>
          </a:solidFill>
          <a:ln w="12700">
            <a:solidFill>
              <a:srgbClr val="818CF8"/>
            </a:solidFill>
            <a:prstDash val="solid"/>
          </a:ln>
        </p:spPr>
      </p:sp>
      <p:sp>
        <p:nvSpPr>
          <p:cNvPr id="94" name="Text 91"/>
          <p:cNvSpPr txBox="1"/>
          <p:nvPr/>
        </p:nvSpPr>
        <p:spPr>
          <a:xfrm>
            <a:off x="36118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64</a:t>
            </a:r>
            <a:endParaRPr lang="en-US" sz="1300" dirty="0"/>
          </a:p>
        </p:txBody>
      </p:sp>
      <p:sp>
        <p:nvSpPr>
          <p:cNvPr id="95" name="Text 92"/>
          <p:cNvSpPr txBox="1"/>
          <p:nvPr/>
        </p:nvSpPr>
        <p:spPr>
          <a:xfrm>
            <a:off x="41148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96" name="Shape 93"/>
          <p:cNvSpPr/>
          <p:nvPr/>
        </p:nvSpPr>
        <p:spPr>
          <a:xfrm>
            <a:off x="4297680" y="5431536"/>
            <a:ext cx="502920" cy="457200"/>
          </a:xfrm>
          <a:prstGeom prst="roundRect">
            <a:avLst>
              <a:gd name="adj" fmla="val 16000"/>
            </a:avLst>
          </a:prstGeom>
          <a:solidFill>
            <a:srgbClr val="1E293B"/>
          </a:solidFill>
          <a:ln w="12700">
            <a:solidFill>
              <a:srgbClr val="818CF8"/>
            </a:solidFill>
            <a:prstDash val="solid"/>
          </a:ln>
        </p:spPr>
      </p:sp>
      <p:sp>
        <p:nvSpPr>
          <p:cNvPr id="97" name="Text 94"/>
          <p:cNvSpPr txBox="1"/>
          <p:nvPr/>
        </p:nvSpPr>
        <p:spPr>
          <a:xfrm>
            <a:off x="42976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32</a:t>
            </a:r>
            <a:endParaRPr lang="en-US" sz="1300" dirty="0"/>
          </a:p>
        </p:txBody>
      </p:sp>
      <p:sp>
        <p:nvSpPr>
          <p:cNvPr id="98" name="Text 95"/>
          <p:cNvSpPr txBox="1"/>
          <p:nvPr/>
        </p:nvSpPr>
        <p:spPr>
          <a:xfrm>
            <a:off x="48006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99" name="Shape 96"/>
          <p:cNvSpPr/>
          <p:nvPr/>
        </p:nvSpPr>
        <p:spPr>
          <a:xfrm>
            <a:off x="4983480" y="5431536"/>
            <a:ext cx="502920" cy="457200"/>
          </a:xfrm>
          <a:prstGeom prst="roundRect">
            <a:avLst>
              <a:gd name="adj" fmla="val 16000"/>
            </a:avLst>
          </a:prstGeom>
          <a:solidFill>
            <a:srgbClr val="1E293B"/>
          </a:solidFill>
          <a:ln w="12700">
            <a:solidFill>
              <a:srgbClr val="818CF8"/>
            </a:solidFill>
            <a:prstDash val="solid"/>
          </a:ln>
        </p:spPr>
      </p:sp>
      <p:sp>
        <p:nvSpPr>
          <p:cNvPr id="100" name="Text 97"/>
          <p:cNvSpPr txBox="1"/>
          <p:nvPr/>
        </p:nvSpPr>
        <p:spPr>
          <a:xfrm>
            <a:off x="49834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16</a:t>
            </a:r>
            <a:endParaRPr lang="en-US" sz="1300" dirty="0"/>
          </a:p>
        </p:txBody>
      </p:sp>
      <p:sp>
        <p:nvSpPr>
          <p:cNvPr id="101" name="Text 98"/>
          <p:cNvSpPr txBox="1"/>
          <p:nvPr/>
        </p:nvSpPr>
        <p:spPr>
          <a:xfrm>
            <a:off x="5486400" y="5431536"/>
            <a:ext cx="182880" cy="457200"/>
          </a:xfrm>
          <a:prstGeom prst="rect">
            <a:avLst/>
          </a:prstGeom>
          <a:noFill/>
          <a:ln/>
        </p:spPr>
        <p:txBody>
          <a:bodyPr wrap="square" lIns="0" tIns="0" rIns="0" bIns="0" rtlCol="0" anchor="ctr"/>
          <a:lstStyle/>
          <a:p>
            <a:pPr algn="ctr" indent="0" marL="0">
              <a:lnSpc>
                <a:spcPct val="110000"/>
              </a:lnSpc>
              <a:spcAft>
                <a:spcPts val="400"/>
              </a:spcAft>
              <a:buNone/>
            </a:pPr>
            <a:r>
              <a:rPr lang="en-US" sz="1100" dirty="0">
                <a:solidFill>
                  <a:srgbClr val="94A3B8"/>
                </a:solidFill>
              </a:rPr>
              <a:t>→</a:t>
            </a:r>
            <a:endParaRPr lang="en-US" sz="1100" dirty="0"/>
          </a:p>
        </p:txBody>
      </p:sp>
      <p:sp>
        <p:nvSpPr>
          <p:cNvPr id="102" name="Shape 99"/>
          <p:cNvSpPr/>
          <p:nvPr/>
        </p:nvSpPr>
        <p:spPr>
          <a:xfrm>
            <a:off x="5669280" y="5431536"/>
            <a:ext cx="502920" cy="457200"/>
          </a:xfrm>
          <a:prstGeom prst="roundRect">
            <a:avLst>
              <a:gd name="adj" fmla="val 16000"/>
            </a:avLst>
          </a:prstGeom>
          <a:solidFill>
            <a:srgbClr val="1E293B"/>
          </a:solidFill>
          <a:ln w="12700">
            <a:solidFill>
              <a:srgbClr val="34D399"/>
            </a:solidFill>
            <a:prstDash val="solid"/>
          </a:ln>
        </p:spPr>
      </p:sp>
      <p:sp>
        <p:nvSpPr>
          <p:cNvPr id="103" name="Text 100"/>
          <p:cNvSpPr txBox="1"/>
          <p:nvPr/>
        </p:nvSpPr>
        <p:spPr>
          <a:xfrm>
            <a:off x="5669280" y="5431536"/>
            <a:ext cx="502920" cy="45720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latin typeface="Consolas" pitchFamily="34" charset="0"/>
                <a:ea typeface="Consolas" pitchFamily="34" charset="-122"/>
                <a:cs typeface="Consolas" pitchFamily="34" charset="-120"/>
              </a:rPr>
              <a:t>1</a:t>
            </a:r>
            <a:endParaRPr lang="en-US" sz="1300" dirty="0"/>
          </a:p>
        </p:txBody>
      </p:sp>
      <p:sp>
        <p:nvSpPr>
          <p:cNvPr id="104" name="Text 101"/>
          <p:cNvSpPr txBox="1"/>
          <p:nvPr/>
        </p:nvSpPr>
        <p:spPr>
          <a:xfrm>
            <a:off x="6446520" y="5285232"/>
            <a:ext cx="5029200" cy="4572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ReLU en las ocultas · dropout 20 % · paso 0,001 · semilla 2026 · sigmoide en la salida</a:t>
            </a:r>
            <a:endParaRPr lang="en-US" sz="1150" dirty="0"/>
          </a:p>
        </p:txBody>
      </p:sp>
      <p:sp>
        <p:nvSpPr>
          <p:cNvPr id="105" name="Text 102"/>
          <p:cNvSpPr txBox="1"/>
          <p:nvPr/>
        </p:nvSpPr>
        <p:spPr>
          <a:xfrm>
            <a:off x="6446520" y="5742432"/>
            <a:ext cx="502920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818CF8"/>
                </a:solidFill>
                <a:latin typeface="Consolas" pitchFamily="34" charset="0"/>
                <a:ea typeface="Consolas" pitchFamily="34" charset="-122"/>
                <a:cs typeface="Consolas" pitchFamily="34" charset="-120"/>
              </a:rPr>
              <a:t>5.392 pesos + 113 sesgos = 5.505 parámetros</a:t>
            </a:r>
            <a:endParaRPr lang="en-US" sz="1100" dirty="0"/>
          </a:p>
        </p:txBody>
      </p:sp>
      <p:sp>
        <p:nvSpPr>
          <p:cNvPr id="106" name="Text 103"/>
          <p:cNvSpPr txBox="1"/>
          <p:nvPr/>
        </p:nvSpPr>
        <p:spPr>
          <a:xfrm>
            <a:off x="548640" y="6190488"/>
            <a:ext cx="11064240" cy="182880"/>
          </a:xfrm>
          <a:prstGeom prst="rect">
            <a:avLst/>
          </a:prstGeom>
          <a:noFill/>
          <a:ln/>
        </p:spPr>
        <p:txBody>
          <a:bodyPr wrap="square" lIns="0" tIns="0" rIns="0" bIns="0" rtlCol="0" anchor="t"/>
          <a:lstStyle/>
          <a:p>
            <a:pPr algn="l" indent="0" marL="0">
              <a:lnSpc>
                <a:spcPct val="110000"/>
              </a:lnSpc>
              <a:spcAft>
                <a:spcPts val="400"/>
              </a:spcAft>
              <a:buNone/>
            </a:pPr>
            <a:r>
              <a:rPr lang="en-US" sz="950" dirty="0">
                <a:solidFill>
                  <a:srgbClr val="64748B"/>
                </a:solidFill>
              </a:rPr>
              <a:t>Pesos iniciales: He (capas ReLU) y Glorot (salida); sesgos inician en 0. Tras entrenar, los sesgos de la capa 1 de la Red 1 quedaron entre −0,21 y 0,15 y el de salida en −0,063.</a:t>
            </a:r>
            <a:endParaRPr lang="en-US" sz="9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Funciones de activación utilizadas y por qué</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La función de activación es el último paso de cada neurona: toma el total (pesos + sesgo) y decide cuánto se «enciende». En cada gráfica, el eje horizontal es ese total y el vertical lo que entrega la neurona.</a:t>
            </a:r>
            <a:endParaRPr lang="en-US" sz="1500" dirty="0"/>
          </a:p>
        </p:txBody>
      </p:sp>
      <p:sp>
        <p:nvSpPr>
          <p:cNvPr id="5" name="Shape 2"/>
          <p:cNvSpPr/>
          <p:nvPr/>
        </p:nvSpPr>
        <p:spPr>
          <a:xfrm>
            <a:off x="548640"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6" name="Text 3"/>
          <p:cNvSpPr txBox="1"/>
          <p:nvPr/>
        </p:nvSpPr>
        <p:spPr>
          <a:xfrm>
            <a:off x="777240"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ReLU</a:t>
            </a:r>
            <a:endParaRPr lang="en-US" sz="1600" dirty="0"/>
          </a:p>
        </p:txBody>
      </p:sp>
      <p:sp>
        <p:nvSpPr>
          <p:cNvPr id="7" name="Text 4"/>
          <p:cNvSpPr txBox="1"/>
          <p:nvPr/>
        </p:nvSpPr>
        <p:spPr>
          <a:xfrm>
            <a:off x="777240" y="2441448"/>
            <a:ext cx="2240280" cy="256032"/>
          </a:xfrm>
          <a:prstGeom prst="rect">
            <a:avLst/>
          </a:prstGeom>
          <a:noFill/>
          <a:ln/>
        </p:spPr>
        <p:txBody>
          <a:bodyPr wrap="square" lIns="0" tIns="0" rIns="0" bIns="0" rtlCol="0" anchor="ctr"/>
          <a:lstStyle/>
          <a:p>
            <a:pPr indent="0" marL="0">
              <a:buNone/>
            </a:pPr>
            <a:r>
              <a:rPr lang="en-US" sz="900" spc="200" kern="0" dirty="0">
                <a:solidFill>
                  <a:srgbClr val="3B82F6"/>
                </a:solidFill>
                <a:latin typeface="Consolas" pitchFamily="34" charset="0"/>
                <a:ea typeface="Consolas" pitchFamily="34" charset="-122"/>
                <a:cs typeface="Consolas" pitchFamily="34" charset="-120"/>
              </a:rPr>
              <a:t>REDES 1 Y 3 (OCULTAS)</a:t>
            </a:r>
            <a:endParaRPr lang="en-US" sz="900" dirty="0"/>
          </a:p>
        </p:txBody>
      </p:sp>
      <p:graphicFrame>
        <p:nvGraphicFramePr>
          <p:cNvPr id="8" name="Chart 0" descr=""/>
          <p:cNvGraphicFramePr/>
          <p:nvPr/>
        </p:nvGraphicFramePr>
        <p:xfrm>
          <a:off x="640080" y="2743200"/>
          <a:ext cx="2423160" cy="16916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77240"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Deja pasar los valores positivos y convierte los negativos en 0. Por qué: es simple, rápida y no se «satura» en redes de varias capas.</a:t>
            </a:r>
            <a:endParaRPr lang="en-US" sz="1200" dirty="0"/>
          </a:p>
        </p:txBody>
      </p:sp>
      <p:sp>
        <p:nvSpPr>
          <p:cNvPr id="10" name="Shape 6"/>
          <p:cNvSpPr/>
          <p:nvPr/>
        </p:nvSpPr>
        <p:spPr>
          <a:xfrm>
            <a:off x="3364992"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11" name="Text 7"/>
          <p:cNvSpPr txBox="1"/>
          <p:nvPr/>
        </p:nvSpPr>
        <p:spPr>
          <a:xfrm>
            <a:off x="3593592"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LeakyReLU (α = 0,1)</a:t>
            </a:r>
            <a:endParaRPr lang="en-US" sz="1600" dirty="0"/>
          </a:p>
        </p:txBody>
      </p:sp>
      <p:sp>
        <p:nvSpPr>
          <p:cNvPr id="12" name="Text 8"/>
          <p:cNvSpPr txBox="1"/>
          <p:nvPr/>
        </p:nvSpPr>
        <p:spPr>
          <a:xfrm>
            <a:off x="3593592" y="2441448"/>
            <a:ext cx="2240280" cy="256032"/>
          </a:xfrm>
          <a:prstGeom prst="rect">
            <a:avLst/>
          </a:prstGeom>
          <a:noFill/>
          <a:ln/>
        </p:spPr>
        <p:txBody>
          <a:bodyPr wrap="square" lIns="0" tIns="0" rIns="0" bIns="0" rtlCol="0" anchor="ctr"/>
          <a:lstStyle/>
          <a:p>
            <a:pPr indent="0" marL="0">
              <a:buNone/>
            </a:pPr>
            <a:r>
              <a:rPr lang="en-US" sz="900" spc="200" kern="0" dirty="0">
                <a:solidFill>
                  <a:srgbClr val="38BDF8"/>
                </a:solidFill>
                <a:latin typeface="Consolas" pitchFamily="34" charset="0"/>
                <a:ea typeface="Consolas" pitchFamily="34" charset="-122"/>
                <a:cs typeface="Consolas" pitchFamily="34" charset="-120"/>
              </a:rPr>
              <a:t>RED 2 (OCULTAS)</a:t>
            </a:r>
            <a:endParaRPr lang="en-US" sz="900" dirty="0"/>
          </a:p>
        </p:txBody>
      </p:sp>
      <p:graphicFrame>
        <p:nvGraphicFramePr>
          <p:cNvPr id="13" name="Chart 1" descr=""/>
          <p:cNvGraphicFramePr/>
          <p:nvPr/>
        </p:nvGraphicFramePr>
        <p:xfrm>
          <a:off x="3456432" y="2743200"/>
          <a:ext cx="2423160" cy="169164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3593592"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Como ReLU, pero deja pasar un 10 % de los negativos. Por qué: ninguna neurona se «apaga» del todo y la red piensa distinto a las otras.</a:t>
            </a:r>
            <a:endParaRPr lang="en-US" sz="1200" dirty="0"/>
          </a:p>
        </p:txBody>
      </p:sp>
      <p:sp>
        <p:nvSpPr>
          <p:cNvPr id="15" name="Shape 10"/>
          <p:cNvSpPr/>
          <p:nvPr/>
        </p:nvSpPr>
        <p:spPr>
          <a:xfrm>
            <a:off x="6181344"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16" name="Text 11"/>
          <p:cNvSpPr txBox="1"/>
          <p:nvPr/>
        </p:nvSpPr>
        <p:spPr>
          <a:xfrm>
            <a:off x="6409944"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Sigmoide</a:t>
            </a:r>
            <a:endParaRPr lang="en-US" sz="1600" dirty="0"/>
          </a:p>
        </p:txBody>
      </p:sp>
      <p:sp>
        <p:nvSpPr>
          <p:cNvPr id="17" name="Text 12"/>
          <p:cNvSpPr txBox="1"/>
          <p:nvPr/>
        </p:nvSpPr>
        <p:spPr>
          <a:xfrm>
            <a:off x="6409944" y="2441448"/>
            <a:ext cx="2240280" cy="256032"/>
          </a:xfrm>
          <a:prstGeom prst="rect">
            <a:avLst/>
          </a:prstGeom>
          <a:noFill/>
          <a:ln/>
        </p:spPr>
        <p:txBody>
          <a:bodyPr wrap="square" lIns="0" tIns="0" rIns="0" bIns="0" rtlCol="0" anchor="ctr"/>
          <a:lstStyle/>
          <a:p>
            <a:pPr indent="0" marL="0">
              <a:buNone/>
            </a:pPr>
            <a:r>
              <a:rPr lang="en-US" sz="900" spc="200" kern="0" dirty="0">
                <a:solidFill>
                  <a:srgbClr val="34D399"/>
                </a:solidFill>
                <a:latin typeface="Consolas" pitchFamily="34" charset="0"/>
                <a:ea typeface="Consolas" pitchFamily="34" charset="-122"/>
                <a:cs typeface="Consolas" pitchFamily="34" charset="-120"/>
              </a:rPr>
              <a:t>SALIDA DE LAS 3 REDES</a:t>
            </a:r>
            <a:endParaRPr lang="en-US" sz="900" dirty="0"/>
          </a:p>
        </p:txBody>
      </p:sp>
      <p:graphicFrame>
        <p:nvGraphicFramePr>
          <p:cNvPr id="18" name="Chart 2" descr=""/>
          <p:cNvGraphicFramePr/>
          <p:nvPr/>
        </p:nvGraphicFramePr>
        <p:xfrm>
          <a:off x="6272784" y="2743200"/>
          <a:ext cx="2423160" cy="1691640"/>
        </p:xfrm>
        <a:graphic xmlns:a="http://schemas.openxmlformats.org/drawingml/2006/main">
          <a:graphicData uri="http://schemas.openxmlformats.org/drawingml/2006/chart">
            <c:chart xmlns:c="http://schemas.openxmlformats.org/drawingml/2006/chart" r:id="rId3"/>
          </a:graphicData>
        </a:graphic>
      </p:graphicFrame>
      <p:sp>
        <p:nvSpPr>
          <p:cNvPr id="19" name="Text 13"/>
          <p:cNvSpPr txBox="1"/>
          <p:nvPr/>
        </p:nvSpPr>
        <p:spPr>
          <a:xfrm>
            <a:off x="6409944"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Convierte el resultado en un número entre 0 y 1. Por qué: necesitamos una probabilidad para decidir APTO o NO APTO.</a:t>
            </a:r>
            <a:endParaRPr lang="en-US" sz="1200" dirty="0"/>
          </a:p>
        </p:txBody>
      </p:sp>
      <p:sp>
        <p:nvSpPr>
          <p:cNvPr id="20" name="Shape 14"/>
          <p:cNvSpPr/>
          <p:nvPr/>
        </p:nvSpPr>
        <p:spPr>
          <a:xfrm>
            <a:off x="8997696" y="1965960"/>
            <a:ext cx="2606040" cy="4206240"/>
          </a:xfrm>
          <a:prstGeom prst="roundRect">
            <a:avLst>
              <a:gd name="adj" fmla="val 4912"/>
            </a:avLst>
          </a:prstGeom>
          <a:solidFill>
            <a:schemeClr val="tx2">
              <a:alpha val="92000"/>
            </a:schemeClr>
          </a:solidFill>
          <a:ln w="12700">
            <a:solidFill>
              <a:srgbClr val="1E293B"/>
            </a:solidFill>
            <a:prstDash val="solid"/>
          </a:ln>
        </p:spPr>
      </p:sp>
      <p:sp>
        <p:nvSpPr>
          <p:cNvPr id="21" name="Text 15"/>
          <p:cNvSpPr txBox="1"/>
          <p:nvPr/>
        </p:nvSpPr>
        <p:spPr>
          <a:xfrm>
            <a:off x="9226296" y="2103120"/>
            <a:ext cx="2194560" cy="320040"/>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ELU y GELU</a:t>
            </a:r>
            <a:endParaRPr lang="en-US" sz="1600" dirty="0"/>
          </a:p>
        </p:txBody>
      </p:sp>
      <p:sp>
        <p:nvSpPr>
          <p:cNvPr id="22" name="Text 16"/>
          <p:cNvSpPr txBox="1"/>
          <p:nvPr/>
        </p:nvSpPr>
        <p:spPr>
          <a:xfrm>
            <a:off x="9226296" y="2441448"/>
            <a:ext cx="2240280" cy="256032"/>
          </a:xfrm>
          <a:prstGeom prst="rect">
            <a:avLst/>
          </a:prstGeom>
          <a:noFill/>
          <a:ln/>
        </p:spPr>
        <p:txBody>
          <a:bodyPr wrap="square" lIns="0" tIns="0" rIns="0" bIns="0" rtlCol="0" anchor="ctr"/>
          <a:lstStyle/>
          <a:p>
            <a:pPr indent="0" marL="0">
              <a:buNone/>
            </a:pPr>
            <a:r>
              <a:rPr lang="en-US" sz="900" spc="200" kern="0" dirty="0">
                <a:solidFill>
                  <a:srgbClr val="F59E0B"/>
                </a:solidFill>
                <a:latin typeface="Consolas" pitchFamily="34" charset="0"/>
                <a:ea typeface="Consolas" pitchFamily="34" charset="-122"/>
                <a:cs typeface="Consolas" pitchFamily="34" charset="-120"/>
              </a:rPr>
              <a:t>PROBADAS EN FASE 3</a:t>
            </a:r>
            <a:endParaRPr lang="en-US" sz="900" dirty="0"/>
          </a:p>
        </p:txBody>
      </p:sp>
      <p:graphicFrame>
        <p:nvGraphicFramePr>
          <p:cNvPr id="23" name="Chart 3" descr=""/>
          <p:cNvGraphicFramePr/>
          <p:nvPr/>
        </p:nvGraphicFramePr>
        <p:xfrm>
          <a:off x="9089136" y="2743200"/>
          <a:ext cx="2423160" cy="1691640"/>
        </p:xfrm>
        <a:graphic xmlns:a="http://schemas.openxmlformats.org/drawingml/2006/main">
          <a:graphicData uri="http://schemas.openxmlformats.org/drawingml/2006/chart">
            <c:chart xmlns:c="http://schemas.openxmlformats.org/drawingml/2006/chart" r:id="rId4"/>
          </a:graphicData>
        </a:graphic>
      </p:graphicFrame>
      <p:sp>
        <p:nvSpPr>
          <p:cNvPr id="24" name="Text 17"/>
          <p:cNvSpPr txBox="1"/>
          <p:nvPr/>
        </p:nvSpPr>
        <p:spPr>
          <a:xfrm>
            <a:off x="9226296" y="4526280"/>
            <a:ext cx="2194560" cy="1600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Versiones «suaves» de ReLU. ELU fue la más estable entre semillas, pero ninguna superó al ensamble final.</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Técnicas contra la memorización y número de épocas</a:t>
            </a:r>
            <a:endParaRPr lang="en-US" sz="2200" dirty="0"/>
          </a:p>
        </p:txBody>
      </p:sp>
      <p:sp>
        <p:nvSpPr>
          <p:cNvPr id="4" name="Shape 1"/>
          <p:cNvSpPr/>
          <p:nvPr/>
        </p:nvSpPr>
        <p:spPr>
          <a:xfrm>
            <a:off x="548640"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5" name="Text 2"/>
          <p:cNvSpPr txBox="1"/>
          <p:nvPr/>
        </p:nvSpPr>
        <p:spPr>
          <a:xfrm>
            <a:off x="777240"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Dropout</a:t>
            </a:r>
            <a:endParaRPr lang="en-US" sz="1600" dirty="0"/>
          </a:p>
        </p:txBody>
      </p:sp>
      <p:sp>
        <p:nvSpPr>
          <p:cNvPr id="6" name="Text 3"/>
          <p:cNvSpPr txBox="1"/>
          <p:nvPr/>
        </p:nvSpPr>
        <p:spPr>
          <a:xfrm>
            <a:off x="777240"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Apaga al azar el 15–20 % de las neuronas en cada paso, para que la red no dependa de unas pocas.</a:t>
            </a:r>
            <a:endParaRPr lang="en-US" sz="1250" dirty="0"/>
          </a:p>
        </p:txBody>
      </p:sp>
      <p:sp>
        <p:nvSpPr>
          <p:cNvPr id="7" name="Shape 4"/>
          <p:cNvSpPr/>
          <p:nvPr/>
        </p:nvSpPr>
        <p:spPr>
          <a:xfrm>
            <a:off x="3364992"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8" name="Text 5"/>
          <p:cNvSpPr txBox="1"/>
          <p:nvPr/>
        </p:nvSpPr>
        <p:spPr>
          <a:xfrm>
            <a:off x="3593592"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Parada temprana</a:t>
            </a:r>
            <a:endParaRPr lang="en-US" sz="1600" dirty="0"/>
          </a:p>
        </p:txBody>
      </p:sp>
      <p:sp>
        <p:nvSpPr>
          <p:cNvPr id="9" name="Text 6"/>
          <p:cNvSpPr txBox="1"/>
          <p:nvPr/>
        </p:nvSpPr>
        <p:spPr>
          <a:xfrm>
            <a:off x="3593592"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Si en 12 épocas no mejora en validación, se detiene y recupera su mejor versión.</a:t>
            </a:r>
            <a:endParaRPr lang="en-US" sz="1250" dirty="0"/>
          </a:p>
        </p:txBody>
      </p:sp>
      <p:sp>
        <p:nvSpPr>
          <p:cNvPr id="10" name="Shape 7"/>
          <p:cNvSpPr/>
          <p:nvPr/>
        </p:nvSpPr>
        <p:spPr>
          <a:xfrm>
            <a:off x="6181344"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11" name="Text 8"/>
          <p:cNvSpPr txBox="1"/>
          <p:nvPr/>
        </p:nvSpPr>
        <p:spPr>
          <a:xfrm>
            <a:off x="6409944"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Paso más corto</a:t>
            </a:r>
            <a:endParaRPr lang="en-US" sz="1600" dirty="0"/>
          </a:p>
        </p:txBody>
      </p:sp>
      <p:sp>
        <p:nvSpPr>
          <p:cNvPr id="12" name="Text 9"/>
          <p:cNvSpPr txBox="1"/>
          <p:nvPr/>
        </p:nvSpPr>
        <p:spPr>
          <a:xfrm>
            <a:off x="6409944"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Si se estanca 5 épocas, el tamaño de cada corrección se reduce a la mitad.</a:t>
            </a:r>
            <a:endParaRPr lang="en-US" sz="1250" dirty="0"/>
          </a:p>
        </p:txBody>
      </p:sp>
      <p:sp>
        <p:nvSpPr>
          <p:cNvPr id="13" name="Shape 10"/>
          <p:cNvSpPr/>
          <p:nvPr/>
        </p:nvSpPr>
        <p:spPr>
          <a:xfrm>
            <a:off x="8997696" y="1188720"/>
            <a:ext cx="2606040" cy="2011680"/>
          </a:xfrm>
          <a:prstGeom prst="roundRect">
            <a:avLst>
              <a:gd name="adj" fmla="val 6364"/>
            </a:avLst>
          </a:prstGeom>
          <a:solidFill>
            <a:schemeClr val="tx2">
              <a:alpha val="92000"/>
            </a:schemeClr>
          </a:solidFill>
          <a:ln w="12700">
            <a:solidFill>
              <a:srgbClr val="1E293B"/>
            </a:solidFill>
            <a:prstDash val="solid"/>
          </a:ln>
        </p:spPr>
      </p:sp>
      <p:sp>
        <p:nvSpPr>
          <p:cNvPr id="14" name="Text 11"/>
          <p:cNvSpPr txBox="1"/>
          <p:nvPr/>
        </p:nvSpPr>
        <p:spPr>
          <a:xfrm>
            <a:off x="9226296" y="1325880"/>
            <a:ext cx="219456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Red compacta</a:t>
            </a:r>
            <a:endParaRPr lang="en-US" sz="1600" dirty="0"/>
          </a:p>
        </p:txBody>
      </p:sp>
      <p:sp>
        <p:nvSpPr>
          <p:cNvPr id="15" name="Text 12"/>
          <p:cNvSpPr txBox="1"/>
          <p:nvPr/>
        </p:nvSpPr>
        <p:spPr>
          <a:xfrm>
            <a:off x="9226296" y="1737360"/>
            <a:ext cx="2194560" cy="13716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Entre 1.985 y 5.505 parámetros para 34.755 clientes: poca «memoria» disponible.</a:t>
            </a:r>
            <a:endParaRPr lang="en-US" sz="1250" dirty="0"/>
          </a:p>
        </p:txBody>
      </p:sp>
      <p:sp>
        <p:nvSpPr>
          <p:cNvPr id="16" name="Shape 13"/>
          <p:cNvSpPr/>
          <p:nvPr/>
        </p:nvSpPr>
        <p:spPr>
          <a:xfrm>
            <a:off x="548640" y="3383280"/>
            <a:ext cx="11091672" cy="2788920"/>
          </a:xfrm>
          <a:prstGeom prst="roundRect">
            <a:avLst>
              <a:gd name="adj" fmla="val 4590"/>
            </a:avLst>
          </a:prstGeom>
          <a:solidFill>
            <a:schemeClr val="tx2">
              <a:alpha val="92000"/>
            </a:schemeClr>
          </a:solidFill>
          <a:ln w="12700">
            <a:solidFill>
              <a:srgbClr val="1E293B"/>
            </a:solidFill>
            <a:prstDash val="solid"/>
          </a:ln>
        </p:spPr>
      </p:sp>
      <p:sp>
        <p:nvSpPr>
          <p:cNvPr id="17" name="Text 14"/>
          <p:cNvSpPr txBox="1"/>
          <p:nvPr/>
        </p:nvSpPr>
        <p:spPr>
          <a:xfrm>
            <a:off x="777240" y="3520440"/>
            <a:ext cx="10058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ÉPOCAS: UNA ÉPOCA = UNA VUELTA COMPLETA A LOS 34.755 CLIENTES</a:t>
            </a:r>
            <a:endParaRPr lang="en-US" sz="1050" dirty="0"/>
          </a:p>
        </p:txBody>
      </p:sp>
      <p:sp>
        <p:nvSpPr>
          <p:cNvPr id="18" name="Text 15"/>
          <p:cNvSpPr txBox="1"/>
          <p:nvPr/>
        </p:nvSpPr>
        <p:spPr>
          <a:xfrm>
            <a:off x="777240" y="3886200"/>
            <a:ext cx="1097280" cy="457200"/>
          </a:xfrm>
          <a:prstGeom prst="rect">
            <a:avLst/>
          </a:prstGeom>
          <a:noFill/>
          <a:ln/>
        </p:spPr>
        <p:txBody>
          <a:bodyPr wrap="square" lIns="0" tIns="0" rIns="0" bIns="0" rtlCol="0" anchor="ctr"/>
          <a:lstStyle/>
          <a:p>
            <a:pPr algn="l" indent="0" marL="0">
              <a:lnSpc>
                <a:spcPct val="110000"/>
              </a:lnSpc>
              <a:spcAft>
                <a:spcPts val="400"/>
              </a:spcAft>
              <a:buNone/>
            </a:pPr>
            <a:r>
              <a:rPr lang="en-US" sz="2400" b="1" dirty="0">
                <a:solidFill>
                  <a:schemeClr val="accent2"/>
                </a:solidFill>
                <a:latin typeface="Consolas" pitchFamily="34" charset="0"/>
                <a:ea typeface="Consolas" pitchFamily="34" charset="-122"/>
                <a:cs typeface="Consolas" pitchFamily="34" charset="-120"/>
              </a:rPr>
              <a:t>272</a:t>
            </a:r>
            <a:endParaRPr lang="en-US" sz="2400" dirty="0"/>
          </a:p>
        </p:txBody>
      </p:sp>
      <p:sp>
        <p:nvSpPr>
          <p:cNvPr id="19" name="Text 16"/>
          <p:cNvSpPr txBox="1"/>
          <p:nvPr/>
        </p:nvSpPr>
        <p:spPr>
          <a:xfrm>
            <a:off x="1874520" y="3886200"/>
            <a:ext cx="2103120" cy="45720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correcciones por época</a:t>
            </a:r>
            <a:endParaRPr lang="en-US" sz="1200" dirty="0"/>
          </a:p>
        </p:txBody>
      </p:sp>
      <p:sp>
        <p:nvSpPr>
          <p:cNvPr id="20" name="Text 17"/>
          <p:cNvSpPr txBox="1"/>
          <p:nvPr/>
        </p:nvSpPr>
        <p:spPr>
          <a:xfrm>
            <a:off x="777240" y="4599432"/>
            <a:ext cx="1097280" cy="457200"/>
          </a:xfrm>
          <a:prstGeom prst="rect">
            <a:avLst/>
          </a:prstGeom>
          <a:noFill/>
          <a:ln/>
        </p:spPr>
        <p:txBody>
          <a:bodyPr wrap="square" lIns="0" tIns="0" rIns="0" bIns="0" rtlCol="0" anchor="ctr"/>
          <a:lstStyle/>
          <a:p>
            <a:pPr algn="l" indent="0" marL="0">
              <a:lnSpc>
                <a:spcPct val="110000"/>
              </a:lnSpc>
              <a:spcAft>
                <a:spcPts val="400"/>
              </a:spcAft>
              <a:buNone/>
            </a:pPr>
            <a:r>
              <a:rPr lang="en-US" sz="2400" b="1" dirty="0">
                <a:solidFill>
                  <a:schemeClr val="accent2"/>
                </a:solidFill>
                <a:latin typeface="Consolas" pitchFamily="34" charset="0"/>
                <a:ea typeface="Consolas" pitchFamily="34" charset="-122"/>
                <a:cs typeface="Consolas" pitchFamily="34" charset="-120"/>
              </a:rPr>
              <a:t>100</a:t>
            </a:r>
            <a:endParaRPr lang="en-US" sz="2400" dirty="0"/>
          </a:p>
        </p:txBody>
      </p:sp>
      <p:sp>
        <p:nvSpPr>
          <p:cNvPr id="21" name="Text 18"/>
          <p:cNvSpPr txBox="1"/>
          <p:nvPr/>
        </p:nvSpPr>
        <p:spPr>
          <a:xfrm>
            <a:off x="1874520" y="4599432"/>
            <a:ext cx="2103120" cy="45720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épocas como máximo</a:t>
            </a:r>
            <a:endParaRPr lang="en-US" sz="1200" dirty="0"/>
          </a:p>
        </p:txBody>
      </p:sp>
      <p:sp>
        <p:nvSpPr>
          <p:cNvPr id="22" name="Text 19"/>
          <p:cNvSpPr txBox="1"/>
          <p:nvPr/>
        </p:nvSpPr>
        <p:spPr>
          <a:xfrm>
            <a:off x="777240" y="5312664"/>
            <a:ext cx="1097280" cy="457200"/>
          </a:xfrm>
          <a:prstGeom prst="rect">
            <a:avLst/>
          </a:prstGeom>
          <a:noFill/>
          <a:ln/>
        </p:spPr>
        <p:txBody>
          <a:bodyPr wrap="square" lIns="0" tIns="0" rIns="0" bIns="0" rtlCol="0" anchor="ctr"/>
          <a:lstStyle/>
          <a:p>
            <a:pPr algn="l" indent="0" marL="0">
              <a:lnSpc>
                <a:spcPct val="110000"/>
              </a:lnSpc>
              <a:spcAft>
                <a:spcPts val="400"/>
              </a:spcAft>
              <a:buNone/>
            </a:pPr>
            <a:r>
              <a:rPr lang="en-US" sz="2400" b="1" dirty="0">
                <a:solidFill>
                  <a:schemeClr val="accent2"/>
                </a:solidFill>
                <a:latin typeface="Consolas" pitchFamily="34" charset="0"/>
                <a:ea typeface="Consolas" pitchFamily="34" charset="-122"/>
                <a:cs typeface="Consolas" pitchFamily="34" charset="-120"/>
              </a:rPr>
              <a:t>41</a:t>
            </a:r>
            <a:endParaRPr lang="en-US" sz="2400" dirty="0"/>
          </a:p>
        </p:txBody>
      </p:sp>
      <p:sp>
        <p:nvSpPr>
          <p:cNvPr id="23" name="Text 20"/>
          <p:cNvSpPr txBox="1"/>
          <p:nvPr/>
        </p:nvSpPr>
        <p:spPr>
          <a:xfrm>
            <a:off x="1874520" y="5312664"/>
            <a:ext cx="2103120" cy="45720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épocas en promedio (78 pruebas)</a:t>
            </a:r>
            <a:endParaRPr lang="en-US" sz="1200" dirty="0"/>
          </a:p>
        </p:txBody>
      </p:sp>
      <p:sp>
        <p:nvSpPr>
          <p:cNvPr id="24" name="Text 21"/>
          <p:cNvSpPr txBox="1"/>
          <p:nvPr/>
        </p:nvSpPr>
        <p:spPr>
          <a:xfrm>
            <a:off x="4160520" y="3840480"/>
            <a:ext cx="3657600" cy="27432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bg1"/>
                </a:solidFill>
              </a:rPr>
              <a:t>Redes del modelo final</a:t>
            </a:r>
            <a:endParaRPr lang="en-US" sz="1200" dirty="0"/>
          </a:p>
        </p:txBody>
      </p:sp>
      <p:sp>
        <p:nvSpPr>
          <p:cNvPr id="25" name="Text 22"/>
          <p:cNvSpPr txBox="1"/>
          <p:nvPr/>
        </p:nvSpPr>
        <p:spPr>
          <a:xfrm>
            <a:off x="4160520" y="4206240"/>
            <a:ext cx="685800" cy="36576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Red 1</a:t>
            </a:r>
            <a:endParaRPr lang="en-US" sz="1250" dirty="0"/>
          </a:p>
        </p:txBody>
      </p:sp>
      <p:sp>
        <p:nvSpPr>
          <p:cNvPr id="26" name="Shape 23"/>
          <p:cNvSpPr/>
          <p:nvPr/>
        </p:nvSpPr>
        <p:spPr>
          <a:xfrm>
            <a:off x="4846320" y="4279392"/>
            <a:ext cx="1797449" cy="219456"/>
          </a:xfrm>
          <a:prstGeom prst="roundRect">
            <a:avLst>
              <a:gd name="adj" fmla="val 50000"/>
            </a:avLst>
          </a:prstGeom>
          <a:solidFill>
            <a:srgbClr val="3B82F6"/>
          </a:solidFill>
          <a:ln w="12700">
            <a:solidFill>
              <a:srgbClr val="3B82F6"/>
            </a:solidFill>
            <a:prstDash val="solid"/>
          </a:ln>
        </p:spPr>
      </p:sp>
      <p:sp>
        <p:nvSpPr>
          <p:cNvPr id="27" name="Shape 24"/>
          <p:cNvSpPr/>
          <p:nvPr/>
        </p:nvSpPr>
        <p:spPr>
          <a:xfrm>
            <a:off x="6671201" y="4279392"/>
            <a:ext cx="674043" cy="219456"/>
          </a:xfrm>
          <a:prstGeom prst="roundRect">
            <a:avLst>
              <a:gd name="adj" fmla="val 50000"/>
            </a:avLst>
          </a:prstGeom>
          <a:solidFill>
            <a:srgbClr val="334155"/>
          </a:solidFill>
          <a:ln w="12700">
            <a:solidFill>
              <a:srgbClr val="334155"/>
            </a:solidFill>
            <a:prstDash val="solid"/>
          </a:ln>
        </p:spPr>
      </p:sp>
      <p:sp>
        <p:nvSpPr>
          <p:cNvPr id="28" name="Text 25"/>
          <p:cNvSpPr txBox="1"/>
          <p:nvPr/>
        </p:nvSpPr>
        <p:spPr>
          <a:xfrm>
            <a:off x="7427541" y="4206240"/>
            <a:ext cx="2103120" cy="36576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latin typeface="Consolas" pitchFamily="34" charset="0"/>
                <a:ea typeface="Consolas" pitchFamily="34" charset="-122"/>
                <a:cs typeface="Consolas" pitchFamily="34" charset="-120"/>
              </a:rPr>
              <a:t>mejor 32 · paró en 44</a:t>
            </a:r>
            <a:endParaRPr lang="en-US" sz="1100" dirty="0"/>
          </a:p>
        </p:txBody>
      </p:sp>
      <p:sp>
        <p:nvSpPr>
          <p:cNvPr id="29" name="Text 26"/>
          <p:cNvSpPr txBox="1"/>
          <p:nvPr/>
        </p:nvSpPr>
        <p:spPr>
          <a:xfrm>
            <a:off x="4160520" y="4709160"/>
            <a:ext cx="685800" cy="36576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Red 2</a:t>
            </a:r>
            <a:endParaRPr lang="en-US" sz="1250" dirty="0"/>
          </a:p>
        </p:txBody>
      </p:sp>
      <p:sp>
        <p:nvSpPr>
          <p:cNvPr id="30" name="Shape 27"/>
          <p:cNvSpPr/>
          <p:nvPr/>
        </p:nvSpPr>
        <p:spPr>
          <a:xfrm>
            <a:off x="4846320" y="4782312"/>
            <a:ext cx="2864685" cy="219456"/>
          </a:xfrm>
          <a:prstGeom prst="roundRect">
            <a:avLst>
              <a:gd name="adj" fmla="val 50000"/>
            </a:avLst>
          </a:prstGeom>
          <a:solidFill>
            <a:srgbClr val="3B82F6"/>
          </a:solidFill>
          <a:ln w="12700">
            <a:solidFill>
              <a:srgbClr val="3B82F6"/>
            </a:solidFill>
            <a:prstDash val="solid"/>
          </a:ln>
        </p:spPr>
      </p:sp>
      <p:sp>
        <p:nvSpPr>
          <p:cNvPr id="31" name="Shape 28"/>
          <p:cNvSpPr/>
          <p:nvPr/>
        </p:nvSpPr>
        <p:spPr>
          <a:xfrm>
            <a:off x="7738437" y="4782312"/>
            <a:ext cx="674043" cy="219456"/>
          </a:xfrm>
          <a:prstGeom prst="roundRect">
            <a:avLst>
              <a:gd name="adj" fmla="val 50000"/>
            </a:avLst>
          </a:prstGeom>
          <a:solidFill>
            <a:srgbClr val="334155"/>
          </a:solidFill>
          <a:ln w="12700">
            <a:solidFill>
              <a:srgbClr val="334155"/>
            </a:solidFill>
            <a:prstDash val="solid"/>
          </a:ln>
        </p:spPr>
      </p:sp>
      <p:sp>
        <p:nvSpPr>
          <p:cNvPr id="32" name="Text 29"/>
          <p:cNvSpPr txBox="1"/>
          <p:nvPr/>
        </p:nvSpPr>
        <p:spPr>
          <a:xfrm>
            <a:off x="8494776" y="4709160"/>
            <a:ext cx="2103120" cy="36576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latin typeface="Consolas" pitchFamily="34" charset="0"/>
                <a:ea typeface="Consolas" pitchFamily="34" charset="-122"/>
                <a:cs typeface="Consolas" pitchFamily="34" charset="-120"/>
              </a:rPr>
              <a:t>mejor 51 · paró en 63</a:t>
            </a:r>
            <a:endParaRPr lang="en-US" sz="1100" dirty="0"/>
          </a:p>
        </p:txBody>
      </p:sp>
      <p:sp>
        <p:nvSpPr>
          <p:cNvPr id="33" name="Text 30"/>
          <p:cNvSpPr txBox="1"/>
          <p:nvPr/>
        </p:nvSpPr>
        <p:spPr>
          <a:xfrm>
            <a:off x="4160520" y="5212080"/>
            <a:ext cx="685800" cy="365760"/>
          </a:xfrm>
          <a:prstGeom prst="rect">
            <a:avLst/>
          </a:prstGeom>
          <a:noFill/>
          <a:ln/>
        </p:spPr>
        <p:txBody>
          <a:bodyPr wrap="square" lIns="0" tIns="0" rIns="0" bIns="0" rtlCol="0" anchor="ctr"/>
          <a:lstStyle/>
          <a:p>
            <a:pPr algn="l" indent="0" marL="0">
              <a:lnSpc>
                <a:spcPct val="110000"/>
              </a:lnSpc>
              <a:spcAft>
                <a:spcPts val="400"/>
              </a:spcAft>
              <a:buNone/>
            </a:pPr>
            <a:r>
              <a:rPr lang="en-US" sz="1250" b="1" dirty="0">
                <a:solidFill>
                  <a:schemeClr val="bg1"/>
                </a:solidFill>
              </a:rPr>
              <a:t>Red 3</a:t>
            </a:r>
            <a:endParaRPr lang="en-US" sz="1250" dirty="0"/>
          </a:p>
        </p:txBody>
      </p:sp>
      <p:sp>
        <p:nvSpPr>
          <p:cNvPr id="34" name="Shape 31"/>
          <p:cNvSpPr/>
          <p:nvPr/>
        </p:nvSpPr>
        <p:spPr>
          <a:xfrm>
            <a:off x="4846320" y="5285232"/>
            <a:ext cx="2022130" cy="219456"/>
          </a:xfrm>
          <a:prstGeom prst="roundRect">
            <a:avLst>
              <a:gd name="adj" fmla="val 50000"/>
            </a:avLst>
          </a:prstGeom>
          <a:solidFill>
            <a:srgbClr val="3B82F6"/>
          </a:solidFill>
          <a:ln w="12700">
            <a:solidFill>
              <a:srgbClr val="3B82F6"/>
            </a:solidFill>
            <a:prstDash val="solid"/>
          </a:ln>
        </p:spPr>
      </p:sp>
      <p:sp>
        <p:nvSpPr>
          <p:cNvPr id="35" name="Shape 32"/>
          <p:cNvSpPr/>
          <p:nvPr/>
        </p:nvSpPr>
        <p:spPr>
          <a:xfrm>
            <a:off x="6895882" y="5285232"/>
            <a:ext cx="674043" cy="219456"/>
          </a:xfrm>
          <a:prstGeom prst="roundRect">
            <a:avLst>
              <a:gd name="adj" fmla="val 50000"/>
            </a:avLst>
          </a:prstGeom>
          <a:solidFill>
            <a:srgbClr val="334155"/>
          </a:solidFill>
          <a:ln w="12700">
            <a:solidFill>
              <a:srgbClr val="334155"/>
            </a:solidFill>
            <a:prstDash val="solid"/>
          </a:ln>
        </p:spPr>
      </p:sp>
      <p:sp>
        <p:nvSpPr>
          <p:cNvPr id="36" name="Text 33"/>
          <p:cNvSpPr txBox="1"/>
          <p:nvPr/>
        </p:nvSpPr>
        <p:spPr>
          <a:xfrm>
            <a:off x="7652222" y="5212080"/>
            <a:ext cx="2103120" cy="365760"/>
          </a:xfrm>
          <a:prstGeom prst="rect">
            <a:avLst/>
          </a:prstGeom>
          <a:noFill/>
          <a:ln/>
        </p:spPr>
        <p:txBody>
          <a:bodyPr wrap="square" lIns="0" tIns="0" rIns="0" bIns="0" rtlCol="0" anchor="ctr"/>
          <a:lstStyle/>
          <a:p>
            <a:pPr algn="l" indent="0" marL="0">
              <a:lnSpc>
                <a:spcPct val="110000"/>
              </a:lnSpc>
              <a:spcAft>
                <a:spcPts val="400"/>
              </a:spcAft>
              <a:buNone/>
            </a:pPr>
            <a:r>
              <a:rPr lang="en-US" sz="1100" dirty="0">
                <a:solidFill>
                  <a:schemeClr val="bg2"/>
                </a:solidFill>
                <a:latin typeface="Consolas" pitchFamily="34" charset="0"/>
                <a:ea typeface="Consolas" pitchFamily="34" charset="-122"/>
                <a:cs typeface="Consolas" pitchFamily="34" charset="-120"/>
              </a:rPr>
              <a:t>mejor 36 · paró en 48</a:t>
            </a:r>
            <a:endParaRPr lang="en-US" sz="1100" dirty="0"/>
          </a:p>
        </p:txBody>
      </p:sp>
      <p:sp>
        <p:nvSpPr>
          <p:cNvPr id="37" name="Text 34"/>
          <p:cNvSpPr txBox="1"/>
          <p:nvPr/>
        </p:nvSpPr>
        <p:spPr>
          <a:xfrm>
            <a:off x="4160520" y="5760720"/>
            <a:ext cx="7315200" cy="274320"/>
          </a:xfrm>
          <a:prstGeom prst="rect">
            <a:avLst/>
          </a:prstGeom>
          <a:noFill/>
          <a:ln/>
        </p:spPr>
        <p:txBody>
          <a:bodyPr wrap="square" lIns="0" tIns="0" rIns="0" bIns="0" rtlCol="0" anchor="t"/>
          <a:lstStyle/>
          <a:p>
            <a:pPr algn="l" indent="0" marL="0">
              <a:lnSpc>
                <a:spcPct val="110000"/>
              </a:lnSpc>
              <a:spcAft>
                <a:spcPts val="400"/>
              </a:spcAft>
              <a:buNone/>
            </a:pPr>
            <a:r>
              <a:rPr lang="en-US" sz="1050" dirty="0">
                <a:solidFill>
                  <a:srgbClr val="94A3B8"/>
                </a:solidFill>
              </a:rPr>
              <a:t>Azul: épocas en que mejoró · gris: 12 épocas de espera sin mejora (se descartan).</a:t>
            </a:r>
            <a:endParaRPr lang="en-US" sz="10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Ensamble de tres redes</a:t>
            </a:r>
            <a:endParaRPr lang="en-US" sz="2200" dirty="0"/>
          </a:p>
        </p:txBody>
      </p:sp>
      <p:sp>
        <p:nvSpPr>
          <p:cNvPr id="4" name="Shape 1"/>
          <p:cNvSpPr/>
          <p:nvPr/>
        </p:nvSpPr>
        <p:spPr>
          <a:xfrm>
            <a:off x="548640" y="1874520"/>
            <a:ext cx="1554480" cy="1005840"/>
          </a:xfrm>
          <a:prstGeom prst="roundRect">
            <a:avLst>
              <a:gd name="adj" fmla="val 12727"/>
            </a:avLst>
          </a:prstGeom>
          <a:solidFill>
            <a:srgbClr val="1E293B"/>
          </a:solidFill>
          <a:ln w="12700">
            <a:solidFill>
              <a:srgbClr val="1E293B"/>
            </a:solidFill>
            <a:prstDash val="solid"/>
          </a:ln>
        </p:spPr>
      </p:sp>
      <p:sp>
        <p:nvSpPr>
          <p:cNvPr id="5" name="Text 2"/>
          <p:cNvSpPr txBox="1"/>
          <p:nvPr/>
        </p:nvSpPr>
        <p:spPr>
          <a:xfrm>
            <a:off x="548640" y="1874520"/>
            <a:ext cx="1554480" cy="100584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Cliente</a:t>
            </a:r>
            <a:endParaRPr lang="en-US" sz="1300" dirty="0"/>
          </a:p>
          <a:p>
            <a:pPr algn="ctr" indent="0" marL="0">
              <a:lnSpc>
                <a:spcPct val="110000"/>
              </a:lnSpc>
              <a:spcAft>
                <a:spcPts val="400"/>
              </a:spcAft>
              <a:buNone/>
            </a:pPr>
            <a:r>
              <a:rPr lang="en-US" sz="1300" b="1" dirty="0">
                <a:solidFill>
                  <a:schemeClr val="bg1"/>
                </a:solidFill>
              </a:rPr>
              <a:t>44 números</a:t>
            </a:r>
            <a:endParaRPr lang="en-US" sz="1300" dirty="0"/>
          </a:p>
        </p:txBody>
      </p:sp>
      <p:sp>
        <p:nvSpPr>
          <p:cNvPr id="6" name="Shape 3"/>
          <p:cNvSpPr/>
          <p:nvPr/>
        </p:nvSpPr>
        <p:spPr>
          <a:xfrm flipV="1">
            <a:off x="2103120" y="1554480"/>
            <a:ext cx="640080" cy="822960"/>
          </a:xfrm>
          <a:prstGeom prst="line">
            <a:avLst/>
          </a:prstGeom>
          <a:noFill/>
          <a:ln w="15875">
            <a:solidFill>
              <a:srgbClr val="475569"/>
            </a:solidFill>
            <a:prstDash val="solid"/>
            <a:tailEnd type="triangle"/>
          </a:ln>
        </p:spPr>
      </p:sp>
      <p:sp>
        <p:nvSpPr>
          <p:cNvPr id="7" name="Shape 4"/>
          <p:cNvSpPr/>
          <p:nvPr/>
        </p:nvSpPr>
        <p:spPr>
          <a:xfrm>
            <a:off x="2743200" y="1234440"/>
            <a:ext cx="2926080" cy="640080"/>
          </a:xfrm>
          <a:prstGeom prst="roundRect">
            <a:avLst>
              <a:gd name="adj" fmla="val 20000"/>
            </a:avLst>
          </a:prstGeom>
          <a:solidFill>
            <a:schemeClr val="tx2">
              <a:alpha val="92000"/>
            </a:schemeClr>
          </a:solidFill>
          <a:ln w="15875">
            <a:solidFill>
              <a:srgbClr val="3B82F6"/>
            </a:solidFill>
            <a:prstDash val="solid"/>
          </a:ln>
        </p:spPr>
      </p:sp>
      <p:sp>
        <p:nvSpPr>
          <p:cNvPr id="8" name="Text 5"/>
          <p:cNvSpPr txBox="1"/>
          <p:nvPr/>
        </p:nvSpPr>
        <p:spPr>
          <a:xfrm>
            <a:off x="2926080" y="1234440"/>
            <a:ext cx="2103120" cy="640080"/>
          </a:xfrm>
          <a:prstGeom prst="rect">
            <a:avLst/>
          </a:prstGeom>
          <a:noFill/>
          <a:ln/>
        </p:spPr>
        <p:txBody>
          <a:bodyPr wrap="square" lIns="0" tIns="0" rIns="0" bIns="0" rtlCol="0" anchor="ctr"/>
          <a:lstStyle/>
          <a:p>
            <a:pPr algn="l" indent="0" marL="0">
              <a:lnSpc>
                <a:spcPct val="110000"/>
              </a:lnSpc>
              <a:spcAft>
                <a:spcPts val="400"/>
              </a:spcAft>
              <a:buNone/>
            </a:pPr>
            <a:r>
              <a:rPr lang="en-US" sz="1350" b="1" dirty="0">
                <a:solidFill>
                  <a:schemeClr val="bg1"/>
                </a:solidFill>
              </a:rPr>
              <a:t>Red 1 · ReLU</a:t>
            </a:r>
            <a:endParaRPr lang="en-US" sz="1350" dirty="0"/>
          </a:p>
        </p:txBody>
      </p:sp>
      <p:sp>
        <p:nvSpPr>
          <p:cNvPr id="9" name="Text 6"/>
          <p:cNvSpPr txBox="1"/>
          <p:nvPr/>
        </p:nvSpPr>
        <p:spPr>
          <a:xfrm>
            <a:off x="5029200" y="1234440"/>
            <a:ext cx="502920" cy="640080"/>
          </a:xfrm>
          <a:prstGeom prst="rect">
            <a:avLst/>
          </a:prstGeom>
          <a:noFill/>
          <a:ln/>
        </p:spPr>
        <p:txBody>
          <a:bodyPr wrap="square" lIns="0" tIns="0" rIns="0" bIns="0" rtlCol="0" anchor="ctr"/>
          <a:lstStyle/>
          <a:p>
            <a:pPr algn="r" indent="0" marL="0">
              <a:lnSpc>
                <a:spcPct val="110000"/>
              </a:lnSpc>
              <a:spcAft>
                <a:spcPts val="400"/>
              </a:spcAft>
              <a:buNone/>
            </a:pPr>
            <a:r>
              <a:rPr lang="en-US" sz="1300" b="1" dirty="0">
                <a:solidFill>
                  <a:srgbClr val="3B82F6"/>
                </a:solidFill>
                <a:latin typeface="Consolas" pitchFamily="34" charset="0"/>
                <a:ea typeface="Consolas" pitchFamily="34" charset="-122"/>
                <a:cs typeface="Consolas" pitchFamily="34" charset="-120"/>
              </a:rPr>
              <a:t>p1</a:t>
            </a:r>
            <a:endParaRPr lang="en-US" sz="1300" dirty="0"/>
          </a:p>
        </p:txBody>
      </p:sp>
      <p:sp>
        <p:nvSpPr>
          <p:cNvPr id="10" name="Shape 7"/>
          <p:cNvSpPr/>
          <p:nvPr/>
        </p:nvSpPr>
        <p:spPr>
          <a:xfrm>
            <a:off x="5669280" y="1554480"/>
            <a:ext cx="640080" cy="822960"/>
          </a:xfrm>
          <a:prstGeom prst="line">
            <a:avLst/>
          </a:prstGeom>
          <a:noFill/>
          <a:ln w="15875">
            <a:solidFill>
              <a:srgbClr val="475569"/>
            </a:solidFill>
            <a:prstDash val="solid"/>
            <a:tailEnd type="triangle"/>
          </a:ln>
        </p:spPr>
      </p:sp>
      <p:sp>
        <p:nvSpPr>
          <p:cNvPr id="11" name="Shape 8"/>
          <p:cNvSpPr/>
          <p:nvPr/>
        </p:nvSpPr>
        <p:spPr>
          <a:xfrm flipV="1">
            <a:off x="2103120" y="2331720"/>
            <a:ext cx="640080" cy="45720"/>
          </a:xfrm>
          <a:prstGeom prst="line">
            <a:avLst/>
          </a:prstGeom>
          <a:noFill/>
          <a:ln w="15875">
            <a:solidFill>
              <a:srgbClr val="475569"/>
            </a:solidFill>
            <a:prstDash val="solid"/>
            <a:tailEnd type="triangle"/>
          </a:ln>
        </p:spPr>
      </p:sp>
      <p:sp>
        <p:nvSpPr>
          <p:cNvPr id="12" name="Shape 9"/>
          <p:cNvSpPr/>
          <p:nvPr/>
        </p:nvSpPr>
        <p:spPr>
          <a:xfrm>
            <a:off x="2743200" y="2011680"/>
            <a:ext cx="2926080" cy="640080"/>
          </a:xfrm>
          <a:prstGeom prst="roundRect">
            <a:avLst>
              <a:gd name="adj" fmla="val 20000"/>
            </a:avLst>
          </a:prstGeom>
          <a:solidFill>
            <a:schemeClr val="tx2">
              <a:alpha val="92000"/>
            </a:schemeClr>
          </a:solidFill>
          <a:ln w="15875">
            <a:solidFill>
              <a:srgbClr val="38BDF8"/>
            </a:solidFill>
            <a:prstDash val="solid"/>
          </a:ln>
        </p:spPr>
      </p:sp>
      <p:sp>
        <p:nvSpPr>
          <p:cNvPr id="13" name="Text 10"/>
          <p:cNvSpPr txBox="1"/>
          <p:nvPr/>
        </p:nvSpPr>
        <p:spPr>
          <a:xfrm>
            <a:off x="2926080" y="2011680"/>
            <a:ext cx="2103120" cy="640080"/>
          </a:xfrm>
          <a:prstGeom prst="rect">
            <a:avLst/>
          </a:prstGeom>
          <a:noFill/>
          <a:ln/>
        </p:spPr>
        <p:txBody>
          <a:bodyPr wrap="square" lIns="0" tIns="0" rIns="0" bIns="0" rtlCol="0" anchor="ctr"/>
          <a:lstStyle/>
          <a:p>
            <a:pPr algn="l" indent="0" marL="0">
              <a:lnSpc>
                <a:spcPct val="110000"/>
              </a:lnSpc>
              <a:spcAft>
                <a:spcPts val="400"/>
              </a:spcAft>
              <a:buNone/>
            </a:pPr>
            <a:r>
              <a:rPr lang="en-US" sz="1350" b="1" dirty="0">
                <a:solidFill>
                  <a:schemeClr val="bg1"/>
                </a:solidFill>
              </a:rPr>
              <a:t>Red 2 · LeakyReLU</a:t>
            </a:r>
            <a:endParaRPr lang="en-US" sz="1350" dirty="0"/>
          </a:p>
        </p:txBody>
      </p:sp>
      <p:sp>
        <p:nvSpPr>
          <p:cNvPr id="14" name="Text 11"/>
          <p:cNvSpPr txBox="1"/>
          <p:nvPr/>
        </p:nvSpPr>
        <p:spPr>
          <a:xfrm>
            <a:off x="5029200" y="2011680"/>
            <a:ext cx="502920" cy="640080"/>
          </a:xfrm>
          <a:prstGeom prst="rect">
            <a:avLst/>
          </a:prstGeom>
          <a:noFill/>
          <a:ln/>
        </p:spPr>
        <p:txBody>
          <a:bodyPr wrap="square" lIns="0" tIns="0" rIns="0" bIns="0" rtlCol="0" anchor="ctr"/>
          <a:lstStyle/>
          <a:p>
            <a:pPr algn="r" indent="0" marL="0">
              <a:lnSpc>
                <a:spcPct val="110000"/>
              </a:lnSpc>
              <a:spcAft>
                <a:spcPts val="400"/>
              </a:spcAft>
              <a:buNone/>
            </a:pPr>
            <a:r>
              <a:rPr lang="en-US" sz="1300" b="1" dirty="0">
                <a:solidFill>
                  <a:srgbClr val="38BDF8"/>
                </a:solidFill>
                <a:latin typeface="Consolas" pitchFamily="34" charset="0"/>
                <a:ea typeface="Consolas" pitchFamily="34" charset="-122"/>
                <a:cs typeface="Consolas" pitchFamily="34" charset="-120"/>
              </a:rPr>
              <a:t>p2</a:t>
            </a:r>
            <a:endParaRPr lang="en-US" sz="1300" dirty="0"/>
          </a:p>
        </p:txBody>
      </p:sp>
      <p:sp>
        <p:nvSpPr>
          <p:cNvPr id="15" name="Shape 12"/>
          <p:cNvSpPr/>
          <p:nvPr/>
        </p:nvSpPr>
        <p:spPr>
          <a:xfrm>
            <a:off x="5669280" y="2331720"/>
            <a:ext cx="640080" cy="45720"/>
          </a:xfrm>
          <a:prstGeom prst="line">
            <a:avLst/>
          </a:prstGeom>
          <a:noFill/>
          <a:ln w="15875">
            <a:solidFill>
              <a:srgbClr val="475569"/>
            </a:solidFill>
            <a:prstDash val="solid"/>
            <a:tailEnd type="triangle"/>
          </a:ln>
        </p:spPr>
      </p:sp>
      <p:sp>
        <p:nvSpPr>
          <p:cNvPr id="16" name="Shape 13"/>
          <p:cNvSpPr/>
          <p:nvPr/>
        </p:nvSpPr>
        <p:spPr>
          <a:xfrm>
            <a:off x="2103120" y="2377440"/>
            <a:ext cx="640080" cy="731520"/>
          </a:xfrm>
          <a:prstGeom prst="line">
            <a:avLst/>
          </a:prstGeom>
          <a:noFill/>
          <a:ln w="15875">
            <a:solidFill>
              <a:srgbClr val="475569"/>
            </a:solidFill>
            <a:prstDash val="solid"/>
            <a:tailEnd type="triangle"/>
          </a:ln>
        </p:spPr>
      </p:sp>
      <p:sp>
        <p:nvSpPr>
          <p:cNvPr id="17" name="Shape 14"/>
          <p:cNvSpPr/>
          <p:nvPr/>
        </p:nvSpPr>
        <p:spPr>
          <a:xfrm>
            <a:off x="2743200" y="2788920"/>
            <a:ext cx="2926080" cy="640080"/>
          </a:xfrm>
          <a:prstGeom prst="roundRect">
            <a:avLst>
              <a:gd name="adj" fmla="val 20000"/>
            </a:avLst>
          </a:prstGeom>
          <a:solidFill>
            <a:schemeClr val="tx2">
              <a:alpha val="92000"/>
            </a:schemeClr>
          </a:solidFill>
          <a:ln w="15875">
            <a:solidFill>
              <a:srgbClr val="818CF8"/>
            </a:solidFill>
            <a:prstDash val="solid"/>
          </a:ln>
        </p:spPr>
      </p:sp>
      <p:sp>
        <p:nvSpPr>
          <p:cNvPr id="18" name="Text 15"/>
          <p:cNvSpPr txBox="1"/>
          <p:nvPr/>
        </p:nvSpPr>
        <p:spPr>
          <a:xfrm>
            <a:off x="2926080" y="2788920"/>
            <a:ext cx="2103120" cy="640080"/>
          </a:xfrm>
          <a:prstGeom prst="rect">
            <a:avLst/>
          </a:prstGeom>
          <a:noFill/>
          <a:ln/>
        </p:spPr>
        <p:txBody>
          <a:bodyPr wrap="square" lIns="0" tIns="0" rIns="0" bIns="0" rtlCol="0" anchor="ctr"/>
          <a:lstStyle/>
          <a:p>
            <a:pPr algn="l" indent="0" marL="0">
              <a:lnSpc>
                <a:spcPct val="110000"/>
              </a:lnSpc>
              <a:spcAft>
                <a:spcPts val="400"/>
              </a:spcAft>
              <a:buNone/>
            </a:pPr>
            <a:r>
              <a:rPr lang="en-US" sz="1350" b="1" dirty="0">
                <a:solidFill>
                  <a:schemeClr val="bg1"/>
                </a:solidFill>
              </a:rPr>
              <a:t>Red 3 · ReLU</a:t>
            </a:r>
            <a:endParaRPr lang="en-US" sz="1350" dirty="0"/>
          </a:p>
        </p:txBody>
      </p:sp>
      <p:sp>
        <p:nvSpPr>
          <p:cNvPr id="19" name="Text 16"/>
          <p:cNvSpPr txBox="1"/>
          <p:nvPr/>
        </p:nvSpPr>
        <p:spPr>
          <a:xfrm>
            <a:off x="5029200" y="2788920"/>
            <a:ext cx="502920" cy="640080"/>
          </a:xfrm>
          <a:prstGeom prst="rect">
            <a:avLst/>
          </a:prstGeom>
          <a:noFill/>
          <a:ln/>
        </p:spPr>
        <p:txBody>
          <a:bodyPr wrap="square" lIns="0" tIns="0" rIns="0" bIns="0" rtlCol="0" anchor="ctr"/>
          <a:lstStyle/>
          <a:p>
            <a:pPr algn="r" indent="0" marL="0">
              <a:lnSpc>
                <a:spcPct val="110000"/>
              </a:lnSpc>
              <a:spcAft>
                <a:spcPts val="400"/>
              </a:spcAft>
              <a:buNone/>
            </a:pPr>
            <a:r>
              <a:rPr lang="en-US" sz="1300" b="1" dirty="0">
                <a:solidFill>
                  <a:srgbClr val="818CF8"/>
                </a:solidFill>
                <a:latin typeface="Consolas" pitchFamily="34" charset="0"/>
                <a:ea typeface="Consolas" pitchFamily="34" charset="-122"/>
                <a:cs typeface="Consolas" pitchFamily="34" charset="-120"/>
              </a:rPr>
              <a:t>p3</a:t>
            </a:r>
            <a:endParaRPr lang="en-US" sz="1300" dirty="0"/>
          </a:p>
        </p:txBody>
      </p:sp>
      <p:sp>
        <p:nvSpPr>
          <p:cNvPr id="20" name="Shape 17"/>
          <p:cNvSpPr/>
          <p:nvPr/>
        </p:nvSpPr>
        <p:spPr>
          <a:xfrm flipV="1">
            <a:off x="5669280" y="2377440"/>
            <a:ext cx="640080" cy="731520"/>
          </a:xfrm>
          <a:prstGeom prst="line">
            <a:avLst/>
          </a:prstGeom>
          <a:noFill/>
          <a:ln w="15875">
            <a:solidFill>
              <a:srgbClr val="475569"/>
            </a:solidFill>
            <a:prstDash val="solid"/>
            <a:tailEnd type="triangle"/>
          </a:ln>
        </p:spPr>
      </p:sp>
      <p:sp>
        <p:nvSpPr>
          <p:cNvPr id="21" name="Shape 18"/>
          <p:cNvSpPr/>
          <p:nvPr/>
        </p:nvSpPr>
        <p:spPr>
          <a:xfrm>
            <a:off x="6309360" y="1828800"/>
            <a:ext cx="2103120" cy="1097280"/>
          </a:xfrm>
          <a:prstGeom prst="roundRect">
            <a:avLst>
              <a:gd name="adj" fmla="val 11667"/>
            </a:avLst>
          </a:prstGeom>
          <a:solidFill>
            <a:srgbClr val="065F46">
              <a:alpha val="70000"/>
            </a:srgbClr>
          </a:solidFill>
          <a:ln w="12700">
            <a:solidFill>
              <a:srgbClr val="34D399"/>
            </a:solidFill>
            <a:prstDash val="solid"/>
          </a:ln>
        </p:spPr>
      </p:sp>
      <p:sp>
        <p:nvSpPr>
          <p:cNvPr id="22" name="Text 19"/>
          <p:cNvSpPr txBox="1"/>
          <p:nvPr/>
        </p:nvSpPr>
        <p:spPr>
          <a:xfrm>
            <a:off x="6309360" y="1828800"/>
            <a:ext cx="2103120" cy="1097280"/>
          </a:xfrm>
          <a:prstGeom prst="rect">
            <a:avLst/>
          </a:prstGeom>
          <a:noFill/>
          <a:ln/>
        </p:spPr>
        <p:txBody>
          <a:bodyPr wrap="square" lIns="0" tIns="0" rIns="0" bIns="0" rtlCol="0" anchor="ctr"/>
          <a:lstStyle/>
          <a:p>
            <a:pPr algn="ctr" indent="0" marL="0">
              <a:lnSpc>
                <a:spcPct val="110000"/>
              </a:lnSpc>
              <a:spcAft>
                <a:spcPts val="400"/>
              </a:spcAft>
              <a:buNone/>
            </a:pPr>
            <a:r>
              <a:rPr lang="en-US" sz="1300" b="1" dirty="0">
                <a:solidFill>
                  <a:schemeClr val="bg1"/>
                </a:solidFill>
              </a:rPr>
              <a:t>Promedio</a:t>
            </a:r>
            <a:endParaRPr lang="en-US" sz="1300" dirty="0"/>
          </a:p>
          <a:p>
            <a:pPr algn="ctr" indent="0" marL="0">
              <a:lnSpc>
                <a:spcPct val="110000"/>
              </a:lnSpc>
              <a:spcAft>
                <a:spcPts val="400"/>
              </a:spcAft>
              <a:buNone/>
            </a:pPr>
            <a:r>
              <a:rPr lang="en-US" sz="1300" b="1" dirty="0">
                <a:solidFill>
                  <a:schemeClr val="bg1"/>
                </a:solidFill>
              </a:rPr>
              <a:t>(p1 + p2 + p3) / 3</a:t>
            </a:r>
            <a:endParaRPr lang="en-US" sz="1300" dirty="0"/>
          </a:p>
        </p:txBody>
      </p:sp>
      <p:sp>
        <p:nvSpPr>
          <p:cNvPr id="23" name="Shape 20"/>
          <p:cNvSpPr/>
          <p:nvPr/>
        </p:nvSpPr>
        <p:spPr>
          <a:xfrm>
            <a:off x="8412480" y="2377440"/>
            <a:ext cx="411480" cy="0"/>
          </a:xfrm>
          <a:prstGeom prst="line">
            <a:avLst/>
          </a:prstGeom>
          <a:noFill/>
          <a:ln w="15875">
            <a:solidFill>
              <a:srgbClr val="475569"/>
            </a:solidFill>
            <a:prstDash val="solid"/>
            <a:tailEnd type="triangle"/>
          </a:ln>
        </p:spPr>
      </p:sp>
      <p:sp>
        <p:nvSpPr>
          <p:cNvPr id="24" name="Shape 21"/>
          <p:cNvSpPr/>
          <p:nvPr/>
        </p:nvSpPr>
        <p:spPr>
          <a:xfrm>
            <a:off x="8823960" y="1828800"/>
            <a:ext cx="2816352" cy="1097280"/>
          </a:xfrm>
          <a:prstGeom prst="roundRect">
            <a:avLst>
              <a:gd name="adj" fmla="val 11667"/>
            </a:avLst>
          </a:prstGeom>
          <a:solidFill>
            <a:srgbClr val="F8FAFC"/>
          </a:solidFill>
          <a:ln w="12700">
            <a:solidFill>
              <a:srgbClr val="F8FAFC"/>
            </a:solidFill>
            <a:prstDash val="solid"/>
          </a:ln>
        </p:spPr>
      </p:sp>
      <p:sp>
        <p:nvSpPr>
          <p:cNvPr id="25" name="Text 22"/>
          <p:cNvSpPr txBox="1"/>
          <p:nvPr/>
        </p:nvSpPr>
        <p:spPr>
          <a:xfrm>
            <a:off x="8823960" y="1828800"/>
            <a:ext cx="2816352" cy="1097280"/>
          </a:xfrm>
          <a:prstGeom prst="rect">
            <a:avLst/>
          </a:prstGeom>
          <a:noFill/>
          <a:ln/>
        </p:spPr>
        <p:txBody>
          <a:bodyPr wrap="square" lIns="0" tIns="0" rIns="0" bIns="0" rtlCol="0" anchor="ctr"/>
          <a:lstStyle/>
          <a:p>
            <a:pPr algn="ctr" indent="0" marL="0">
              <a:lnSpc>
                <a:spcPct val="110000"/>
              </a:lnSpc>
              <a:spcAft>
                <a:spcPts val="400"/>
              </a:spcAft>
              <a:buNone/>
            </a:pPr>
            <a:r>
              <a:rPr lang="en-US" sz="1350" b="1" dirty="0">
                <a:solidFill>
                  <a:schemeClr val="tx1"/>
                </a:solidFill>
              </a:rPr>
              <a:t>≥ 50 % → APTO</a:t>
            </a:r>
            <a:endParaRPr lang="en-US" sz="1350" dirty="0"/>
          </a:p>
          <a:p>
            <a:pPr algn="ctr" indent="0" marL="0">
              <a:lnSpc>
                <a:spcPct val="110000"/>
              </a:lnSpc>
              <a:spcAft>
                <a:spcPts val="400"/>
              </a:spcAft>
              <a:buNone/>
            </a:pPr>
            <a:r>
              <a:rPr lang="en-US" sz="1350" b="1" dirty="0">
                <a:solidFill>
                  <a:schemeClr val="tx1"/>
                </a:solidFill>
              </a:rPr>
              <a:t>&lt; 50 % → NO APTO</a:t>
            </a:r>
            <a:endParaRPr lang="en-US" sz="1350" dirty="0"/>
          </a:p>
        </p:txBody>
      </p:sp>
      <p:sp>
        <p:nvSpPr>
          <p:cNvPr id="26" name="Shape 23"/>
          <p:cNvSpPr/>
          <p:nvPr/>
        </p:nvSpPr>
        <p:spPr>
          <a:xfrm>
            <a:off x="548640" y="3794760"/>
            <a:ext cx="5760720" cy="2377440"/>
          </a:xfrm>
          <a:prstGeom prst="roundRect">
            <a:avLst>
              <a:gd name="adj" fmla="val 5385"/>
            </a:avLst>
          </a:prstGeom>
          <a:solidFill>
            <a:schemeClr val="tx2">
              <a:alpha val="92000"/>
            </a:schemeClr>
          </a:solidFill>
          <a:ln w="12700">
            <a:solidFill>
              <a:srgbClr val="1E293B"/>
            </a:solidFill>
            <a:prstDash val="solid"/>
          </a:ln>
        </p:spPr>
      </p:sp>
      <p:sp>
        <p:nvSpPr>
          <p:cNvPr id="27" name="Text 24"/>
          <p:cNvSpPr txBox="1"/>
          <p:nvPr/>
        </p:nvSpPr>
        <p:spPr>
          <a:xfrm>
            <a:off x="777240" y="3931920"/>
            <a:ext cx="36576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EJEMPLO ILUSTRATIVO</a:t>
            </a:r>
            <a:endParaRPr lang="en-US" sz="1050" dirty="0"/>
          </a:p>
        </p:txBody>
      </p:sp>
      <p:sp>
        <p:nvSpPr>
          <p:cNvPr id="28" name="Text 25"/>
          <p:cNvSpPr txBox="1"/>
          <p:nvPr/>
        </p:nvSpPr>
        <p:spPr>
          <a:xfrm>
            <a:off x="777240" y="4279392"/>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1</a:t>
            </a:r>
            <a:endParaRPr lang="en-US" sz="1100" dirty="0"/>
          </a:p>
        </p:txBody>
      </p:sp>
      <p:sp>
        <p:nvSpPr>
          <p:cNvPr id="29" name="Text 26"/>
          <p:cNvSpPr txBox="1"/>
          <p:nvPr/>
        </p:nvSpPr>
        <p:spPr>
          <a:xfrm>
            <a:off x="777240" y="4526280"/>
            <a:ext cx="1188720" cy="457200"/>
          </a:xfrm>
          <a:prstGeom prst="rect">
            <a:avLst/>
          </a:prstGeom>
          <a:noFill/>
          <a:ln/>
        </p:spPr>
        <p:txBody>
          <a:bodyPr wrap="square" lIns="0" tIns="0" rIns="0" bIns="0" rtlCol="0" anchor="t"/>
          <a:lstStyle/>
          <a:p>
            <a:pPr algn="l" indent="0" marL="0">
              <a:lnSpc>
                <a:spcPct val="110000"/>
              </a:lnSpc>
              <a:spcAft>
                <a:spcPts val="400"/>
              </a:spcAft>
              <a:buNone/>
            </a:pPr>
            <a:r>
              <a:rPr lang="en-US" sz="2200" b="1" dirty="0">
                <a:solidFill>
                  <a:schemeClr val="accent4"/>
                </a:solidFill>
                <a:latin typeface="Consolas" pitchFamily="34" charset="0"/>
                <a:ea typeface="Consolas" pitchFamily="34" charset="-122"/>
                <a:cs typeface="Consolas" pitchFamily="34" charset="-120"/>
              </a:rPr>
              <a:t>0,62</a:t>
            </a:r>
            <a:endParaRPr lang="en-US" sz="2200" dirty="0"/>
          </a:p>
        </p:txBody>
      </p:sp>
      <p:sp>
        <p:nvSpPr>
          <p:cNvPr id="30" name="Text 27"/>
          <p:cNvSpPr txBox="1"/>
          <p:nvPr/>
        </p:nvSpPr>
        <p:spPr>
          <a:xfrm>
            <a:off x="2103120" y="4279392"/>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2</a:t>
            </a:r>
            <a:endParaRPr lang="en-US" sz="1100" dirty="0"/>
          </a:p>
        </p:txBody>
      </p:sp>
      <p:sp>
        <p:nvSpPr>
          <p:cNvPr id="31" name="Text 28"/>
          <p:cNvSpPr txBox="1"/>
          <p:nvPr/>
        </p:nvSpPr>
        <p:spPr>
          <a:xfrm>
            <a:off x="2103120" y="4526280"/>
            <a:ext cx="1188720" cy="457200"/>
          </a:xfrm>
          <a:prstGeom prst="rect">
            <a:avLst/>
          </a:prstGeom>
          <a:noFill/>
          <a:ln/>
        </p:spPr>
        <p:txBody>
          <a:bodyPr wrap="square" lIns="0" tIns="0" rIns="0" bIns="0" rtlCol="0" anchor="t"/>
          <a:lstStyle/>
          <a:p>
            <a:pPr algn="l" indent="0" marL="0">
              <a:lnSpc>
                <a:spcPct val="110000"/>
              </a:lnSpc>
              <a:spcAft>
                <a:spcPts val="400"/>
              </a:spcAft>
              <a:buNone/>
            </a:pPr>
            <a:r>
              <a:rPr lang="en-US" sz="2200" b="1" dirty="0">
                <a:solidFill>
                  <a:schemeClr val="accent5"/>
                </a:solidFill>
                <a:latin typeface="Consolas" pitchFamily="34" charset="0"/>
                <a:ea typeface="Consolas" pitchFamily="34" charset="-122"/>
                <a:cs typeface="Consolas" pitchFamily="34" charset="-120"/>
              </a:rPr>
              <a:t>0,48</a:t>
            </a:r>
            <a:endParaRPr lang="en-US" sz="2200" dirty="0"/>
          </a:p>
        </p:txBody>
      </p:sp>
      <p:sp>
        <p:nvSpPr>
          <p:cNvPr id="32" name="Text 29"/>
          <p:cNvSpPr txBox="1"/>
          <p:nvPr/>
        </p:nvSpPr>
        <p:spPr>
          <a:xfrm>
            <a:off x="3429000" y="4279392"/>
            <a:ext cx="109728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Red 3</a:t>
            </a:r>
            <a:endParaRPr lang="en-US" sz="1100" dirty="0"/>
          </a:p>
        </p:txBody>
      </p:sp>
      <p:sp>
        <p:nvSpPr>
          <p:cNvPr id="33" name="Text 30"/>
          <p:cNvSpPr txBox="1"/>
          <p:nvPr/>
        </p:nvSpPr>
        <p:spPr>
          <a:xfrm>
            <a:off x="3429000" y="4526280"/>
            <a:ext cx="1188720" cy="457200"/>
          </a:xfrm>
          <a:prstGeom prst="rect">
            <a:avLst/>
          </a:prstGeom>
          <a:noFill/>
          <a:ln/>
        </p:spPr>
        <p:txBody>
          <a:bodyPr wrap="square" lIns="0" tIns="0" rIns="0" bIns="0" rtlCol="0" anchor="t"/>
          <a:lstStyle/>
          <a:p>
            <a:pPr algn="l" indent="0" marL="0">
              <a:lnSpc>
                <a:spcPct val="110000"/>
              </a:lnSpc>
              <a:spcAft>
                <a:spcPts val="400"/>
              </a:spcAft>
              <a:buNone/>
            </a:pPr>
            <a:r>
              <a:rPr lang="en-US" sz="2200" b="1" dirty="0">
                <a:solidFill>
                  <a:schemeClr val="accent4"/>
                </a:solidFill>
                <a:latin typeface="Consolas" pitchFamily="34" charset="0"/>
                <a:ea typeface="Consolas" pitchFamily="34" charset="-122"/>
                <a:cs typeface="Consolas" pitchFamily="34" charset="-120"/>
              </a:rPr>
              <a:t>0,57</a:t>
            </a:r>
            <a:endParaRPr lang="en-US" sz="2200" dirty="0"/>
          </a:p>
        </p:txBody>
      </p:sp>
      <p:sp>
        <p:nvSpPr>
          <p:cNvPr id="34" name="Text 31"/>
          <p:cNvSpPr txBox="1"/>
          <p:nvPr/>
        </p:nvSpPr>
        <p:spPr>
          <a:xfrm>
            <a:off x="4754880" y="4279392"/>
            <a:ext cx="1463040" cy="274320"/>
          </a:xfrm>
          <a:prstGeom prst="rect">
            <a:avLst/>
          </a:prstGeom>
          <a:noFill/>
          <a:ln/>
        </p:spPr>
        <p:txBody>
          <a:bodyPr wrap="square" lIns="0" tIns="0" rIns="0" bIns="0" rtlCol="0" anchor="t"/>
          <a:lstStyle/>
          <a:p>
            <a:pPr algn="l" indent="0" marL="0">
              <a:lnSpc>
                <a:spcPct val="110000"/>
              </a:lnSpc>
              <a:spcAft>
                <a:spcPts val="400"/>
              </a:spcAft>
              <a:buNone/>
            </a:pPr>
            <a:r>
              <a:rPr lang="en-US" sz="1100" dirty="0">
                <a:solidFill>
                  <a:srgbClr val="94A3B8"/>
                </a:solidFill>
              </a:rPr>
              <a:t>Promedio</a:t>
            </a:r>
            <a:endParaRPr lang="en-US" sz="1100" dirty="0"/>
          </a:p>
        </p:txBody>
      </p:sp>
      <p:sp>
        <p:nvSpPr>
          <p:cNvPr id="35" name="Text 32"/>
          <p:cNvSpPr txBox="1"/>
          <p:nvPr/>
        </p:nvSpPr>
        <p:spPr>
          <a:xfrm>
            <a:off x="4754880" y="4526280"/>
            <a:ext cx="1463040" cy="68580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accent4"/>
                </a:solidFill>
              </a:rPr>
              <a:t>0,557</a:t>
            </a:r>
            <a:endParaRPr lang="en-US" sz="1500" dirty="0"/>
          </a:p>
          <a:p>
            <a:pPr algn="l" indent="0" marL="0">
              <a:lnSpc>
                <a:spcPct val="110000"/>
              </a:lnSpc>
              <a:spcAft>
                <a:spcPts val="400"/>
              </a:spcAft>
              <a:buNone/>
            </a:pPr>
            <a:r>
              <a:rPr lang="en-US" sz="1500" b="1" dirty="0">
                <a:solidFill>
                  <a:schemeClr val="accent4"/>
                </a:solidFill>
              </a:rPr>
              <a:t>APTO</a:t>
            </a:r>
            <a:endParaRPr lang="en-US" sz="1500" dirty="0"/>
          </a:p>
        </p:txBody>
      </p:sp>
      <p:sp>
        <p:nvSpPr>
          <p:cNvPr id="36" name="Text 33"/>
          <p:cNvSpPr txBox="1"/>
          <p:nvPr/>
        </p:nvSpPr>
        <p:spPr>
          <a:xfrm>
            <a:off x="777240" y="5349240"/>
            <a:ext cx="5349240" cy="73152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 Red 2 sola lo habría rechazado; las otras dos la corrigen. Cada red tiene el mismo voto (1/3).</a:t>
            </a:r>
            <a:endParaRPr lang="en-US" sz="1250" dirty="0"/>
          </a:p>
        </p:txBody>
      </p:sp>
      <p:graphicFrame>
        <p:nvGraphicFramePr>
          <p:cNvPr id="37" name="Chart 0" descr=""/>
          <p:cNvGraphicFramePr/>
          <p:nvPr/>
        </p:nvGraphicFramePr>
        <p:xfrm>
          <a:off x="6537960" y="3154680"/>
          <a:ext cx="5102352" cy="3017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Pruebas realizadas por etapa</a:t>
            </a:r>
            <a:endParaRPr lang="en-US" sz="2200" dirty="0"/>
          </a:p>
        </p:txBody>
      </p:sp>
      <p:sp>
        <p:nvSpPr>
          <p:cNvPr id="4" name="Shape 1"/>
          <p:cNvSpPr/>
          <p:nvPr/>
        </p:nvSpPr>
        <p:spPr>
          <a:xfrm>
            <a:off x="548640"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5" name="Text 2"/>
          <p:cNvSpPr txBox="1"/>
          <p:nvPr/>
        </p:nvSpPr>
        <p:spPr>
          <a:xfrm>
            <a:off x="731520"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164</a:t>
            </a:r>
            <a:endParaRPr lang="en-US" sz="2800" dirty="0"/>
          </a:p>
        </p:txBody>
      </p:sp>
      <p:sp>
        <p:nvSpPr>
          <p:cNvPr id="6" name="Text 3"/>
          <p:cNvSpPr txBox="1"/>
          <p:nvPr/>
        </p:nvSpPr>
        <p:spPr>
          <a:xfrm>
            <a:off x="1600200"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redes entrenadas</a:t>
            </a:r>
            <a:endParaRPr lang="en-US" sz="1200" dirty="0"/>
          </a:p>
        </p:txBody>
      </p:sp>
      <p:sp>
        <p:nvSpPr>
          <p:cNvPr id="7" name="Shape 4"/>
          <p:cNvSpPr/>
          <p:nvPr/>
        </p:nvSpPr>
        <p:spPr>
          <a:xfrm>
            <a:off x="3364992"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8" name="Text 5"/>
          <p:cNvSpPr txBox="1"/>
          <p:nvPr/>
        </p:nvSpPr>
        <p:spPr>
          <a:xfrm>
            <a:off x="3547872"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19</a:t>
            </a:r>
            <a:endParaRPr lang="en-US" sz="2800" dirty="0"/>
          </a:p>
        </p:txBody>
      </p:sp>
      <p:sp>
        <p:nvSpPr>
          <p:cNvPr id="9" name="Text 6"/>
          <p:cNvSpPr txBox="1"/>
          <p:nvPr/>
        </p:nvSpPr>
        <p:spPr>
          <a:xfrm>
            <a:off x="4416552"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ensambles evaluados</a:t>
            </a:r>
            <a:endParaRPr lang="en-US" sz="1200" dirty="0"/>
          </a:p>
        </p:txBody>
      </p:sp>
      <p:sp>
        <p:nvSpPr>
          <p:cNvPr id="10" name="Shape 7"/>
          <p:cNvSpPr/>
          <p:nvPr/>
        </p:nvSpPr>
        <p:spPr>
          <a:xfrm>
            <a:off x="6181344"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11" name="Text 8"/>
          <p:cNvSpPr txBox="1"/>
          <p:nvPr/>
        </p:nvSpPr>
        <p:spPr>
          <a:xfrm>
            <a:off x="6364224"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5</a:t>
            </a:r>
            <a:endParaRPr lang="en-US" sz="2800" dirty="0"/>
          </a:p>
        </p:txBody>
      </p:sp>
      <p:sp>
        <p:nvSpPr>
          <p:cNvPr id="12" name="Text 9"/>
          <p:cNvSpPr txBox="1"/>
          <p:nvPr/>
        </p:nvSpPr>
        <p:spPr>
          <a:xfrm>
            <a:off x="7232904"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semillas por configuración clave</a:t>
            </a:r>
            <a:endParaRPr lang="en-US" sz="1200" dirty="0"/>
          </a:p>
        </p:txBody>
      </p:sp>
      <p:sp>
        <p:nvSpPr>
          <p:cNvPr id="13" name="Shape 10"/>
          <p:cNvSpPr/>
          <p:nvPr/>
        </p:nvSpPr>
        <p:spPr>
          <a:xfrm>
            <a:off x="8997696" y="1188720"/>
            <a:ext cx="2606040" cy="868680"/>
          </a:xfrm>
          <a:prstGeom prst="roundRect">
            <a:avLst>
              <a:gd name="adj" fmla="val 14737"/>
            </a:avLst>
          </a:prstGeom>
          <a:solidFill>
            <a:schemeClr val="tx2">
              <a:alpha val="92000"/>
            </a:schemeClr>
          </a:solidFill>
          <a:ln w="12700">
            <a:solidFill>
              <a:srgbClr val="1E293B"/>
            </a:solidFill>
            <a:prstDash val="solid"/>
          </a:ln>
        </p:spPr>
      </p:sp>
      <p:sp>
        <p:nvSpPr>
          <p:cNvPr id="14" name="Text 11"/>
          <p:cNvSpPr txBox="1"/>
          <p:nvPr/>
        </p:nvSpPr>
        <p:spPr>
          <a:xfrm>
            <a:off x="9180576" y="1188720"/>
            <a:ext cx="914400" cy="868680"/>
          </a:xfrm>
          <a:prstGeom prst="rect">
            <a:avLst/>
          </a:prstGeom>
          <a:noFill/>
          <a:ln/>
        </p:spPr>
        <p:txBody>
          <a:bodyPr wrap="square" lIns="0" tIns="0" rIns="0" bIns="0" rtlCol="0" anchor="ctr"/>
          <a:lstStyle/>
          <a:p>
            <a:pPr algn="l" indent="0" marL="0">
              <a:lnSpc>
                <a:spcPct val="110000"/>
              </a:lnSpc>
              <a:spcAft>
                <a:spcPts val="400"/>
              </a:spcAft>
              <a:buNone/>
            </a:pPr>
            <a:r>
              <a:rPr lang="en-US" sz="2800" b="1" dirty="0">
                <a:solidFill>
                  <a:schemeClr val="accent2"/>
                </a:solidFill>
                <a:latin typeface="Consolas" pitchFamily="34" charset="0"/>
                <a:ea typeface="Consolas" pitchFamily="34" charset="-122"/>
                <a:cs typeface="Consolas" pitchFamily="34" charset="-120"/>
              </a:rPr>
              <a:t>1</a:t>
            </a:r>
            <a:endParaRPr lang="en-US" sz="2800" dirty="0"/>
          </a:p>
        </p:txBody>
      </p:sp>
      <p:sp>
        <p:nvSpPr>
          <p:cNvPr id="15" name="Text 12"/>
          <p:cNvSpPr txBox="1"/>
          <p:nvPr/>
        </p:nvSpPr>
        <p:spPr>
          <a:xfrm>
            <a:off x="10049256" y="1188720"/>
            <a:ext cx="1463040" cy="868680"/>
          </a:xfrm>
          <a:prstGeom prst="rect">
            <a:avLst/>
          </a:prstGeom>
          <a:noFill/>
          <a:ln/>
        </p:spPr>
        <p:txBody>
          <a:bodyPr wrap="square" lIns="0" tIns="0" rIns="0" bIns="0" rtlCol="0" anchor="ctr"/>
          <a:lstStyle/>
          <a:p>
            <a:pPr algn="l" indent="0" marL="0">
              <a:lnSpc>
                <a:spcPct val="110000"/>
              </a:lnSpc>
              <a:spcAft>
                <a:spcPts val="400"/>
              </a:spcAft>
              <a:buNone/>
            </a:pPr>
            <a:r>
              <a:rPr lang="en-US" sz="1200" dirty="0">
                <a:solidFill>
                  <a:schemeClr val="bg2"/>
                </a:solidFill>
              </a:rPr>
              <a:t>sola vez se usó el grupo de prueba</a:t>
            </a:r>
            <a:endParaRPr lang="en-US" sz="1200" dirty="0"/>
          </a:p>
        </p:txBody>
      </p:sp>
      <p:sp>
        <p:nvSpPr>
          <p:cNvPr id="16" name="Shape 13"/>
          <p:cNvSpPr/>
          <p:nvPr/>
        </p:nvSpPr>
        <p:spPr>
          <a:xfrm>
            <a:off x="822960" y="2395728"/>
            <a:ext cx="10515600" cy="0"/>
          </a:xfrm>
          <a:prstGeom prst="line">
            <a:avLst/>
          </a:prstGeom>
          <a:noFill/>
          <a:ln w="25400">
            <a:solidFill>
              <a:srgbClr val="334155"/>
            </a:solidFill>
            <a:prstDash val="solid"/>
          </a:ln>
        </p:spPr>
      </p:sp>
      <p:sp>
        <p:nvSpPr>
          <p:cNvPr id="17" name="Shape 14"/>
          <p:cNvSpPr/>
          <p:nvPr/>
        </p:nvSpPr>
        <p:spPr>
          <a:xfrm>
            <a:off x="731520" y="2276856"/>
            <a:ext cx="237744" cy="237744"/>
          </a:xfrm>
          <a:prstGeom prst="ellipse">
            <a:avLst/>
          </a:prstGeom>
          <a:solidFill>
            <a:srgbClr val="3B82F6"/>
          </a:solidFill>
          <a:ln w="25400">
            <a:solidFill>
              <a:srgbClr val="0B1220"/>
            </a:solidFill>
            <a:prstDash val="solid"/>
          </a:ln>
        </p:spPr>
      </p:sp>
      <p:sp>
        <p:nvSpPr>
          <p:cNvPr id="18" name="Shape 15"/>
          <p:cNvSpPr/>
          <p:nvPr/>
        </p:nvSpPr>
        <p:spPr>
          <a:xfrm>
            <a:off x="548640" y="2697480"/>
            <a:ext cx="2606040" cy="3474720"/>
          </a:xfrm>
          <a:prstGeom prst="roundRect">
            <a:avLst>
              <a:gd name="adj" fmla="val 4912"/>
            </a:avLst>
          </a:prstGeom>
          <a:solidFill>
            <a:schemeClr val="tx2">
              <a:alpha val="92000"/>
            </a:schemeClr>
          </a:solidFill>
          <a:ln w="12700">
            <a:solidFill>
              <a:srgbClr val="1E293B"/>
            </a:solidFill>
            <a:prstDash val="solid"/>
          </a:ln>
        </p:spPr>
      </p:sp>
      <p:sp>
        <p:nvSpPr>
          <p:cNvPr id="19" name="Text 16"/>
          <p:cNvSpPr txBox="1"/>
          <p:nvPr/>
        </p:nvSpPr>
        <p:spPr>
          <a:xfrm>
            <a:off x="749808"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Línea base · 5 redes</a:t>
            </a:r>
            <a:endParaRPr lang="en-US" sz="1450" dirty="0"/>
          </a:p>
        </p:txBody>
      </p:sp>
      <p:sp>
        <p:nvSpPr>
          <p:cNvPr id="20" name="Text 17"/>
          <p:cNvSpPr txBox="1"/>
          <p:nvPr/>
        </p:nvSpPr>
        <p:spPr>
          <a:xfrm>
            <a:off x="749808"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21" name="Text 18"/>
          <p:cNvSpPr txBox="1"/>
          <p:nvPr/>
        </p:nvSpPr>
        <p:spPr>
          <a:xfrm>
            <a:off x="749808"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¿Cuánto logra una red razonable sin afinar?</a:t>
            </a:r>
            <a:endParaRPr lang="en-US" sz="1250" dirty="0"/>
          </a:p>
        </p:txBody>
      </p:sp>
      <p:sp>
        <p:nvSpPr>
          <p:cNvPr id="22" name="Text 19"/>
          <p:cNvSpPr txBox="1"/>
          <p:nvPr/>
        </p:nvSpPr>
        <p:spPr>
          <a:xfrm>
            <a:off x="749808"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23" name="Text 20"/>
          <p:cNvSpPr txBox="1"/>
          <p:nvPr/>
        </p:nvSpPr>
        <p:spPr>
          <a:xfrm>
            <a:off x="749808"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Red 64 → 32 → 16 con ReLU: punto de comparación.</a:t>
            </a:r>
            <a:endParaRPr lang="en-US" sz="1250" dirty="0"/>
          </a:p>
        </p:txBody>
      </p:sp>
      <p:sp>
        <p:nvSpPr>
          <p:cNvPr id="24" name="Text 21"/>
          <p:cNvSpPr txBox="1"/>
          <p:nvPr/>
        </p:nvSpPr>
        <p:spPr>
          <a:xfrm>
            <a:off x="749808"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0,7497</a:t>
            </a:r>
            <a:endParaRPr lang="en-US" sz="1250" dirty="0"/>
          </a:p>
        </p:txBody>
      </p:sp>
      <p:sp>
        <p:nvSpPr>
          <p:cNvPr id="25" name="Shape 22"/>
          <p:cNvSpPr/>
          <p:nvPr/>
        </p:nvSpPr>
        <p:spPr>
          <a:xfrm>
            <a:off x="3547872" y="2276856"/>
            <a:ext cx="237744" cy="237744"/>
          </a:xfrm>
          <a:prstGeom prst="ellipse">
            <a:avLst/>
          </a:prstGeom>
          <a:solidFill>
            <a:srgbClr val="3B82F6"/>
          </a:solidFill>
          <a:ln w="25400">
            <a:solidFill>
              <a:srgbClr val="0B1220"/>
            </a:solidFill>
            <a:prstDash val="solid"/>
          </a:ln>
        </p:spPr>
      </p:sp>
      <p:sp>
        <p:nvSpPr>
          <p:cNvPr id="26" name="Shape 23"/>
          <p:cNvSpPr/>
          <p:nvPr/>
        </p:nvSpPr>
        <p:spPr>
          <a:xfrm>
            <a:off x="3364992" y="2697480"/>
            <a:ext cx="2606040" cy="3474720"/>
          </a:xfrm>
          <a:prstGeom prst="roundRect">
            <a:avLst>
              <a:gd name="adj" fmla="val 4912"/>
            </a:avLst>
          </a:prstGeom>
          <a:solidFill>
            <a:schemeClr val="tx2">
              <a:alpha val="92000"/>
            </a:schemeClr>
          </a:solidFill>
          <a:ln w="12700">
            <a:solidFill>
              <a:srgbClr val="1E293B"/>
            </a:solidFill>
            <a:prstDash val="solid"/>
          </a:ln>
        </p:spPr>
      </p:sp>
      <p:sp>
        <p:nvSpPr>
          <p:cNvPr id="27" name="Text 24"/>
          <p:cNvSpPr txBox="1"/>
          <p:nvPr/>
        </p:nvSpPr>
        <p:spPr>
          <a:xfrm>
            <a:off x="3566160"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Fase 1 · 70 redes</a:t>
            </a:r>
            <a:endParaRPr lang="en-US" sz="1450" dirty="0"/>
          </a:p>
        </p:txBody>
      </p:sp>
      <p:sp>
        <p:nvSpPr>
          <p:cNvPr id="28" name="Text 25"/>
          <p:cNvSpPr txBox="1"/>
          <p:nvPr/>
        </p:nvSpPr>
        <p:spPr>
          <a:xfrm>
            <a:off x="3566160"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29" name="Text 26"/>
          <p:cNvSpPr txBox="1"/>
          <p:nvPr/>
        </p:nvSpPr>
        <p:spPr>
          <a:xfrm>
            <a:off x="3566160"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¿Qué tamaño, paso de aprendizaje, lote y dropout funcionan mejor?</a:t>
            </a:r>
            <a:endParaRPr lang="en-US" sz="1250" dirty="0"/>
          </a:p>
        </p:txBody>
      </p:sp>
      <p:sp>
        <p:nvSpPr>
          <p:cNvPr id="30" name="Text 27"/>
          <p:cNvSpPr txBox="1"/>
          <p:nvPr/>
        </p:nvSpPr>
        <p:spPr>
          <a:xfrm>
            <a:off x="3566160"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31" name="Text 28"/>
          <p:cNvSpPr txBox="1"/>
          <p:nvPr/>
        </p:nvSpPr>
        <p:spPr>
          <a:xfrm>
            <a:off x="3566160"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Redes compactas, paso 0,0005 y dropout 15 %. Las grandes no mejoran.</a:t>
            </a:r>
            <a:endParaRPr lang="en-US" sz="1250" dirty="0"/>
          </a:p>
        </p:txBody>
      </p:sp>
      <p:sp>
        <p:nvSpPr>
          <p:cNvPr id="32" name="Text 29"/>
          <p:cNvSpPr txBox="1"/>
          <p:nvPr/>
        </p:nvSpPr>
        <p:spPr>
          <a:xfrm>
            <a:off x="3566160"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0,7523</a:t>
            </a:r>
            <a:endParaRPr lang="en-US" sz="1250" dirty="0"/>
          </a:p>
        </p:txBody>
      </p:sp>
      <p:sp>
        <p:nvSpPr>
          <p:cNvPr id="33" name="Shape 30"/>
          <p:cNvSpPr/>
          <p:nvPr/>
        </p:nvSpPr>
        <p:spPr>
          <a:xfrm>
            <a:off x="6364224" y="2276856"/>
            <a:ext cx="237744" cy="237744"/>
          </a:xfrm>
          <a:prstGeom prst="ellipse">
            <a:avLst/>
          </a:prstGeom>
          <a:solidFill>
            <a:srgbClr val="34D399"/>
          </a:solidFill>
          <a:ln w="25400">
            <a:solidFill>
              <a:srgbClr val="0B1220"/>
            </a:solidFill>
            <a:prstDash val="solid"/>
          </a:ln>
        </p:spPr>
      </p:sp>
      <p:sp>
        <p:nvSpPr>
          <p:cNvPr id="34" name="Shape 31"/>
          <p:cNvSpPr/>
          <p:nvPr/>
        </p:nvSpPr>
        <p:spPr>
          <a:xfrm>
            <a:off x="6181344" y="2697480"/>
            <a:ext cx="2606040" cy="3474720"/>
          </a:xfrm>
          <a:prstGeom prst="roundRect">
            <a:avLst>
              <a:gd name="adj" fmla="val 4912"/>
            </a:avLst>
          </a:prstGeom>
          <a:solidFill>
            <a:schemeClr val="tx2">
              <a:alpha val="92000"/>
            </a:schemeClr>
          </a:solidFill>
          <a:ln w="15875">
            <a:solidFill>
              <a:srgbClr val="34D399"/>
            </a:solidFill>
            <a:prstDash val="solid"/>
          </a:ln>
        </p:spPr>
      </p:sp>
      <p:sp>
        <p:nvSpPr>
          <p:cNvPr id="35" name="Text 32"/>
          <p:cNvSpPr txBox="1"/>
          <p:nvPr/>
        </p:nvSpPr>
        <p:spPr>
          <a:xfrm>
            <a:off x="6382512"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Fase 2 · 57 redes</a:t>
            </a:r>
            <a:endParaRPr lang="en-US" sz="1450" dirty="0"/>
          </a:p>
        </p:txBody>
      </p:sp>
      <p:sp>
        <p:nvSpPr>
          <p:cNvPr id="36" name="Text 33"/>
          <p:cNvSpPr txBox="1"/>
          <p:nvPr/>
        </p:nvSpPr>
        <p:spPr>
          <a:xfrm>
            <a:off x="6382512"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37" name="Text 34"/>
          <p:cNvSpPr txBox="1"/>
          <p:nvPr/>
        </p:nvSpPr>
        <p:spPr>
          <a:xfrm>
            <a:off x="6382512"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puede afinar más? ¿Ayuda combinar redes?</a:t>
            </a:r>
            <a:endParaRPr lang="en-US" sz="1250" dirty="0"/>
          </a:p>
        </p:txBody>
      </p:sp>
      <p:sp>
        <p:nvSpPr>
          <p:cNvPr id="38" name="Text 35"/>
          <p:cNvSpPr txBox="1"/>
          <p:nvPr/>
        </p:nvSpPr>
        <p:spPr>
          <a:xfrm>
            <a:off x="6382512"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39" name="Text 36"/>
          <p:cNvSpPr txBox="1"/>
          <p:nvPr/>
        </p:nvSpPr>
        <p:spPr>
          <a:xfrm>
            <a:off x="6382512"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Ajuste fino de L2, dropout y paciencia. El ensamble de 3 redes distintas es el mejor.</a:t>
            </a:r>
            <a:endParaRPr lang="en-US" sz="1250" dirty="0"/>
          </a:p>
        </p:txBody>
      </p:sp>
      <p:sp>
        <p:nvSpPr>
          <p:cNvPr id="40" name="Text 37"/>
          <p:cNvSpPr txBox="1"/>
          <p:nvPr/>
        </p:nvSpPr>
        <p:spPr>
          <a:xfrm>
            <a:off x="6382512"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4"/>
                </a:solidFill>
                <a:latin typeface="Consolas" pitchFamily="34" charset="0"/>
                <a:ea typeface="Consolas" pitchFamily="34" charset="-122"/>
                <a:cs typeface="Consolas" pitchFamily="34" charset="-120"/>
              </a:rPr>
              <a:t>AUC val. 0,7538</a:t>
            </a:r>
            <a:endParaRPr lang="en-US" sz="1250" dirty="0"/>
          </a:p>
        </p:txBody>
      </p:sp>
      <p:sp>
        <p:nvSpPr>
          <p:cNvPr id="41" name="Shape 38"/>
          <p:cNvSpPr/>
          <p:nvPr/>
        </p:nvSpPr>
        <p:spPr>
          <a:xfrm>
            <a:off x="9180576" y="2276856"/>
            <a:ext cx="237744" cy="237744"/>
          </a:xfrm>
          <a:prstGeom prst="ellipse">
            <a:avLst/>
          </a:prstGeom>
          <a:solidFill>
            <a:srgbClr val="3B82F6"/>
          </a:solidFill>
          <a:ln w="25400">
            <a:solidFill>
              <a:srgbClr val="0B1220"/>
            </a:solidFill>
            <a:prstDash val="solid"/>
          </a:ln>
        </p:spPr>
      </p:sp>
      <p:sp>
        <p:nvSpPr>
          <p:cNvPr id="42" name="Shape 39"/>
          <p:cNvSpPr/>
          <p:nvPr/>
        </p:nvSpPr>
        <p:spPr>
          <a:xfrm>
            <a:off x="8997696" y="2697480"/>
            <a:ext cx="2606040" cy="3474720"/>
          </a:xfrm>
          <a:prstGeom prst="roundRect">
            <a:avLst>
              <a:gd name="adj" fmla="val 4912"/>
            </a:avLst>
          </a:prstGeom>
          <a:solidFill>
            <a:schemeClr val="tx2">
              <a:alpha val="92000"/>
            </a:schemeClr>
          </a:solidFill>
          <a:ln w="12700">
            <a:solidFill>
              <a:srgbClr val="1E293B"/>
            </a:solidFill>
            <a:prstDash val="solid"/>
          </a:ln>
        </p:spPr>
      </p:sp>
      <p:sp>
        <p:nvSpPr>
          <p:cNvPr id="43" name="Text 40"/>
          <p:cNvSpPr txBox="1"/>
          <p:nvPr/>
        </p:nvSpPr>
        <p:spPr>
          <a:xfrm>
            <a:off x="9198864" y="283464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Fase 3 · 32 redes</a:t>
            </a:r>
            <a:endParaRPr lang="en-US" sz="1450" dirty="0"/>
          </a:p>
        </p:txBody>
      </p:sp>
      <p:sp>
        <p:nvSpPr>
          <p:cNvPr id="44" name="Text 41"/>
          <p:cNvSpPr txBox="1"/>
          <p:nvPr/>
        </p:nvSpPr>
        <p:spPr>
          <a:xfrm>
            <a:off x="9198864" y="324612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PREGUNTA</a:t>
            </a:r>
            <a:endParaRPr lang="en-US" sz="950" dirty="0"/>
          </a:p>
        </p:txBody>
      </p:sp>
      <p:sp>
        <p:nvSpPr>
          <p:cNvPr id="45" name="Text 42"/>
          <p:cNvSpPr txBox="1"/>
          <p:nvPr/>
        </p:nvSpPr>
        <p:spPr>
          <a:xfrm>
            <a:off x="9198864" y="350215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¿Activaciones modernas (ELU, GELU) o pesos distintos lo superan?</a:t>
            </a:r>
            <a:endParaRPr lang="en-US" sz="1250" dirty="0"/>
          </a:p>
        </p:txBody>
      </p:sp>
      <p:sp>
        <p:nvSpPr>
          <p:cNvPr id="46" name="Text 43"/>
          <p:cNvSpPr txBox="1"/>
          <p:nvPr/>
        </p:nvSpPr>
        <p:spPr>
          <a:xfrm>
            <a:off x="9198864" y="4434840"/>
            <a:ext cx="2194560" cy="256032"/>
          </a:xfrm>
          <a:prstGeom prst="rect">
            <a:avLst/>
          </a:prstGeom>
          <a:noFill/>
          <a:ln/>
        </p:spPr>
        <p:txBody>
          <a:bodyPr wrap="square" lIns="0" tIns="0" rIns="0" bIns="0" rtlCol="0" anchor="ctr"/>
          <a:lstStyle/>
          <a:p>
            <a:pPr indent="0" marL="0">
              <a:buNone/>
            </a:pPr>
            <a:r>
              <a:rPr lang="en-US" sz="950" spc="200" kern="0" dirty="0">
                <a:solidFill>
                  <a:srgbClr val="94A3B8"/>
                </a:solidFill>
                <a:latin typeface="Consolas" pitchFamily="34" charset="0"/>
                <a:ea typeface="Consolas" pitchFamily="34" charset="-122"/>
                <a:cs typeface="Consolas" pitchFamily="34" charset="-120"/>
              </a:rPr>
              <a:t>RESULTADO</a:t>
            </a:r>
            <a:endParaRPr lang="en-US" sz="950" dirty="0"/>
          </a:p>
        </p:txBody>
      </p:sp>
      <p:sp>
        <p:nvSpPr>
          <p:cNvPr id="47" name="Text 44"/>
          <p:cNvSpPr txBox="1"/>
          <p:nvPr/>
        </p:nvSpPr>
        <p:spPr>
          <a:xfrm>
            <a:off x="9198864" y="4690872"/>
            <a:ext cx="2240280" cy="86868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Empatan, pero no lo superan. Se mantiene el ensamble.</a:t>
            </a:r>
            <a:endParaRPr lang="en-US" sz="1250" dirty="0"/>
          </a:p>
        </p:txBody>
      </p:sp>
      <p:sp>
        <p:nvSpPr>
          <p:cNvPr id="48" name="Text 45"/>
          <p:cNvSpPr txBox="1"/>
          <p:nvPr/>
        </p:nvSpPr>
        <p:spPr>
          <a:xfrm>
            <a:off x="9198864" y="5715000"/>
            <a:ext cx="2240280" cy="320040"/>
          </a:xfrm>
          <a:prstGeom prst="rect">
            <a:avLst/>
          </a:prstGeom>
          <a:noFill/>
          <a:ln/>
        </p:spPr>
        <p:txBody>
          <a:bodyPr wrap="square" lIns="0" tIns="0" rIns="0" bIns="0" rtlCol="0" anchor="t"/>
          <a:lstStyle/>
          <a:p>
            <a:pPr algn="l" indent="0" marL="0">
              <a:lnSpc>
                <a:spcPct val="110000"/>
              </a:lnSpc>
              <a:spcAft>
                <a:spcPts val="400"/>
              </a:spcAft>
              <a:buNone/>
            </a:pPr>
            <a:r>
              <a:rPr lang="en-US" sz="1250" b="1" dirty="0">
                <a:solidFill>
                  <a:schemeClr val="accent2"/>
                </a:solidFill>
                <a:latin typeface="Consolas" pitchFamily="34" charset="0"/>
                <a:ea typeface="Consolas" pitchFamily="34" charset="-122"/>
                <a:cs typeface="Consolas" pitchFamily="34" charset="-120"/>
              </a:rPr>
              <a:t>AUC val. 0,7536</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Hallazgos de la fase 1 y estudio de ablación</a:t>
            </a:r>
            <a:endParaRPr lang="en-US" sz="2200" dirty="0"/>
          </a:p>
        </p:txBody>
      </p:sp>
      <p:graphicFrame>
        <p:nvGraphicFramePr>
          <p:cNvPr id="4" name="Chart 0" descr=""/>
          <p:cNvGraphicFramePr/>
          <p:nvPr/>
        </p:nvGraphicFramePr>
        <p:xfrm>
          <a:off x="548640" y="1188720"/>
          <a:ext cx="443484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120640" y="1188720"/>
          <a:ext cx="3017520" cy="342900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275320" y="1188720"/>
          <a:ext cx="3364992" cy="3429000"/>
        </p:xfrm>
        <a:graphic xmlns:a="http://schemas.openxmlformats.org/drawingml/2006/main">
          <a:graphicData uri="http://schemas.openxmlformats.org/drawingml/2006/chart">
            <c:chart xmlns:c="http://schemas.openxmlformats.org/drawingml/2006/chart" r:id="rId3"/>
          </a:graphicData>
        </a:graphic>
      </p:graphicFrame>
      <p:sp>
        <p:nvSpPr>
          <p:cNvPr id="7" name="Shape 1"/>
          <p:cNvSpPr/>
          <p:nvPr/>
        </p:nvSpPr>
        <p:spPr>
          <a:xfrm>
            <a:off x="548640" y="4754880"/>
            <a:ext cx="4434840" cy="1417320"/>
          </a:xfrm>
          <a:prstGeom prst="roundRect">
            <a:avLst>
              <a:gd name="adj" fmla="val 9032"/>
            </a:avLst>
          </a:prstGeom>
          <a:solidFill>
            <a:schemeClr val="tx2">
              <a:alpha val="92000"/>
            </a:schemeClr>
          </a:solidFill>
          <a:ln w="12700">
            <a:solidFill>
              <a:srgbClr val="1E293B"/>
            </a:solidFill>
            <a:prstDash val="solid"/>
          </a:ln>
        </p:spPr>
      </p:sp>
      <p:sp>
        <p:nvSpPr>
          <p:cNvPr id="8" name="Text 2"/>
          <p:cNvSpPr txBox="1"/>
          <p:nvPr/>
        </p:nvSpPr>
        <p:spPr>
          <a:xfrm>
            <a:off x="731520" y="4846320"/>
            <a:ext cx="4069080" cy="32004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Más grande no es mejor</a:t>
            </a:r>
            <a:endParaRPr lang="en-US" sz="1350" dirty="0"/>
          </a:p>
        </p:txBody>
      </p:sp>
      <p:sp>
        <p:nvSpPr>
          <p:cNvPr id="9" name="Text 3"/>
          <p:cNvSpPr txBox="1"/>
          <p:nvPr/>
        </p:nvSpPr>
        <p:spPr>
          <a:xfrm>
            <a:off x="731520" y="5184648"/>
            <a:ext cx="4069080" cy="9144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La red más pequeña ([32,16], 1.985 pesos) quedó arriba. Más pesos solo dan más capacidad de memorizar.</a:t>
            </a:r>
            <a:endParaRPr lang="en-US" sz="1150" dirty="0"/>
          </a:p>
        </p:txBody>
      </p:sp>
      <p:sp>
        <p:nvSpPr>
          <p:cNvPr id="10" name="Shape 4"/>
          <p:cNvSpPr/>
          <p:nvPr/>
        </p:nvSpPr>
        <p:spPr>
          <a:xfrm>
            <a:off x="5120640" y="4754880"/>
            <a:ext cx="3017520" cy="1417320"/>
          </a:xfrm>
          <a:prstGeom prst="roundRect">
            <a:avLst>
              <a:gd name="adj" fmla="val 9032"/>
            </a:avLst>
          </a:prstGeom>
          <a:solidFill>
            <a:schemeClr val="tx2">
              <a:alpha val="92000"/>
            </a:schemeClr>
          </a:solidFill>
          <a:ln w="12700">
            <a:solidFill>
              <a:srgbClr val="1E293B"/>
            </a:solidFill>
            <a:prstDash val="solid"/>
          </a:ln>
        </p:spPr>
      </p:sp>
      <p:sp>
        <p:nvSpPr>
          <p:cNvPr id="11" name="Text 5"/>
          <p:cNvSpPr txBox="1"/>
          <p:nvPr/>
        </p:nvSpPr>
        <p:spPr>
          <a:xfrm>
            <a:off x="5303520" y="4846320"/>
            <a:ext cx="2651760" cy="32004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Dropout moderado</a:t>
            </a:r>
            <a:endParaRPr lang="en-US" sz="1350" dirty="0"/>
          </a:p>
        </p:txBody>
      </p:sp>
      <p:sp>
        <p:nvSpPr>
          <p:cNvPr id="12" name="Text 6"/>
          <p:cNvSpPr txBox="1"/>
          <p:nvPr/>
        </p:nvSpPr>
        <p:spPr>
          <a:xfrm>
            <a:off x="5303520" y="5184648"/>
            <a:ext cx="2651760" cy="9144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Sin dropout: el peor resultado (0,7447). Con 40 % la red se frena. Lo mejor estuvo entre 10 y 20 %.</a:t>
            </a:r>
            <a:endParaRPr lang="en-US" sz="1150" dirty="0"/>
          </a:p>
        </p:txBody>
      </p:sp>
      <p:sp>
        <p:nvSpPr>
          <p:cNvPr id="13" name="Shape 7"/>
          <p:cNvSpPr/>
          <p:nvPr/>
        </p:nvSpPr>
        <p:spPr>
          <a:xfrm>
            <a:off x="8275320" y="4754880"/>
            <a:ext cx="3364992" cy="1417320"/>
          </a:xfrm>
          <a:prstGeom prst="roundRect">
            <a:avLst>
              <a:gd name="adj" fmla="val 9032"/>
            </a:avLst>
          </a:prstGeom>
          <a:solidFill>
            <a:schemeClr val="tx2">
              <a:alpha val="92000"/>
            </a:schemeClr>
          </a:solidFill>
          <a:ln w="12700">
            <a:solidFill>
              <a:srgbClr val="1E293B"/>
            </a:solidFill>
            <a:prstDash val="solid"/>
          </a:ln>
        </p:spPr>
      </p:sp>
      <p:sp>
        <p:nvSpPr>
          <p:cNvPr id="14" name="Text 8"/>
          <p:cNvSpPr txBox="1"/>
          <p:nvPr/>
        </p:nvSpPr>
        <p:spPr>
          <a:xfrm>
            <a:off x="8458200" y="4846320"/>
            <a:ext cx="2999232" cy="320040"/>
          </a:xfrm>
          <a:prstGeom prst="rect">
            <a:avLst/>
          </a:prstGeom>
          <a:noFill/>
          <a:ln/>
        </p:spPr>
        <p:txBody>
          <a:bodyPr wrap="square" lIns="0" tIns="0" rIns="0" bIns="0" rtlCol="0" anchor="t"/>
          <a:lstStyle/>
          <a:p>
            <a:pPr algn="l" indent="0" marL="0">
              <a:lnSpc>
                <a:spcPct val="110000"/>
              </a:lnSpc>
              <a:spcAft>
                <a:spcPts val="400"/>
              </a:spcAft>
              <a:buNone/>
            </a:pPr>
            <a:r>
              <a:rPr lang="en-US" sz="1350" b="1" dirty="0">
                <a:solidFill>
                  <a:schemeClr val="bg1"/>
                </a:solidFill>
              </a:rPr>
              <a:t>Las 44 variables son necesarias</a:t>
            </a:r>
            <a:endParaRPr lang="en-US" sz="1350" dirty="0"/>
          </a:p>
        </p:txBody>
      </p:sp>
      <p:sp>
        <p:nvSpPr>
          <p:cNvPr id="15" name="Text 9"/>
          <p:cNvSpPr txBox="1"/>
          <p:nvPr/>
        </p:nvSpPr>
        <p:spPr>
          <a:xfrm>
            <a:off x="8458200" y="5184648"/>
            <a:ext cx="2999232" cy="9144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Con 9 variables el AUC cae a 0,628. Agregar 6 indicadores manuales (50) no ayuda.</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 1: curvas de aprendizaje de las tres redes</a:t>
            </a:r>
            <a:endParaRPr lang="en-US" sz="2200" dirty="0"/>
          </a:p>
        </p:txBody>
      </p:sp>
      <p:sp>
        <p:nvSpPr>
          <p:cNvPr id="4" name="Text 1"/>
          <p:cNvSpPr txBox="1"/>
          <p:nvPr/>
        </p:nvSpPr>
        <p:spPr>
          <a:xfrm>
            <a:off x="548640" y="1188720"/>
            <a:ext cx="11091672" cy="59436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Azul: error con los clientes de entrenamiento. Naranja: error con los de validación. Si la red memorizara, las curvas se abrirían como una tijera (la azul bajaría y la naranja subiría).</a:t>
            </a:r>
            <a:endParaRPr lang="en-US" sz="1500" dirty="0"/>
          </a:p>
        </p:txBody>
      </p:sp>
      <p:sp>
        <p:nvSpPr>
          <p:cNvPr id="5" name="Shape 2"/>
          <p:cNvSpPr/>
          <p:nvPr/>
        </p:nvSpPr>
        <p:spPr>
          <a:xfrm>
            <a:off x="548640" y="1874520"/>
            <a:ext cx="3520440" cy="2743200"/>
          </a:xfrm>
          <a:prstGeom prst="roundRect">
            <a:avLst>
              <a:gd name="adj" fmla="val 4667"/>
            </a:avLst>
          </a:prstGeom>
          <a:solidFill>
            <a:schemeClr val="tx2">
              <a:alpha val="92000"/>
            </a:schemeClr>
          </a:solidFill>
          <a:ln w="12700">
            <a:solidFill>
              <a:srgbClr val="1E293B"/>
            </a:solidFill>
            <a:prstDash val="solid"/>
          </a:ln>
        </p:spPr>
      </p:sp>
      <p:graphicFrame>
        <p:nvGraphicFramePr>
          <p:cNvPr id="6" name="Chart 0" descr=""/>
          <p:cNvGraphicFramePr/>
          <p:nvPr/>
        </p:nvGraphicFramePr>
        <p:xfrm>
          <a:off x="640080" y="1938528"/>
          <a:ext cx="3337560" cy="2633472"/>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4297680" y="1874520"/>
            <a:ext cx="3520440" cy="2743200"/>
          </a:xfrm>
          <a:prstGeom prst="roundRect">
            <a:avLst>
              <a:gd name="adj" fmla="val 4667"/>
            </a:avLst>
          </a:prstGeom>
          <a:solidFill>
            <a:schemeClr val="tx2">
              <a:alpha val="92000"/>
            </a:schemeClr>
          </a:solidFill>
          <a:ln w="12700">
            <a:solidFill>
              <a:srgbClr val="1E293B"/>
            </a:solidFill>
            <a:prstDash val="solid"/>
          </a:ln>
        </p:spPr>
      </p:sp>
      <p:graphicFrame>
        <p:nvGraphicFramePr>
          <p:cNvPr id="8" name="Chart 1" descr=""/>
          <p:cNvGraphicFramePr/>
          <p:nvPr/>
        </p:nvGraphicFramePr>
        <p:xfrm>
          <a:off x="4389120" y="1938528"/>
          <a:ext cx="3337560" cy="2633472"/>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8046720" y="1874520"/>
            <a:ext cx="3520440" cy="2743200"/>
          </a:xfrm>
          <a:prstGeom prst="roundRect">
            <a:avLst>
              <a:gd name="adj" fmla="val 4667"/>
            </a:avLst>
          </a:prstGeom>
          <a:solidFill>
            <a:schemeClr val="tx2">
              <a:alpha val="92000"/>
            </a:schemeClr>
          </a:solidFill>
          <a:ln w="12700">
            <a:solidFill>
              <a:srgbClr val="1E293B"/>
            </a:solidFill>
            <a:prstDash val="solid"/>
          </a:ln>
        </p:spPr>
      </p:sp>
      <p:graphicFrame>
        <p:nvGraphicFramePr>
          <p:cNvPr id="10" name="Chart 2" descr=""/>
          <p:cNvGraphicFramePr/>
          <p:nvPr/>
        </p:nvGraphicFramePr>
        <p:xfrm>
          <a:off x="8138160" y="1938528"/>
          <a:ext cx="3337560" cy="2633472"/>
        </p:xfrm>
        <a:graphic xmlns:a="http://schemas.openxmlformats.org/drawingml/2006/main">
          <a:graphicData uri="http://schemas.openxmlformats.org/drawingml/2006/chart">
            <c:chart xmlns:c="http://schemas.openxmlformats.org/drawingml/2006/chart" r:id="rId3"/>
          </a:graphicData>
        </a:graphic>
      </p:graphicFrame>
      <p:sp>
        <p:nvSpPr>
          <p:cNvPr id="11" name="Shape 5"/>
          <p:cNvSpPr/>
          <p:nvPr/>
        </p:nvSpPr>
        <p:spPr>
          <a:xfrm>
            <a:off x="548640" y="4754880"/>
            <a:ext cx="3575304" cy="1417320"/>
          </a:xfrm>
          <a:prstGeom prst="roundRect">
            <a:avLst>
              <a:gd name="adj" fmla="val 9032"/>
            </a:avLst>
          </a:prstGeom>
          <a:solidFill>
            <a:schemeClr val="tx2">
              <a:alpha val="92000"/>
            </a:schemeClr>
          </a:solidFill>
          <a:ln w="12700">
            <a:solidFill>
              <a:srgbClr val="1E293B"/>
            </a:solidFill>
            <a:prstDash val="solid"/>
          </a:ln>
        </p:spPr>
      </p:sp>
      <p:sp>
        <p:nvSpPr>
          <p:cNvPr id="12" name="Text 6"/>
          <p:cNvSpPr txBox="1"/>
          <p:nvPr/>
        </p:nvSpPr>
        <p:spPr>
          <a:xfrm>
            <a:off x="777240" y="4919472"/>
            <a:ext cx="3118104"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QUÉ HICIMOS</a:t>
            </a:r>
            <a:endParaRPr lang="en-US" sz="1050" dirty="0"/>
          </a:p>
        </p:txBody>
      </p:sp>
      <p:sp>
        <p:nvSpPr>
          <p:cNvPr id="13" name="Text 7"/>
          <p:cNvSpPr txBox="1"/>
          <p:nvPr/>
        </p:nvSpPr>
        <p:spPr>
          <a:xfrm>
            <a:off x="777240" y="5230368"/>
            <a:ext cx="3118104" cy="8229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Se reentrenaron las 3 redes con su misma configuración, anotando el error en cada época.</a:t>
            </a:r>
            <a:endParaRPr lang="en-US" sz="1300" dirty="0"/>
          </a:p>
        </p:txBody>
      </p:sp>
      <p:sp>
        <p:nvSpPr>
          <p:cNvPr id="14" name="Shape 8"/>
          <p:cNvSpPr/>
          <p:nvPr/>
        </p:nvSpPr>
        <p:spPr>
          <a:xfrm>
            <a:off x="4306824" y="4754880"/>
            <a:ext cx="3575304" cy="1417320"/>
          </a:xfrm>
          <a:prstGeom prst="roundRect">
            <a:avLst>
              <a:gd name="adj" fmla="val 9032"/>
            </a:avLst>
          </a:prstGeom>
          <a:solidFill>
            <a:schemeClr val="tx2">
              <a:alpha val="92000"/>
            </a:schemeClr>
          </a:solidFill>
          <a:ln w="12700">
            <a:solidFill>
              <a:srgbClr val="1E293B"/>
            </a:solidFill>
            <a:prstDash val="solid"/>
          </a:ln>
        </p:spPr>
      </p:sp>
      <p:sp>
        <p:nvSpPr>
          <p:cNvPr id="15" name="Text 9"/>
          <p:cNvSpPr txBox="1"/>
          <p:nvPr/>
        </p:nvSpPr>
        <p:spPr>
          <a:xfrm>
            <a:off x="4535424" y="4919472"/>
            <a:ext cx="3118104"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QUÉ BUSCÁBAMOS</a:t>
            </a:r>
            <a:endParaRPr lang="en-US" sz="1050" dirty="0"/>
          </a:p>
        </p:txBody>
      </p:sp>
      <p:sp>
        <p:nvSpPr>
          <p:cNvPr id="16" name="Text 10"/>
          <p:cNvSpPr txBox="1"/>
          <p:nvPr/>
        </p:nvSpPr>
        <p:spPr>
          <a:xfrm>
            <a:off x="4535424" y="5230368"/>
            <a:ext cx="3118104" cy="8229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Ver si las curvas se separan, que es la señal de memorización.</a:t>
            </a:r>
            <a:endParaRPr lang="en-US" sz="1300" dirty="0"/>
          </a:p>
        </p:txBody>
      </p:sp>
      <p:sp>
        <p:nvSpPr>
          <p:cNvPr id="17" name="Shape 11"/>
          <p:cNvSpPr/>
          <p:nvPr/>
        </p:nvSpPr>
        <p:spPr>
          <a:xfrm>
            <a:off x="8065008" y="4754880"/>
            <a:ext cx="3575304" cy="1417320"/>
          </a:xfrm>
          <a:prstGeom prst="roundRect">
            <a:avLst>
              <a:gd name="adj" fmla="val 9032"/>
            </a:avLst>
          </a:prstGeom>
          <a:solidFill>
            <a:schemeClr val="tx2">
              <a:alpha val="92000"/>
            </a:schemeClr>
          </a:solidFill>
          <a:ln w="12700">
            <a:solidFill>
              <a:srgbClr val="1E293B"/>
            </a:solidFill>
            <a:prstDash val="solid"/>
          </a:ln>
        </p:spPr>
      </p:sp>
      <p:sp>
        <p:nvSpPr>
          <p:cNvPr id="18" name="Text 12"/>
          <p:cNvSpPr txBox="1"/>
          <p:nvPr/>
        </p:nvSpPr>
        <p:spPr>
          <a:xfrm>
            <a:off x="8293608" y="4919472"/>
            <a:ext cx="3118104" cy="256032"/>
          </a:xfrm>
          <a:prstGeom prst="rect">
            <a:avLst/>
          </a:prstGeom>
          <a:noFill/>
          <a:ln/>
        </p:spPr>
        <p:txBody>
          <a:bodyPr wrap="square" lIns="0" tIns="0" rIns="0" bIns="0" rtlCol="0" anchor="ctr"/>
          <a:lstStyle/>
          <a:p>
            <a:pPr indent="0" marL="0">
              <a:buNone/>
            </a:pPr>
            <a:r>
              <a:rPr lang="en-US" sz="1050" spc="200" kern="0" dirty="0">
                <a:solidFill>
                  <a:schemeClr val="accent4"/>
                </a:solidFill>
                <a:latin typeface="Consolas" pitchFamily="34" charset="0"/>
                <a:ea typeface="Consolas" pitchFamily="34" charset="-122"/>
                <a:cs typeface="Consolas" pitchFamily="34" charset="-120"/>
              </a:rPr>
              <a:t>QUÉ ENCONTRAMOS</a:t>
            </a:r>
            <a:endParaRPr lang="en-US" sz="1050" dirty="0"/>
          </a:p>
        </p:txBody>
      </p:sp>
      <p:sp>
        <p:nvSpPr>
          <p:cNvPr id="19" name="Text 13"/>
          <p:cNvSpPr txBox="1"/>
          <p:nvPr/>
        </p:nvSpPr>
        <p:spPr>
          <a:xfrm>
            <a:off x="8293608" y="5230368"/>
            <a:ext cx="3118104" cy="822960"/>
          </a:xfrm>
          <a:prstGeom prst="rect">
            <a:avLst/>
          </a:prstGeom>
          <a:noFill/>
          <a:ln/>
        </p:spPr>
        <p:txBody>
          <a:bodyPr wrap="square" lIns="0" tIns="0" rIns="0" bIns="0" rtlCol="0" anchor="t"/>
          <a:lstStyle/>
          <a:p>
            <a:pPr algn="l" indent="0" marL="0">
              <a:lnSpc>
                <a:spcPct val="110000"/>
              </a:lnSpc>
              <a:spcAft>
                <a:spcPts val="400"/>
              </a:spcAft>
              <a:buNone/>
            </a:pPr>
            <a:r>
              <a:rPr lang="en-US" sz="1300" dirty="0">
                <a:solidFill>
                  <a:schemeClr val="bg2"/>
                </a:solidFill>
              </a:rPr>
              <a:t>Bajan juntas y quedan cerca: la diferencia en la mejor época es de solo 0,008 a 0,015.</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Pruebas 2 y 3: sin parada temprana y red que memoriza</a:t>
            </a:r>
            <a:endParaRPr lang="en-US" sz="2200" dirty="0"/>
          </a:p>
        </p:txBody>
      </p:sp>
      <p:sp>
        <p:nvSpPr>
          <p:cNvPr id="4" name="Text 1"/>
          <p:cNvSpPr txBox="1"/>
          <p:nvPr/>
        </p:nvSpPr>
        <p:spPr>
          <a:xfrm>
            <a:off x="548640"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2 · RED 1 ENTRENADA 150 ÉPOCAS SIN FRENO</a:t>
            </a:r>
            <a:endParaRPr lang="en-US" sz="1050" dirty="0"/>
          </a:p>
        </p:txBody>
      </p:sp>
      <p:graphicFrame>
        <p:nvGraphicFramePr>
          <p:cNvPr id="5" name="Chart 0" descr=""/>
          <p:cNvGraphicFramePr/>
          <p:nvPr/>
        </p:nvGraphicFramePr>
        <p:xfrm>
          <a:off x="548640" y="1463040"/>
          <a:ext cx="5440680" cy="26060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7" name="Text 3"/>
          <p:cNvSpPr txBox="1"/>
          <p:nvPr/>
        </p:nvSpPr>
        <p:spPr>
          <a:xfrm>
            <a:off x="749808"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8" name="Text 4"/>
          <p:cNvSpPr txBox="1"/>
          <p:nvPr/>
        </p:nvSpPr>
        <p:spPr>
          <a:xfrm>
            <a:off x="749808"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Dejar la Red 1 entrenando 150 épocas, sin parada temprana.</a:t>
            </a:r>
            <a:endParaRPr lang="en-US" sz="1150" dirty="0"/>
          </a:p>
        </p:txBody>
      </p:sp>
      <p:sp>
        <p:nvSpPr>
          <p:cNvPr id="9" name="Text 5"/>
          <p:cNvSpPr txBox="1"/>
          <p:nvPr/>
        </p:nvSpPr>
        <p:spPr>
          <a:xfrm>
            <a:off x="749808"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0" name="Text 6"/>
          <p:cNvSpPr txBox="1"/>
          <p:nvPr/>
        </p:nvSpPr>
        <p:spPr>
          <a:xfrm>
            <a:off x="749808"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Ver si al seguir entrenando la red empieza a memorizar.</a:t>
            </a:r>
            <a:endParaRPr lang="en-US" sz="1150" dirty="0"/>
          </a:p>
        </p:txBody>
      </p:sp>
      <p:sp>
        <p:nvSpPr>
          <p:cNvPr id="11" name="Text 7"/>
          <p:cNvSpPr txBox="1"/>
          <p:nvPr/>
        </p:nvSpPr>
        <p:spPr>
          <a:xfrm>
            <a:off x="749808"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12" name="Text 8"/>
          <p:cNvSpPr txBox="1"/>
          <p:nvPr/>
        </p:nvSpPr>
        <p:spPr>
          <a:xfrm>
            <a:off x="749808"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Desde la época 44 (donde el freno la detuvo) la validación empeora; sin freno el AUC baja a 0,738–0,745.</a:t>
            </a:r>
            <a:endParaRPr lang="en-US" sz="1150" dirty="0"/>
          </a:p>
        </p:txBody>
      </p:sp>
      <p:sp>
        <p:nvSpPr>
          <p:cNvPr id="13" name="Text 9"/>
          <p:cNvSpPr txBox="1"/>
          <p:nvPr/>
        </p:nvSpPr>
        <p:spPr>
          <a:xfrm>
            <a:off x="6199632"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3 · RED GIGANTE SIN TÉCNICAS (187.393 PESOS)</a:t>
            </a:r>
            <a:endParaRPr lang="en-US" sz="1050" dirty="0"/>
          </a:p>
        </p:txBody>
      </p:sp>
      <p:graphicFrame>
        <p:nvGraphicFramePr>
          <p:cNvPr id="14" name="Chart 1" descr=""/>
          <p:cNvGraphicFramePr/>
          <p:nvPr/>
        </p:nvGraphicFramePr>
        <p:xfrm>
          <a:off x="6199632" y="1463040"/>
          <a:ext cx="5440680" cy="260604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6199632"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16" name="Text 11"/>
          <p:cNvSpPr txBox="1"/>
          <p:nvPr/>
        </p:nvSpPr>
        <p:spPr>
          <a:xfrm>
            <a:off x="6400800"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17" name="Text 12"/>
          <p:cNvSpPr txBox="1"/>
          <p:nvPr/>
        </p:nvSpPr>
        <p:spPr>
          <a:xfrm>
            <a:off x="6400800"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Entrenar una red 34 veces más grande, sin dropout ni freno, 200 épocas.</a:t>
            </a:r>
            <a:endParaRPr lang="en-US" sz="1150" dirty="0"/>
          </a:p>
        </p:txBody>
      </p:sp>
      <p:sp>
        <p:nvSpPr>
          <p:cNvPr id="18" name="Text 13"/>
          <p:cNvSpPr txBox="1"/>
          <p:nvPr/>
        </p:nvSpPr>
        <p:spPr>
          <a:xfrm>
            <a:off x="6400800"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9" name="Text 14"/>
          <p:cNvSpPr txBox="1"/>
          <p:nvPr/>
        </p:nvSpPr>
        <p:spPr>
          <a:xfrm>
            <a:off x="6400800"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Tener un ejemplo real de memorización para comparar.</a:t>
            </a:r>
            <a:endParaRPr lang="en-US" sz="1150" dirty="0"/>
          </a:p>
        </p:txBody>
      </p:sp>
      <p:sp>
        <p:nvSpPr>
          <p:cNvPr id="20" name="Text 15"/>
          <p:cNvSpPr txBox="1"/>
          <p:nvPr/>
        </p:nvSpPr>
        <p:spPr>
          <a:xfrm>
            <a:off x="6400800"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21" name="Text 16"/>
          <p:cNvSpPr txBox="1"/>
          <p:nvPr/>
        </p:nvSpPr>
        <p:spPr>
          <a:xfrm>
            <a:off x="6400800"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La gigante: 99,2 % vs 60,6 % de aciertos. Nuestra Red 1: 69,8 % vs 68,8 %.</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Pruebas 4 y 5: respuestas al azar y cantidad de datos</a:t>
            </a:r>
            <a:endParaRPr lang="en-US" sz="2200" dirty="0"/>
          </a:p>
        </p:txBody>
      </p:sp>
      <p:sp>
        <p:nvSpPr>
          <p:cNvPr id="4" name="Text 1"/>
          <p:cNvSpPr txBox="1"/>
          <p:nvPr/>
        </p:nvSpPr>
        <p:spPr>
          <a:xfrm>
            <a:off x="548640"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4 · RESPUESTAS BARAJADAS AL AZAR</a:t>
            </a:r>
            <a:endParaRPr lang="en-US" sz="1050" dirty="0"/>
          </a:p>
        </p:txBody>
      </p:sp>
      <p:graphicFrame>
        <p:nvGraphicFramePr>
          <p:cNvPr id="5" name="Chart 0" descr=""/>
          <p:cNvGraphicFramePr/>
          <p:nvPr/>
        </p:nvGraphicFramePr>
        <p:xfrm>
          <a:off x="548640" y="1463040"/>
          <a:ext cx="5440680" cy="26060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7" name="Text 3"/>
          <p:cNvSpPr txBox="1"/>
          <p:nvPr/>
        </p:nvSpPr>
        <p:spPr>
          <a:xfrm>
            <a:off x="749808"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8" name="Text 4"/>
          <p:cNvSpPr txBox="1"/>
          <p:nvPr/>
        </p:nvSpPr>
        <p:spPr>
          <a:xfrm>
            <a:off x="749808"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Barajar al azar las respuestas: no queda ningún patrón real.</a:t>
            </a:r>
            <a:endParaRPr lang="en-US" sz="1150" dirty="0"/>
          </a:p>
        </p:txBody>
      </p:sp>
      <p:sp>
        <p:nvSpPr>
          <p:cNvPr id="9" name="Text 5"/>
          <p:cNvSpPr txBox="1"/>
          <p:nvPr/>
        </p:nvSpPr>
        <p:spPr>
          <a:xfrm>
            <a:off x="749808"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0" name="Text 6"/>
          <p:cNvSpPr txBox="1"/>
          <p:nvPr/>
        </p:nvSpPr>
        <p:spPr>
          <a:xfrm>
            <a:off x="749808"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Si la red memorizara, se aprendería esas respuestas falsas.</a:t>
            </a:r>
            <a:endParaRPr lang="en-US" sz="1150" dirty="0"/>
          </a:p>
        </p:txBody>
      </p:sp>
      <p:sp>
        <p:nvSpPr>
          <p:cNvPr id="11" name="Text 7"/>
          <p:cNvSpPr txBox="1"/>
          <p:nvPr/>
        </p:nvSpPr>
        <p:spPr>
          <a:xfrm>
            <a:off x="749808"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12" name="Text 8"/>
          <p:cNvSpPr txBox="1"/>
          <p:nvPr/>
        </p:nvSpPr>
        <p:spPr>
          <a:xfrm>
            <a:off x="749808"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Nuestra red queda en ≈ 0,5 (adivinar); la gigante llega a 1,0 en entrenamiento. Con respuestas reales, la nuestra llega a 0,75.</a:t>
            </a:r>
            <a:endParaRPr lang="en-US" sz="1150" dirty="0"/>
          </a:p>
        </p:txBody>
      </p:sp>
      <p:sp>
        <p:nvSpPr>
          <p:cNvPr id="13" name="Text 9"/>
          <p:cNvSpPr txBox="1"/>
          <p:nvPr/>
        </p:nvSpPr>
        <p:spPr>
          <a:xfrm>
            <a:off x="6199632" y="1188720"/>
            <a:ext cx="54864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PRUEBA 5 · CADA VEZ MÁS CLIENTES PARA ENTRENAR</a:t>
            </a:r>
            <a:endParaRPr lang="en-US" sz="1050" dirty="0"/>
          </a:p>
        </p:txBody>
      </p:sp>
      <p:graphicFrame>
        <p:nvGraphicFramePr>
          <p:cNvPr id="14" name="Chart 1" descr=""/>
          <p:cNvGraphicFramePr/>
          <p:nvPr/>
        </p:nvGraphicFramePr>
        <p:xfrm>
          <a:off x="6199632" y="1463040"/>
          <a:ext cx="5440680" cy="260604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6199632" y="4160520"/>
            <a:ext cx="5440680" cy="2011680"/>
          </a:xfrm>
          <a:prstGeom prst="roundRect">
            <a:avLst>
              <a:gd name="adj" fmla="val 6364"/>
            </a:avLst>
          </a:prstGeom>
          <a:solidFill>
            <a:schemeClr val="tx2">
              <a:alpha val="92000"/>
            </a:schemeClr>
          </a:solidFill>
          <a:ln w="12700">
            <a:solidFill>
              <a:srgbClr val="1E293B"/>
            </a:solidFill>
            <a:prstDash val="solid"/>
          </a:ln>
        </p:spPr>
      </p:sp>
      <p:sp>
        <p:nvSpPr>
          <p:cNvPr id="16" name="Text 11"/>
          <p:cNvSpPr txBox="1"/>
          <p:nvPr/>
        </p:nvSpPr>
        <p:spPr>
          <a:xfrm>
            <a:off x="6400800" y="4270248"/>
            <a:ext cx="5074920" cy="256032"/>
          </a:xfrm>
          <a:prstGeom prst="rect">
            <a:avLst/>
          </a:prstGeom>
          <a:noFill/>
          <a:ln/>
        </p:spPr>
        <p:txBody>
          <a:bodyPr wrap="square" lIns="0" tIns="0" rIns="0" bIns="0" rtlCol="0" anchor="ctr"/>
          <a:lstStyle/>
          <a:p>
            <a:pPr indent="0" marL="0">
              <a:buNone/>
            </a:pPr>
            <a:r>
              <a:rPr lang="en-US" sz="900" spc="200" kern="0" dirty="0">
                <a:solidFill>
                  <a:schemeClr val="accent2"/>
                </a:solidFill>
                <a:latin typeface="Consolas" pitchFamily="34" charset="0"/>
                <a:ea typeface="Consolas" pitchFamily="34" charset="-122"/>
                <a:cs typeface="Consolas" pitchFamily="34" charset="-120"/>
              </a:rPr>
              <a:t>QUÉ HICIMOS</a:t>
            </a:r>
            <a:endParaRPr lang="en-US" sz="900" dirty="0"/>
          </a:p>
        </p:txBody>
      </p:sp>
      <p:sp>
        <p:nvSpPr>
          <p:cNvPr id="17" name="Text 12"/>
          <p:cNvSpPr txBox="1"/>
          <p:nvPr/>
        </p:nvSpPr>
        <p:spPr>
          <a:xfrm>
            <a:off x="6400800" y="45171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Entrenar la misma red con el 2 % hasta el 100 % de los clientes.</a:t>
            </a:r>
            <a:endParaRPr lang="en-US" sz="1150" dirty="0"/>
          </a:p>
        </p:txBody>
      </p:sp>
      <p:sp>
        <p:nvSpPr>
          <p:cNvPr id="18" name="Text 13"/>
          <p:cNvSpPr txBox="1"/>
          <p:nvPr/>
        </p:nvSpPr>
        <p:spPr>
          <a:xfrm>
            <a:off x="6400800" y="4879848"/>
            <a:ext cx="5074920" cy="256032"/>
          </a:xfrm>
          <a:prstGeom prst="rect">
            <a:avLst/>
          </a:prstGeom>
          <a:noFill/>
          <a:ln/>
        </p:spPr>
        <p:txBody>
          <a:bodyPr wrap="square" lIns="0" tIns="0" rIns="0" bIns="0" rtlCol="0" anchor="ctr"/>
          <a:lstStyle/>
          <a:p>
            <a:pPr indent="0" marL="0">
              <a:buNone/>
            </a:pPr>
            <a:r>
              <a:rPr lang="en-US" sz="900" spc="200" kern="0" dirty="0">
                <a:solidFill>
                  <a:schemeClr val="accent3"/>
                </a:solidFill>
                <a:latin typeface="Consolas" pitchFamily="34" charset="0"/>
                <a:ea typeface="Consolas" pitchFamily="34" charset="-122"/>
                <a:cs typeface="Consolas" pitchFamily="34" charset="-120"/>
              </a:rPr>
              <a:t>QUÉ BUSCÁBAMOS</a:t>
            </a:r>
            <a:endParaRPr lang="en-US" sz="900" dirty="0"/>
          </a:p>
        </p:txBody>
      </p:sp>
      <p:sp>
        <p:nvSpPr>
          <p:cNvPr id="19" name="Text 14"/>
          <p:cNvSpPr txBox="1"/>
          <p:nvPr/>
        </p:nvSpPr>
        <p:spPr>
          <a:xfrm>
            <a:off x="6400800" y="51267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Ver si la brecha entre lo estudiado y lo nuevo se cierra con más datos.</a:t>
            </a:r>
            <a:endParaRPr lang="en-US" sz="1150" dirty="0"/>
          </a:p>
        </p:txBody>
      </p:sp>
      <p:sp>
        <p:nvSpPr>
          <p:cNvPr id="20" name="Text 15"/>
          <p:cNvSpPr txBox="1"/>
          <p:nvPr/>
        </p:nvSpPr>
        <p:spPr>
          <a:xfrm>
            <a:off x="6400800" y="5489448"/>
            <a:ext cx="5074920" cy="256032"/>
          </a:xfrm>
          <a:prstGeom prst="rect">
            <a:avLst/>
          </a:prstGeom>
          <a:noFill/>
          <a:ln/>
        </p:spPr>
        <p:txBody>
          <a:bodyPr wrap="square" lIns="0" tIns="0" rIns="0" bIns="0" rtlCol="0" anchor="ctr"/>
          <a:lstStyle/>
          <a:p>
            <a:pPr indent="0" marL="0">
              <a:buNone/>
            </a:pPr>
            <a:r>
              <a:rPr lang="en-US" sz="900" spc="200" kern="0" dirty="0">
                <a:solidFill>
                  <a:schemeClr val="accent4"/>
                </a:solidFill>
                <a:latin typeface="Consolas" pitchFamily="34" charset="0"/>
                <a:ea typeface="Consolas" pitchFamily="34" charset="-122"/>
                <a:cs typeface="Consolas" pitchFamily="34" charset="-120"/>
              </a:rPr>
              <a:t>QUÉ ENCONTRAMOS</a:t>
            </a:r>
            <a:endParaRPr lang="en-US" sz="900" dirty="0"/>
          </a:p>
        </p:txBody>
      </p:sp>
      <p:sp>
        <p:nvSpPr>
          <p:cNvPr id="21" name="Text 16"/>
          <p:cNvSpPr txBox="1"/>
          <p:nvPr/>
        </p:nvSpPr>
        <p:spPr>
          <a:xfrm>
            <a:off x="6400800" y="5736336"/>
            <a:ext cx="5038344" cy="33528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Con 695 clientes la brecha es 0,177 (memoriza); con 34.755 baja a 0,012.</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Resumen de la evidencia: el modelo aprendió</a:t>
            </a:r>
            <a:endParaRPr lang="en-US" sz="2200" dirty="0"/>
          </a:p>
        </p:txBody>
      </p:sp>
      <p:sp>
        <p:nvSpPr>
          <p:cNvPr id="4" name="Shape 1"/>
          <p:cNvSpPr/>
          <p:nvPr/>
        </p:nvSpPr>
        <p:spPr>
          <a:xfrm>
            <a:off x="548640" y="11887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5" name="Shape 2"/>
          <p:cNvSpPr/>
          <p:nvPr/>
        </p:nvSpPr>
        <p:spPr>
          <a:xfrm>
            <a:off x="777240" y="1645920"/>
            <a:ext cx="502920" cy="502920"/>
          </a:xfrm>
          <a:prstGeom prst="ellipse">
            <a:avLst/>
          </a:prstGeom>
          <a:solidFill>
            <a:srgbClr val="065F46"/>
          </a:solidFill>
          <a:ln w="15875">
            <a:solidFill>
              <a:srgbClr val="34D399"/>
            </a:solidFill>
            <a:prstDash val="solid"/>
          </a:ln>
        </p:spPr>
      </p:sp>
      <p:sp>
        <p:nvSpPr>
          <p:cNvPr id="6" name="Text 3"/>
          <p:cNvSpPr txBox="1"/>
          <p:nvPr/>
        </p:nvSpPr>
        <p:spPr>
          <a:xfrm>
            <a:off x="777240" y="16459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7" name="Text 4"/>
          <p:cNvSpPr txBox="1"/>
          <p:nvPr/>
        </p:nvSpPr>
        <p:spPr>
          <a:xfrm>
            <a:off x="1444752" y="14173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Curvas juntas</a:t>
            </a:r>
            <a:endParaRPr lang="en-US" sz="1450" dirty="0"/>
          </a:p>
        </p:txBody>
      </p:sp>
      <p:sp>
        <p:nvSpPr>
          <p:cNvPr id="8" name="Text 5"/>
          <p:cNvSpPr txBox="1"/>
          <p:nvPr/>
        </p:nvSpPr>
        <p:spPr>
          <a:xfrm>
            <a:off x="1444752" y="18013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Diferencia de error de 0,008 a 0,015 en la mejor época</a:t>
            </a:r>
            <a:endParaRPr lang="en-US" sz="1250" dirty="0"/>
          </a:p>
        </p:txBody>
      </p:sp>
      <p:sp>
        <p:nvSpPr>
          <p:cNvPr id="9" name="Shape 6"/>
          <p:cNvSpPr/>
          <p:nvPr/>
        </p:nvSpPr>
        <p:spPr>
          <a:xfrm>
            <a:off x="4297680" y="11887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10" name="Shape 7"/>
          <p:cNvSpPr/>
          <p:nvPr/>
        </p:nvSpPr>
        <p:spPr>
          <a:xfrm>
            <a:off x="4526280" y="1645920"/>
            <a:ext cx="502920" cy="502920"/>
          </a:xfrm>
          <a:prstGeom prst="ellipse">
            <a:avLst/>
          </a:prstGeom>
          <a:solidFill>
            <a:srgbClr val="065F46"/>
          </a:solidFill>
          <a:ln w="15875">
            <a:solidFill>
              <a:srgbClr val="34D399"/>
            </a:solidFill>
            <a:prstDash val="solid"/>
          </a:ln>
        </p:spPr>
      </p:sp>
      <p:sp>
        <p:nvSpPr>
          <p:cNvPr id="11" name="Text 8"/>
          <p:cNvSpPr txBox="1"/>
          <p:nvPr/>
        </p:nvSpPr>
        <p:spPr>
          <a:xfrm>
            <a:off x="4526280" y="16459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12" name="Text 9"/>
          <p:cNvSpPr txBox="1"/>
          <p:nvPr/>
        </p:nvSpPr>
        <p:spPr>
          <a:xfrm>
            <a:off x="5193792" y="14173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Parada a tiempo</a:t>
            </a:r>
            <a:endParaRPr lang="en-US" sz="1450" dirty="0"/>
          </a:p>
        </p:txBody>
      </p:sp>
      <p:sp>
        <p:nvSpPr>
          <p:cNvPr id="13" name="Text 10"/>
          <p:cNvSpPr txBox="1"/>
          <p:nvPr/>
        </p:nvSpPr>
        <p:spPr>
          <a:xfrm>
            <a:off x="5193792" y="18013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Se detuvo antes de que las curvas se separaran (épocas 44 a 63)</a:t>
            </a:r>
            <a:endParaRPr lang="en-US" sz="1250" dirty="0"/>
          </a:p>
        </p:txBody>
      </p:sp>
      <p:sp>
        <p:nvSpPr>
          <p:cNvPr id="14" name="Shape 11"/>
          <p:cNvSpPr/>
          <p:nvPr/>
        </p:nvSpPr>
        <p:spPr>
          <a:xfrm>
            <a:off x="8046720" y="11887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15" name="Shape 12"/>
          <p:cNvSpPr/>
          <p:nvPr/>
        </p:nvSpPr>
        <p:spPr>
          <a:xfrm>
            <a:off x="8275320" y="1645920"/>
            <a:ext cx="502920" cy="502920"/>
          </a:xfrm>
          <a:prstGeom prst="ellipse">
            <a:avLst/>
          </a:prstGeom>
          <a:solidFill>
            <a:srgbClr val="065F46"/>
          </a:solidFill>
          <a:ln w="15875">
            <a:solidFill>
              <a:srgbClr val="34D399"/>
            </a:solidFill>
            <a:prstDash val="solid"/>
          </a:ln>
        </p:spPr>
      </p:sp>
      <p:sp>
        <p:nvSpPr>
          <p:cNvPr id="16" name="Text 13"/>
          <p:cNvSpPr txBox="1"/>
          <p:nvPr/>
        </p:nvSpPr>
        <p:spPr>
          <a:xfrm>
            <a:off x="8275320" y="16459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17" name="Text 14"/>
          <p:cNvSpPr txBox="1"/>
          <p:nvPr/>
        </p:nvSpPr>
        <p:spPr>
          <a:xfrm>
            <a:off x="8942832" y="14173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Distinto a la red gigante</a:t>
            </a:r>
            <a:endParaRPr lang="en-US" sz="1450" dirty="0"/>
          </a:p>
        </p:txBody>
      </p:sp>
      <p:sp>
        <p:nvSpPr>
          <p:cNvPr id="18" name="Text 15"/>
          <p:cNvSpPr txBox="1"/>
          <p:nvPr/>
        </p:nvSpPr>
        <p:spPr>
          <a:xfrm>
            <a:off x="8942832" y="18013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69,8 % vs 68,8 % de aciertos (la gigante: 99 % vs 61 %)</a:t>
            </a:r>
            <a:endParaRPr lang="en-US" sz="1250" dirty="0"/>
          </a:p>
        </p:txBody>
      </p:sp>
      <p:sp>
        <p:nvSpPr>
          <p:cNvPr id="19" name="Shape 16"/>
          <p:cNvSpPr/>
          <p:nvPr/>
        </p:nvSpPr>
        <p:spPr>
          <a:xfrm>
            <a:off x="548640" y="27889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20" name="Shape 17"/>
          <p:cNvSpPr/>
          <p:nvPr/>
        </p:nvSpPr>
        <p:spPr>
          <a:xfrm>
            <a:off x="777240" y="3246120"/>
            <a:ext cx="502920" cy="502920"/>
          </a:xfrm>
          <a:prstGeom prst="ellipse">
            <a:avLst/>
          </a:prstGeom>
          <a:solidFill>
            <a:srgbClr val="065F46"/>
          </a:solidFill>
          <a:ln w="15875">
            <a:solidFill>
              <a:srgbClr val="34D399"/>
            </a:solidFill>
            <a:prstDash val="solid"/>
          </a:ln>
        </p:spPr>
      </p:sp>
      <p:sp>
        <p:nvSpPr>
          <p:cNvPr id="21" name="Text 18"/>
          <p:cNvSpPr txBox="1"/>
          <p:nvPr/>
        </p:nvSpPr>
        <p:spPr>
          <a:xfrm>
            <a:off x="777240" y="3246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22" name="Text 19"/>
          <p:cNvSpPr txBox="1"/>
          <p:nvPr/>
        </p:nvSpPr>
        <p:spPr>
          <a:xfrm>
            <a:off x="1444752" y="30175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No aprende ruido</a:t>
            </a:r>
            <a:endParaRPr lang="en-US" sz="1450" dirty="0"/>
          </a:p>
        </p:txBody>
      </p:sp>
      <p:sp>
        <p:nvSpPr>
          <p:cNvPr id="23" name="Text 20"/>
          <p:cNvSpPr txBox="1"/>
          <p:nvPr/>
        </p:nvSpPr>
        <p:spPr>
          <a:xfrm>
            <a:off x="1444752" y="34015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Con respuestas al azar se queda en ≈ 0,50</a:t>
            </a:r>
            <a:endParaRPr lang="en-US" sz="1250" dirty="0"/>
          </a:p>
        </p:txBody>
      </p:sp>
      <p:sp>
        <p:nvSpPr>
          <p:cNvPr id="24" name="Shape 21"/>
          <p:cNvSpPr/>
          <p:nvPr/>
        </p:nvSpPr>
        <p:spPr>
          <a:xfrm>
            <a:off x="4297680" y="27889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25" name="Shape 22"/>
          <p:cNvSpPr/>
          <p:nvPr/>
        </p:nvSpPr>
        <p:spPr>
          <a:xfrm>
            <a:off x="4526280" y="3246120"/>
            <a:ext cx="502920" cy="502920"/>
          </a:xfrm>
          <a:prstGeom prst="ellipse">
            <a:avLst/>
          </a:prstGeom>
          <a:solidFill>
            <a:srgbClr val="065F46"/>
          </a:solidFill>
          <a:ln w="15875">
            <a:solidFill>
              <a:srgbClr val="34D399"/>
            </a:solidFill>
            <a:prstDash val="solid"/>
          </a:ln>
        </p:spPr>
      </p:sp>
      <p:sp>
        <p:nvSpPr>
          <p:cNvPr id="26" name="Text 23"/>
          <p:cNvSpPr txBox="1"/>
          <p:nvPr/>
        </p:nvSpPr>
        <p:spPr>
          <a:xfrm>
            <a:off x="4526280" y="3246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27" name="Text 24"/>
          <p:cNvSpPr txBox="1"/>
          <p:nvPr/>
        </p:nvSpPr>
        <p:spPr>
          <a:xfrm>
            <a:off x="5193792" y="30175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Más datos, menos brecha</a:t>
            </a:r>
            <a:endParaRPr lang="en-US" sz="1450" dirty="0"/>
          </a:p>
        </p:txBody>
      </p:sp>
      <p:sp>
        <p:nvSpPr>
          <p:cNvPr id="28" name="Text 25"/>
          <p:cNvSpPr txBox="1"/>
          <p:nvPr/>
        </p:nvSpPr>
        <p:spPr>
          <a:xfrm>
            <a:off x="5193792" y="34015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La diferencia baja de 0,177 a 0,012</a:t>
            </a:r>
            <a:endParaRPr lang="en-US" sz="1250" dirty="0"/>
          </a:p>
        </p:txBody>
      </p:sp>
      <p:sp>
        <p:nvSpPr>
          <p:cNvPr id="29" name="Shape 26"/>
          <p:cNvSpPr/>
          <p:nvPr/>
        </p:nvSpPr>
        <p:spPr>
          <a:xfrm>
            <a:off x="8046720" y="2788920"/>
            <a:ext cx="3520440" cy="1417320"/>
          </a:xfrm>
          <a:prstGeom prst="roundRect">
            <a:avLst>
              <a:gd name="adj" fmla="val 9032"/>
            </a:avLst>
          </a:prstGeom>
          <a:solidFill>
            <a:schemeClr val="tx2">
              <a:alpha val="92000"/>
            </a:schemeClr>
          </a:solidFill>
          <a:ln w="12700">
            <a:solidFill>
              <a:srgbClr val="1E293B"/>
            </a:solidFill>
            <a:prstDash val="solid"/>
          </a:ln>
        </p:spPr>
      </p:sp>
      <p:sp>
        <p:nvSpPr>
          <p:cNvPr id="30" name="Shape 27"/>
          <p:cNvSpPr/>
          <p:nvPr/>
        </p:nvSpPr>
        <p:spPr>
          <a:xfrm>
            <a:off x="8275320" y="3246120"/>
            <a:ext cx="502920" cy="502920"/>
          </a:xfrm>
          <a:prstGeom prst="ellipse">
            <a:avLst/>
          </a:prstGeom>
          <a:solidFill>
            <a:srgbClr val="065F46"/>
          </a:solidFill>
          <a:ln w="15875">
            <a:solidFill>
              <a:srgbClr val="34D399"/>
            </a:solidFill>
            <a:prstDash val="solid"/>
          </a:ln>
        </p:spPr>
      </p:sp>
      <p:sp>
        <p:nvSpPr>
          <p:cNvPr id="31" name="Text 28"/>
          <p:cNvSpPr txBox="1"/>
          <p:nvPr/>
        </p:nvSpPr>
        <p:spPr>
          <a:xfrm>
            <a:off x="8275320" y="3246120"/>
            <a:ext cx="502920" cy="502920"/>
          </a:xfrm>
          <a:prstGeom prst="rect">
            <a:avLst/>
          </a:prstGeom>
          <a:noFill/>
          <a:ln/>
        </p:spPr>
        <p:txBody>
          <a:bodyPr wrap="square" lIns="0" tIns="0" rIns="0" bIns="0" rtlCol="0" anchor="ctr"/>
          <a:lstStyle/>
          <a:p>
            <a:pPr algn="ctr" indent="0" marL="0">
              <a:lnSpc>
                <a:spcPct val="110000"/>
              </a:lnSpc>
              <a:spcAft>
                <a:spcPts val="400"/>
              </a:spcAft>
              <a:buNone/>
            </a:pPr>
            <a:r>
              <a:rPr lang="en-US" sz="1800" b="1" dirty="0">
                <a:solidFill>
                  <a:schemeClr val="accent4"/>
                </a:solidFill>
              </a:rPr>
              <a:t>✓</a:t>
            </a:r>
            <a:endParaRPr lang="en-US" sz="1800" dirty="0"/>
          </a:p>
        </p:txBody>
      </p:sp>
      <p:sp>
        <p:nvSpPr>
          <p:cNvPr id="32" name="Text 29"/>
          <p:cNvSpPr txBox="1"/>
          <p:nvPr/>
        </p:nvSpPr>
        <p:spPr>
          <a:xfrm>
            <a:off x="8942832" y="3017520"/>
            <a:ext cx="2514600" cy="365760"/>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Clientes nunca vistos</a:t>
            </a:r>
            <a:endParaRPr lang="en-US" sz="1450" dirty="0"/>
          </a:p>
        </p:txBody>
      </p:sp>
      <p:sp>
        <p:nvSpPr>
          <p:cNvPr id="33" name="Text 30"/>
          <p:cNvSpPr txBox="1"/>
          <p:nvPr/>
        </p:nvSpPr>
        <p:spPr>
          <a:xfrm>
            <a:off x="8942832" y="3401568"/>
            <a:ext cx="251460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AUC de 0,754 en validación a 0,745 en prueba (−1,2 %)</a:t>
            </a:r>
            <a:endParaRPr lang="en-US" sz="1250" dirty="0"/>
          </a:p>
        </p:txBody>
      </p:sp>
      <p:sp>
        <p:nvSpPr>
          <p:cNvPr id="34" name="Shape 31"/>
          <p:cNvSpPr/>
          <p:nvPr/>
        </p:nvSpPr>
        <p:spPr>
          <a:xfrm>
            <a:off x="548640" y="4526280"/>
            <a:ext cx="11091672" cy="1645920"/>
          </a:xfrm>
          <a:prstGeom prst="roundRect">
            <a:avLst>
              <a:gd name="adj" fmla="val 7778"/>
            </a:avLst>
          </a:prstGeom>
          <a:solidFill>
            <a:srgbClr val="1E3A8A">
              <a:alpha val="45000"/>
            </a:srgbClr>
          </a:solidFill>
          <a:ln w="12700">
            <a:solidFill>
              <a:srgbClr val="3B82F6"/>
            </a:solidFill>
            <a:prstDash val="solid"/>
          </a:ln>
        </p:spPr>
      </p:sp>
      <p:sp>
        <p:nvSpPr>
          <p:cNvPr id="35" name="Text 32"/>
          <p:cNvSpPr txBox="1"/>
          <p:nvPr/>
        </p:nvSpPr>
        <p:spPr>
          <a:xfrm>
            <a:off x="822960" y="4526280"/>
            <a:ext cx="10607040" cy="1645920"/>
          </a:xfrm>
          <a:prstGeom prst="rect">
            <a:avLst/>
          </a:prstGeom>
          <a:noFill/>
          <a:ln/>
        </p:spPr>
        <p:txBody>
          <a:bodyPr wrap="square" lIns="0" tIns="0" rIns="0" bIns="0" rtlCol="0" anchor="ctr"/>
          <a:lstStyle/>
          <a:p>
            <a:pPr algn="l" indent="0" marL="0">
              <a:lnSpc>
                <a:spcPct val="110000"/>
              </a:lnSpc>
              <a:spcAft>
                <a:spcPts val="400"/>
              </a:spcAft>
              <a:buNone/>
            </a:pPr>
            <a:r>
              <a:rPr lang="en-US" sz="1450" b="1" dirty="0">
                <a:solidFill>
                  <a:schemeClr val="bg1"/>
                </a:solidFill>
              </a:rPr>
              <a:t>Aclaración: </a:t>
            </a:r>
            <a:pPr algn="l" indent="0" marL="0">
              <a:lnSpc>
                <a:spcPct val="110000"/>
              </a:lnSpc>
              <a:spcAft>
                <a:spcPts val="400"/>
              </a:spcAft>
              <a:buNone/>
            </a:pPr>
            <a:r>
              <a:rPr lang="en-US" sz="1450" dirty="0">
                <a:solidFill>
                  <a:schemeClr val="bg2"/>
                </a:solidFill>
              </a:rPr>
              <a:t>sí existe una diferencia pequeña entre los clientes de entrenamiento (AUC ≈ 0,768) y los nuevos (≈ 0,745). Es normal en cualquier modelo. Memorizar se vería como en la red gigante, con diferencias enormes (99 % frente a 61 %). Por eso concluimos que el modelo aprendió patrones generales.</a:t>
            </a:r>
            <a:endParaRPr lang="en-US" sz="14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se mide el error (1): en la decisión</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Se decide APTO o NO APTO con el umbral de 50 % y se compara con lo que realmente pasó. Valores en el grupo de prueba (7.448 clientes):</a:t>
            </a:r>
            <a:endParaRPr lang="en-US" sz="1500" dirty="0"/>
          </a:p>
        </p:txBody>
      </p:sp>
      <p:sp>
        <p:nvSpPr>
          <p:cNvPr id="5" name="Shape 2"/>
          <p:cNvSpPr/>
          <p:nvPr/>
        </p:nvSpPr>
        <p:spPr>
          <a:xfrm>
            <a:off x="548640" y="1874520"/>
            <a:ext cx="5449824" cy="2011680"/>
          </a:xfrm>
          <a:prstGeom prst="roundRect">
            <a:avLst>
              <a:gd name="adj" fmla="val 6364"/>
            </a:avLst>
          </a:prstGeom>
          <a:solidFill>
            <a:schemeClr val="tx2">
              <a:alpha val="92000"/>
            </a:schemeClr>
          </a:solidFill>
          <a:ln w="12700">
            <a:solidFill>
              <a:srgbClr val="1E293B"/>
            </a:solidFill>
            <a:prstDash val="solid"/>
          </a:ln>
        </p:spPr>
      </p:sp>
      <p:sp>
        <p:nvSpPr>
          <p:cNvPr id="6" name="Text 3"/>
          <p:cNvSpPr txBox="1"/>
          <p:nvPr/>
        </p:nvSpPr>
        <p:spPr>
          <a:xfrm>
            <a:off x="822960" y="203911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Error de clasificación</a:t>
            </a:r>
            <a:endParaRPr lang="en-US" sz="1600" dirty="0"/>
          </a:p>
        </p:txBody>
      </p:sp>
      <p:sp>
        <p:nvSpPr>
          <p:cNvPr id="7" name="Text 4"/>
          <p:cNvSpPr txBox="1"/>
          <p:nvPr/>
        </p:nvSpPr>
        <p:spPr>
          <a:xfrm>
            <a:off x="4114800" y="198424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F87171"/>
                </a:solidFill>
                <a:latin typeface="Consolas" pitchFamily="34" charset="0"/>
                <a:ea typeface="Consolas" pitchFamily="34" charset="-122"/>
                <a:cs typeface="Consolas" pitchFamily="34" charset="-120"/>
              </a:rPr>
              <a:t>32,5 %</a:t>
            </a:r>
            <a:endParaRPr lang="en-US" sz="2400" dirty="0"/>
          </a:p>
        </p:txBody>
      </p:sp>
      <p:sp>
        <p:nvSpPr>
          <p:cNvPr id="8" name="Text 5"/>
          <p:cNvSpPr txBox="1"/>
          <p:nvPr/>
        </p:nvSpPr>
        <p:spPr>
          <a:xfrm>
            <a:off x="822960" y="246888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fallos ÷ total</a:t>
            </a:r>
            <a:endParaRPr lang="en-US" sz="1200" dirty="0"/>
          </a:p>
        </p:txBody>
      </p:sp>
      <p:sp>
        <p:nvSpPr>
          <p:cNvPr id="9" name="Text 6"/>
          <p:cNvSpPr txBox="1"/>
          <p:nvPr/>
        </p:nvSpPr>
        <p:spPr>
          <a:xfrm>
            <a:off x="822960" y="274320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2.422 ÷ 7.448</a:t>
            </a:r>
            <a:endParaRPr lang="en-US" sz="1200" dirty="0"/>
          </a:p>
        </p:txBody>
      </p:sp>
      <p:sp>
        <p:nvSpPr>
          <p:cNvPr id="10" name="Text 7"/>
          <p:cNvSpPr txBox="1"/>
          <p:nvPr/>
        </p:nvSpPr>
        <p:spPr>
          <a:xfrm>
            <a:off x="822960" y="310896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se equivoca con 32. Su complemento es la exactitud: 67,5 %.</a:t>
            </a:r>
            <a:endParaRPr lang="en-US" sz="1250" dirty="0"/>
          </a:p>
        </p:txBody>
      </p:sp>
      <p:sp>
        <p:nvSpPr>
          <p:cNvPr id="11" name="Shape 8"/>
          <p:cNvSpPr/>
          <p:nvPr/>
        </p:nvSpPr>
        <p:spPr>
          <a:xfrm>
            <a:off x="6190488" y="1874520"/>
            <a:ext cx="5449824" cy="2011680"/>
          </a:xfrm>
          <a:prstGeom prst="roundRect">
            <a:avLst>
              <a:gd name="adj" fmla="val 6364"/>
            </a:avLst>
          </a:prstGeom>
          <a:solidFill>
            <a:schemeClr val="tx2">
              <a:alpha val="92000"/>
            </a:schemeClr>
          </a:solidFill>
          <a:ln w="12700">
            <a:solidFill>
              <a:srgbClr val="1E293B"/>
            </a:solidFill>
            <a:prstDash val="solid"/>
          </a:ln>
        </p:spPr>
      </p:sp>
      <p:sp>
        <p:nvSpPr>
          <p:cNvPr id="12" name="Text 9"/>
          <p:cNvSpPr txBox="1"/>
          <p:nvPr/>
        </p:nvSpPr>
        <p:spPr>
          <a:xfrm>
            <a:off x="6464808" y="203911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Precisión</a:t>
            </a:r>
            <a:endParaRPr lang="en-US" sz="1600" dirty="0"/>
          </a:p>
        </p:txBody>
      </p:sp>
      <p:sp>
        <p:nvSpPr>
          <p:cNvPr id="13" name="Text 10"/>
          <p:cNvSpPr txBox="1"/>
          <p:nvPr/>
        </p:nvSpPr>
        <p:spPr>
          <a:xfrm>
            <a:off x="9756648" y="198424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8BDF8"/>
                </a:solidFill>
                <a:latin typeface="Consolas" pitchFamily="34" charset="0"/>
                <a:ea typeface="Consolas" pitchFamily="34" charset="-122"/>
                <a:cs typeface="Consolas" pitchFamily="34" charset="-120"/>
              </a:rPr>
              <a:t>67,8 %</a:t>
            </a:r>
            <a:endParaRPr lang="en-US" sz="2400" dirty="0"/>
          </a:p>
        </p:txBody>
      </p:sp>
      <p:sp>
        <p:nvSpPr>
          <p:cNvPr id="14" name="Text 11"/>
          <p:cNvSpPr txBox="1"/>
          <p:nvPr/>
        </p:nvSpPr>
        <p:spPr>
          <a:xfrm>
            <a:off x="6464808" y="246888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aprobados correctos ÷ total de aprobados</a:t>
            </a:r>
            <a:endParaRPr lang="en-US" sz="1200" dirty="0"/>
          </a:p>
        </p:txBody>
      </p:sp>
      <p:sp>
        <p:nvSpPr>
          <p:cNvPr id="15" name="Text 12"/>
          <p:cNvSpPr txBox="1"/>
          <p:nvPr/>
        </p:nvSpPr>
        <p:spPr>
          <a:xfrm>
            <a:off x="6464808" y="274320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2.476 ÷ 3.650</a:t>
            </a:r>
            <a:endParaRPr lang="en-US" sz="1200" dirty="0"/>
          </a:p>
        </p:txBody>
      </p:sp>
      <p:sp>
        <p:nvSpPr>
          <p:cNvPr id="16" name="Text 13"/>
          <p:cNvSpPr txBox="1"/>
          <p:nvPr/>
        </p:nvSpPr>
        <p:spPr>
          <a:xfrm>
            <a:off x="6464808" y="310896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que aprueba, 68 eran realmente buenos pagadores.</a:t>
            </a:r>
            <a:endParaRPr lang="en-US" sz="1250" dirty="0"/>
          </a:p>
        </p:txBody>
      </p:sp>
      <p:sp>
        <p:nvSpPr>
          <p:cNvPr id="17" name="Shape 14"/>
          <p:cNvSpPr/>
          <p:nvPr/>
        </p:nvSpPr>
        <p:spPr>
          <a:xfrm>
            <a:off x="548640" y="4069080"/>
            <a:ext cx="5449824" cy="2011680"/>
          </a:xfrm>
          <a:prstGeom prst="roundRect">
            <a:avLst>
              <a:gd name="adj" fmla="val 6364"/>
            </a:avLst>
          </a:prstGeom>
          <a:solidFill>
            <a:schemeClr val="tx2">
              <a:alpha val="92000"/>
            </a:schemeClr>
          </a:solidFill>
          <a:ln w="12700">
            <a:solidFill>
              <a:srgbClr val="1E293B"/>
            </a:solidFill>
            <a:prstDash val="solid"/>
          </a:ln>
        </p:spPr>
      </p:sp>
      <p:sp>
        <p:nvSpPr>
          <p:cNvPr id="18" name="Text 15"/>
          <p:cNvSpPr txBox="1"/>
          <p:nvPr/>
        </p:nvSpPr>
        <p:spPr>
          <a:xfrm>
            <a:off x="822960" y="423367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Sensibilidad (recall)</a:t>
            </a:r>
            <a:endParaRPr lang="en-US" sz="1600" dirty="0"/>
          </a:p>
        </p:txBody>
      </p:sp>
      <p:sp>
        <p:nvSpPr>
          <p:cNvPr id="19" name="Text 16"/>
          <p:cNvSpPr txBox="1"/>
          <p:nvPr/>
        </p:nvSpPr>
        <p:spPr>
          <a:xfrm>
            <a:off x="4114800" y="417880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8BDF8"/>
                </a:solidFill>
                <a:latin typeface="Consolas" pitchFamily="34" charset="0"/>
                <a:ea typeface="Consolas" pitchFamily="34" charset="-122"/>
                <a:cs typeface="Consolas" pitchFamily="34" charset="-120"/>
              </a:rPr>
              <a:t>66,5 %</a:t>
            </a:r>
            <a:endParaRPr lang="en-US" sz="2400" dirty="0"/>
          </a:p>
        </p:txBody>
      </p:sp>
      <p:sp>
        <p:nvSpPr>
          <p:cNvPr id="20" name="Text 17"/>
          <p:cNvSpPr txBox="1"/>
          <p:nvPr/>
        </p:nvSpPr>
        <p:spPr>
          <a:xfrm>
            <a:off x="822960" y="466344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buenos encontrados ÷ total de buenos</a:t>
            </a:r>
            <a:endParaRPr lang="en-US" sz="1200" dirty="0"/>
          </a:p>
        </p:txBody>
      </p:sp>
      <p:sp>
        <p:nvSpPr>
          <p:cNvPr id="21" name="Text 18"/>
          <p:cNvSpPr txBox="1"/>
          <p:nvPr/>
        </p:nvSpPr>
        <p:spPr>
          <a:xfrm>
            <a:off x="822960" y="493776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2.476 ÷ 3.724</a:t>
            </a:r>
            <a:endParaRPr lang="en-US" sz="1200" dirty="0"/>
          </a:p>
        </p:txBody>
      </p:sp>
      <p:sp>
        <p:nvSpPr>
          <p:cNvPr id="22" name="Text 19"/>
          <p:cNvSpPr txBox="1"/>
          <p:nvPr/>
        </p:nvSpPr>
        <p:spPr>
          <a:xfrm>
            <a:off x="822960" y="530352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De cada 100 clientes buenos, el modelo encuentra y aprueba a 66.</a:t>
            </a:r>
            <a:endParaRPr lang="en-US" sz="1250" dirty="0"/>
          </a:p>
        </p:txBody>
      </p:sp>
      <p:sp>
        <p:nvSpPr>
          <p:cNvPr id="23" name="Shape 20"/>
          <p:cNvSpPr/>
          <p:nvPr/>
        </p:nvSpPr>
        <p:spPr>
          <a:xfrm>
            <a:off x="6190488" y="4069080"/>
            <a:ext cx="5449824" cy="2011680"/>
          </a:xfrm>
          <a:prstGeom prst="roundRect">
            <a:avLst>
              <a:gd name="adj" fmla="val 6364"/>
            </a:avLst>
          </a:prstGeom>
          <a:solidFill>
            <a:schemeClr val="tx2">
              <a:alpha val="92000"/>
            </a:schemeClr>
          </a:solidFill>
          <a:ln w="12700">
            <a:solidFill>
              <a:srgbClr val="1E293B"/>
            </a:solidFill>
            <a:prstDash val="solid"/>
          </a:ln>
        </p:spPr>
      </p:sp>
      <p:sp>
        <p:nvSpPr>
          <p:cNvPr id="24" name="Text 21"/>
          <p:cNvSpPr txBox="1"/>
          <p:nvPr/>
        </p:nvSpPr>
        <p:spPr>
          <a:xfrm>
            <a:off x="6464808" y="4233672"/>
            <a:ext cx="3291840" cy="347472"/>
          </a:xfrm>
          <a:prstGeom prst="rect">
            <a:avLst/>
          </a:prstGeom>
          <a:noFill/>
          <a:ln/>
        </p:spPr>
        <p:txBody>
          <a:bodyPr wrap="square" lIns="0" tIns="0" rIns="0" bIns="0" rtlCol="0" anchor="t"/>
          <a:lstStyle/>
          <a:p>
            <a:pPr algn="l" indent="0" marL="0">
              <a:lnSpc>
                <a:spcPct val="110000"/>
              </a:lnSpc>
              <a:spcAft>
                <a:spcPts val="400"/>
              </a:spcAft>
              <a:buNone/>
            </a:pPr>
            <a:r>
              <a:rPr lang="en-US" sz="1600" b="1" dirty="0">
                <a:solidFill>
                  <a:schemeClr val="bg1"/>
                </a:solidFill>
              </a:rPr>
              <a:t>F1</a:t>
            </a:r>
            <a:endParaRPr lang="en-US" sz="1600" dirty="0"/>
          </a:p>
        </p:txBody>
      </p:sp>
      <p:sp>
        <p:nvSpPr>
          <p:cNvPr id="25" name="Text 22"/>
          <p:cNvSpPr txBox="1"/>
          <p:nvPr/>
        </p:nvSpPr>
        <p:spPr>
          <a:xfrm>
            <a:off x="9756648" y="4178808"/>
            <a:ext cx="1645920" cy="457200"/>
          </a:xfrm>
          <a:prstGeom prst="rect">
            <a:avLst/>
          </a:prstGeom>
          <a:noFill/>
          <a:ln/>
        </p:spPr>
        <p:txBody>
          <a:bodyPr wrap="square" lIns="0" tIns="0" rIns="0" bIns="0" rtlCol="0" anchor="t"/>
          <a:lstStyle/>
          <a:p>
            <a:pPr algn="r" indent="0" marL="0">
              <a:lnSpc>
                <a:spcPct val="110000"/>
              </a:lnSpc>
              <a:spcAft>
                <a:spcPts val="400"/>
              </a:spcAft>
              <a:buNone/>
            </a:pPr>
            <a:r>
              <a:rPr lang="en-US" sz="2400" b="1" dirty="0">
                <a:solidFill>
                  <a:srgbClr val="34D399"/>
                </a:solidFill>
                <a:latin typeface="Consolas" pitchFamily="34" charset="0"/>
                <a:ea typeface="Consolas" pitchFamily="34" charset="-122"/>
                <a:cs typeface="Consolas" pitchFamily="34" charset="-120"/>
              </a:rPr>
              <a:t>0,672</a:t>
            </a:r>
            <a:endParaRPr lang="en-US" sz="2400" dirty="0"/>
          </a:p>
        </p:txBody>
      </p:sp>
      <p:sp>
        <p:nvSpPr>
          <p:cNvPr id="26" name="Text 23"/>
          <p:cNvSpPr txBox="1"/>
          <p:nvPr/>
        </p:nvSpPr>
        <p:spPr>
          <a:xfrm>
            <a:off x="6464808" y="466344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accent2"/>
                </a:solidFill>
                <a:latin typeface="Consolas" pitchFamily="34" charset="0"/>
                <a:ea typeface="Consolas" pitchFamily="34" charset="-122"/>
                <a:cs typeface="Consolas" pitchFamily="34" charset="-120"/>
              </a:rPr>
              <a:t>equilibrio entre precisión y sensibilidad</a:t>
            </a:r>
            <a:endParaRPr lang="en-US" sz="1200" dirty="0"/>
          </a:p>
        </p:txBody>
      </p:sp>
      <p:sp>
        <p:nvSpPr>
          <p:cNvPr id="27" name="Text 24"/>
          <p:cNvSpPr txBox="1"/>
          <p:nvPr/>
        </p:nvSpPr>
        <p:spPr>
          <a:xfrm>
            <a:off x="6464808" y="4937760"/>
            <a:ext cx="4937760" cy="2743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rgbClr val="94A3B8"/>
                </a:solidFill>
                <a:latin typeface="Consolas" pitchFamily="34" charset="0"/>
                <a:ea typeface="Consolas" pitchFamily="34" charset="-122"/>
                <a:cs typeface="Consolas" pitchFamily="34" charset="-120"/>
              </a:rPr>
              <a:t>promedio armónico</a:t>
            </a:r>
            <a:endParaRPr lang="en-US" sz="1200" dirty="0"/>
          </a:p>
        </p:txBody>
      </p:sp>
      <p:sp>
        <p:nvSpPr>
          <p:cNvPr id="28" name="Text 25"/>
          <p:cNvSpPr txBox="1"/>
          <p:nvPr/>
        </p:nvSpPr>
        <p:spPr>
          <a:xfrm>
            <a:off x="6464808" y="5303520"/>
            <a:ext cx="4937760" cy="68580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Resume en un solo número qué tan bien acierta con los clientes buenos.</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Cómo se mide el error (2): en la probabilidad</a:t>
            </a:r>
            <a:endParaRPr lang="en-US" sz="2200" dirty="0"/>
          </a:p>
        </p:txBody>
      </p:sp>
      <p:sp>
        <p:nvSpPr>
          <p:cNvPr id="4" name="Text 1"/>
          <p:cNvSpPr txBox="1"/>
          <p:nvPr/>
        </p:nvSpPr>
        <p:spPr>
          <a:xfrm>
            <a:off x="548640" y="1188720"/>
            <a:ext cx="11091672" cy="548640"/>
          </a:xfrm>
          <a:prstGeom prst="rect">
            <a:avLst/>
          </a:prstGeom>
          <a:noFill/>
          <a:ln/>
        </p:spPr>
        <p:txBody>
          <a:bodyPr wrap="square" lIns="0" tIns="0" rIns="0" bIns="0" rtlCol="0" anchor="t"/>
          <a:lstStyle/>
          <a:p>
            <a:pPr algn="l" indent="0" marL="0">
              <a:lnSpc>
                <a:spcPct val="110000"/>
              </a:lnSpc>
              <a:spcAft>
                <a:spcPts val="400"/>
              </a:spcAft>
              <a:buNone/>
            </a:pPr>
            <a:r>
              <a:rPr lang="en-US" sz="1500" dirty="0">
                <a:solidFill>
                  <a:schemeClr val="bg2"/>
                </a:solidFill>
              </a:rPr>
              <a:t>Aquí se mide qué tan buena es la probabilidad, antes de decidir. Equivocarse estando «90 % seguro» debe castigarse más que equivocarse estando «55 % seguro».</a:t>
            </a:r>
            <a:endParaRPr lang="en-US" sz="1500" dirty="0"/>
          </a:p>
        </p:txBody>
      </p:sp>
      <p:graphicFrame>
        <p:nvGraphicFramePr>
          <p:cNvPr id="5" name="Chart 0" descr=""/>
          <p:cNvGraphicFramePr/>
          <p:nvPr/>
        </p:nvGraphicFramePr>
        <p:xfrm>
          <a:off x="548640" y="1874520"/>
          <a:ext cx="5394960" cy="28346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846320"/>
            <a:ext cx="5394960" cy="1325880"/>
          </a:xfrm>
          <a:prstGeom prst="roundRect">
            <a:avLst>
              <a:gd name="adj" fmla="val 9655"/>
            </a:avLst>
          </a:prstGeom>
          <a:solidFill>
            <a:schemeClr val="tx2">
              <a:alpha val="92000"/>
            </a:schemeClr>
          </a:solidFill>
          <a:ln w="12700">
            <a:solidFill>
              <a:srgbClr val="1E293B"/>
            </a:solidFill>
            <a:prstDash val="solid"/>
          </a:ln>
        </p:spPr>
      </p:sp>
      <p:sp>
        <p:nvSpPr>
          <p:cNvPr id="7" name="Text 3"/>
          <p:cNvSpPr txBox="1"/>
          <p:nvPr/>
        </p:nvSpPr>
        <p:spPr>
          <a:xfrm>
            <a:off x="777240" y="4956048"/>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90 % y acierta</a:t>
            </a:r>
            <a:endParaRPr lang="en-US" sz="1250" dirty="0"/>
          </a:p>
        </p:txBody>
      </p:sp>
      <p:sp>
        <p:nvSpPr>
          <p:cNvPr id="8" name="Text 4"/>
          <p:cNvSpPr txBox="1"/>
          <p:nvPr/>
        </p:nvSpPr>
        <p:spPr>
          <a:xfrm>
            <a:off x="4206240" y="4956048"/>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0,11</a:t>
            </a:r>
            <a:endParaRPr lang="en-US" sz="1250" dirty="0"/>
          </a:p>
        </p:txBody>
      </p:sp>
      <p:sp>
        <p:nvSpPr>
          <p:cNvPr id="9" name="Text 5"/>
          <p:cNvSpPr txBox="1"/>
          <p:nvPr/>
        </p:nvSpPr>
        <p:spPr>
          <a:xfrm>
            <a:off x="777240" y="5340096"/>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55 % y acierta</a:t>
            </a:r>
            <a:endParaRPr lang="en-US" sz="1250" dirty="0"/>
          </a:p>
        </p:txBody>
      </p:sp>
      <p:sp>
        <p:nvSpPr>
          <p:cNvPr id="10" name="Text 6"/>
          <p:cNvSpPr txBox="1"/>
          <p:nvPr/>
        </p:nvSpPr>
        <p:spPr>
          <a:xfrm>
            <a:off x="4206240" y="5340096"/>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0,60</a:t>
            </a:r>
            <a:endParaRPr lang="en-US" sz="1250" dirty="0"/>
          </a:p>
        </p:txBody>
      </p:sp>
      <p:sp>
        <p:nvSpPr>
          <p:cNvPr id="11" name="Text 7"/>
          <p:cNvSpPr txBox="1"/>
          <p:nvPr/>
        </p:nvSpPr>
        <p:spPr>
          <a:xfrm>
            <a:off x="777240" y="5724144"/>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250" dirty="0">
                <a:solidFill>
                  <a:schemeClr val="bg2"/>
                </a:solidFill>
              </a:rPr>
              <a:t>10 % (muy seguro y se equivoca)</a:t>
            </a:r>
            <a:endParaRPr lang="en-US" sz="1250" dirty="0"/>
          </a:p>
        </p:txBody>
      </p:sp>
      <p:sp>
        <p:nvSpPr>
          <p:cNvPr id="12" name="Text 8"/>
          <p:cNvSpPr txBox="1"/>
          <p:nvPr/>
        </p:nvSpPr>
        <p:spPr>
          <a:xfrm>
            <a:off x="4206240" y="5724144"/>
            <a:ext cx="1554480" cy="320040"/>
          </a:xfrm>
          <a:prstGeom prst="rect">
            <a:avLst/>
          </a:prstGeom>
          <a:noFill/>
          <a:ln/>
        </p:spPr>
        <p:txBody>
          <a:bodyPr wrap="square" lIns="0" tIns="0" rIns="0" bIns="0" rtlCol="0" anchor="t"/>
          <a:lstStyle/>
          <a:p>
            <a:pPr algn="r" indent="0" marL="0">
              <a:lnSpc>
                <a:spcPct val="110000"/>
              </a:lnSpc>
              <a:spcAft>
                <a:spcPts val="400"/>
              </a:spcAft>
              <a:buNone/>
            </a:pPr>
            <a:r>
              <a:rPr lang="en-US" sz="1250" b="1" dirty="0">
                <a:solidFill>
                  <a:schemeClr val="accent5"/>
                </a:solidFill>
                <a:latin typeface="Consolas" pitchFamily="34" charset="0"/>
                <a:ea typeface="Consolas" pitchFamily="34" charset="-122"/>
                <a:cs typeface="Consolas" pitchFamily="34" charset="-120"/>
              </a:rPr>
              <a:t>castigo 2,30</a:t>
            </a:r>
            <a:endParaRPr lang="en-US" sz="1250" dirty="0"/>
          </a:p>
        </p:txBody>
      </p:sp>
      <p:sp>
        <p:nvSpPr>
          <p:cNvPr id="13" name="Shape 9"/>
          <p:cNvSpPr/>
          <p:nvPr/>
        </p:nvSpPr>
        <p:spPr>
          <a:xfrm>
            <a:off x="6217920" y="1874520"/>
            <a:ext cx="5422392" cy="1325880"/>
          </a:xfrm>
          <a:prstGeom prst="roundRect">
            <a:avLst>
              <a:gd name="adj" fmla="val 9655"/>
            </a:avLst>
          </a:prstGeom>
          <a:solidFill>
            <a:schemeClr val="tx2">
              <a:alpha val="92000"/>
            </a:schemeClr>
          </a:solidFill>
          <a:ln w="12700">
            <a:solidFill>
              <a:srgbClr val="1E293B"/>
            </a:solidFill>
            <a:prstDash val="solid"/>
          </a:ln>
        </p:spPr>
      </p:sp>
      <p:sp>
        <p:nvSpPr>
          <p:cNvPr id="14" name="Text 10"/>
          <p:cNvSpPr txBox="1"/>
          <p:nvPr/>
        </p:nvSpPr>
        <p:spPr>
          <a:xfrm>
            <a:off x="6446520" y="201168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Log loss (entropía cruzada)</a:t>
            </a:r>
            <a:endParaRPr lang="en-US" sz="1500" dirty="0"/>
          </a:p>
        </p:txBody>
      </p:sp>
      <p:sp>
        <p:nvSpPr>
          <p:cNvPr id="15" name="Text 11"/>
          <p:cNvSpPr txBox="1"/>
          <p:nvPr/>
        </p:nvSpPr>
        <p:spPr>
          <a:xfrm>
            <a:off x="9921240" y="1965960"/>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F87171"/>
                </a:solidFill>
                <a:latin typeface="Consolas" pitchFamily="34" charset="0"/>
                <a:ea typeface="Consolas" pitchFamily="34" charset="-122"/>
                <a:cs typeface="Consolas" pitchFamily="34" charset="-120"/>
              </a:rPr>
              <a:t>0,596</a:t>
            </a:r>
            <a:endParaRPr lang="en-US" sz="2200" dirty="0"/>
          </a:p>
        </p:txBody>
      </p:sp>
      <p:sp>
        <p:nvSpPr>
          <p:cNvPr id="16" name="Text 12"/>
          <p:cNvSpPr txBox="1"/>
          <p:nvPr/>
        </p:nvSpPr>
        <p:spPr>
          <a:xfrm>
            <a:off x="6446520" y="2404872"/>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Es el error que la red minimiza al entrenar: el promedio de los castigos. Si dijera siempre 50 %, daría 0,693.</a:t>
            </a:r>
            <a:endParaRPr lang="en-US" sz="1200" dirty="0"/>
          </a:p>
        </p:txBody>
      </p:sp>
      <p:sp>
        <p:nvSpPr>
          <p:cNvPr id="17" name="Shape 13"/>
          <p:cNvSpPr/>
          <p:nvPr/>
        </p:nvSpPr>
        <p:spPr>
          <a:xfrm>
            <a:off x="6217920" y="3337560"/>
            <a:ext cx="5422392" cy="1325880"/>
          </a:xfrm>
          <a:prstGeom prst="roundRect">
            <a:avLst>
              <a:gd name="adj" fmla="val 9655"/>
            </a:avLst>
          </a:prstGeom>
          <a:solidFill>
            <a:schemeClr val="tx2">
              <a:alpha val="92000"/>
            </a:schemeClr>
          </a:solidFill>
          <a:ln w="12700">
            <a:solidFill>
              <a:srgbClr val="1E293B"/>
            </a:solidFill>
            <a:prstDash val="solid"/>
          </a:ln>
        </p:spPr>
      </p:sp>
      <p:sp>
        <p:nvSpPr>
          <p:cNvPr id="18" name="Text 14"/>
          <p:cNvSpPr txBox="1"/>
          <p:nvPr/>
        </p:nvSpPr>
        <p:spPr>
          <a:xfrm>
            <a:off x="6446520" y="347472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Brier</a:t>
            </a:r>
            <a:endParaRPr lang="en-US" sz="1500" dirty="0"/>
          </a:p>
        </p:txBody>
      </p:sp>
      <p:sp>
        <p:nvSpPr>
          <p:cNvPr id="19" name="Text 15"/>
          <p:cNvSpPr txBox="1"/>
          <p:nvPr/>
        </p:nvSpPr>
        <p:spPr>
          <a:xfrm>
            <a:off x="9921240" y="3429000"/>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F59E0B"/>
                </a:solidFill>
                <a:latin typeface="Consolas" pitchFamily="34" charset="0"/>
                <a:ea typeface="Consolas" pitchFamily="34" charset="-122"/>
                <a:cs typeface="Consolas" pitchFamily="34" charset="-120"/>
              </a:rPr>
              <a:t>0,205</a:t>
            </a:r>
            <a:endParaRPr lang="en-US" sz="2200" dirty="0"/>
          </a:p>
        </p:txBody>
      </p:sp>
      <p:sp>
        <p:nvSpPr>
          <p:cNvPr id="20" name="Text 16"/>
          <p:cNvSpPr txBox="1"/>
          <p:nvPr/>
        </p:nvSpPr>
        <p:spPr>
          <a:xfrm>
            <a:off x="6446520" y="3867912"/>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Promedio de (probabilidad − realidad)². Va de 0 (perfecto) a 0,25 (decir siempre 50 %).</a:t>
            </a:r>
            <a:endParaRPr lang="en-US" sz="1200" dirty="0"/>
          </a:p>
        </p:txBody>
      </p:sp>
      <p:sp>
        <p:nvSpPr>
          <p:cNvPr id="21" name="Shape 17"/>
          <p:cNvSpPr/>
          <p:nvPr/>
        </p:nvSpPr>
        <p:spPr>
          <a:xfrm>
            <a:off x="6217920" y="4800600"/>
            <a:ext cx="5422392" cy="1325880"/>
          </a:xfrm>
          <a:prstGeom prst="roundRect">
            <a:avLst>
              <a:gd name="adj" fmla="val 9655"/>
            </a:avLst>
          </a:prstGeom>
          <a:solidFill>
            <a:schemeClr val="tx2">
              <a:alpha val="92000"/>
            </a:schemeClr>
          </a:solidFill>
          <a:ln w="12700">
            <a:solidFill>
              <a:srgbClr val="1E293B"/>
            </a:solidFill>
            <a:prstDash val="solid"/>
          </a:ln>
        </p:spPr>
      </p:sp>
      <p:sp>
        <p:nvSpPr>
          <p:cNvPr id="22" name="Text 18"/>
          <p:cNvSpPr txBox="1"/>
          <p:nvPr/>
        </p:nvSpPr>
        <p:spPr>
          <a:xfrm>
            <a:off x="6446520" y="4937760"/>
            <a:ext cx="3566160" cy="320040"/>
          </a:xfrm>
          <a:prstGeom prst="rect">
            <a:avLst/>
          </a:prstGeom>
          <a:noFill/>
          <a:ln/>
        </p:spPr>
        <p:txBody>
          <a:bodyPr wrap="square" lIns="0" tIns="0" rIns="0" bIns="0" rtlCol="0" anchor="t"/>
          <a:lstStyle/>
          <a:p>
            <a:pPr algn="l" indent="0" marL="0">
              <a:lnSpc>
                <a:spcPct val="110000"/>
              </a:lnSpc>
              <a:spcAft>
                <a:spcPts val="400"/>
              </a:spcAft>
              <a:buNone/>
            </a:pPr>
            <a:r>
              <a:rPr lang="en-US" sz="1500" b="1" dirty="0">
                <a:solidFill>
                  <a:schemeClr val="bg1"/>
                </a:solidFill>
              </a:rPr>
              <a:t>AUC</a:t>
            </a:r>
            <a:endParaRPr lang="en-US" sz="1500" dirty="0"/>
          </a:p>
        </p:txBody>
      </p:sp>
      <p:sp>
        <p:nvSpPr>
          <p:cNvPr id="23" name="Text 19"/>
          <p:cNvSpPr txBox="1"/>
          <p:nvPr/>
        </p:nvSpPr>
        <p:spPr>
          <a:xfrm>
            <a:off x="9921240" y="4892040"/>
            <a:ext cx="1508760" cy="411480"/>
          </a:xfrm>
          <a:prstGeom prst="rect">
            <a:avLst/>
          </a:prstGeom>
          <a:noFill/>
          <a:ln/>
        </p:spPr>
        <p:txBody>
          <a:bodyPr wrap="square" lIns="0" tIns="0" rIns="0" bIns="0" rtlCol="0" anchor="t"/>
          <a:lstStyle/>
          <a:p>
            <a:pPr algn="r" indent="0" marL="0">
              <a:lnSpc>
                <a:spcPct val="110000"/>
              </a:lnSpc>
              <a:spcAft>
                <a:spcPts val="400"/>
              </a:spcAft>
              <a:buNone/>
            </a:pPr>
            <a:r>
              <a:rPr lang="en-US" sz="2200" b="1" dirty="0">
                <a:solidFill>
                  <a:srgbClr val="38BDF8"/>
                </a:solidFill>
                <a:latin typeface="Consolas" pitchFamily="34" charset="0"/>
                <a:ea typeface="Consolas" pitchFamily="34" charset="-122"/>
                <a:cs typeface="Consolas" pitchFamily="34" charset="-120"/>
              </a:rPr>
              <a:t>0,745</a:t>
            </a:r>
            <a:endParaRPr lang="en-US" sz="2200" dirty="0"/>
          </a:p>
        </p:txBody>
      </p:sp>
      <p:sp>
        <p:nvSpPr>
          <p:cNvPr id="24" name="Text 20"/>
          <p:cNvSpPr txBox="1"/>
          <p:nvPr/>
        </p:nvSpPr>
        <p:spPr>
          <a:xfrm>
            <a:off x="6446520" y="5330952"/>
            <a:ext cx="4983480" cy="73152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Si se toma un cliente bueno y uno malo al azar, en 3 de cada 4 casos el modelo le da más probabilidad al bueno.</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Resultados en el grupo de prueba</a:t>
            </a:r>
            <a:endParaRPr lang="en-US" sz="2200" dirty="0"/>
          </a:p>
        </p:txBody>
      </p:sp>
      <p:sp>
        <p:nvSpPr>
          <p:cNvPr id="4" name="Shape 1"/>
          <p:cNvSpPr/>
          <p:nvPr/>
        </p:nvSpPr>
        <p:spPr>
          <a:xfrm>
            <a:off x="548640"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5" name="Text 2"/>
          <p:cNvSpPr txBox="1"/>
          <p:nvPr/>
        </p:nvSpPr>
        <p:spPr>
          <a:xfrm>
            <a:off x="749808"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accent2"/>
                </a:solidFill>
                <a:latin typeface="Consolas" pitchFamily="34" charset="0"/>
                <a:ea typeface="Consolas" pitchFamily="34" charset="-122"/>
                <a:cs typeface="Consolas" pitchFamily="34" charset="-120"/>
              </a:rPr>
              <a:t>0,745</a:t>
            </a:r>
            <a:endParaRPr lang="en-US" sz="2600" dirty="0"/>
          </a:p>
        </p:txBody>
      </p:sp>
      <p:sp>
        <p:nvSpPr>
          <p:cNvPr id="6" name="Text 3"/>
          <p:cNvSpPr txBox="1"/>
          <p:nvPr/>
        </p:nvSpPr>
        <p:spPr>
          <a:xfrm>
            <a:off x="749808"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AUC en prueba: ordena bien 3 de cada 4 parejas bueno / malo</a:t>
            </a:r>
            <a:endParaRPr lang="en-US" sz="1150" dirty="0"/>
          </a:p>
        </p:txBody>
      </p:sp>
      <p:sp>
        <p:nvSpPr>
          <p:cNvPr id="7" name="Shape 4"/>
          <p:cNvSpPr/>
          <p:nvPr/>
        </p:nvSpPr>
        <p:spPr>
          <a:xfrm>
            <a:off x="3364992"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8" name="Text 5"/>
          <p:cNvSpPr txBox="1"/>
          <p:nvPr/>
        </p:nvSpPr>
        <p:spPr>
          <a:xfrm>
            <a:off x="3566160"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bg1"/>
                </a:solidFill>
                <a:latin typeface="Consolas" pitchFamily="34" charset="0"/>
                <a:ea typeface="Consolas" pitchFamily="34" charset="-122"/>
                <a:cs typeface="Consolas" pitchFamily="34" charset="-120"/>
              </a:rPr>
              <a:t>67,5 %</a:t>
            </a:r>
            <a:endParaRPr lang="en-US" sz="2600" dirty="0"/>
          </a:p>
        </p:txBody>
      </p:sp>
      <p:sp>
        <p:nvSpPr>
          <p:cNvPr id="9" name="Text 6"/>
          <p:cNvSpPr txBox="1"/>
          <p:nvPr/>
        </p:nvSpPr>
        <p:spPr>
          <a:xfrm>
            <a:off x="3566160"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 aciertos (5.026 de 7.448 clientes)</a:t>
            </a:r>
            <a:endParaRPr lang="en-US" sz="1150" dirty="0"/>
          </a:p>
        </p:txBody>
      </p:sp>
      <p:sp>
        <p:nvSpPr>
          <p:cNvPr id="10" name="Shape 7"/>
          <p:cNvSpPr/>
          <p:nvPr/>
        </p:nvSpPr>
        <p:spPr>
          <a:xfrm>
            <a:off x="6181344"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11" name="Text 8"/>
          <p:cNvSpPr txBox="1"/>
          <p:nvPr/>
        </p:nvSpPr>
        <p:spPr>
          <a:xfrm>
            <a:off x="6382512"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accent4"/>
                </a:solidFill>
                <a:latin typeface="Consolas" pitchFamily="34" charset="0"/>
                <a:ea typeface="Consolas" pitchFamily="34" charset="-122"/>
                <a:cs typeface="Consolas" pitchFamily="34" charset="-120"/>
              </a:rPr>
              <a:t>−1,2 %</a:t>
            </a:r>
            <a:endParaRPr lang="en-US" sz="2600" dirty="0"/>
          </a:p>
        </p:txBody>
      </p:sp>
      <p:sp>
        <p:nvSpPr>
          <p:cNvPr id="12" name="Text 9"/>
          <p:cNvSpPr txBox="1"/>
          <p:nvPr/>
        </p:nvSpPr>
        <p:spPr>
          <a:xfrm>
            <a:off x="6382512"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 caída del AUC frente a validación</a:t>
            </a:r>
            <a:endParaRPr lang="en-US" sz="1150" dirty="0"/>
          </a:p>
        </p:txBody>
      </p:sp>
      <p:sp>
        <p:nvSpPr>
          <p:cNvPr id="13" name="Shape 10"/>
          <p:cNvSpPr/>
          <p:nvPr/>
        </p:nvSpPr>
        <p:spPr>
          <a:xfrm>
            <a:off x="8997696" y="1188720"/>
            <a:ext cx="2606040" cy="1188720"/>
          </a:xfrm>
          <a:prstGeom prst="roundRect">
            <a:avLst>
              <a:gd name="adj" fmla="val 10769"/>
            </a:avLst>
          </a:prstGeom>
          <a:solidFill>
            <a:schemeClr val="tx2">
              <a:alpha val="92000"/>
            </a:schemeClr>
          </a:solidFill>
          <a:ln w="12700">
            <a:solidFill>
              <a:srgbClr val="1E293B"/>
            </a:solidFill>
            <a:prstDash val="solid"/>
          </a:ln>
        </p:spPr>
      </p:sp>
      <p:sp>
        <p:nvSpPr>
          <p:cNvPr id="14" name="Text 11"/>
          <p:cNvSpPr txBox="1"/>
          <p:nvPr/>
        </p:nvSpPr>
        <p:spPr>
          <a:xfrm>
            <a:off x="9198864" y="1234440"/>
            <a:ext cx="2286000" cy="566928"/>
          </a:xfrm>
          <a:prstGeom prst="rect">
            <a:avLst/>
          </a:prstGeom>
          <a:noFill/>
          <a:ln/>
        </p:spPr>
        <p:txBody>
          <a:bodyPr wrap="square" lIns="0" tIns="0" rIns="0" bIns="0" rtlCol="0" anchor="b"/>
          <a:lstStyle/>
          <a:p>
            <a:pPr algn="l" indent="0" marL="0">
              <a:lnSpc>
                <a:spcPct val="110000"/>
              </a:lnSpc>
              <a:spcAft>
                <a:spcPts val="400"/>
              </a:spcAft>
              <a:buNone/>
            </a:pPr>
            <a:r>
              <a:rPr lang="en-US" sz="2600" b="1" dirty="0">
                <a:solidFill>
                  <a:schemeClr val="accent3"/>
                </a:solidFill>
                <a:latin typeface="Consolas" pitchFamily="34" charset="0"/>
                <a:ea typeface="Consolas" pitchFamily="34" charset="-122"/>
                <a:cs typeface="Consolas" pitchFamily="34" charset="-120"/>
              </a:rPr>
              <a:t>+0,0024</a:t>
            </a:r>
            <a:endParaRPr lang="en-US" sz="2600" dirty="0"/>
          </a:p>
        </p:txBody>
      </p:sp>
      <p:sp>
        <p:nvSpPr>
          <p:cNvPr id="15" name="Text 12"/>
          <p:cNvSpPr txBox="1"/>
          <p:nvPr/>
        </p:nvSpPr>
        <p:spPr>
          <a:xfrm>
            <a:off x="9198864" y="1828800"/>
            <a:ext cx="2286000" cy="50292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de AUC frente a la línea base (mejora modesta)</a:t>
            </a:r>
            <a:endParaRPr lang="en-US" sz="1150" dirty="0"/>
          </a:p>
        </p:txBody>
      </p:sp>
      <p:graphicFrame>
        <p:nvGraphicFramePr>
          <p:cNvPr id="16" name="Chart 0" descr=""/>
          <p:cNvGraphicFramePr/>
          <p:nvPr/>
        </p:nvGraphicFramePr>
        <p:xfrm>
          <a:off x="548640" y="2560320"/>
          <a:ext cx="548640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Chart 1" descr=""/>
          <p:cNvGraphicFramePr/>
          <p:nvPr/>
        </p:nvGraphicFramePr>
        <p:xfrm>
          <a:off x="6153912" y="2560320"/>
          <a:ext cx="5486400" cy="3611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Aciertos, errores y origen del error</a:t>
            </a:r>
            <a:endParaRPr lang="en-US" sz="2200" dirty="0"/>
          </a:p>
        </p:txBody>
      </p:sp>
      <p:sp>
        <p:nvSpPr>
          <p:cNvPr id="4" name="Text 1"/>
          <p:cNvSpPr txBox="1"/>
          <p:nvPr/>
        </p:nvSpPr>
        <p:spPr>
          <a:xfrm>
            <a:off x="1600200" y="1188720"/>
            <a:ext cx="2148840" cy="32004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rgbClr val="94A3B8"/>
                </a:solidFill>
              </a:rPr>
              <a:t>Predicho: NO APTO</a:t>
            </a:r>
            <a:endParaRPr lang="en-US" sz="1150" dirty="0"/>
          </a:p>
        </p:txBody>
      </p:sp>
      <p:sp>
        <p:nvSpPr>
          <p:cNvPr id="5" name="Text 2"/>
          <p:cNvSpPr txBox="1"/>
          <p:nvPr/>
        </p:nvSpPr>
        <p:spPr>
          <a:xfrm>
            <a:off x="3840480" y="1188720"/>
            <a:ext cx="2148840" cy="32004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rgbClr val="94A3B8"/>
                </a:solidFill>
              </a:rPr>
              <a:t>Predicho: APTO</a:t>
            </a:r>
            <a:endParaRPr lang="en-US" sz="1150" dirty="0"/>
          </a:p>
        </p:txBody>
      </p:sp>
      <p:sp>
        <p:nvSpPr>
          <p:cNvPr id="6" name="Text 3"/>
          <p:cNvSpPr txBox="1"/>
          <p:nvPr/>
        </p:nvSpPr>
        <p:spPr>
          <a:xfrm>
            <a:off x="548640" y="1554480"/>
            <a:ext cx="960120" cy="1828800"/>
          </a:xfrm>
          <a:prstGeom prst="rect">
            <a:avLst/>
          </a:prstGeom>
          <a:noFill/>
          <a:ln/>
        </p:spPr>
        <p:txBody>
          <a:bodyPr wrap="square" lIns="0" tIns="0" rIns="0" bIns="0" rtlCol="0" anchor="ctr"/>
          <a:lstStyle/>
          <a:p>
            <a:pPr algn="r" indent="0" marL="0">
              <a:lnSpc>
                <a:spcPct val="110000"/>
              </a:lnSpc>
              <a:spcAft>
                <a:spcPts val="400"/>
              </a:spcAft>
              <a:buNone/>
            </a:pPr>
            <a:r>
              <a:rPr lang="en-US" sz="1150" dirty="0">
                <a:solidFill>
                  <a:srgbClr val="94A3B8"/>
                </a:solidFill>
              </a:rPr>
              <a:t>Real:</a:t>
            </a:r>
            <a:endParaRPr lang="en-US" sz="1150" dirty="0"/>
          </a:p>
          <a:p>
            <a:pPr algn="r" indent="0" marL="0">
              <a:lnSpc>
                <a:spcPct val="110000"/>
              </a:lnSpc>
              <a:spcAft>
                <a:spcPts val="400"/>
              </a:spcAft>
              <a:buNone/>
            </a:pPr>
            <a:r>
              <a:rPr lang="en-US" sz="1150" dirty="0">
                <a:solidFill>
                  <a:srgbClr val="94A3B8"/>
                </a:solidFill>
              </a:rPr>
              <a:t>NO APTO</a:t>
            </a:r>
            <a:endParaRPr lang="en-US" sz="1150" dirty="0"/>
          </a:p>
        </p:txBody>
      </p:sp>
      <p:sp>
        <p:nvSpPr>
          <p:cNvPr id="7" name="Text 4"/>
          <p:cNvSpPr txBox="1"/>
          <p:nvPr/>
        </p:nvSpPr>
        <p:spPr>
          <a:xfrm>
            <a:off x="548640" y="3474720"/>
            <a:ext cx="960120" cy="1828800"/>
          </a:xfrm>
          <a:prstGeom prst="rect">
            <a:avLst/>
          </a:prstGeom>
          <a:noFill/>
          <a:ln/>
        </p:spPr>
        <p:txBody>
          <a:bodyPr wrap="square" lIns="0" tIns="0" rIns="0" bIns="0" rtlCol="0" anchor="ctr"/>
          <a:lstStyle/>
          <a:p>
            <a:pPr algn="r" indent="0" marL="0">
              <a:lnSpc>
                <a:spcPct val="110000"/>
              </a:lnSpc>
              <a:spcAft>
                <a:spcPts val="400"/>
              </a:spcAft>
              <a:buNone/>
            </a:pPr>
            <a:r>
              <a:rPr lang="en-US" sz="1150" dirty="0">
                <a:solidFill>
                  <a:srgbClr val="94A3B8"/>
                </a:solidFill>
              </a:rPr>
              <a:t>Real:</a:t>
            </a:r>
            <a:endParaRPr lang="en-US" sz="1150" dirty="0"/>
          </a:p>
          <a:p>
            <a:pPr algn="r" indent="0" marL="0">
              <a:lnSpc>
                <a:spcPct val="110000"/>
              </a:lnSpc>
              <a:spcAft>
                <a:spcPts val="400"/>
              </a:spcAft>
              <a:buNone/>
            </a:pPr>
            <a:r>
              <a:rPr lang="en-US" sz="1150" dirty="0">
                <a:solidFill>
                  <a:srgbClr val="94A3B8"/>
                </a:solidFill>
              </a:rPr>
              <a:t>APTO</a:t>
            </a:r>
            <a:endParaRPr lang="en-US" sz="1150" dirty="0"/>
          </a:p>
        </p:txBody>
      </p:sp>
      <p:sp>
        <p:nvSpPr>
          <p:cNvPr id="8" name="Shape 5"/>
          <p:cNvSpPr/>
          <p:nvPr/>
        </p:nvSpPr>
        <p:spPr>
          <a:xfrm>
            <a:off x="1600200" y="1554480"/>
            <a:ext cx="2148840" cy="1828800"/>
          </a:xfrm>
          <a:prstGeom prst="roundRect">
            <a:avLst>
              <a:gd name="adj" fmla="val 7000"/>
            </a:avLst>
          </a:prstGeom>
          <a:solidFill>
            <a:srgbClr val="064E3B">
              <a:alpha val="65000"/>
            </a:srgbClr>
          </a:solidFill>
          <a:ln w="15875">
            <a:solidFill>
              <a:srgbClr val="34D399"/>
            </a:solidFill>
            <a:prstDash val="solid"/>
          </a:ln>
        </p:spPr>
      </p:sp>
      <p:sp>
        <p:nvSpPr>
          <p:cNvPr id="9" name="Text 6"/>
          <p:cNvSpPr txBox="1"/>
          <p:nvPr/>
        </p:nvSpPr>
        <p:spPr>
          <a:xfrm>
            <a:off x="1600200" y="173736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2.550</a:t>
            </a:r>
            <a:endParaRPr lang="en-US" sz="2800" dirty="0"/>
          </a:p>
        </p:txBody>
      </p:sp>
      <p:sp>
        <p:nvSpPr>
          <p:cNvPr id="10" name="Text 7"/>
          <p:cNvSpPr txBox="1"/>
          <p:nvPr/>
        </p:nvSpPr>
        <p:spPr>
          <a:xfrm>
            <a:off x="1600200" y="233172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4"/>
                </a:solidFill>
              </a:rPr>
              <a:t>34,2 %</a:t>
            </a:r>
            <a:endParaRPr lang="en-US" sz="1250" dirty="0"/>
          </a:p>
        </p:txBody>
      </p:sp>
      <p:sp>
        <p:nvSpPr>
          <p:cNvPr id="11" name="Text 8"/>
          <p:cNvSpPr txBox="1"/>
          <p:nvPr/>
        </p:nvSpPr>
        <p:spPr>
          <a:xfrm>
            <a:off x="1737360" y="265176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Riesgosos bien rechazados</a:t>
            </a:r>
            <a:endParaRPr lang="en-US" sz="1100" dirty="0"/>
          </a:p>
        </p:txBody>
      </p:sp>
      <p:sp>
        <p:nvSpPr>
          <p:cNvPr id="12" name="Shape 9"/>
          <p:cNvSpPr/>
          <p:nvPr/>
        </p:nvSpPr>
        <p:spPr>
          <a:xfrm>
            <a:off x="3840480" y="1554480"/>
            <a:ext cx="2148840" cy="1828800"/>
          </a:xfrm>
          <a:prstGeom prst="roundRect">
            <a:avLst>
              <a:gd name="adj" fmla="val 7000"/>
            </a:avLst>
          </a:prstGeom>
          <a:solidFill>
            <a:srgbClr val="7F1D1D">
              <a:alpha val="65000"/>
            </a:srgbClr>
          </a:solidFill>
          <a:ln w="15875">
            <a:solidFill>
              <a:srgbClr val="F87171"/>
            </a:solidFill>
            <a:prstDash val="solid"/>
          </a:ln>
        </p:spPr>
      </p:sp>
      <p:sp>
        <p:nvSpPr>
          <p:cNvPr id="13" name="Text 10"/>
          <p:cNvSpPr txBox="1"/>
          <p:nvPr/>
        </p:nvSpPr>
        <p:spPr>
          <a:xfrm>
            <a:off x="3840480" y="173736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1.174</a:t>
            </a:r>
            <a:endParaRPr lang="en-US" sz="2800" dirty="0"/>
          </a:p>
        </p:txBody>
      </p:sp>
      <p:sp>
        <p:nvSpPr>
          <p:cNvPr id="14" name="Text 11"/>
          <p:cNvSpPr txBox="1"/>
          <p:nvPr/>
        </p:nvSpPr>
        <p:spPr>
          <a:xfrm>
            <a:off x="3840480" y="233172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5"/>
                </a:solidFill>
              </a:rPr>
              <a:t>15,8 %</a:t>
            </a:r>
            <a:endParaRPr lang="en-US" sz="1250" dirty="0"/>
          </a:p>
        </p:txBody>
      </p:sp>
      <p:sp>
        <p:nvSpPr>
          <p:cNvPr id="15" name="Text 12"/>
          <p:cNvSpPr txBox="1"/>
          <p:nvPr/>
        </p:nvSpPr>
        <p:spPr>
          <a:xfrm>
            <a:off x="3977640" y="265176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Riesgosos aprobados por error (el más costoso)</a:t>
            </a:r>
            <a:endParaRPr lang="en-US" sz="1100" dirty="0"/>
          </a:p>
        </p:txBody>
      </p:sp>
      <p:sp>
        <p:nvSpPr>
          <p:cNvPr id="16" name="Shape 13"/>
          <p:cNvSpPr/>
          <p:nvPr/>
        </p:nvSpPr>
        <p:spPr>
          <a:xfrm>
            <a:off x="1600200" y="3474720"/>
            <a:ext cx="2148840" cy="1828800"/>
          </a:xfrm>
          <a:prstGeom prst="roundRect">
            <a:avLst>
              <a:gd name="adj" fmla="val 7000"/>
            </a:avLst>
          </a:prstGeom>
          <a:solidFill>
            <a:srgbClr val="7F1D1D">
              <a:alpha val="65000"/>
            </a:srgbClr>
          </a:solidFill>
          <a:ln w="15875">
            <a:solidFill>
              <a:srgbClr val="F87171"/>
            </a:solidFill>
            <a:prstDash val="solid"/>
          </a:ln>
        </p:spPr>
      </p:sp>
      <p:sp>
        <p:nvSpPr>
          <p:cNvPr id="17" name="Text 14"/>
          <p:cNvSpPr txBox="1"/>
          <p:nvPr/>
        </p:nvSpPr>
        <p:spPr>
          <a:xfrm>
            <a:off x="1600200" y="365760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1.248</a:t>
            </a:r>
            <a:endParaRPr lang="en-US" sz="2800" dirty="0"/>
          </a:p>
        </p:txBody>
      </p:sp>
      <p:sp>
        <p:nvSpPr>
          <p:cNvPr id="18" name="Text 15"/>
          <p:cNvSpPr txBox="1"/>
          <p:nvPr/>
        </p:nvSpPr>
        <p:spPr>
          <a:xfrm>
            <a:off x="1600200" y="425196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5"/>
                </a:solidFill>
              </a:rPr>
              <a:t>16,8 %</a:t>
            </a:r>
            <a:endParaRPr lang="en-US" sz="1250" dirty="0"/>
          </a:p>
        </p:txBody>
      </p:sp>
      <p:sp>
        <p:nvSpPr>
          <p:cNvPr id="19" name="Text 16"/>
          <p:cNvSpPr txBox="1"/>
          <p:nvPr/>
        </p:nvSpPr>
        <p:spPr>
          <a:xfrm>
            <a:off x="1737360" y="457200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Buenos rechazados por error (negocio perdido)</a:t>
            </a:r>
            <a:endParaRPr lang="en-US" sz="1100" dirty="0"/>
          </a:p>
        </p:txBody>
      </p:sp>
      <p:sp>
        <p:nvSpPr>
          <p:cNvPr id="20" name="Shape 17"/>
          <p:cNvSpPr/>
          <p:nvPr/>
        </p:nvSpPr>
        <p:spPr>
          <a:xfrm>
            <a:off x="3840480" y="3474720"/>
            <a:ext cx="2148840" cy="1828800"/>
          </a:xfrm>
          <a:prstGeom prst="roundRect">
            <a:avLst>
              <a:gd name="adj" fmla="val 7000"/>
            </a:avLst>
          </a:prstGeom>
          <a:solidFill>
            <a:srgbClr val="064E3B">
              <a:alpha val="65000"/>
            </a:srgbClr>
          </a:solidFill>
          <a:ln w="15875">
            <a:solidFill>
              <a:srgbClr val="34D399"/>
            </a:solidFill>
            <a:prstDash val="solid"/>
          </a:ln>
        </p:spPr>
      </p:sp>
      <p:sp>
        <p:nvSpPr>
          <p:cNvPr id="21" name="Text 18"/>
          <p:cNvSpPr txBox="1"/>
          <p:nvPr/>
        </p:nvSpPr>
        <p:spPr>
          <a:xfrm>
            <a:off x="3840480" y="3657600"/>
            <a:ext cx="2148840" cy="594360"/>
          </a:xfrm>
          <a:prstGeom prst="rect">
            <a:avLst/>
          </a:prstGeom>
          <a:noFill/>
          <a:ln/>
        </p:spPr>
        <p:txBody>
          <a:bodyPr wrap="square" lIns="0" tIns="0" rIns="0" bIns="0" rtlCol="0" anchor="t"/>
          <a:lstStyle/>
          <a:p>
            <a:pPr algn="ctr" indent="0" marL="0">
              <a:lnSpc>
                <a:spcPct val="110000"/>
              </a:lnSpc>
              <a:spcAft>
                <a:spcPts val="400"/>
              </a:spcAft>
              <a:buNone/>
            </a:pPr>
            <a:r>
              <a:rPr lang="en-US" sz="2800" b="1" dirty="0">
                <a:solidFill>
                  <a:schemeClr val="bg1"/>
                </a:solidFill>
                <a:latin typeface="Consolas" pitchFamily="34" charset="0"/>
                <a:ea typeface="Consolas" pitchFamily="34" charset="-122"/>
                <a:cs typeface="Consolas" pitchFamily="34" charset="-120"/>
              </a:rPr>
              <a:t>2.476</a:t>
            </a:r>
            <a:endParaRPr lang="en-US" sz="2800" dirty="0"/>
          </a:p>
        </p:txBody>
      </p:sp>
      <p:sp>
        <p:nvSpPr>
          <p:cNvPr id="22" name="Text 19"/>
          <p:cNvSpPr txBox="1"/>
          <p:nvPr/>
        </p:nvSpPr>
        <p:spPr>
          <a:xfrm>
            <a:off x="3840480" y="4251960"/>
            <a:ext cx="2148840" cy="274320"/>
          </a:xfrm>
          <a:prstGeom prst="rect">
            <a:avLst/>
          </a:prstGeom>
          <a:noFill/>
          <a:ln/>
        </p:spPr>
        <p:txBody>
          <a:bodyPr wrap="square" lIns="0" tIns="0" rIns="0" bIns="0" rtlCol="0" anchor="t"/>
          <a:lstStyle/>
          <a:p>
            <a:pPr algn="ctr" indent="0" marL="0">
              <a:lnSpc>
                <a:spcPct val="110000"/>
              </a:lnSpc>
              <a:spcAft>
                <a:spcPts val="400"/>
              </a:spcAft>
              <a:buNone/>
            </a:pPr>
            <a:r>
              <a:rPr lang="en-US" sz="1250" b="1" dirty="0">
                <a:solidFill>
                  <a:schemeClr val="accent4"/>
                </a:solidFill>
              </a:rPr>
              <a:t>33,2 %</a:t>
            </a:r>
            <a:endParaRPr lang="en-US" sz="1250" dirty="0"/>
          </a:p>
        </p:txBody>
      </p:sp>
      <p:sp>
        <p:nvSpPr>
          <p:cNvPr id="23" name="Text 20"/>
          <p:cNvSpPr txBox="1"/>
          <p:nvPr/>
        </p:nvSpPr>
        <p:spPr>
          <a:xfrm>
            <a:off x="3977640" y="4572000"/>
            <a:ext cx="1874520" cy="640080"/>
          </a:xfrm>
          <a:prstGeom prst="rect">
            <a:avLst/>
          </a:prstGeom>
          <a:noFill/>
          <a:ln/>
        </p:spPr>
        <p:txBody>
          <a:bodyPr wrap="square" lIns="0" tIns="0" rIns="0" bIns="0" rtlCol="0" anchor="t"/>
          <a:lstStyle/>
          <a:p>
            <a:pPr algn="ctr" indent="0" marL="0">
              <a:lnSpc>
                <a:spcPct val="110000"/>
              </a:lnSpc>
              <a:spcAft>
                <a:spcPts val="400"/>
              </a:spcAft>
              <a:buNone/>
            </a:pPr>
            <a:r>
              <a:rPr lang="en-US" sz="1100" dirty="0">
                <a:solidFill>
                  <a:schemeClr val="bg2"/>
                </a:solidFill>
              </a:rPr>
              <a:t>Buenos bien aprobados</a:t>
            </a:r>
            <a:endParaRPr lang="en-US" sz="1100" dirty="0"/>
          </a:p>
        </p:txBody>
      </p:sp>
      <p:sp>
        <p:nvSpPr>
          <p:cNvPr id="24" name="Text 21"/>
          <p:cNvSpPr txBox="1"/>
          <p:nvPr/>
        </p:nvSpPr>
        <p:spPr>
          <a:xfrm>
            <a:off x="548640" y="5486400"/>
            <a:ext cx="5760720" cy="320040"/>
          </a:xfrm>
          <a:prstGeom prst="rect">
            <a:avLst/>
          </a:prstGeom>
          <a:noFill/>
          <a:ln/>
        </p:spPr>
        <p:txBody>
          <a:bodyPr wrap="square" lIns="0" tIns="0" rIns="0" bIns="0" rtlCol="0" anchor="t"/>
          <a:lstStyle/>
          <a:p>
            <a:pPr algn="l" indent="0" marL="0">
              <a:lnSpc>
                <a:spcPct val="110000"/>
              </a:lnSpc>
              <a:spcAft>
                <a:spcPts val="400"/>
              </a:spcAft>
              <a:buNone/>
            </a:pPr>
            <a:r>
              <a:rPr lang="en-US" sz="1200" b="1" dirty="0">
                <a:solidFill>
                  <a:schemeClr val="bg1"/>
                </a:solidFill>
              </a:rPr>
              <a:t>Grupo de prueba · 5.026 aciertos y 2.422 errores</a:t>
            </a:r>
            <a:endParaRPr lang="en-US" sz="1200" dirty="0"/>
          </a:p>
        </p:txBody>
      </p:sp>
      <p:sp>
        <p:nvSpPr>
          <p:cNvPr id="25" name="Text 22"/>
          <p:cNvSpPr txBox="1"/>
          <p:nvPr/>
        </p:nvSpPr>
        <p:spPr>
          <a:xfrm>
            <a:off x="548640" y="5788152"/>
            <a:ext cx="5760720" cy="36576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Aprobar a quien no paga le cuesta más al banco que rechazar a un buen cliente.</a:t>
            </a:r>
            <a:endParaRPr lang="en-US" sz="1150" dirty="0"/>
          </a:p>
        </p:txBody>
      </p:sp>
      <p:graphicFrame>
        <p:nvGraphicFramePr>
          <p:cNvPr id="26" name="Chart 0" descr=""/>
          <p:cNvGraphicFramePr/>
          <p:nvPr/>
        </p:nvGraphicFramePr>
        <p:xfrm>
          <a:off x="6492240" y="1188720"/>
          <a:ext cx="5148072" cy="3291840"/>
        </p:xfrm>
        <a:graphic xmlns:a="http://schemas.openxmlformats.org/drawingml/2006/main">
          <a:graphicData uri="http://schemas.openxmlformats.org/drawingml/2006/chart">
            <c:chart xmlns:c="http://schemas.openxmlformats.org/drawingml/2006/chart" r:id="rId1"/>
          </a:graphicData>
        </a:graphic>
      </p:graphicFrame>
      <p:sp>
        <p:nvSpPr>
          <p:cNvPr id="27" name="Shape 23"/>
          <p:cNvSpPr/>
          <p:nvPr/>
        </p:nvSpPr>
        <p:spPr>
          <a:xfrm>
            <a:off x="6492240" y="4617720"/>
            <a:ext cx="5148072" cy="1554480"/>
          </a:xfrm>
          <a:prstGeom prst="roundRect">
            <a:avLst>
              <a:gd name="adj" fmla="val 8235"/>
            </a:avLst>
          </a:prstGeom>
          <a:solidFill>
            <a:schemeClr val="tx2">
              <a:alpha val="92000"/>
            </a:schemeClr>
          </a:solidFill>
          <a:ln w="12700">
            <a:solidFill>
              <a:srgbClr val="1E293B"/>
            </a:solidFill>
            <a:prstDash val="solid"/>
          </a:ln>
        </p:spPr>
      </p:sp>
      <p:sp>
        <p:nvSpPr>
          <p:cNvPr id="28" name="Text 24"/>
          <p:cNvSpPr txBox="1"/>
          <p:nvPr/>
        </p:nvSpPr>
        <p:spPr>
          <a:xfrm>
            <a:off x="6675120" y="4709160"/>
            <a:ext cx="457200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POR QUÉ NO ACIERTA SIEMPRE</a:t>
            </a:r>
            <a:endParaRPr lang="en-US" sz="1050" dirty="0"/>
          </a:p>
        </p:txBody>
      </p:sp>
      <p:sp>
        <p:nvSpPr>
          <p:cNvPr id="29" name="Text 25"/>
          <p:cNvSpPr txBox="1"/>
          <p:nvPr/>
        </p:nvSpPr>
        <p:spPr>
          <a:xfrm>
            <a:off x="6675120" y="4983480"/>
            <a:ext cx="4800600" cy="1143000"/>
          </a:xfrm>
          <a:prstGeom prst="rect">
            <a:avLst/>
          </a:prstGeom>
          <a:noFill/>
          <a:ln/>
        </p:spPr>
        <p:txBody>
          <a:bodyPr wrap="square" lIns="0" tIns="0" rIns="0" bIns="0" rtlCol="0" anchor="t"/>
          <a:lstStyle/>
          <a:p>
            <a:pPr algn="l" indent="0" marL="0">
              <a:lnSpc>
                <a:spcPct val="110000"/>
              </a:lnSpc>
              <a:spcAft>
                <a:spcPts val="400"/>
              </a:spcAft>
              <a:buNone/>
            </a:pPr>
            <a:r>
              <a:rPr lang="en-US" sz="1150" dirty="0">
                <a:solidFill>
                  <a:schemeClr val="bg2"/>
                </a:solidFill>
              </a:rPr>
              <a:t>Buenos y malos se mezclan en el centro: hay personas con datos casi idénticos y unas pagan y otras no, por causas que no están en los datos (un despido, una enfermedad). Más de 160 redes llegaron al mismo límite (AUC ≈ 0,75).</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Umbral de decisión y variables más importantes</a:t>
            </a:r>
            <a:endParaRPr lang="en-US" sz="2200" dirty="0"/>
          </a:p>
        </p:txBody>
      </p:sp>
      <p:graphicFrame>
        <p:nvGraphicFramePr>
          <p:cNvPr id="4" name="Chart 0" descr=""/>
          <p:cNvGraphicFramePr/>
          <p:nvPr/>
        </p:nvGraphicFramePr>
        <p:xfrm>
          <a:off x="548640" y="1188720"/>
          <a:ext cx="5486400" cy="35204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4846320"/>
            <a:ext cx="5486400" cy="1325880"/>
          </a:xfrm>
          <a:prstGeom prst="roundRect">
            <a:avLst>
              <a:gd name="adj" fmla="val 9655"/>
            </a:avLst>
          </a:prstGeom>
          <a:solidFill>
            <a:schemeClr val="tx2">
              <a:alpha val="92000"/>
            </a:schemeClr>
          </a:solidFill>
          <a:ln w="12700">
            <a:solidFill>
              <a:srgbClr val="1E293B"/>
            </a:solidFill>
            <a:prstDash val="solid"/>
          </a:ln>
        </p:spPr>
      </p:sp>
      <p:sp>
        <p:nvSpPr>
          <p:cNvPr id="6" name="Text 2"/>
          <p:cNvSpPr txBox="1"/>
          <p:nvPr/>
        </p:nvSpPr>
        <p:spPr>
          <a:xfrm>
            <a:off x="777240" y="4846320"/>
            <a:ext cx="5074920" cy="1325880"/>
          </a:xfrm>
          <a:prstGeom prst="rect">
            <a:avLst/>
          </a:prstGeom>
          <a:noFill/>
          <a:ln/>
        </p:spPr>
        <p:txBody>
          <a:bodyPr wrap="square" lIns="0" tIns="0" rIns="0" bIns="0" rtlCol="0" anchor="ctr"/>
          <a:lstStyle/>
          <a:p>
            <a:pPr algn="l" indent="0" marL="0">
              <a:lnSpc>
                <a:spcPct val="110000"/>
              </a:lnSpc>
              <a:spcAft>
                <a:spcPts val="400"/>
              </a:spcAft>
              <a:buNone/>
            </a:pPr>
            <a:r>
              <a:rPr lang="en-US" sz="1250" dirty="0">
                <a:solidFill>
                  <a:schemeClr val="bg2"/>
                </a:solidFill>
              </a:rPr>
              <a:t>Con umbral de 70 % la mora entre aprobados baja de 4,0 % a 2,1 %, pero solo se aprueba al 29 % de los clientes. Elegir el umbral es una decisión del banco, no del modelo.</a:t>
            </a:r>
            <a:endParaRPr lang="en-US" sz="1250" dirty="0"/>
          </a:p>
        </p:txBody>
      </p:sp>
      <p:graphicFrame>
        <p:nvGraphicFramePr>
          <p:cNvPr id="7" name="Chart 1" descr=""/>
          <p:cNvGraphicFramePr/>
          <p:nvPr/>
        </p:nvGraphicFramePr>
        <p:xfrm>
          <a:off x="6153912" y="1188720"/>
          <a:ext cx="5486400" cy="352044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6153912" y="4846320"/>
            <a:ext cx="5486400" cy="1325880"/>
          </a:xfrm>
          <a:prstGeom prst="roundRect">
            <a:avLst>
              <a:gd name="adj" fmla="val 9655"/>
            </a:avLst>
          </a:prstGeom>
          <a:solidFill>
            <a:schemeClr val="tx2">
              <a:alpha val="92000"/>
            </a:schemeClr>
          </a:solidFill>
          <a:ln w="12700">
            <a:solidFill>
              <a:srgbClr val="1E293B"/>
            </a:solidFill>
            <a:prstDash val="solid"/>
          </a:ln>
        </p:spPr>
      </p:sp>
      <p:sp>
        <p:nvSpPr>
          <p:cNvPr id="9" name="Text 4"/>
          <p:cNvSpPr txBox="1"/>
          <p:nvPr/>
        </p:nvSpPr>
        <p:spPr>
          <a:xfrm>
            <a:off x="6382512" y="4846320"/>
            <a:ext cx="5074920" cy="1325880"/>
          </a:xfrm>
          <a:prstGeom prst="rect">
            <a:avLst/>
          </a:prstGeom>
          <a:noFill/>
          <a:ln/>
        </p:spPr>
        <p:txBody>
          <a:bodyPr wrap="square" lIns="0" tIns="0" rIns="0" bIns="0" rtlCol="0" anchor="ctr"/>
          <a:lstStyle/>
          <a:p>
            <a:pPr algn="l" indent="0" marL="0">
              <a:lnSpc>
                <a:spcPct val="110000"/>
              </a:lnSpc>
              <a:spcAft>
                <a:spcPts val="400"/>
              </a:spcAft>
              <a:buNone/>
            </a:pPr>
            <a:r>
              <a:rPr lang="en-US" sz="1250" dirty="0">
                <a:solidFill>
                  <a:schemeClr val="bg2"/>
                </a:solidFill>
              </a:rPr>
              <a:t>El score crediticio pesa el 68 %: cómo ha pagado una persona antes es la mejor pista de cómo pagará después. Esto muestra asociación, no causa.</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2305916" y="256032"/>
            <a:ext cx="9215524" cy="658368"/>
          </a:xfrm>
          <a:prstGeom prst="rect">
            <a:avLst/>
          </a:prstGeom>
          <a:noFill/>
          <a:ln/>
        </p:spPr>
        <p:txBody>
          <a:bodyPr wrap="square" lIns="0" tIns="0" rIns="0" bIns="0" rtlCol="0" anchor="ctr"/>
          <a:lstStyle/>
          <a:p>
            <a:pPr algn="l" indent="0" marL="0">
              <a:buNone/>
            </a:pPr>
            <a:r>
              <a:rPr lang="en-US" sz="2200" b="1" dirty="0">
                <a:solidFill>
                  <a:schemeClr val="bg1"/>
                </a:solidFill>
              </a:rPr>
              <a:t>Limitaciones, conclusiones y cierre</a:t>
            </a:r>
            <a:endParaRPr lang="en-US" sz="2200" dirty="0"/>
          </a:p>
        </p:txBody>
      </p:sp>
      <p:sp>
        <p:nvSpPr>
          <p:cNvPr id="4" name="Shape 1"/>
          <p:cNvSpPr/>
          <p:nvPr/>
        </p:nvSpPr>
        <p:spPr>
          <a:xfrm>
            <a:off x="548640" y="1188720"/>
            <a:ext cx="3931920" cy="4983480"/>
          </a:xfrm>
          <a:prstGeom prst="roundRect">
            <a:avLst>
              <a:gd name="adj" fmla="val 3256"/>
            </a:avLst>
          </a:prstGeom>
          <a:solidFill>
            <a:schemeClr val="tx2">
              <a:alpha val="92000"/>
            </a:schemeClr>
          </a:solidFill>
          <a:ln w="12700">
            <a:solidFill>
              <a:srgbClr val="1E293B"/>
            </a:solidFill>
            <a:prstDash val="solid"/>
          </a:ln>
        </p:spPr>
      </p:sp>
      <p:sp>
        <p:nvSpPr>
          <p:cNvPr id="5" name="Text 2"/>
          <p:cNvSpPr txBox="1"/>
          <p:nvPr/>
        </p:nvSpPr>
        <p:spPr>
          <a:xfrm>
            <a:off x="777240" y="1353312"/>
            <a:ext cx="3474720" cy="256032"/>
          </a:xfrm>
          <a:prstGeom prst="rect">
            <a:avLst/>
          </a:prstGeom>
          <a:noFill/>
          <a:ln/>
        </p:spPr>
        <p:txBody>
          <a:bodyPr wrap="square" lIns="0" tIns="0" rIns="0" bIns="0" rtlCol="0" anchor="ctr"/>
          <a:lstStyle/>
          <a:p>
            <a:pPr indent="0" marL="0">
              <a:buNone/>
            </a:pPr>
            <a:r>
              <a:rPr lang="en-US" sz="1050" spc="200" kern="0" dirty="0">
                <a:solidFill>
                  <a:schemeClr val="accent3"/>
                </a:solidFill>
                <a:latin typeface="Consolas" pitchFamily="34" charset="0"/>
                <a:ea typeface="Consolas" pitchFamily="34" charset="-122"/>
                <a:cs typeface="Consolas" pitchFamily="34" charset="-120"/>
              </a:rPr>
              <a:t>LIMITACIONES</a:t>
            </a:r>
            <a:endParaRPr lang="en-US" sz="1050" dirty="0"/>
          </a:p>
        </p:txBody>
      </p:sp>
      <p:sp>
        <p:nvSpPr>
          <p:cNvPr id="6" name="Text 3"/>
          <p:cNvSpPr txBox="1"/>
          <p:nvPr/>
        </p:nvSpPr>
        <p:spPr>
          <a:xfrm>
            <a:off x="777240" y="1737360"/>
            <a:ext cx="3520440" cy="4297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2"/>
                </a:solidFill>
              </a:rPr>
              <a:t>Mejora modesta (+0,0024) sin prueba estadística formal</a:t>
            </a:r>
            <a:endParaRPr lang="en-US" sz="1400" dirty="0"/>
          </a:p>
          <a:p>
            <a:pPr marL="203200" indent="-203200">
              <a:spcAft>
                <a:spcPts val="800"/>
              </a:spcAft>
              <a:buSzPct val="100000"/>
              <a:buChar char="•"/>
            </a:pPr>
            <a:r>
              <a:rPr lang="en-US" sz="1400" dirty="0">
                <a:solidFill>
                  <a:schemeClr val="bg2"/>
                </a:solidFill>
              </a:rPr>
              <a:t>Una sola división de los datos (sin validación cruzada)</a:t>
            </a:r>
            <a:endParaRPr lang="en-US" sz="1400" dirty="0"/>
          </a:p>
          <a:p>
            <a:pPr marL="203200" indent="-203200">
              <a:spcAft>
                <a:spcPts val="800"/>
              </a:spcAft>
              <a:buSzPct val="100000"/>
              <a:buChar char="•"/>
            </a:pPr>
            <a:r>
              <a:rPr lang="en-US" sz="1400" dirty="0">
                <a:solidFill>
                  <a:schemeClr val="bg2"/>
                </a:solidFill>
              </a:rPr>
              <a:t>Solo se probaron redes MLP</a:t>
            </a:r>
            <a:endParaRPr lang="en-US" sz="1400" dirty="0"/>
          </a:p>
          <a:p>
            <a:pPr marL="203200" indent="-203200">
              <a:spcAft>
                <a:spcPts val="800"/>
              </a:spcAft>
              <a:buSzPct val="100000"/>
              <a:buChar char="•"/>
            </a:pPr>
            <a:r>
              <a:rPr lang="en-US" sz="1400" dirty="0">
                <a:solidFill>
                  <a:schemeClr val="bg2"/>
                </a:solidFill>
              </a:rPr>
              <a:t>Umbral de 50 % sin ajustar a costos reales</a:t>
            </a:r>
            <a:endParaRPr lang="en-US" sz="1400" dirty="0"/>
          </a:p>
          <a:p>
            <a:pPr marL="203200" indent="-203200">
              <a:spcAft>
                <a:spcPts val="800"/>
              </a:spcAft>
              <a:buSzPct val="100000"/>
              <a:buChar char="•"/>
            </a:pPr>
            <a:r>
              <a:rPr lang="en-US" sz="1400" dirty="0">
                <a:solidFill>
                  <a:schemeClr val="bg2"/>
                </a:solidFill>
              </a:rPr>
              <a:t>Muestra asociación, no causa</a:t>
            </a:r>
            <a:endParaRPr lang="en-US" sz="1400" dirty="0"/>
          </a:p>
          <a:p>
            <a:pPr marL="203200" indent="-203200">
              <a:spcAft>
                <a:spcPts val="800"/>
              </a:spcAft>
              <a:buSzPct val="100000"/>
              <a:buChar char="•"/>
            </a:pPr>
            <a:r>
              <a:rPr lang="en-US" sz="1400" dirty="0">
                <a:solidFill>
                  <a:schemeClr val="bg2"/>
                </a:solidFill>
              </a:rPr>
              <a:t>Faltan causas reales del impago en los datos</a:t>
            </a:r>
            <a:endParaRPr lang="en-US" sz="1400" dirty="0"/>
          </a:p>
        </p:txBody>
      </p:sp>
      <p:sp>
        <p:nvSpPr>
          <p:cNvPr id="7" name="Shape 4"/>
          <p:cNvSpPr/>
          <p:nvPr/>
        </p:nvSpPr>
        <p:spPr>
          <a:xfrm>
            <a:off x="4663440" y="1188720"/>
            <a:ext cx="4069080" cy="1143000"/>
          </a:xfrm>
          <a:prstGeom prst="roundRect">
            <a:avLst>
              <a:gd name="adj" fmla="val 11200"/>
            </a:avLst>
          </a:prstGeom>
          <a:solidFill>
            <a:schemeClr val="tx2">
              <a:alpha val="92000"/>
            </a:schemeClr>
          </a:solidFill>
          <a:ln w="12700">
            <a:solidFill>
              <a:srgbClr val="1E293B"/>
            </a:solidFill>
            <a:prstDash val="solid"/>
          </a:ln>
        </p:spPr>
      </p:sp>
      <p:sp>
        <p:nvSpPr>
          <p:cNvPr id="8" name="Shape 5"/>
          <p:cNvSpPr/>
          <p:nvPr/>
        </p:nvSpPr>
        <p:spPr>
          <a:xfrm>
            <a:off x="4846320" y="1527048"/>
            <a:ext cx="457200" cy="457200"/>
          </a:xfrm>
          <a:prstGeom prst="ellipse">
            <a:avLst/>
          </a:prstGeom>
          <a:solidFill>
            <a:srgbClr val="1E3A8A"/>
          </a:solidFill>
          <a:ln w="12700">
            <a:solidFill>
              <a:srgbClr val="3B82F6"/>
            </a:solidFill>
            <a:prstDash val="solid"/>
          </a:ln>
        </p:spPr>
      </p:sp>
      <p:sp>
        <p:nvSpPr>
          <p:cNvPr id="9" name="Text 6"/>
          <p:cNvSpPr txBox="1"/>
          <p:nvPr/>
        </p:nvSpPr>
        <p:spPr>
          <a:xfrm>
            <a:off x="4846320" y="1527048"/>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1</a:t>
            </a:r>
            <a:endParaRPr lang="en-US" sz="1400" dirty="0"/>
          </a:p>
        </p:txBody>
      </p:sp>
      <p:sp>
        <p:nvSpPr>
          <p:cNvPr id="10" name="Text 7"/>
          <p:cNvSpPr txBox="1"/>
          <p:nvPr/>
        </p:nvSpPr>
        <p:spPr>
          <a:xfrm>
            <a:off x="5486400" y="1371600"/>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Aprendió, no memorizó</a:t>
            </a:r>
            <a:endParaRPr lang="en-US" sz="1450" dirty="0"/>
          </a:p>
        </p:txBody>
      </p:sp>
      <p:sp>
        <p:nvSpPr>
          <p:cNvPr id="11" name="Text 8"/>
          <p:cNvSpPr txBox="1"/>
          <p:nvPr/>
        </p:nvSpPr>
        <p:spPr>
          <a:xfrm>
            <a:off x="5486400" y="1755648"/>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Cinco pruebas lo confirman.</a:t>
            </a:r>
            <a:endParaRPr lang="en-US" sz="1200" dirty="0"/>
          </a:p>
        </p:txBody>
      </p:sp>
      <p:sp>
        <p:nvSpPr>
          <p:cNvPr id="12" name="Shape 9"/>
          <p:cNvSpPr/>
          <p:nvPr/>
        </p:nvSpPr>
        <p:spPr>
          <a:xfrm>
            <a:off x="4663440" y="2459736"/>
            <a:ext cx="4069080" cy="1143000"/>
          </a:xfrm>
          <a:prstGeom prst="roundRect">
            <a:avLst>
              <a:gd name="adj" fmla="val 11200"/>
            </a:avLst>
          </a:prstGeom>
          <a:solidFill>
            <a:schemeClr val="tx2">
              <a:alpha val="92000"/>
            </a:schemeClr>
          </a:solidFill>
          <a:ln w="12700">
            <a:solidFill>
              <a:srgbClr val="1E293B"/>
            </a:solidFill>
            <a:prstDash val="solid"/>
          </a:ln>
        </p:spPr>
      </p:sp>
      <p:sp>
        <p:nvSpPr>
          <p:cNvPr id="13" name="Shape 10"/>
          <p:cNvSpPr/>
          <p:nvPr/>
        </p:nvSpPr>
        <p:spPr>
          <a:xfrm>
            <a:off x="4846320" y="2798064"/>
            <a:ext cx="457200" cy="457200"/>
          </a:xfrm>
          <a:prstGeom prst="ellipse">
            <a:avLst/>
          </a:prstGeom>
          <a:solidFill>
            <a:srgbClr val="1E3A8A"/>
          </a:solidFill>
          <a:ln w="12700">
            <a:solidFill>
              <a:srgbClr val="3B82F6"/>
            </a:solidFill>
            <a:prstDash val="solid"/>
          </a:ln>
        </p:spPr>
      </p:sp>
      <p:sp>
        <p:nvSpPr>
          <p:cNvPr id="14" name="Text 11"/>
          <p:cNvSpPr txBox="1"/>
          <p:nvPr/>
        </p:nvSpPr>
        <p:spPr>
          <a:xfrm>
            <a:off x="4846320" y="2798064"/>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2</a:t>
            </a:r>
            <a:endParaRPr lang="en-US" sz="1400" dirty="0"/>
          </a:p>
        </p:txBody>
      </p:sp>
      <p:sp>
        <p:nvSpPr>
          <p:cNvPr id="15" name="Text 12"/>
          <p:cNvSpPr txBox="1"/>
          <p:nvPr/>
        </p:nvSpPr>
        <p:spPr>
          <a:xfrm>
            <a:off x="5486400" y="2642616"/>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Decisiones con evidencia</a:t>
            </a:r>
            <a:endParaRPr lang="en-US" sz="1450" dirty="0"/>
          </a:p>
        </p:txBody>
      </p:sp>
      <p:sp>
        <p:nvSpPr>
          <p:cNvPr id="16" name="Text 13"/>
          <p:cNvSpPr txBox="1"/>
          <p:nvPr/>
        </p:nvSpPr>
        <p:spPr>
          <a:xfrm>
            <a:off x="5486400" y="3026664"/>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164 redes, 19 ensambles y 5 semillas.</a:t>
            </a:r>
            <a:endParaRPr lang="en-US" sz="1200" dirty="0"/>
          </a:p>
        </p:txBody>
      </p:sp>
      <p:sp>
        <p:nvSpPr>
          <p:cNvPr id="17" name="Shape 14"/>
          <p:cNvSpPr/>
          <p:nvPr/>
        </p:nvSpPr>
        <p:spPr>
          <a:xfrm>
            <a:off x="4663440" y="3730752"/>
            <a:ext cx="4069080" cy="1143000"/>
          </a:xfrm>
          <a:prstGeom prst="roundRect">
            <a:avLst>
              <a:gd name="adj" fmla="val 11200"/>
            </a:avLst>
          </a:prstGeom>
          <a:solidFill>
            <a:schemeClr val="tx2">
              <a:alpha val="92000"/>
            </a:schemeClr>
          </a:solidFill>
          <a:ln w="12700">
            <a:solidFill>
              <a:srgbClr val="1E293B"/>
            </a:solidFill>
            <a:prstDash val="solid"/>
          </a:ln>
        </p:spPr>
      </p:sp>
      <p:sp>
        <p:nvSpPr>
          <p:cNvPr id="18" name="Shape 15"/>
          <p:cNvSpPr/>
          <p:nvPr/>
        </p:nvSpPr>
        <p:spPr>
          <a:xfrm>
            <a:off x="4846320" y="4069080"/>
            <a:ext cx="457200" cy="457200"/>
          </a:xfrm>
          <a:prstGeom prst="ellipse">
            <a:avLst/>
          </a:prstGeom>
          <a:solidFill>
            <a:srgbClr val="1E3A8A"/>
          </a:solidFill>
          <a:ln w="12700">
            <a:solidFill>
              <a:srgbClr val="3B82F6"/>
            </a:solidFill>
            <a:prstDash val="solid"/>
          </a:ln>
        </p:spPr>
      </p:sp>
      <p:sp>
        <p:nvSpPr>
          <p:cNvPr id="19" name="Text 16"/>
          <p:cNvSpPr txBox="1"/>
          <p:nvPr/>
        </p:nvSpPr>
        <p:spPr>
          <a:xfrm>
            <a:off x="4846320" y="4069080"/>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3</a:t>
            </a:r>
            <a:endParaRPr lang="en-US" sz="1400" dirty="0"/>
          </a:p>
        </p:txBody>
      </p:sp>
      <p:sp>
        <p:nvSpPr>
          <p:cNvPr id="20" name="Text 17"/>
          <p:cNvSpPr txBox="1"/>
          <p:nvPr/>
        </p:nvSpPr>
        <p:spPr>
          <a:xfrm>
            <a:off x="5486400" y="3913632"/>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Sin fuga de datos</a:t>
            </a:r>
            <a:endParaRPr lang="en-US" sz="1450" dirty="0"/>
          </a:p>
        </p:txBody>
      </p:sp>
      <p:sp>
        <p:nvSpPr>
          <p:cNvPr id="21" name="Text 18"/>
          <p:cNvSpPr txBox="1"/>
          <p:nvPr/>
        </p:nvSpPr>
        <p:spPr>
          <a:xfrm>
            <a:off x="5486400" y="4297680"/>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El grupo de prueba se usó una sola vez.</a:t>
            </a:r>
            <a:endParaRPr lang="en-US" sz="1200" dirty="0"/>
          </a:p>
        </p:txBody>
      </p:sp>
      <p:sp>
        <p:nvSpPr>
          <p:cNvPr id="22" name="Shape 19"/>
          <p:cNvSpPr/>
          <p:nvPr/>
        </p:nvSpPr>
        <p:spPr>
          <a:xfrm>
            <a:off x="4663440" y="5001768"/>
            <a:ext cx="4069080" cy="1143000"/>
          </a:xfrm>
          <a:prstGeom prst="roundRect">
            <a:avLst>
              <a:gd name="adj" fmla="val 11200"/>
            </a:avLst>
          </a:prstGeom>
          <a:solidFill>
            <a:schemeClr val="tx2">
              <a:alpha val="92000"/>
            </a:schemeClr>
          </a:solidFill>
          <a:ln w="12700">
            <a:solidFill>
              <a:srgbClr val="1E293B"/>
            </a:solidFill>
            <a:prstDash val="solid"/>
          </a:ln>
        </p:spPr>
      </p:sp>
      <p:sp>
        <p:nvSpPr>
          <p:cNvPr id="23" name="Shape 20"/>
          <p:cNvSpPr/>
          <p:nvPr/>
        </p:nvSpPr>
        <p:spPr>
          <a:xfrm>
            <a:off x="4846320" y="5340096"/>
            <a:ext cx="457200" cy="457200"/>
          </a:xfrm>
          <a:prstGeom prst="ellipse">
            <a:avLst/>
          </a:prstGeom>
          <a:solidFill>
            <a:srgbClr val="1E3A8A"/>
          </a:solidFill>
          <a:ln w="12700">
            <a:solidFill>
              <a:srgbClr val="3B82F6"/>
            </a:solidFill>
            <a:prstDash val="solid"/>
          </a:ln>
        </p:spPr>
      </p:sp>
      <p:sp>
        <p:nvSpPr>
          <p:cNvPr id="24" name="Text 21"/>
          <p:cNvSpPr txBox="1"/>
          <p:nvPr/>
        </p:nvSpPr>
        <p:spPr>
          <a:xfrm>
            <a:off x="4846320" y="5340096"/>
            <a:ext cx="457200" cy="457200"/>
          </a:xfrm>
          <a:prstGeom prst="rect">
            <a:avLst/>
          </a:prstGeom>
          <a:noFill/>
          <a:ln/>
        </p:spPr>
        <p:txBody>
          <a:bodyPr wrap="square" lIns="0" tIns="0" rIns="0" bIns="0" rtlCol="0" anchor="ctr"/>
          <a:lstStyle/>
          <a:p>
            <a:pPr algn="ctr" indent="0" marL="0">
              <a:lnSpc>
                <a:spcPct val="110000"/>
              </a:lnSpc>
              <a:spcAft>
                <a:spcPts val="400"/>
              </a:spcAft>
              <a:buNone/>
            </a:pPr>
            <a:r>
              <a:rPr lang="en-US" sz="1400" b="1" dirty="0">
                <a:solidFill>
                  <a:schemeClr val="bg1"/>
                </a:solidFill>
              </a:rPr>
              <a:t>4</a:t>
            </a:r>
            <a:endParaRPr lang="en-US" sz="1400" dirty="0"/>
          </a:p>
        </p:txBody>
      </p:sp>
      <p:sp>
        <p:nvSpPr>
          <p:cNvPr id="25" name="Text 22"/>
          <p:cNvSpPr txBox="1"/>
          <p:nvPr/>
        </p:nvSpPr>
        <p:spPr>
          <a:xfrm>
            <a:off x="5486400" y="5184648"/>
            <a:ext cx="3154680" cy="347472"/>
          </a:xfrm>
          <a:prstGeom prst="rect">
            <a:avLst/>
          </a:prstGeom>
          <a:noFill/>
          <a:ln/>
        </p:spPr>
        <p:txBody>
          <a:bodyPr wrap="square" lIns="0" tIns="0" rIns="0" bIns="0" rtlCol="0" anchor="t"/>
          <a:lstStyle/>
          <a:p>
            <a:pPr algn="l" indent="0" marL="0">
              <a:lnSpc>
                <a:spcPct val="110000"/>
              </a:lnSpc>
              <a:spcAft>
                <a:spcPts val="400"/>
              </a:spcAft>
              <a:buNone/>
            </a:pPr>
            <a:r>
              <a:rPr lang="en-US" sz="1450" b="1" dirty="0">
                <a:solidFill>
                  <a:schemeClr val="bg1"/>
                </a:solidFill>
              </a:rPr>
              <a:t>Resultado explicable</a:t>
            </a:r>
            <a:endParaRPr lang="en-US" sz="1450" dirty="0"/>
          </a:p>
        </p:txBody>
      </p:sp>
      <p:sp>
        <p:nvSpPr>
          <p:cNvPr id="26" name="Text 23"/>
          <p:cNvSpPr txBox="1"/>
          <p:nvPr/>
        </p:nvSpPr>
        <p:spPr>
          <a:xfrm>
            <a:off x="5486400" y="5568696"/>
            <a:ext cx="3154680" cy="457200"/>
          </a:xfrm>
          <a:prstGeom prst="rect">
            <a:avLst/>
          </a:prstGeom>
          <a:noFill/>
          <a:ln/>
        </p:spPr>
        <p:txBody>
          <a:bodyPr wrap="square" lIns="0" tIns="0" rIns="0" bIns="0" rtlCol="0" anchor="t"/>
          <a:lstStyle/>
          <a:p>
            <a:pPr algn="l" indent="0" marL="0">
              <a:lnSpc>
                <a:spcPct val="110000"/>
              </a:lnSpc>
              <a:spcAft>
                <a:spcPts val="400"/>
              </a:spcAft>
              <a:buNone/>
            </a:pPr>
            <a:r>
              <a:rPr lang="en-US" sz="1200" dirty="0">
                <a:solidFill>
                  <a:schemeClr val="bg2"/>
                </a:solidFill>
              </a:rPr>
              <a:t>Se apoya sobre todo en el historial de pago.</a:t>
            </a:r>
            <a:endParaRPr lang="en-US" sz="1200" dirty="0"/>
          </a:p>
        </p:txBody>
      </p:sp>
      <p:sp>
        <p:nvSpPr>
          <p:cNvPr id="27" name="Shape 24"/>
          <p:cNvSpPr/>
          <p:nvPr/>
        </p:nvSpPr>
        <p:spPr>
          <a:xfrm>
            <a:off x="8915400" y="1188720"/>
            <a:ext cx="2724912" cy="4983480"/>
          </a:xfrm>
          <a:prstGeom prst="roundRect">
            <a:avLst>
              <a:gd name="adj" fmla="val 4698"/>
            </a:avLst>
          </a:prstGeom>
          <a:solidFill>
            <a:schemeClr val="tx2">
              <a:alpha val="92000"/>
            </a:schemeClr>
          </a:solidFill>
          <a:ln w="12700">
            <a:solidFill>
              <a:srgbClr val="1E293B"/>
            </a:solidFill>
            <a:prstDash val="solid"/>
          </a:ln>
        </p:spPr>
      </p:sp>
      <p:sp>
        <p:nvSpPr>
          <p:cNvPr id="28" name="Text 25"/>
          <p:cNvSpPr txBox="1"/>
          <p:nvPr/>
        </p:nvSpPr>
        <p:spPr>
          <a:xfrm>
            <a:off x="9125712" y="1353312"/>
            <a:ext cx="2377440" cy="256032"/>
          </a:xfrm>
          <a:prstGeom prst="rect">
            <a:avLst/>
          </a:prstGeom>
          <a:noFill/>
          <a:ln/>
        </p:spPr>
        <p:txBody>
          <a:bodyPr wrap="square" lIns="0" tIns="0" rIns="0" bIns="0" rtlCol="0" anchor="ctr"/>
          <a:lstStyle/>
          <a:p>
            <a:pPr indent="0" marL="0">
              <a:buNone/>
            </a:pPr>
            <a:r>
              <a:rPr lang="en-US" sz="1050" spc="200" kern="0" dirty="0">
                <a:solidFill>
                  <a:schemeClr val="accent2"/>
                </a:solidFill>
                <a:latin typeface="Consolas" pitchFamily="34" charset="0"/>
                <a:ea typeface="Consolas" pitchFamily="34" charset="-122"/>
                <a:cs typeface="Consolas" pitchFamily="34" charset="-120"/>
              </a:rPr>
              <a:t>PÁGINA WEB</a:t>
            </a:r>
            <a:endParaRPr lang="en-US" sz="1050" dirty="0"/>
          </a:p>
        </p:txBody>
      </p:sp>
      <p:pic>
        <p:nvPicPr>
          <p:cNvPr id="29" name="Image 0" descr="/home/claude/deck/img/qr.png">    </p:cNvPr>
          <p:cNvPicPr>
            <a:picLocks noChangeAspect="1"/>
          </p:cNvPicPr>
          <p:nvPr/>
        </p:nvPicPr>
        <p:blipFill>
          <a:blip r:embed="rId1"/>
          <a:stretch>
            <a:fillRect/>
          </a:stretch>
        </p:blipFill>
        <p:spPr>
          <a:xfrm>
            <a:off x="9272016" y="1783080"/>
            <a:ext cx="2011680" cy="2011680"/>
          </a:xfrm>
          <a:prstGeom prst="rect">
            <a:avLst/>
          </a:prstGeom>
        </p:spPr>
      </p:pic>
      <p:sp>
        <p:nvSpPr>
          <p:cNvPr id="30" name="Text 26"/>
          <p:cNvSpPr txBox="1"/>
          <p:nvPr/>
        </p:nvSpPr>
        <p:spPr>
          <a:xfrm>
            <a:off x="8961120" y="3977640"/>
            <a:ext cx="2633472" cy="320040"/>
          </a:xfrm>
          <a:prstGeom prst="rect">
            <a:avLst/>
          </a:prstGeom>
          <a:noFill/>
          <a:ln/>
        </p:spPr>
        <p:txBody>
          <a:bodyPr wrap="square" lIns="0" tIns="0" rIns="0" bIns="0" rtlCol="0" anchor="t"/>
          <a:lstStyle/>
          <a:p>
            <a:pPr algn="ctr" indent="0" marL="0">
              <a:lnSpc>
                <a:spcPct val="110000"/>
              </a:lnSpc>
              <a:spcAft>
                <a:spcPts val="400"/>
              </a:spcAft>
              <a:buNone/>
            </a:pPr>
            <a:r>
              <a:rPr lang="en-US" sz="1100" b="1" dirty="0">
                <a:solidFill>
                  <a:schemeClr val="bg1"/>
                </a:solidFill>
                <a:latin typeface="Consolas" pitchFamily="34" charset="0"/>
                <a:ea typeface="Consolas" pitchFamily="34" charset="-122"/>
                <a:cs typeface="Consolas" pitchFamily="34" charset="-120"/>
              </a:rPr>
              <a:t>suntzz.github.io/CrediRisk</a:t>
            </a:r>
            <a:endParaRPr lang="en-US" sz="1100" dirty="0"/>
          </a:p>
        </p:txBody>
      </p:sp>
      <p:sp>
        <p:nvSpPr>
          <p:cNvPr id="31" name="Text 27"/>
          <p:cNvSpPr txBox="1"/>
          <p:nvPr/>
        </p:nvSpPr>
        <p:spPr>
          <a:xfrm>
            <a:off x="9098280" y="4389120"/>
            <a:ext cx="2359152" cy="914400"/>
          </a:xfrm>
          <a:prstGeom prst="rect">
            <a:avLst/>
          </a:prstGeom>
          <a:noFill/>
          <a:ln/>
        </p:spPr>
        <p:txBody>
          <a:bodyPr wrap="square" lIns="0" tIns="0" rIns="0" bIns="0" rtlCol="0" anchor="t"/>
          <a:lstStyle/>
          <a:p>
            <a:pPr algn="ctr" indent="0" marL="0">
              <a:lnSpc>
                <a:spcPct val="110000"/>
              </a:lnSpc>
              <a:spcAft>
                <a:spcPts val="400"/>
              </a:spcAft>
              <a:buNone/>
            </a:pPr>
            <a:r>
              <a:rPr lang="en-US" sz="1150" dirty="0">
                <a:solidFill>
                  <a:schemeClr val="bg2"/>
                </a:solidFill>
              </a:rPr>
              <a:t>Evaluador de crédito, laboratorio del modelo y todas las gráficas.</a:t>
            </a:r>
            <a:endParaRPr lang="en-US" sz="1150" dirty="0"/>
          </a:p>
        </p:txBody>
      </p:sp>
      <p:sp>
        <p:nvSpPr>
          <p:cNvPr id="32" name="Shape 28"/>
          <p:cNvSpPr/>
          <p:nvPr/>
        </p:nvSpPr>
        <p:spPr>
          <a:xfrm>
            <a:off x="9125712" y="5440680"/>
            <a:ext cx="2304288" cy="384048"/>
          </a:xfrm>
          <a:prstGeom prst="roundRect">
            <a:avLst>
              <a:gd name="adj" fmla="val 50000"/>
            </a:avLst>
          </a:prstGeom>
          <a:solidFill>
            <a:schemeClr val="bg1"/>
          </a:solidFill>
          <a:ln w="12700">
            <a:solidFill>
              <a:srgbClr val="F8FAFC"/>
            </a:solidFill>
            <a:prstDash val="solid"/>
          </a:ln>
        </p:spPr>
      </p:sp>
      <p:sp>
        <p:nvSpPr>
          <p:cNvPr id="33" name="Text 29"/>
          <p:cNvSpPr txBox="1"/>
          <p:nvPr/>
        </p:nvSpPr>
        <p:spPr>
          <a:xfrm>
            <a:off x="9125712" y="5440680"/>
            <a:ext cx="2304288" cy="384048"/>
          </a:xfrm>
          <a:prstGeom prst="rect">
            <a:avLst/>
          </a:prstGeom>
          <a:noFill/>
          <a:ln/>
        </p:spPr>
        <p:txBody>
          <a:bodyPr wrap="square" lIns="0" tIns="0" rIns="0" bIns="0" rtlCol="0" anchor="ctr"/>
          <a:lstStyle/>
          <a:p>
            <a:pPr algn="ctr" indent="0" marL="0">
              <a:buNone/>
            </a:pPr>
            <a:r>
              <a:rPr lang="en-US" sz="1200" b="1" dirty="0">
                <a:solidFill>
                  <a:schemeClr val="tx1"/>
                </a:solidFill>
              </a:rPr>
              <a:t>Gracias · Preguntas</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rediRisk">
  <a:themeElements>
    <a:clrScheme name="CrediRisk">
      <a:dk1>
        <a:srgbClr val="0B1220"/>
      </a:dk1>
      <a:lt1>
        <a:srgbClr val="F8FAFC"/>
      </a:lt1>
      <a:dk2>
        <a:srgbClr val="0F172A"/>
      </a:dk2>
      <a:lt2>
        <a:srgbClr val="CBD5E1"/>
      </a:lt2>
      <a:accent1>
        <a:srgbClr val="3B82F6"/>
      </a:accent1>
      <a:accent2>
        <a:srgbClr val="38BDF8"/>
      </a:accent2>
      <a:accent3>
        <a:srgbClr val="F59E0B"/>
      </a:accent3>
      <a:accent4>
        <a:srgbClr val="34D399"/>
      </a:accent4>
      <a:accent5>
        <a:srgbClr val="F87171"/>
      </a:accent5>
      <a:accent6>
        <a:srgbClr val="94A3B8"/>
      </a:accent6>
      <a:hlink>
        <a:srgbClr val="38BDF8"/>
      </a:hlink>
      <a:folHlink>
        <a:srgbClr val="7DD3FC"/>
      </a:folHlink>
    </a:clrScheme>
    <a:fontScheme name="CrediRi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CrediRisk – Riesgo crediticio con redes neuronales</dc:title>
  <dc:subject>PptxGenJS Presentation</dc:subject>
  <dc:creator>Equipo CrediRisk</dc:creator>
  <cp:lastModifiedBy>Equipo CrediRisk</cp:lastModifiedBy>
  <cp:revision>1</cp:revision>
  <dcterms:created xsi:type="dcterms:W3CDTF">2026-10-26T15:23:19Z</dcterms:created>
  <dcterms:modified xsi:type="dcterms:W3CDTF">2026-10-26T15:23:19Z</dcterms:modified>
</cp:coreProperties>
</file>